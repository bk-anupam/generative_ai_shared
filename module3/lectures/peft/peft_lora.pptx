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6e3ceef-f20e-1f9f-2c33-b58b84048253}">
          <p14:sldIdLst>
            <p14:sldId id="256"/>
            <p14:sldId id="257"/>
          </p14:sldIdLst>
        </p14:section>
        <p14:section name="The cost of full fine-tuning" id="{0f806ab6-5c88-ca39-8826-e09a4d5a7d17}">
          <p14:sldIdLst>
            <p14:sldId id="258"/>
          </p14:sldIdLst>
        </p14:section>
        <p14:section name="PEFT and the low-rank idea" id="{e0b81d3f-cc51-fa21-2955-be4dbebb9d95}">
          <p14:sldIdLst>
            <p14:sldId id="259"/>
            <p14:sldId id="260"/>
            <p14:sldId id="261"/>
            <p14:sldId id="262"/>
          </p14:sldIdLst>
        </p14:section>
        <p14:section name="The LoRA update" id="{0afca9de-ae09-5843-7b93-24527714c126}">
          <p14:sldIdLst>
            <p14:sldId id="263"/>
            <p14:sldId id="264"/>
            <p14:sldId id="265"/>
            <p14:sldId id="266"/>
            <p14:sldId id="267"/>
          </p14:sldIdLst>
        </p14:section>
        <p14:section name="LoRA from scratch" id="{5fee9f97-fe5c-1033-660f-b9d248899032}">
          <p14:sldIdLst>
            <p14:sldId id="268"/>
            <p14:sldId id="269"/>
            <p14:sldId id="270"/>
          </p14:sldIdLst>
        </p14:section>
        <p14:section name="Rank, merging and swapping" id="{dbc7d24d-0c7a-aecf-73fe-85e18eeb78ce}">
          <p14:sldIdLst>
            <p14:sldId id="271"/>
            <p14:sldId id="272"/>
          </p14:sldIdLst>
        </p14:section>
        <p14:section name="At real scale" id="{8da834ca-1470-5268-ebed-25de95125eea}">
          <p14:sldIdLst>
            <p14:sldId id="273"/>
            <p14:sldId id="274"/>
            <p14:sldId id="275"/>
          </p14:sldIdLst>
        </p14:section>
        <p14:section name="Wrap-up" id="{91be5eb3-574c-5542-c25d-ee45bc855665}">
          <p14:sldIdLst>
            <p14:sldId id="276"/>
            <p14:sldId id="277"/>
            <p14:sldId id="278"/>
          </p14:sldIdLst>
        </p14:section>
        <p14:section name="Supplement: number formats" id="{cd7d45fe-ff43-bc2e-9863-973f7766590b}">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3"/>
                </a:solidFill>
                <a:latin typeface="+mn-lt"/>
              </a:defRPr>
            </a:pPr>
            <a:r>
              <a:rPr sz="1400" b="0" i="0" u="none" strike="noStrike">
                <a:solidFill>
                  <a:srgbClr val="1C2433"/>
                </a:solidFill>
                <a:latin typeface="+mn-lt"/>
              </a:rPr>
              <a:t>GB, log scale (activations not included)</a:t>
            </a:r>
          </a:p>
        </c:rich>
      </c:tx>
      <c:layout/>
      <c:overlay val="0"/>
    </c:title>
    <c:autoTitleDeleted val="0"/>
    <c:plotArea>
      <c:layout/>
      <c:barChart>
        <c:barDir val="col"/>
        <c:grouping val="clustered"/>
        <c:varyColors val="0"/>
        <c:ser>
          <c:idx val="0"/>
          <c:order val="0"/>
          <c:tx>
            <c:strRef>
              <c:f>Sheet1!$B$1</c:f>
              <c:strCache>
                <c:ptCount val="1"/>
                <c:pt idx="0">
                  <c:v>inference: 16-bit weights</c:v>
                </c:pt>
              </c:strCache>
            </c:strRef>
          </c:tx>
          <c:spPr>
            <a:solidFill>
              <a:srgbClr val="5A6478"/>
            </a:solidFill>
            <a:effectLst/>
          </c:spPr>
          <c:invertIfNegative val="0"/>
          <c:dLbls>
            <c:numFmt formatCode="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Sheet1!$B$2:$B$4</c:f>
              <c:numCache>
                <c:formatCode>General</c:formatCode>
                <c:ptCount val="3"/>
                <c:pt idx="0">
                  <c:v>1</c:v>
                </c:pt>
                <c:pt idx="1">
                  <c:v>3.1</c:v>
                </c:pt>
                <c:pt idx="2">
                  <c:v>15.2</c:v>
                </c:pt>
              </c:numCache>
            </c:numRef>
          </c:val>
        </c:ser>
        <c:ser>
          <c:idx val="1"/>
          <c:order val="1"/>
          <c:tx>
            <c:strRef>
              <c:f>Sheet1!$C$1</c:f>
              <c:strCache>
                <c:ptCount val="1"/>
                <c:pt idx="0">
                  <c:v>full fine-tuning: 16 B/param</c:v>
                </c:pt>
              </c:strCache>
            </c:strRef>
          </c:tx>
          <c:spPr>
            <a:solidFill>
              <a:srgbClr val="C8443F"/>
            </a:solidFill>
            <a:effectLst/>
          </c:spPr>
          <c:invertIfNegative val="0"/>
          <c:dLbls>
            <c:numFmt formatCode="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Sheet1!$C$2:$C$4</c:f>
              <c:numCache>
                <c:formatCode>General</c:formatCode>
                <c:ptCount val="3"/>
                <c:pt idx="0">
                  <c:v>7.9</c:v>
                </c:pt>
                <c:pt idx="1">
                  <c:v>24.7</c:v>
                </c:pt>
                <c:pt idx="2">
                  <c:v>121.8</c:v>
                </c:pt>
              </c:numCache>
            </c:numRef>
          </c:val>
        </c:ser>
        <c:dLbls>
          <c:numFmt formatCode="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logBase val="10"/>
          <c:orientation val="minMax"/>
          <c:max val="300"/>
          <c:min val="0.5"/>
        </c:scaling>
        <c:delete val="0"/>
        <c:axPos val="l"/>
        <c:majorGridlines>
          <c:spPr>
            <a:ln w="6350" cap="flat">
              <a:solidFill>
                <a:srgbClr val="DDE2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A6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C24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3"/>
                </a:solidFill>
                <a:latin typeface="+mn-lt"/>
              </a:defRPr>
            </a:pPr>
            <a:r>
              <a:rPr sz="1400" b="0" i="0" u="none" strike="noStrike">
                <a:solidFill>
                  <a:srgbClr val="1C2433"/>
                </a:solidFill>
                <a:latin typeface="+mn-lt"/>
              </a:rPr>
              <a:t>Task B validation nMSE, lower is better (no fine-tuning: 0.122)</a:t>
            </a:r>
          </a:p>
        </c:rich>
      </c:tx>
      <c:layout/>
      <c:overlay val="0"/>
    </c:title>
    <c:autoTitleDeleted val="0"/>
    <c:plotArea>
      <c:layout/>
      <c:barChart>
        <c:barDir val="col"/>
        <c:grouping val="clustered"/>
        <c:varyColors val="0"/>
        <c:ser>
          <c:idx val="0"/>
          <c:order val="0"/>
          <c:tx>
            <c:strRef>
              <c:f>Sheet1!$B$1</c:f>
              <c:strCache>
                <c:ptCount val="1"/>
                <c:pt idx="0">
                  <c:v>task B validation nMSE</c:v>
                </c:pt>
              </c:strCache>
            </c:strRef>
          </c:tx>
          <c:spPr>
            <a:solidFill>
              <a:srgbClr val="5A6478"/>
            </a:solidFill>
            <a:effectLst/>
          </c:spPr>
          <c:invertIfNegative val="0"/>
          <c:dLbls>
            <c:numFmt formatCode="0.0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dPt>
            <c:idx val="0"/>
            <c:invertIfNegative val="0"/>
            <c:bubble3D val="0"/>
            <c:spPr>
              <a:solidFill>
                <a:srgbClr val="5A6478"/>
              </a:solidFill>
              <a:effectLst/>
            </c:spPr>
          </c:dPt>
          <c:dPt>
            <c:idx val="1"/>
            <c:invertIfNegative val="0"/>
            <c:bubble3D val="0"/>
            <c:spPr>
              <a:solidFill>
                <a:srgbClr val="D9701E"/>
              </a:solidFill>
              <a:effectLst/>
            </c:spPr>
          </c:dPt>
          <c:dPt>
            <c:idx val="2"/>
            <c:invertIfNegative val="0"/>
            <c:bubble3D val="0"/>
            <c:spPr>
              <a:solidFill>
                <a:srgbClr val="D9701E"/>
              </a:solidFill>
              <a:effectLst/>
            </c:spPr>
          </c:dPt>
          <c:dPt>
            <c:idx val="3"/>
            <c:invertIfNegative val="0"/>
            <c:bubble3D val="0"/>
            <c:spPr>
              <a:solidFill>
                <a:srgbClr val="D9701E"/>
              </a:solidFill>
              <a:effectLst/>
            </c:spPr>
          </c:dPt>
          <c:dPt>
            <c:idx val="4"/>
            <c:invertIfNegative val="0"/>
            <c:bubble3D val="0"/>
            <c:spPr>
              <a:solidFill>
                <a:srgbClr val="D9701E"/>
              </a:solidFill>
              <a:effectLst/>
            </c:spPr>
          </c:dPt>
          <c:dPt>
            <c:idx val="5"/>
            <c:invertIfNegative val="0"/>
            <c:bubble3D val="0"/>
            <c:spPr>
              <a:solidFill>
                <a:srgbClr val="D9701E"/>
              </a:solidFill>
              <a:effectLst/>
            </c:spPr>
          </c:dPt>
          <c:dPt>
            <c:idx val="6"/>
            <c:invertIfNegative val="0"/>
            <c:bubble3D val="0"/>
            <c:spPr>
              <a:solidFill>
                <a:srgbClr val="16737A"/>
              </a:solidFill>
              <a:effectLst/>
            </c:spPr>
          </c:dPt>
          <c:cat>
            <c:multiLvlStrRef>
              <c:f>Sheet1!$A$2:$A$8</c:f>
              <c:multiLvlStrCache>
                <c:ptCount val="7"/>
                <c:lvl>
                  <c:pt idx="0">
                    <c:v>scratch</c:v>
                  </c:pt>
                  <c:pt idx="1">
                    <c:v>r = 1</c:v>
                  </c:pt>
                  <c:pt idx="2">
                    <c:v>r = 2</c:v>
                  </c:pt>
                  <c:pt idx="3">
                    <c:v>r = 4</c:v>
                  </c:pt>
                  <c:pt idx="4">
                    <c:v>r = 8</c:v>
                  </c:pt>
                  <c:pt idx="5">
                    <c:v>r = 16</c:v>
                  </c:pt>
                  <c:pt idx="6">
                    <c:v>full FT</c:v>
                  </c:pt>
                </c:lvl>
              </c:multiLvlStrCache>
            </c:multiLvlStrRef>
          </c:cat>
          <c:val>
            <c:numRef>
              <c:f>Sheet1!$B$2:$B$8</c:f>
              <c:numCache>
                <c:formatCode>General</c:formatCode>
                <c:ptCount val="7"/>
                <c:pt idx="0">
                  <c:v>0.034</c:v>
                </c:pt>
                <c:pt idx="1">
                  <c:v>0.017</c:v>
                </c:pt>
                <c:pt idx="2">
                  <c:v>0.01</c:v>
                </c:pt>
                <c:pt idx="3">
                  <c:v>0.01</c:v>
                </c:pt>
                <c:pt idx="4">
                  <c:v>0.008</c:v>
                </c:pt>
                <c:pt idx="5">
                  <c:v>0.008</c:v>
                </c:pt>
                <c:pt idx="6">
                  <c:v>0.008</c:v>
                </c:pt>
              </c:numCache>
            </c:numRef>
          </c:val>
        </c:ser>
        <c:dLbls>
          <c:numFmt formatCode="0.0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orientation val="minMax"/>
          <c:max val="0.04"/>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A647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C2433"/>
                </a:solidFill>
                <a:latin typeface="+mn-lt"/>
              </a:defRPr>
            </a:pPr>
            <a:r>
              <a:rPr sz="1400" b="0" i="0" u="none" strike="noStrike">
                <a:solidFill>
                  <a:srgbClr val="1C2433"/>
                </a:solidFill>
                <a:latin typeface="+mn-lt"/>
              </a:rPr>
              <a:t>Weights + gradients + optimizer state, GB (log scale)</a:t>
            </a:r>
          </a:p>
        </c:rich>
      </c:tx>
      <c:layout/>
      <c:overlay val="0"/>
    </c:title>
    <c:autoTitleDeleted val="0"/>
    <c:plotArea>
      <c:layout/>
      <c:barChart>
        <c:barDir val="col"/>
        <c:grouping val="clustered"/>
        <c:varyColors val="0"/>
        <c:ser>
          <c:idx val="0"/>
          <c:order val="0"/>
          <c:tx>
            <c:strRef>
              <c:f>Sheet1!$B$1</c:f>
              <c:strCache>
                <c:ptCount val="1"/>
                <c:pt idx="0">
                  <c:v>full fine-tuning</c:v>
                </c:pt>
              </c:strCache>
            </c:strRef>
          </c:tx>
          <c:spPr>
            <a:solidFill>
              <a:srgbClr val="C8443F"/>
            </a:solidFill>
            <a:effectLst/>
          </c:spPr>
          <c:invertIfNegative val="0"/>
          <c:dLbls>
            <c:numFmt formatCode="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Sheet1!$B$2:$B$4</c:f>
              <c:numCache>
                <c:formatCode>General</c:formatCode>
                <c:ptCount val="3"/>
                <c:pt idx="0">
                  <c:v>7.9</c:v>
                </c:pt>
                <c:pt idx="1">
                  <c:v>24.7</c:v>
                </c:pt>
                <c:pt idx="2">
                  <c:v>121.8</c:v>
                </c:pt>
              </c:numCache>
            </c:numRef>
          </c:val>
        </c:ser>
        <c:ser>
          <c:idx val="1"/>
          <c:order val="1"/>
          <c:tx>
            <c:strRef>
              <c:f>Sheet1!$C$1</c:f>
              <c:strCache>
                <c:ptCount val="1"/>
                <c:pt idx="0">
                  <c:v>LoRA, all linear, r = 16</c:v>
                </c:pt>
              </c:strCache>
            </c:strRef>
          </c:tx>
          <c:spPr>
            <a:solidFill>
              <a:srgbClr val="D9701E"/>
            </a:solidFill>
            <a:effectLst/>
          </c:spPr>
          <c:invertIfNegative val="0"/>
          <c:dLbls>
            <c:numFmt formatCode="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cat>
            <c:multiLvlStrRef>
              <c:f>Sheet1!$A$2:$A$4</c:f>
              <c:multiLvlStrCache>
                <c:ptCount val="3"/>
                <c:lvl>
                  <c:pt idx="0">
                    <c:v>0.5B</c:v>
                  </c:pt>
                  <c:pt idx="1">
                    <c:v>1.5B</c:v>
                  </c:pt>
                  <c:pt idx="2">
                    <c:v>7B</c:v>
                  </c:pt>
                </c:lvl>
              </c:multiLvlStrCache>
            </c:multiLvlStrRef>
          </c:cat>
          <c:val>
            <c:numRef>
              <c:f>Sheet1!$C$2:$C$4</c:f>
              <c:numCache>
                <c:formatCode>General</c:formatCode>
                <c:ptCount val="3"/>
                <c:pt idx="0">
                  <c:v>1.1</c:v>
                </c:pt>
                <c:pt idx="1">
                  <c:v>3.4</c:v>
                </c:pt>
                <c:pt idx="2">
                  <c:v>15.9</c:v>
                </c:pt>
              </c:numCache>
            </c:numRef>
          </c:val>
        </c:ser>
        <c:dLbls>
          <c:numFmt formatCode="0.0" sourceLinked="0"/>
          <c:txPr>
            <a:bodyPr/>
            <a:lstStyle/>
            <a:p>
              <a:pPr>
                <a:defRPr b="0" i="0" strike="noStrike" sz="1200" u="none">
                  <a:solidFill>
                    <a:srgbClr val="1C24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478"/>
                </a:solidFill>
                <a:latin typeface="+mn-lt"/>
              </a:defRPr>
            </a:pPr>
            <a:endParaRPr lang="en-US"/>
          </a:p>
        </c:txPr>
        <c:crossAx val="2094734552"/>
        <c:crosses val="autoZero"/>
        <c:auto val="1"/>
        <c:lblAlgn val="ctr"/>
        <c:noMultiLvlLbl val="1"/>
      </c:catAx>
      <c:valAx>
        <c:axId val="2094734552"/>
        <c:scaling>
          <c:logBase val="10"/>
          <c:orientation val="minMax"/>
          <c:max val="300"/>
          <c:min val="0.5"/>
        </c:scaling>
        <c:delete val="0"/>
        <c:axPos val="l"/>
        <c:majorGridlines>
          <c:spPr>
            <a:ln w="6350" cap="flat">
              <a:solidFill>
                <a:srgbClr val="DDE2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A647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C24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1-8 of the notebook need only PyTorch and matplotlib and run on a CPU in under a minute: run them once before class so every demo has output. Section 9 (optional) downloads Qwen2.5-0.5B-Instruct (about 1 GB) and needs a Kaggle T4 with internet; set RUN_PEFT_DEMO = True there. If peft raises 'Found an incompatible version of torchao', run the commented-out pip uninstall cell, restart the kernel, and rerun. Amber 'LIVE DEMO' tags mark where to switch to the notebook; cell numbers are 0-based positions. Numbers on the slides come from the notebook's saved Kaggle run. The toy results come from one seed, and a rerun on another PyTorch version can differ in the third decimal. The Supplement slides at the end (number formats) are for students who have not seen the fp32/fp16/bf16 refresher, 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six parts. The lecture moves from the problem (what full fine-tuning costs), to the idea (the update can be low-rank), to the mechanism (LoRA), to an implementation we can check, to what it costs at real scale. Prerequisites: the GPT-2 fine-tuning notebook (training-state memory), the Trainer demo, and the attention notebook (Q/K/V projections, grouped-query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3. With mixed-precision AdamW every trainable parameter needs its 16-bit weight and gradient, an fp32 master copy (small updates would be lost in 16-bit; see the Supplement), and Adam's two fp32 moments: 16 bytes, the accounting used in the ZeRO paper. Activations come on top. The parameter counts come from each model's config.json and match the model cards. Read the chart: the 0.5B model fits a T4 for full fine-tuning (about 8 GB); 1.5B needs about 25 GB and 7B more than 120 GB. Running the 7B model for inference needs about 15 GB: training is the problem, not using the model. Second cost: storage. Ten task-specific 7B models are ten 15 GB checkpoints, though most weights hardly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8. Every PEFT method freezes the pretrained weights (grey) and trains something small (orange). They differ in what they train, and that decides what they cost at inference. Adapters add layers that run in sequence. Prompt and prefix tuning lengthen the sequence. BitFit trains only biases, and Llama-style models have almost none (Qwen2.5 only on Q/K/V). LoRA adds a low-rank update beside chosen weight matrices; after merging it costs nothing at inference. That is why it is the default in practice and the subject of the rest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 rank and SVD briefly. The key move is to separate the weight from the change. A pretrained matrix is high-rank: it encodes a great deal. Fine-tuning starts from a model that already knows the language and only adjusts it. Aghajanyan et al. (2020): about 200 trainable parameters, projected into RoBERTa's full parameter space, reached 90% of full fine-tuning performance on MRPC. Hu et al. (2021) drew LoRA's hypothesis from that: the change has a low intrinsic rank. Ask the class: if a 4096 x 4096 change has rank 8, how many numbers do we need to describe it? (8 x (4096 + 4096) = 65,536 instead of 16.8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11. Task A plays pretraining: a student MLP learns a small random teacher from 4,000 examples. Task B plays fine-tuning: teacher B is teacher A with noise on every weight (30% of each weight's scale), and only 256 examples. Why this construction: B must be related to A (the pretrained model already scores nMSE 0.122 on B, well below the 1.0 of predicting the mean); how related is adjustable; and the change is full-rank, so the setup is tilted against finding low-rank structure. Anything low-rank in the student's ΔW comes from fine-tuning itself. The student's 128 x 128 middle matrix has no counterpart in the 16-32-4 teacher. This is an illustration, not evidence about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12. Left: a random matrix's singular values fall off slowly because no direction is special; ΔW's drop steeply. Right: in our run the top 8 directions held 55% of ΔW's energy against 22% for the random matrix (top 16: 74% vs 38%). ΔW is approximately, not exactly, low-rank: 8 directions still miss almost half of its energy. That matters less than it seems: LoRA does not have to copy the ΔW that full fine-tuning found; it only has to find some low-rank change that solves the task. The rank sweep later shows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slide. For a linear layer h = W0 x, with W0 of size d x k (output x input, as nn.Linear stores it), LoRA keeps W0 frozen and adds a trainable path. A compresses x from k to r features; B expands back to d. Because x is squeezed through r features, BA has rank at most r, whatever A and B learn. k and d change from matrix to matrix; r is a hyperparameter, usually the same for every adapted matrix. Warn that k here is not attention's keys, and d equals the model width only for some matrices.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shapes for a batch of N sequences of T tokens: x is (N, T, k); x @ A.T is (N, T, r); then @ B.T is (N, T, d), the same shape as W0 x, so they add. Parameter count: the frozen path has d x k weights, the trainable path r x (d + k). For Qwen2.5-0.5B's q_proj (896 x 896) at r = 8, that is 14,336 trainable instead of 802,816: 1.8%. Note forward never builds the d x k matrix BA; that would cost as much as W0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B = 0, BA = 0, so at step 0 the model is exactly the pretrained model: training starts from what it knows. A must be random, otherwise nothing learns. Write g for the gradient of the loss with respect to the layer's output. Then dL/dB is proportional to g (Ax)^T, nonzero because A is random, and dL/dA is proportional to B^T g x^T, zero while B = 0. So in the first step only B moves; once B is nonzero, A gets gradients too. The notebook's peft demo shows exactly this: grad A norm 0, grad B norm 0.165 in layer 0's q_proj. The alpha/r factor keeps the size of the update roughly the same when r changes, so the learning rate need not be retuned per rank. The notebook uses alpha = 2r, so the scale is 2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LoRA does not factor W0; W0 stays full-size and frozen and only the update is written as BA. You choose which matrices get an update (target_modules in peft). Each chosen matrix gets its own A and B shaped by that matrix; nothing is shared between matrices or layers. k_proj and v_proj are narrow because of grouped-query attention: 14 query heads share 2 key/value heads of 64 features. The LoRA share is largest for those narrow matrices, because r(d + k) shrinks more slowly than dk when one side is small. The feed-forward block is SwiGLU with three matrices. The embeddings (the other 27.6% of the model, mostly the 151,936 x 896 table), the norms, and the biases get no adapter.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fine-tuned GPT-2 earlier, so show how the same decision looks there. GPT-2 computes q, k and v in one matrix, c_attn (768 to 2304), so an adapter on it updates all three together with one shared A; peft cannot adapt q and v but not k (the LoRA paper's own loralib could switch the k slice off). Two modules are called c_proj, and peft matches target_modules against the end of the name, so 'c_proj' selects both; write 'attn.c_proj' for the attention one only. GPT-2's Conv1D is an ordinary linear layer stored transposed; peft sets fan_in_fan_out=True automatically, with a warning. Rule: print a layer before writing target_modules.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19 and walk through the class. The constructor freezes the wrapped layer's weight and bias, stores alpha/r, creates A (r x k) with nn.Linear's own init (also peft's default for A) and B (d x r) at zero. forward computes the frozen path, then adds the scaled trainable path, never forming BA. add_lora freezes the whole model first (embeddings and norms too) and replaces every matching nn.Linear with the wrapper; list() snapshots the modules so replacing children does not disturb the loop. merge and unmerge are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22. Check 1: torch.equal, not allclose: at initialization the LoRA model computes exactly the pretrained function, because B is zero. Check 2: after one backward pass only the A and B tensors have gradients. Gradients still flow through the frozen layers, because the earlier layers' A and B need them, but the frozen weights' own gradients are never stored. Check 3: the trainable count matches r(in + out) summed over wrapped layers. The toy MLP is tiny, so 10% is trainable; at real scale it is far smaller. The same three checks are repeated on Qwen2.5 with peft in Section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computes B @ A once, the only place the class builds the d x k matrix, scales it and adds it into W0 in place, then sets merged = True so forward skips the A/B path; without the flag the update would be applied twice. unmerge subtracts the same quantity. Both run under torch.no_grad because they are weight edits, not training steps, and both check the flag first. Why merging does not change the output: matrix multiplication distributes over addition. The unmerged form costs r(d + k) extra multiply-adds per token (1.8% for q_proj at r = 8), but also extra small GPU kernels, which can matter more during token-by-token generation. Common mistakes: loading a new adapter onto a merged model without unmerging (both updates apply); merging before training is finished (A and B stop receiving gradients); deleting the adapter after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cells 25 and 26. Same pretrained model, LoRA on all three linear layers at r = 1 to 16 with alpha = 2r. Every method tries three learning rates (1e-3, 3e-3, 1e-2) and keeps the best by validation score, so no method is favoured by a fixed rate; in a real project you would then report a separate test score. Read the trends, not the third decimal: one seed, toy model. Pretraining matters: from scratch on 256 examples reached 0.034; LoRA r = 1 with 532 parameters reached 0.017. The curve flattens fast: r = 8 matched full fine-tuning (0.008) with 4,256 instead of 19,204 trainable parameters. The best rate was 1e-3 for full fine-tuning and for LoRA r &gt;= 2, so the 'LoRA needs a larger learning rate' rule of thumb did not hold here. Hu et al. report the same pattern on GPT-3 175B: q and v adapters with ranks as small as 1 performed comparably to much higher ranks on their benchmarks. Tasks further from pretraining can need larger ranks or more target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29: merging every layer changed the outputs by at most 4.8e-7, floating-point rounding. Merging changes how the result is computed, not the result. Run cell 31: a second r = 4 adapter is trained on task C (another perturbation of teacher A). Loading only A and B onto the same base switches the task. Each adapter does best on its own task, and on the other task it is worse than the untouched base (0.265 vs the base's 0.122 on task B): an adapter specializes; it does not add general skill. In this toy the adapter (0.011 MB) is not much smaller than the model (0.080 MB), because the model is tiny. At real scale: Section 9 saves a 2.2 MB adapter for a 1 GB model, and Hu et al. report about 35 MB instead of 350 GB for GPT-3 175B.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cell 34. Two common choices: q_proj and v_proj only (the original LoRA paper's setting) and all linear layers (often more accurate for larger changes, used by QLoRA). The trainable fraction is about 0.1% or less for q,v and 0.5-2% even for all linear layers at r = 16. With LoRA the frozen weights need only their 16-bit values (2 bytes per parameter) and only the adapter pays 16 bytes. Qwen2.5-1.5B goes from about 25 GB to about 3.4 GB and fits a T4 easily. The 7B model is still about 15.9 GB: the frozen weights alone fill the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LoRA removes gradients, master copies and optimizer state for the frozen weights: 14 of the 16 bytes per parameter. It does not shrink the frozen weights themselves: for the 7B model about 15 GB, which leaves almost no room for activations on a 16 GB T4. And it barely shrinks activations: the backward pass still runs through every layer to reach the adapters. Gradient checkpointing (recompute activations instead of storing them) is the usual remedy. Storage is the other big win: ten 7B task models are 152 GB as full copies, or 15.2 GB of base plus ten 81 MB adapters. To fit 7B on a T4 the frozen weights themselves must shrink: quantization, and LoRA on a quantized base is QLoRA,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Section 9, needs a T4 and internet (cells 38, 40, 42). LoraConfig describes the adapter: rank, alpha, dropout on the adapter's input, and the modules to wrap; get_peft_model does what our add_lora did. Every check from the from-scratch version passed on Qwen2.5-0.5B: peft's count, 540,672, is exactly our formula's; its 'all params' includes the adapter, which is why its percentage differs slightly. Logit difference at initialization exactly 0.0. 96 tensors got gradients = 24 layers x 2 modules x 2 matrices, all LoRA. grad A = 0 and grad B = 0.165 in the first backward pass. The adapter file is 2.18 MB = 540,672 x 4 bytes: peft keeps adapters in fp32 even on an fp16 base (autocast_adapter_dtype=True), for the reason in the Supplement. Reload with PeftModel.from_pretrained(base_model, out_dir). merge_and_unload is our merge: the result is a plain Linear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misconceptions explicitly; each is common. LoRA makes training cheaper and checkpoints smaller; it does not make the model smaller. Rank r is per matrix: Qwen2.5-0.5B with q,v adapters has 48 separate rank-8 updates. Activations are mostly not saved. And PEFT is an adaptation method, not an evaluation technique, despite the syllabus heading: a LoRA model is evaluated like any fine-tuned model, against the base model and full fine-tuning with the same prompts, data and decoding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notebook's eight questions, for think-pair-share. Answers: 1) 16 x (4096 + 4096) = 131,072, which is 0.78% of 16,777,216. 2) B = 0 makes BA = 0 so training starts at the pretrained model; A random so B gets gradients; both zero means both gradients stay zero; both random starts from a disturbed model. 3) Only B: dL/dB ~ g(Ax)^T is nonzero, dL/dA ~ B^T g x^T is zero while B = 0. 5) The same: the merged weight is an ordinary d x k matrix; keep unmerged to serve several tasks or switch adapters. 6) Removes gradients, master copies and optimizer state for frozen weights (14 of 16 bytes); not the 16-bit weights or, mostly, activations. 8) The 16-bit weights alone take about 15 GB, leaving nothing for activations and overhead; the weights themselves must shrink: QLoRA.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takeaways. Next lecture: quantization and QLoRA, which shrinks the frozen weights so a larger model fits on a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number-formats refresher (floating_point_formats.ipynb, Sections 2-3). Floating point is scientific notation in binary: a sign, an exponent stored with a bias, and a mantissa holding the digits after the leading 1, which is not stored. Worked example: 6.25 = 110.01 in binary = 1.1001 x 2^2. The mantissa is 1001 padded with zeros; the stored exponent is 2 + bias: 129 for fp32 and bf16, 17 for fp16. All three formats store -6.25 exactly. Note that bf16 has the same sign and exponent as fp32 and the first 7 mantissa bits: bf16 is the top half of fp32.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from torch.finfo (refresher Section 3). Machine epsilon, the gap above 1.0, is 2^-m, so each mantissa bit halves it. The two 16-bit formats make opposite trade-offs: fp16 spends bits on precision and has a narrow range (65,504 maximum); bf16 keeps fp32's range and gives up precision. Storing weights in 16-bit is usually fine (Section 5): for 100,000 weights of scale 0.02 the median relative error was 1.7e-4 in fp16 and 1.4e-3 in bf16, and a layer's output error was about the same size, because rounding errors point in random directions and mostly cancel. That is why checkpoints are distributed in 16-bit and why a frozen LoRA base can be loaded in fp16.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Refresher Section 6, with its saved outputs. Lost updates: a weight of 1.0 gets +0.0001 a thousand times. fp32 reaches 1.100017; fp16 and bf16 never move, because 1.0001 rounds back to 1.0 every time. An fp32 master copy keeps the updates. Overflow: e^12 is about 162,755, above fp16's 65,504, so it becomes inf and the naive softmax gives NaN; subtracting the max (torch.softmax does) or bf16 fixes it. Underflow: of illustrative gradients spread from 1e-10 to 1e-3, 35.1% become exactly 0 in fp16; scaling the loss by 2^16 brings that to 0%, and bf16 needs no scaling. These three are why mixed-precision training costs 16 bytes per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Refresher Section 7 (Micikevicius et al., 2018). The forward and backward passes, almost all the compute, run in 16-bit on fast tensor cores. The weights that accumulate small updates, and the optimizer, stay in fp32. With fp16 the loss is scaled and the gradients unscaled; overflow-prone operations such as softmax and normalization run in fp32 under autocast. In the Trainer one flag does all of this: fp16=True on a T4, bf16=True on Ampere or newer. The T4 has no native bf16 support, which is why the course's Kaggle notebooks load models with dtype=torch.float16. Many recent LLMs, Qwen2.5 included, are distributed in bf16; one that overflows in fp16 produces inf or 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Refresher Section 9. The frozen base is never updated, so lost updates cannot happen to it: no master copy, no gradient, no optimizer state, 2 bytes per parameter, loaded with dtype=torch.float16 on a T4. The adapters are updated every step by tiny amounts, so peft keeps them in fp32 (autocast_adapter_dtype=True), 16 bytes each, cheap because there are few. The gradient signal still flows backward through every 16-bit layer to reach the adapters, so overflow and underflow still apply: fp16=True with loss scaling on a T4. Merging rounds: W0 + (alpha/r)BA is stored back in 16-bit and a small update can be partly lost, so compare a few outputs after merging. QLoRA stores W0 in 4-bit NF4 but computes in a 16-bit compute dtype (bnb_4bit_compute_dtype): float16 on a T4. Symptoms: NaN loss in fp16 means overflow or no loss scaling; 'Attempting to unscale FP16 gradients' means the adapter weights were made fp16.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400" dirty="0">
                <a:solidFill>
                  <a:schemeClr val="accent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PEFT and LoRA · Generative AI, Module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Parameter-Efficient Fine-Tuning and LoRA</a:t>
            </a: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400" dirty="0">
                <a:solidFill>
                  <a:schemeClr val="accent2"/>
                </a:solidFill>
              </a:rPr>
              <a:t>Train a small low-rank update; keep the pretrained weights frozen</a:t>
            </a:r>
            <a:endParaRPr lang="en-US" sz="24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1"/>
                </a:solidFill>
              </a:rPr>
              <a:t>Generative AI (ABAI3009L) · Module 3: Training and Fine-tuning LLMs</a:t>
            </a:r>
            <a:endParaRPr lang="en-US" sz="16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400" dirty="0">
                <a:solidFill>
                  <a:srgbClr val="C9CFDA"/>
                </a:solidFill>
              </a:rPr>
              <a:t>Companion notebook: module3/lectures/peft/peft_lora.ipynb</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you will learn</a:t>
            </a:r>
            <a:endParaRPr lang="en-US" sz="3200" dirty="0"/>
          </a:p>
        </p:txBody>
      </p:sp>
      <p:sp>
        <p:nvSpPr>
          <p:cNvPr id="4" name="objective 1"/>
          <p:cNvSpPr/>
          <p:nvPr/>
        </p:nvSpPr>
        <p:spPr>
          <a:xfrm>
            <a:off x="548640" y="1325880"/>
            <a:ext cx="3474720" cy="2194560"/>
          </a:xfrm>
          <a:prstGeom prst="roundRect">
            <a:avLst>
              <a:gd name="adj" fmla="val 5000"/>
            </a:avLst>
          </a:prstGeom>
          <a:solidFill>
            <a:schemeClr val="bg2"/>
          </a:solidFill>
          <a:ln w="12700">
            <a:solidFill>
              <a:schemeClr val="bg2"/>
            </a:solidFill>
            <a:prstDash val="solid"/>
          </a:ln>
        </p:spPr>
      </p:sp>
      <p:sp>
        <p:nvSpPr>
          <p:cNvPr id="5" name="Shape 2"/>
          <p:cNvSpPr/>
          <p:nvPr/>
        </p:nvSpPr>
        <p:spPr>
          <a:xfrm>
            <a:off x="822960" y="160020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508760" y="1600200"/>
            <a:ext cx="2331720" cy="548640"/>
          </a:xfrm>
          <a:prstGeom prst="rect">
            <a:avLst/>
          </a:prstGeom>
          <a:noFill/>
          <a:ln/>
        </p:spPr>
        <p:txBody>
          <a:bodyPr wrap="square" lIns="0" tIns="0" rIns="0" bIns="0" rtlCol="0" anchor="ctr"/>
          <a:lstStyle/>
          <a:p>
            <a:pPr indent="0" marL="0">
              <a:buNone/>
            </a:pPr>
            <a:r>
              <a:rPr lang="en-US" sz="1800" b="1" dirty="0">
                <a:solidFill>
                  <a:schemeClr val="tx1"/>
                </a:solidFill>
              </a:rPr>
              <a:t>The cost</a:t>
            </a:r>
            <a:endParaRPr lang="en-US" sz="1800" dirty="0"/>
          </a:p>
        </p:txBody>
      </p:sp>
      <p:sp>
        <p:nvSpPr>
          <p:cNvPr id="8" name="Text 5"/>
          <p:cNvSpPr txBox="1"/>
          <p:nvPr/>
        </p:nvSpPr>
        <p:spPr>
          <a:xfrm>
            <a:off x="822960" y="2286000"/>
            <a:ext cx="2971800" cy="1097280"/>
          </a:xfrm>
          <a:prstGeom prst="rect">
            <a:avLst/>
          </a:prstGeom>
          <a:noFill/>
          <a:ln/>
        </p:spPr>
        <p:txBody>
          <a:bodyPr wrap="square" lIns="0" tIns="0" rIns="0" bIns="0" rtlCol="0" anchor="t"/>
          <a:lstStyle/>
          <a:p>
            <a:pPr indent="0" marL="0">
              <a:buNone/>
            </a:pPr>
            <a:r>
              <a:rPr lang="en-US" sz="1500" dirty="0">
                <a:solidFill>
                  <a:schemeClr val="tx2"/>
                </a:solidFill>
              </a:rPr>
              <a:t>What full fine-tuning costs in memory and storage, and where that cost comes from</a:t>
            </a:r>
            <a:endParaRPr lang="en-US" sz="1500" dirty="0"/>
          </a:p>
        </p:txBody>
      </p:sp>
      <p:sp>
        <p:nvSpPr>
          <p:cNvPr id="9" name="objective 2"/>
          <p:cNvSpPr/>
          <p:nvPr/>
        </p:nvSpPr>
        <p:spPr>
          <a:xfrm>
            <a:off x="4297680" y="1325880"/>
            <a:ext cx="3474720" cy="2194560"/>
          </a:xfrm>
          <a:prstGeom prst="roundRect">
            <a:avLst>
              <a:gd name="adj" fmla="val 5000"/>
            </a:avLst>
          </a:prstGeom>
          <a:solidFill>
            <a:schemeClr val="bg2"/>
          </a:solidFill>
          <a:ln w="12700">
            <a:solidFill>
              <a:schemeClr val="bg2"/>
            </a:solidFill>
            <a:prstDash val="solid"/>
          </a:ln>
        </p:spPr>
      </p:sp>
      <p:sp>
        <p:nvSpPr>
          <p:cNvPr id="10" name="Shape 7"/>
          <p:cNvSpPr/>
          <p:nvPr/>
        </p:nvSpPr>
        <p:spPr>
          <a:xfrm>
            <a:off x="4572000" y="1600200"/>
            <a:ext cx="548640" cy="548640"/>
          </a:xfrm>
          <a:prstGeom prst="ellipse">
            <a:avLst/>
          </a:prstGeom>
          <a:solidFill>
            <a:schemeClr val="accent4"/>
          </a:solidFill>
          <a:ln w="12700">
            <a:solidFill>
              <a:schemeClr val="accent4"/>
            </a:solidFill>
            <a:prstDash val="solid"/>
          </a:ln>
        </p:spPr>
      </p:sp>
      <p:sp>
        <p:nvSpPr>
          <p:cNvPr id="11" name="Text 8"/>
          <p:cNvSpPr txBox="1"/>
          <p:nvPr/>
        </p:nvSpPr>
        <p:spPr>
          <a:xfrm>
            <a:off x="457200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5257800" y="1600200"/>
            <a:ext cx="2331720" cy="548640"/>
          </a:xfrm>
          <a:prstGeom prst="rect">
            <a:avLst/>
          </a:prstGeom>
          <a:noFill/>
          <a:ln/>
        </p:spPr>
        <p:txBody>
          <a:bodyPr wrap="square" lIns="0" tIns="0" rIns="0" bIns="0" rtlCol="0" anchor="ctr"/>
          <a:lstStyle/>
          <a:p>
            <a:pPr indent="0" marL="0">
              <a:buNone/>
            </a:pPr>
            <a:r>
              <a:rPr lang="en-US" sz="1800" b="1" dirty="0">
                <a:solidFill>
                  <a:schemeClr val="tx1"/>
                </a:solidFill>
              </a:rPr>
              <a:t>The PEFT family</a:t>
            </a:r>
            <a:endParaRPr lang="en-US" sz="1800" dirty="0"/>
          </a:p>
        </p:txBody>
      </p:sp>
      <p:sp>
        <p:nvSpPr>
          <p:cNvPr id="13" name="Text 10"/>
          <p:cNvSpPr txBox="1"/>
          <p:nvPr/>
        </p:nvSpPr>
        <p:spPr>
          <a:xfrm>
            <a:off x="4572000" y="2286000"/>
            <a:ext cx="2971800" cy="1097280"/>
          </a:xfrm>
          <a:prstGeom prst="rect">
            <a:avLst/>
          </a:prstGeom>
          <a:noFill/>
          <a:ln/>
        </p:spPr>
        <p:txBody>
          <a:bodyPr wrap="square" lIns="0" tIns="0" rIns="0" bIns="0" rtlCol="0" anchor="t"/>
          <a:lstStyle/>
          <a:p>
            <a:pPr indent="0" marL="0">
              <a:buNone/>
            </a:pPr>
            <a:r>
              <a:rPr lang="en-US" sz="1500" dirty="0">
                <a:solidFill>
                  <a:schemeClr val="tx2"/>
                </a:solidFill>
              </a:rPr>
              <a:t>Adapters, prompt tuning, BitFit and LoRA differ in what they train</a:t>
            </a:r>
            <a:endParaRPr lang="en-US" sz="1500" dirty="0"/>
          </a:p>
        </p:txBody>
      </p:sp>
      <p:sp>
        <p:nvSpPr>
          <p:cNvPr id="14" name="objective 3"/>
          <p:cNvSpPr/>
          <p:nvPr/>
        </p:nvSpPr>
        <p:spPr>
          <a:xfrm>
            <a:off x="8046720" y="1325880"/>
            <a:ext cx="3474720" cy="2194560"/>
          </a:xfrm>
          <a:prstGeom prst="roundRect">
            <a:avLst>
              <a:gd name="adj" fmla="val 5000"/>
            </a:avLst>
          </a:prstGeom>
          <a:solidFill>
            <a:schemeClr val="bg2"/>
          </a:solidFill>
          <a:ln w="12700">
            <a:solidFill>
              <a:schemeClr val="bg2"/>
            </a:solidFill>
            <a:prstDash val="solid"/>
          </a:ln>
        </p:spPr>
      </p:sp>
      <p:sp>
        <p:nvSpPr>
          <p:cNvPr id="15" name="Shape 12"/>
          <p:cNvSpPr/>
          <p:nvPr/>
        </p:nvSpPr>
        <p:spPr>
          <a:xfrm>
            <a:off x="8321040" y="1600200"/>
            <a:ext cx="548640" cy="548640"/>
          </a:xfrm>
          <a:prstGeom prst="ellipse">
            <a:avLst/>
          </a:prstGeom>
          <a:solidFill>
            <a:schemeClr val="accent1"/>
          </a:solidFill>
          <a:ln w="12700">
            <a:solidFill>
              <a:schemeClr val="accent1"/>
            </a:solidFill>
            <a:prstDash val="solid"/>
          </a:ln>
        </p:spPr>
      </p:sp>
      <p:sp>
        <p:nvSpPr>
          <p:cNvPr id="16" name="Text 13"/>
          <p:cNvSpPr txBox="1"/>
          <p:nvPr/>
        </p:nvSpPr>
        <p:spPr>
          <a:xfrm>
            <a:off x="832104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9006840" y="1600200"/>
            <a:ext cx="2331720" cy="548640"/>
          </a:xfrm>
          <a:prstGeom prst="rect">
            <a:avLst/>
          </a:prstGeom>
          <a:noFill/>
          <a:ln/>
        </p:spPr>
        <p:txBody>
          <a:bodyPr wrap="square" lIns="0" tIns="0" rIns="0" bIns="0" rtlCol="0" anchor="ctr"/>
          <a:lstStyle/>
          <a:p>
            <a:pPr indent="0" marL="0">
              <a:buNone/>
            </a:pPr>
            <a:r>
              <a:rPr lang="en-US" sz="1800" b="1" dirty="0">
                <a:solidFill>
                  <a:schemeClr val="tx1"/>
                </a:solidFill>
              </a:rPr>
              <a:t>Low intrinsic rank</a:t>
            </a:r>
            <a:endParaRPr lang="en-US" sz="1800" dirty="0"/>
          </a:p>
        </p:txBody>
      </p:sp>
      <p:sp>
        <p:nvSpPr>
          <p:cNvPr id="18" name="Text 15"/>
          <p:cNvSpPr txBox="1"/>
          <p:nvPr/>
        </p:nvSpPr>
        <p:spPr>
          <a:xfrm>
            <a:off x="8321040" y="2286000"/>
            <a:ext cx="2971800" cy="1097280"/>
          </a:xfrm>
          <a:prstGeom prst="rect">
            <a:avLst/>
          </a:prstGeom>
          <a:noFill/>
          <a:ln/>
        </p:spPr>
        <p:txBody>
          <a:bodyPr wrap="square" lIns="0" tIns="0" rIns="0" bIns="0" rtlCol="0" anchor="t"/>
          <a:lstStyle/>
          <a:p>
            <a:pPr indent="0" marL="0">
              <a:buNone/>
            </a:pPr>
            <a:r>
              <a:rPr lang="en-US" sz="1500" dirty="0">
                <a:solidFill>
                  <a:schemeClr val="tx2"/>
                </a:solidFill>
              </a:rPr>
              <a:t>Why the update may need far fewer degrees of freedom than the weight</a:t>
            </a:r>
            <a:endParaRPr lang="en-US" sz="1500" dirty="0"/>
          </a:p>
        </p:txBody>
      </p:sp>
      <p:sp>
        <p:nvSpPr>
          <p:cNvPr id="19" name="objective 4"/>
          <p:cNvSpPr/>
          <p:nvPr/>
        </p:nvSpPr>
        <p:spPr>
          <a:xfrm>
            <a:off x="548640" y="3749040"/>
            <a:ext cx="3474720" cy="2194560"/>
          </a:xfrm>
          <a:prstGeom prst="roundRect">
            <a:avLst>
              <a:gd name="adj" fmla="val 5000"/>
            </a:avLst>
          </a:prstGeom>
          <a:solidFill>
            <a:schemeClr val="bg2"/>
          </a:solidFill>
          <a:ln w="12700">
            <a:solidFill>
              <a:schemeClr val="bg2"/>
            </a:solidFill>
            <a:prstDash val="solid"/>
          </a:ln>
        </p:spPr>
      </p:sp>
      <p:sp>
        <p:nvSpPr>
          <p:cNvPr id="20" name="Shape 17"/>
          <p:cNvSpPr/>
          <p:nvPr/>
        </p:nvSpPr>
        <p:spPr>
          <a:xfrm>
            <a:off x="822960" y="4023360"/>
            <a:ext cx="548640" cy="548640"/>
          </a:xfrm>
          <a:prstGeom prst="ellipse">
            <a:avLst/>
          </a:prstGeom>
          <a:solidFill>
            <a:schemeClr val="accent4"/>
          </a:solidFill>
          <a:ln w="12700">
            <a:solidFill>
              <a:schemeClr val="accent4"/>
            </a:solidFill>
            <a:prstDash val="solid"/>
          </a:ln>
        </p:spPr>
      </p:sp>
      <p:sp>
        <p:nvSpPr>
          <p:cNvPr id="21" name="Text 18"/>
          <p:cNvSpPr txBox="1"/>
          <p:nvPr/>
        </p:nvSpPr>
        <p:spPr>
          <a:xfrm>
            <a:off x="822960" y="4023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Text 19"/>
          <p:cNvSpPr txBox="1"/>
          <p:nvPr/>
        </p:nvSpPr>
        <p:spPr>
          <a:xfrm>
            <a:off x="1508760" y="4023360"/>
            <a:ext cx="2331720" cy="548640"/>
          </a:xfrm>
          <a:prstGeom prst="rect">
            <a:avLst/>
          </a:prstGeom>
          <a:noFill/>
          <a:ln/>
        </p:spPr>
        <p:txBody>
          <a:bodyPr wrap="square" lIns="0" tIns="0" rIns="0" bIns="0" rtlCol="0" anchor="ctr"/>
          <a:lstStyle/>
          <a:p>
            <a:pPr indent="0" marL="0">
              <a:buNone/>
            </a:pPr>
            <a:r>
              <a:rPr lang="en-US" sz="1800" b="1" dirty="0">
                <a:solidFill>
                  <a:schemeClr val="tx1"/>
                </a:solidFill>
              </a:rPr>
              <a:t>The LoRA update</a:t>
            </a:r>
            <a:endParaRPr lang="en-US" sz="1800" dirty="0"/>
          </a:p>
        </p:txBody>
      </p:sp>
      <p:sp>
        <p:nvSpPr>
          <p:cNvPr id="23" name="Text 20"/>
          <p:cNvSpPr txBox="1"/>
          <p:nvPr/>
        </p:nvSpPr>
        <p:spPr>
          <a:xfrm>
            <a:off x="822960" y="4709160"/>
            <a:ext cx="2971800" cy="1097280"/>
          </a:xfrm>
          <a:prstGeom prst="rect">
            <a:avLst/>
          </a:prstGeom>
          <a:noFill/>
          <a:ln/>
        </p:spPr>
        <p:txBody>
          <a:bodyPr wrap="square" lIns="0" tIns="0" rIns="0" bIns="0" rtlCol="0" anchor="t"/>
          <a:lstStyle/>
          <a:p>
            <a:pPr indent="0" marL="0">
              <a:buNone/>
            </a:pPr>
            <a:r>
              <a:rPr lang="en-US" sz="1500" dirty="0">
                <a:solidFill>
                  <a:schemeClr val="tx2"/>
                </a:solidFill>
              </a:rPr>
              <a:t>ΔW = (α/r)·BA: shapes, parameter count, and why B starts at zero</a:t>
            </a:r>
            <a:endParaRPr lang="en-US" sz="1500" dirty="0"/>
          </a:p>
        </p:txBody>
      </p:sp>
      <p:sp>
        <p:nvSpPr>
          <p:cNvPr id="24" name="objective 5"/>
          <p:cNvSpPr/>
          <p:nvPr/>
        </p:nvSpPr>
        <p:spPr>
          <a:xfrm>
            <a:off x="4297680" y="3749040"/>
            <a:ext cx="3474720" cy="2194560"/>
          </a:xfrm>
          <a:prstGeom prst="roundRect">
            <a:avLst>
              <a:gd name="adj" fmla="val 5000"/>
            </a:avLst>
          </a:prstGeom>
          <a:solidFill>
            <a:schemeClr val="bg2"/>
          </a:solidFill>
          <a:ln w="12700">
            <a:solidFill>
              <a:schemeClr val="bg2"/>
            </a:solidFill>
            <a:prstDash val="solid"/>
          </a:ln>
        </p:spPr>
      </p:sp>
      <p:sp>
        <p:nvSpPr>
          <p:cNvPr id="25" name="Shape 22"/>
          <p:cNvSpPr/>
          <p:nvPr/>
        </p:nvSpPr>
        <p:spPr>
          <a:xfrm>
            <a:off x="4572000" y="4023360"/>
            <a:ext cx="548640" cy="548640"/>
          </a:xfrm>
          <a:prstGeom prst="ellipse">
            <a:avLst/>
          </a:prstGeom>
          <a:solidFill>
            <a:schemeClr val="accent1"/>
          </a:solidFill>
          <a:ln w="12700">
            <a:solidFill>
              <a:schemeClr val="accent1"/>
            </a:solidFill>
            <a:prstDash val="solid"/>
          </a:ln>
        </p:spPr>
      </p:sp>
      <p:sp>
        <p:nvSpPr>
          <p:cNvPr id="26" name="Text 23"/>
          <p:cNvSpPr txBox="1"/>
          <p:nvPr/>
        </p:nvSpPr>
        <p:spPr>
          <a:xfrm>
            <a:off x="4572000" y="4023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7" name="Text 24"/>
          <p:cNvSpPr txBox="1"/>
          <p:nvPr/>
        </p:nvSpPr>
        <p:spPr>
          <a:xfrm>
            <a:off x="5257800" y="4023360"/>
            <a:ext cx="2331720" cy="548640"/>
          </a:xfrm>
          <a:prstGeom prst="rect">
            <a:avLst/>
          </a:prstGeom>
          <a:noFill/>
          <a:ln/>
        </p:spPr>
        <p:txBody>
          <a:bodyPr wrap="square" lIns="0" tIns="0" rIns="0" bIns="0" rtlCol="0" anchor="ctr"/>
          <a:lstStyle/>
          <a:p>
            <a:pPr indent="0" marL="0">
              <a:buNone/>
            </a:pPr>
            <a:r>
              <a:rPr lang="en-US" sz="1800" b="1" dirty="0">
                <a:solidFill>
                  <a:schemeClr val="tx1"/>
                </a:solidFill>
              </a:rPr>
              <a:t>Build and check it</a:t>
            </a:r>
            <a:endParaRPr lang="en-US" sz="1800" dirty="0"/>
          </a:p>
        </p:txBody>
      </p:sp>
      <p:sp>
        <p:nvSpPr>
          <p:cNvPr id="28" name="Text 25"/>
          <p:cNvSpPr txBox="1"/>
          <p:nvPr/>
        </p:nvSpPr>
        <p:spPr>
          <a:xfrm>
            <a:off x="4572000" y="4709160"/>
            <a:ext cx="2971800" cy="1097280"/>
          </a:xfrm>
          <a:prstGeom prst="rect">
            <a:avLst/>
          </a:prstGeom>
          <a:noFill/>
          <a:ln/>
        </p:spPr>
        <p:txBody>
          <a:bodyPr wrap="square" lIns="0" tIns="0" rIns="0" bIns="0" rtlCol="0" anchor="t"/>
          <a:lstStyle/>
          <a:p>
            <a:pPr indent="0" marL="0">
              <a:buNone/>
            </a:pPr>
            <a:r>
              <a:rPr lang="en-US" sz="1500" dirty="0">
                <a:solidFill>
                  <a:schemeClr val="tx2"/>
                </a:solidFill>
              </a:rPr>
              <a:t>LoRA from scratch, three checks, merging, and swapping adapters</a:t>
            </a:r>
            <a:endParaRPr lang="en-US" sz="1500" dirty="0"/>
          </a:p>
        </p:txBody>
      </p:sp>
      <p:sp>
        <p:nvSpPr>
          <p:cNvPr id="29" name="objective 6"/>
          <p:cNvSpPr/>
          <p:nvPr/>
        </p:nvSpPr>
        <p:spPr>
          <a:xfrm>
            <a:off x="8046720" y="3749040"/>
            <a:ext cx="3474720" cy="2194560"/>
          </a:xfrm>
          <a:prstGeom prst="roundRect">
            <a:avLst>
              <a:gd name="adj" fmla="val 5000"/>
            </a:avLst>
          </a:prstGeom>
          <a:solidFill>
            <a:schemeClr val="bg2"/>
          </a:solidFill>
          <a:ln w="12700">
            <a:solidFill>
              <a:schemeClr val="bg2"/>
            </a:solidFill>
            <a:prstDash val="solid"/>
          </a:ln>
        </p:spPr>
      </p:sp>
      <p:sp>
        <p:nvSpPr>
          <p:cNvPr id="30" name="Shape 27"/>
          <p:cNvSpPr/>
          <p:nvPr/>
        </p:nvSpPr>
        <p:spPr>
          <a:xfrm>
            <a:off x="8321040" y="4023360"/>
            <a:ext cx="548640" cy="548640"/>
          </a:xfrm>
          <a:prstGeom prst="ellipse">
            <a:avLst/>
          </a:prstGeom>
          <a:solidFill>
            <a:schemeClr val="accent4"/>
          </a:solidFill>
          <a:ln w="12700">
            <a:solidFill>
              <a:schemeClr val="accent4"/>
            </a:solidFill>
            <a:prstDash val="solid"/>
          </a:ln>
        </p:spPr>
      </p:sp>
      <p:sp>
        <p:nvSpPr>
          <p:cNvPr id="31" name="Text 28"/>
          <p:cNvSpPr txBox="1"/>
          <p:nvPr/>
        </p:nvSpPr>
        <p:spPr>
          <a:xfrm>
            <a:off x="8321040" y="40233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2" name="Text 29"/>
          <p:cNvSpPr txBox="1"/>
          <p:nvPr/>
        </p:nvSpPr>
        <p:spPr>
          <a:xfrm>
            <a:off x="9006840" y="4023360"/>
            <a:ext cx="2331720" cy="548640"/>
          </a:xfrm>
          <a:prstGeom prst="rect">
            <a:avLst/>
          </a:prstGeom>
          <a:noFill/>
          <a:ln/>
        </p:spPr>
        <p:txBody>
          <a:bodyPr wrap="square" lIns="0" tIns="0" rIns="0" bIns="0" rtlCol="0" anchor="ctr"/>
          <a:lstStyle/>
          <a:p>
            <a:pPr indent="0" marL="0">
              <a:buNone/>
            </a:pPr>
            <a:r>
              <a:rPr lang="en-US" sz="1800" b="1" dirty="0">
                <a:solidFill>
                  <a:schemeClr val="tx1"/>
                </a:solidFill>
              </a:rPr>
              <a:t>At real scale</a:t>
            </a:r>
            <a:endParaRPr lang="en-US" sz="1800" dirty="0"/>
          </a:p>
        </p:txBody>
      </p:sp>
      <p:sp>
        <p:nvSpPr>
          <p:cNvPr id="33" name="Text 30"/>
          <p:cNvSpPr txBox="1"/>
          <p:nvPr/>
        </p:nvSpPr>
        <p:spPr>
          <a:xfrm>
            <a:off x="8321040" y="4709160"/>
            <a:ext cx="2971800" cy="1097280"/>
          </a:xfrm>
          <a:prstGeom prst="rect">
            <a:avLst/>
          </a:prstGeom>
          <a:noFill/>
          <a:ln/>
        </p:spPr>
        <p:txBody>
          <a:bodyPr wrap="square" lIns="0" tIns="0" rIns="0" bIns="0" rtlCol="0" anchor="t"/>
          <a:lstStyle/>
          <a:p>
            <a:pPr indent="0" marL="0">
              <a:buNone/>
            </a:pPr>
            <a:r>
              <a:rPr lang="en-US" sz="1500" dirty="0">
                <a:solidFill>
                  <a:schemeClr val="tx2"/>
                </a:solidFill>
              </a:rPr>
              <a:t>What LoRA saves for Qwen2.5 and what it does not; the same with peft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cost: 16 bytes per parameter</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3, 5</a:t>
            </a:r>
            <a:endParaRPr lang="en-US" sz="1400" dirty="0"/>
          </a:p>
        </p:txBody>
      </p:sp>
      <p:sp>
        <p:nvSpPr>
          <p:cNvPr id="6" name="Text 3"/>
          <p:cNvSpPr txBox="1"/>
          <p:nvPr/>
        </p:nvSpPr>
        <p:spPr>
          <a:xfrm>
            <a:off x="548640" y="1280160"/>
            <a:ext cx="5669280" cy="365760"/>
          </a:xfrm>
          <a:prstGeom prst="rect">
            <a:avLst/>
          </a:prstGeom>
          <a:noFill/>
          <a:ln/>
        </p:spPr>
        <p:txBody>
          <a:bodyPr wrap="square" lIns="0" tIns="0" rIns="0" bIns="0" rtlCol="0" anchor="t"/>
          <a:lstStyle/>
          <a:p>
            <a:pPr indent="0" marL="0">
              <a:buNone/>
            </a:pPr>
            <a:r>
              <a:rPr lang="en-US" sz="1600" b="1" dirty="0">
                <a:solidFill>
                  <a:schemeClr val="tx1"/>
                </a:solidFill>
              </a:rPr>
              <a:t>Training state per trainable parameter (mixed-precision AdamW)</a:t>
            </a:r>
            <a:endParaRPr lang="en-US" sz="1600" dirty="0"/>
          </a:p>
        </p:txBody>
      </p:sp>
      <p:sp>
        <p:nvSpPr>
          <p:cNvPr id="7" name="trainable 2 B"/>
          <p:cNvSpPr/>
          <p:nvPr/>
        </p:nvSpPr>
        <p:spPr>
          <a:xfrm>
            <a:off x="548640" y="1783080"/>
            <a:ext cx="660654" cy="685800"/>
          </a:xfrm>
          <a:prstGeom prst="rect">
            <a:avLst/>
          </a:prstGeom>
          <a:solidFill>
            <a:schemeClr val="accent6"/>
          </a:solidFill>
          <a:ln w="15875">
            <a:solidFill>
              <a:schemeClr val="accent4"/>
            </a:solidFill>
            <a:prstDash val="solid"/>
          </a:ln>
        </p:spPr>
      </p:sp>
      <p:sp>
        <p:nvSpPr>
          <p:cNvPr id="8" name="Text 5"/>
          <p:cNvSpPr txBox="1"/>
          <p:nvPr/>
        </p:nvSpPr>
        <p:spPr>
          <a:xfrm>
            <a:off x="548640" y="1783080"/>
            <a:ext cx="660654" cy="685800"/>
          </a:xfrm>
          <a:prstGeom prst="rect">
            <a:avLst/>
          </a:prstGeom>
          <a:noFill/>
          <a:ln/>
        </p:spPr>
        <p:txBody>
          <a:bodyPr wrap="square" lIns="0" tIns="0" rIns="0" bIns="0" rtlCol="0" anchor="ctr"/>
          <a:lstStyle/>
          <a:p>
            <a:pPr algn="ctr" indent="0" marL="0">
              <a:buNone/>
            </a:pPr>
            <a:r>
              <a:rPr lang="en-US" sz="1600" dirty="0">
                <a:solidFill>
                  <a:schemeClr val="tx1"/>
                </a:solidFill>
              </a:rPr>
              <a:t>2 B</a:t>
            </a:r>
            <a:endParaRPr lang="en-US" sz="1600" dirty="0"/>
          </a:p>
        </p:txBody>
      </p:sp>
      <p:sp>
        <p:nvSpPr>
          <p:cNvPr id="9" name="Text 6"/>
          <p:cNvSpPr txBox="1"/>
          <p:nvPr/>
        </p:nvSpPr>
        <p:spPr>
          <a:xfrm>
            <a:off x="548640" y="2514600"/>
            <a:ext cx="660654" cy="502920"/>
          </a:xfrm>
          <a:prstGeom prst="rect">
            <a:avLst/>
          </a:prstGeom>
          <a:noFill/>
          <a:ln/>
        </p:spPr>
        <p:txBody>
          <a:bodyPr wrap="square" lIns="0" tIns="0" rIns="0" bIns="0" rtlCol="0" anchor="t"/>
          <a:lstStyle/>
          <a:p>
            <a:pPr algn="ctr" indent="0" marL="0">
              <a:buNone/>
            </a:pPr>
            <a:r>
              <a:rPr lang="en-US" sz="1300" dirty="0">
                <a:solidFill>
                  <a:schemeClr val="tx2"/>
                </a:solidFill>
              </a:rPr>
              <a:t>weight</a:t>
            </a:r>
            <a:endParaRPr lang="en-US" sz="1300" dirty="0"/>
          </a:p>
        </p:txBody>
      </p:sp>
      <p:sp>
        <p:nvSpPr>
          <p:cNvPr id="10" name="trainable 2 B"/>
          <p:cNvSpPr/>
          <p:nvPr/>
        </p:nvSpPr>
        <p:spPr>
          <a:xfrm>
            <a:off x="1245870" y="1783080"/>
            <a:ext cx="660654" cy="685800"/>
          </a:xfrm>
          <a:prstGeom prst="rect">
            <a:avLst/>
          </a:prstGeom>
          <a:solidFill>
            <a:schemeClr val="accent6"/>
          </a:solidFill>
          <a:ln w="15875">
            <a:solidFill>
              <a:schemeClr val="accent4"/>
            </a:solidFill>
            <a:prstDash val="solid"/>
          </a:ln>
        </p:spPr>
      </p:sp>
      <p:sp>
        <p:nvSpPr>
          <p:cNvPr id="11" name="Text 8"/>
          <p:cNvSpPr txBox="1"/>
          <p:nvPr/>
        </p:nvSpPr>
        <p:spPr>
          <a:xfrm>
            <a:off x="1245870" y="1783080"/>
            <a:ext cx="660654" cy="685800"/>
          </a:xfrm>
          <a:prstGeom prst="rect">
            <a:avLst/>
          </a:prstGeom>
          <a:noFill/>
          <a:ln/>
        </p:spPr>
        <p:txBody>
          <a:bodyPr wrap="square" lIns="0" tIns="0" rIns="0" bIns="0" rtlCol="0" anchor="ctr"/>
          <a:lstStyle/>
          <a:p>
            <a:pPr algn="ctr" indent="0" marL="0">
              <a:buNone/>
            </a:pPr>
            <a:r>
              <a:rPr lang="en-US" sz="1600" dirty="0">
                <a:solidFill>
                  <a:schemeClr val="tx1"/>
                </a:solidFill>
              </a:rPr>
              <a:t>2 B</a:t>
            </a:r>
            <a:endParaRPr lang="en-US" sz="1600" dirty="0"/>
          </a:p>
        </p:txBody>
      </p:sp>
      <p:sp>
        <p:nvSpPr>
          <p:cNvPr id="12" name="Text 9"/>
          <p:cNvSpPr txBox="1"/>
          <p:nvPr/>
        </p:nvSpPr>
        <p:spPr>
          <a:xfrm>
            <a:off x="1245870" y="2514600"/>
            <a:ext cx="660654" cy="502920"/>
          </a:xfrm>
          <a:prstGeom prst="rect">
            <a:avLst/>
          </a:prstGeom>
          <a:noFill/>
          <a:ln/>
        </p:spPr>
        <p:txBody>
          <a:bodyPr wrap="square" lIns="0" tIns="0" rIns="0" bIns="0" rtlCol="0" anchor="t"/>
          <a:lstStyle/>
          <a:p>
            <a:pPr algn="ctr" indent="0" marL="0">
              <a:buNone/>
            </a:pPr>
            <a:r>
              <a:rPr lang="en-US" sz="1300" dirty="0">
                <a:solidFill>
                  <a:schemeClr val="tx2"/>
                </a:solidFill>
              </a:rPr>
              <a:t>gradient</a:t>
            </a:r>
            <a:endParaRPr lang="en-US" sz="1300" dirty="0"/>
          </a:p>
        </p:txBody>
      </p:sp>
      <p:sp>
        <p:nvSpPr>
          <p:cNvPr id="13" name="frozen 4 B"/>
          <p:cNvSpPr/>
          <p:nvPr/>
        </p:nvSpPr>
        <p:spPr>
          <a:xfrm>
            <a:off x="1943100" y="1783080"/>
            <a:ext cx="1357884" cy="685800"/>
          </a:xfrm>
          <a:prstGeom prst="rect">
            <a:avLst/>
          </a:prstGeom>
          <a:solidFill>
            <a:schemeClr val="bg2"/>
          </a:solidFill>
          <a:ln w="15875">
            <a:solidFill>
              <a:schemeClr val="tx2"/>
            </a:solidFill>
            <a:prstDash val="solid"/>
          </a:ln>
        </p:spPr>
      </p:sp>
      <p:sp>
        <p:nvSpPr>
          <p:cNvPr id="14" name="Text 11"/>
          <p:cNvSpPr txBox="1"/>
          <p:nvPr/>
        </p:nvSpPr>
        <p:spPr>
          <a:xfrm>
            <a:off x="1943100" y="1783080"/>
            <a:ext cx="1357884" cy="685800"/>
          </a:xfrm>
          <a:prstGeom prst="rect">
            <a:avLst/>
          </a:prstGeom>
          <a:noFill/>
          <a:ln/>
        </p:spPr>
        <p:txBody>
          <a:bodyPr wrap="square" lIns="0" tIns="0" rIns="0" bIns="0" rtlCol="0" anchor="ctr"/>
          <a:lstStyle/>
          <a:p>
            <a:pPr algn="ctr" indent="0" marL="0">
              <a:buNone/>
            </a:pPr>
            <a:r>
              <a:rPr lang="en-US" sz="1600" dirty="0">
                <a:solidFill>
                  <a:schemeClr val="tx1"/>
                </a:solidFill>
              </a:rPr>
              <a:t>4 B</a:t>
            </a:r>
            <a:endParaRPr lang="en-US" sz="1600" dirty="0"/>
          </a:p>
        </p:txBody>
      </p:sp>
      <p:sp>
        <p:nvSpPr>
          <p:cNvPr id="15" name="Text 12"/>
          <p:cNvSpPr txBox="1"/>
          <p:nvPr/>
        </p:nvSpPr>
        <p:spPr>
          <a:xfrm>
            <a:off x="1943100" y="2514600"/>
            <a:ext cx="1357884" cy="502920"/>
          </a:xfrm>
          <a:prstGeom prst="rect">
            <a:avLst/>
          </a:prstGeom>
          <a:noFill/>
          <a:ln/>
        </p:spPr>
        <p:txBody>
          <a:bodyPr wrap="square" lIns="0" tIns="0" rIns="0" bIns="0" rtlCol="0" anchor="t"/>
          <a:lstStyle/>
          <a:p>
            <a:pPr algn="ctr" indent="0" marL="0">
              <a:buNone/>
            </a:pPr>
            <a:r>
              <a:rPr lang="en-US" sz="1300" dirty="0">
                <a:solidFill>
                  <a:schemeClr val="tx2"/>
                </a:solidFill>
              </a:rPr>
              <a:t>fp32 master</a:t>
            </a:r>
            <a:endParaRPr lang="en-US" sz="1300" dirty="0"/>
          </a:p>
        </p:txBody>
      </p:sp>
      <p:sp>
        <p:nvSpPr>
          <p:cNvPr id="16" name="frozen 4 B"/>
          <p:cNvSpPr/>
          <p:nvPr/>
        </p:nvSpPr>
        <p:spPr>
          <a:xfrm>
            <a:off x="3337560" y="1783080"/>
            <a:ext cx="1357884" cy="685800"/>
          </a:xfrm>
          <a:prstGeom prst="rect">
            <a:avLst/>
          </a:prstGeom>
          <a:solidFill>
            <a:schemeClr val="bg2"/>
          </a:solidFill>
          <a:ln w="15875">
            <a:solidFill>
              <a:schemeClr val="tx2"/>
            </a:solidFill>
            <a:prstDash val="solid"/>
          </a:ln>
        </p:spPr>
      </p:sp>
      <p:sp>
        <p:nvSpPr>
          <p:cNvPr id="17" name="Text 14"/>
          <p:cNvSpPr txBox="1"/>
          <p:nvPr/>
        </p:nvSpPr>
        <p:spPr>
          <a:xfrm>
            <a:off x="3337560" y="1783080"/>
            <a:ext cx="1357884" cy="685800"/>
          </a:xfrm>
          <a:prstGeom prst="rect">
            <a:avLst/>
          </a:prstGeom>
          <a:noFill/>
          <a:ln/>
        </p:spPr>
        <p:txBody>
          <a:bodyPr wrap="square" lIns="0" tIns="0" rIns="0" bIns="0" rtlCol="0" anchor="ctr"/>
          <a:lstStyle/>
          <a:p>
            <a:pPr algn="ctr" indent="0" marL="0">
              <a:buNone/>
            </a:pPr>
            <a:r>
              <a:rPr lang="en-US" sz="1600" dirty="0">
                <a:solidFill>
                  <a:schemeClr val="tx1"/>
                </a:solidFill>
              </a:rPr>
              <a:t>4 B</a:t>
            </a:r>
            <a:endParaRPr lang="en-US" sz="1600" dirty="0"/>
          </a:p>
        </p:txBody>
      </p:sp>
      <p:sp>
        <p:nvSpPr>
          <p:cNvPr id="18" name="Text 15"/>
          <p:cNvSpPr txBox="1"/>
          <p:nvPr/>
        </p:nvSpPr>
        <p:spPr>
          <a:xfrm>
            <a:off x="3337560" y="2514600"/>
            <a:ext cx="1357884" cy="502920"/>
          </a:xfrm>
          <a:prstGeom prst="rect">
            <a:avLst/>
          </a:prstGeom>
          <a:noFill/>
          <a:ln/>
        </p:spPr>
        <p:txBody>
          <a:bodyPr wrap="square" lIns="0" tIns="0" rIns="0" bIns="0" rtlCol="0" anchor="t"/>
          <a:lstStyle/>
          <a:p>
            <a:pPr algn="ctr" indent="0" marL="0">
              <a:buNone/>
            </a:pPr>
            <a:r>
              <a:rPr lang="en-US" sz="1300" dirty="0">
                <a:solidFill>
                  <a:schemeClr val="tx2"/>
                </a:solidFill>
              </a:rPr>
              <a:t>Adam m</a:t>
            </a:r>
            <a:endParaRPr lang="en-US" sz="1300" dirty="0"/>
          </a:p>
        </p:txBody>
      </p:sp>
      <p:sp>
        <p:nvSpPr>
          <p:cNvPr id="19" name="frozen 4 B"/>
          <p:cNvSpPr/>
          <p:nvPr/>
        </p:nvSpPr>
        <p:spPr>
          <a:xfrm>
            <a:off x="4732020" y="1783080"/>
            <a:ext cx="1357884" cy="685800"/>
          </a:xfrm>
          <a:prstGeom prst="rect">
            <a:avLst/>
          </a:prstGeom>
          <a:solidFill>
            <a:schemeClr val="bg2"/>
          </a:solidFill>
          <a:ln w="15875">
            <a:solidFill>
              <a:schemeClr val="tx2"/>
            </a:solidFill>
            <a:prstDash val="solid"/>
          </a:ln>
        </p:spPr>
      </p:sp>
      <p:sp>
        <p:nvSpPr>
          <p:cNvPr id="20" name="Text 17"/>
          <p:cNvSpPr txBox="1"/>
          <p:nvPr/>
        </p:nvSpPr>
        <p:spPr>
          <a:xfrm>
            <a:off x="4732020" y="1783080"/>
            <a:ext cx="1357884" cy="685800"/>
          </a:xfrm>
          <a:prstGeom prst="rect">
            <a:avLst/>
          </a:prstGeom>
          <a:noFill/>
          <a:ln/>
        </p:spPr>
        <p:txBody>
          <a:bodyPr wrap="square" lIns="0" tIns="0" rIns="0" bIns="0" rtlCol="0" anchor="ctr"/>
          <a:lstStyle/>
          <a:p>
            <a:pPr algn="ctr" indent="0" marL="0">
              <a:buNone/>
            </a:pPr>
            <a:r>
              <a:rPr lang="en-US" sz="1600" dirty="0">
                <a:solidFill>
                  <a:schemeClr val="tx1"/>
                </a:solidFill>
              </a:rPr>
              <a:t>4 B</a:t>
            </a:r>
            <a:endParaRPr lang="en-US" sz="1600" dirty="0"/>
          </a:p>
        </p:txBody>
      </p:sp>
      <p:sp>
        <p:nvSpPr>
          <p:cNvPr id="21" name="Text 18"/>
          <p:cNvSpPr txBox="1"/>
          <p:nvPr/>
        </p:nvSpPr>
        <p:spPr>
          <a:xfrm>
            <a:off x="4732020" y="2514600"/>
            <a:ext cx="1357884" cy="502920"/>
          </a:xfrm>
          <a:prstGeom prst="rect">
            <a:avLst/>
          </a:prstGeom>
          <a:noFill/>
          <a:ln/>
        </p:spPr>
        <p:txBody>
          <a:bodyPr wrap="square" lIns="0" tIns="0" rIns="0" bIns="0" rtlCol="0" anchor="t"/>
          <a:lstStyle/>
          <a:p>
            <a:pPr algn="ctr" indent="0" marL="0">
              <a:buNone/>
            </a:pPr>
            <a:r>
              <a:rPr lang="en-US" sz="1300" dirty="0">
                <a:solidFill>
                  <a:schemeClr val="tx2"/>
                </a:solidFill>
              </a:rPr>
              <a:t>Adam v</a:t>
            </a:r>
            <a:endParaRPr lang="en-US" sz="1300" dirty="0"/>
          </a:p>
        </p:txBody>
      </p:sp>
      <p:sp>
        <p:nvSpPr>
          <p:cNvPr id="22" name="Text 19"/>
          <p:cNvSpPr txBox="1"/>
          <p:nvPr/>
        </p:nvSpPr>
        <p:spPr>
          <a:xfrm>
            <a:off x="548640" y="3063240"/>
            <a:ext cx="5669280" cy="365760"/>
          </a:xfrm>
          <a:prstGeom prst="rect">
            <a:avLst/>
          </a:prstGeom>
          <a:noFill/>
          <a:ln/>
        </p:spPr>
        <p:txBody>
          <a:bodyPr wrap="square" lIns="0" tIns="0" rIns="0" bIns="0" rtlCol="0" anchor="t"/>
          <a:lstStyle/>
          <a:p>
            <a:pPr indent="0" marL="0">
              <a:buNone/>
            </a:pPr>
            <a:r>
              <a:rPr lang="en-US" sz="1500" b="1" dirty="0">
                <a:solidFill>
                  <a:schemeClr val="tx1"/>
                </a:solidFill>
              </a:rPr>
              <a:t>= 16 bytes </a:t>
            </a:r>
            <a:r>
              <a:rPr lang="en-US" sz="1500" dirty="0">
                <a:solidFill>
                  <a:schemeClr val="tx1"/>
                </a:solidFill>
              </a:rPr>
              <a:t>per parameter, before activations (Rajbhandari et al., 2020, ZeRO)</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5669280" cy="914400"/>
        </p:xfrm>
        <a:graphic>
          <a:graphicData uri="http://schemas.openxmlformats.org/drawingml/2006/table">
            <a:tbl>
              <a:tblPr/>
              <a:tblGrid>
                <a:gridCol w="1463040"/>
                <a:gridCol w="1645920"/>
                <a:gridCol w="1280160"/>
                <a:gridCol w="1280160"/>
              </a:tblGrid>
              <a:tr h="411480">
                <a:tc>
                  <a:txBody>
                    <a:bodyPr/>
                    <a:lstStyle/>
                    <a:p>
                      <a:pPr indent="0" marL="0">
                        <a:buNone/>
                      </a:pPr>
                      <a:r>
                        <a:rPr lang="en-US" sz="1400" b="1" dirty="0">
                          <a:solidFill>
                            <a:schemeClr val="bg1"/>
                          </a:solidFill>
                        </a:rPr>
                        <a:t>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Parameters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16-bit weights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Full FT state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11480">
                <a:tc>
                  <a:txBody>
                    <a:bodyPr/>
                    <a:lstStyle/>
                    <a:p>
                      <a:pPr indent="0" marL="0">
                        <a:buNone/>
                      </a:pPr>
                      <a:r>
                        <a:rPr lang="en-US" sz="1400" dirty="0">
                          <a:solidFill>
                            <a:schemeClr val="tx1"/>
                          </a:solidFill>
                        </a:rPr>
                        <a:t>Qwen2.5-0.5B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494,032,768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 GB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7.9 GB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11480">
                <a:tc>
                  <a:txBody>
                    <a:bodyPr/>
                    <a:lstStyle/>
                    <a:p>
                      <a:pPr indent="0" marL="0">
                        <a:buNone/>
                      </a:pPr>
                      <a:r>
                        <a:rPr lang="en-US" sz="1400" dirty="0">
                          <a:solidFill>
                            <a:schemeClr val="tx1"/>
                          </a:solidFill>
                        </a:rPr>
                        <a:t>Qwen2.5-1.5B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1,543,714,304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3.1 GB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24.7 GB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11480">
                <a:tc>
                  <a:txBody>
                    <a:bodyPr/>
                    <a:lstStyle/>
                    <a:p>
                      <a:pPr indent="0" marL="0">
                        <a:buNone/>
                      </a:pPr>
                      <a:r>
                        <a:rPr lang="en-US" sz="1400" dirty="0">
                          <a:solidFill>
                            <a:schemeClr val="tx1"/>
                          </a:solidFill>
                        </a:rPr>
                        <a:t>Qwen2.5-7B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7,615,616,512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15.2 GB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121.8 GB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24" name="Text 20"/>
          <p:cNvSpPr txBox="1"/>
          <p:nvPr/>
        </p:nvSpPr>
        <p:spPr>
          <a:xfrm>
            <a:off x="548640" y="5440680"/>
            <a:ext cx="5669280" cy="548640"/>
          </a:xfrm>
          <a:prstGeom prst="rect">
            <a:avLst/>
          </a:prstGeom>
          <a:noFill/>
          <a:ln/>
        </p:spPr>
        <p:txBody>
          <a:bodyPr wrap="square" lIns="0" tIns="0" rIns="0" bIns="0" rtlCol="0" anchor="t"/>
          <a:lstStyle/>
          <a:p>
            <a:pPr indent="0" marL="0">
              <a:buNone/>
            </a:pPr>
            <a:r>
              <a:rPr lang="en-US" sz="1300" dirty="0">
                <a:solidFill>
                  <a:schemeClr val="tx2"/>
                </a:solidFill>
              </a:rPr>
              <a:t>Counts from each model's config.json; they match the model cards (0.49B, 1.54B, 7.61B).</a:t>
            </a:r>
            <a:endParaRPr lang="en-US" sz="1300" dirty="0"/>
          </a:p>
        </p:txBody>
      </p:sp>
      <p:graphicFrame>
        <p:nvGraphicFramePr>
          <p:cNvPr id="25" name="Chart 0" descr=""/>
          <p:cNvGraphicFramePr/>
          <p:nvPr/>
        </p:nvGraphicFramePr>
        <p:xfrm>
          <a:off x="6492240" y="1234440"/>
          <a:ext cx="5120640" cy="3931920"/>
        </p:xfrm>
        <a:graphic xmlns:a="http://schemas.openxmlformats.org/drawingml/2006/main">
          <a:graphicData uri="http://schemas.openxmlformats.org/drawingml/2006/chart">
            <c:chart xmlns:c="http://schemas.openxmlformats.org/drawingml/2006/chart" r:id="rId1"/>
          </a:graphicData>
        </a:graphic>
      </p:graphicFrame>
      <p:sp>
        <p:nvSpPr>
          <p:cNvPr id="26" name="question"/>
          <p:cNvSpPr/>
          <p:nvPr/>
        </p:nvSpPr>
        <p:spPr>
          <a:xfrm>
            <a:off x="6492240" y="5303520"/>
            <a:ext cx="5120640" cy="868680"/>
          </a:xfrm>
          <a:prstGeom prst="roundRect">
            <a:avLst>
              <a:gd name="adj" fmla="val 12632"/>
            </a:avLst>
          </a:prstGeom>
          <a:solidFill>
            <a:schemeClr val="accent5"/>
          </a:solidFill>
          <a:ln w="12700">
            <a:solidFill>
              <a:schemeClr val="accent5"/>
            </a:solidFill>
            <a:prstDash val="solid"/>
          </a:ln>
        </p:spPr>
      </p:sp>
      <p:sp>
        <p:nvSpPr>
          <p:cNvPr id="27" name="Text 22"/>
          <p:cNvSpPr txBox="1"/>
          <p:nvPr/>
        </p:nvSpPr>
        <p:spPr>
          <a:xfrm>
            <a:off x="6720840" y="5303520"/>
            <a:ext cx="4663440" cy="868680"/>
          </a:xfrm>
          <a:prstGeom prst="rect">
            <a:avLst/>
          </a:prstGeom>
          <a:noFill/>
          <a:ln/>
        </p:spPr>
        <p:txBody>
          <a:bodyPr wrap="square" lIns="0" tIns="0" rIns="0" bIns="0" rtlCol="0" anchor="ctr"/>
          <a:lstStyle/>
          <a:p>
            <a:pPr indent="0" marL="0">
              <a:buNone/>
            </a:pPr>
            <a:r>
              <a:rPr lang="en-US" sz="1500" b="1" dirty="0">
                <a:solidFill>
                  <a:schemeClr val="tx1"/>
                </a:solidFill>
              </a:rPr>
              <a:t>A T4 has 16 GB. </a:t>
            </a:r>
            <a:r>
              <a:rPr lang="en-US" sz="1500" dirty="0">
                <a:solidFill>
                  <a:schemeClr val="tx1"/>
                </a:solidFill>
              </a:rPr>
              <a:t>Can we freeze the pretrained weights and train only a small set of new parameters?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PEFT family: what gets trained</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8</a:t>
            </a:r>
            <a:endParaRPr lang="en-US" sz="1400" dirty="0"/>
          </a:p>
        </p:txBody>
      </p:sp>
      <p:pic>
        <p:nvPicPr>
          <p:cNvPr id="6" name="Image 0" descr="Four Transformer blocks: adapters insert trained layers; prompt tuning adds trained tokens; BitFit trains biases; LoRA adds a trained B·A beside attention and feed-forward">    </p:cNvPr>
          <p:cNvPicPr>
            <a:picLocks noChangeAspect="1"/>
          </p:cNvPicPr>
          <p:nvPr/>
        </p:nvPicPr>
        <p:blipFill>
          <a:blip r:embed="rId1"/>
          <a:stretch>
            <a:fillRect/>
          </a:stretch>
        </p:blipFill>
        <p:spPr>
          <a:xfrm>
            <a:off x="1508760" y="1188720"/>
            <a:ext cx="9144000" cy="3089876"/>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2377440"/>
                <a:gridCol w="3383280"/>
                <a:gridCol w="2194560"/>
                <a:gridCol w="3108960"/>
              </a:tblGrid>
              <a:tr h="347472">
                <a:tc>
                  <a:txBody>
                    <a:bodyPr/>
                    <a:lstStyle/>
                    <a:p>
                      <a:pPr indent="0" marL="0">
                        <a:buNone/>
                      </a:pPr>
                      <a:r>
                        <a:rPr lang="en-US" sz="1400" b="1" dirty="0">
                          <a:solidFill>
                            <a:schemeClr val="bg1"/>
                          </a:solidFill>
                        </a:rPr>
                        <a:t>Method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is trained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Cost at inference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Limitation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347472">
                <a:tc>
                  <a:txBody>
                    <a:bodyPr/>
                    <a:lstStyle/>
                    <a:p>
                      <a:pPr indent="0" marL="0">
                        <a:buNone/>
                      </a:pPr>
                      <a:r>
                        <a:rPr lang="en-US" sz="1400" b="1" dirty="0">
                          <a:solidFill>
                            <a:schemeClr val="tx1"/>
                          </a:solidFill>
                        </a:rPr>
                        <a:t>Adapters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small bottleneck MLPs after sublayers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extra layers in sequence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added latency at small batch sizes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tx1"/>
                          </a:solidFill>
                        </a:rPr>
                        <a:t>Prompt / prefix 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vectors before the input, or before K and V</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longer sequence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uses context; harder on small models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47472">
                <a:tc>
                  <a:txBody>
                    <a:bodyPr/>
                    <a:lstStyle/>
                    <a:p>
                      <a:pPr indent="0" marL="0">
                        <a:buNone/>
                      </a:pPr>
                      <a:r>
                        <a:rPr lang="en-US" sz="1400" b="1" dirty="0">
                          <a:solidFill>
                            <a:schemeClr val="tx1"/>
                          </a:solidFill>
                        </a:rPr>
                        <a:t>BitFit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only the bias terms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none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recent LLMs have few or no biases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47472">
                <a:tc>
                  <a:txBody>
                    <a:bodyPr/>
                    <a:lstStyle/>
                    <a:p>
                      <a:pPr indent="0" marL="0">
                        <a:buNone/>
                      </a:pPr>
                      <a:r>
                        <a:rPr lang="en-US" sz="1400" b="1" dirty="0">
                          <a:solidFill>
                            <a:schemeClr val="accent4"/>
                          </a:solidFill>
                        </a:rPr>
                        <a:t>LoRA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low-rank update to chosen matrices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none after merging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update limited to rank r per matrix</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a small update can be enough</a:t>
            </a:r>
            <a:endParaRPr lang="en-US" sz="3200" dirty="0"/>
          </a:p>
        </p:txBody>
      </p:sp>
      <p:sp>
        <p:nvSpPr>
          <p:cNvPr id="4" name="refresher"/>
          <p:cNvSpPr/>
          <p:nvPr/>
        </p:nvSpPr>
        <p:spPr>
          <a:xfrm>
            <a:off x="548640" y="1280160"/>
            <a:ext cx="5394960" cy="4892040"/>
          </a:xfrm>
          <a:prstGeom prst="roundRect">
            <a:avLst>
              <a:gd name="adj" fmla="val 2243"/>
            </a:avLst>
          </a:prstGeom>
          <a:solidFill>
            <a:schemeClr val="bg2"/>
          </a:solidFill>
          <a:ln w="12700">
            <a:solidFill>
              <a:schemeClr val="bg2"/>
            </a:solidFill>
            <a:prstDash val="solid"/>
          </a:ln>
        </p:spPr>
      </p:sp>
      <p:sp>
        <p:nvSpPr>
          <p:cNvPr id="5" name="Text 2"/>
          <p:cNvSpPr txBox="1"/>
          <p:nvPr/>
        </p:nvSpPr>
        <p:spPr>
          <a:xfrm>
            <a:off x="822960" y="1463040"/>
            <a:ext cx="4846320" cy="41148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Refresher: rank and the SVD</a:t>
            </a:r>
            <a:endParaRPr lang="en-US" sz="1900" dirty="0"/>
          </a:p>
        </p:txBody>
      </p:sp>
      <p:sp>
        <p:nvSpPr>
          <p:cNvPr id="6" name="Text 3"/>
          <p:cNvSpPr txBox="1"/>
          <p:nvPr/>
        </p:nvSpPr>
        <p:spPr>
          <a:xfrm>
            <a:off x="822960" y="2011680"/>
            <a:ext cx="4846320" cy="265176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Rank: </a:t>
            </a:r>
            <a:r>
              <a:rPr lang="en-US" sz="1600" dirty="0">
                <a:solidFill>
                  <a:schemeClr val="tx1"/>
                </a:solidFill>
              </a:rPr>
              <a:t>the number of independent directions a matrix can produce. A d × k matrix has rank ≤ min(d, k).</a:t>
            </a:r>
            <a:endParaRPr lang="en-US" sz="1600" dirty="0"/>
          </a:p>
          <a:p>
            <a:pPr marL="228600" indent="-228600">
              <a:spcAft>
                <a:spcPts val="800"/>
              </a:spcAft>
              <a:buSzPct val="100000"/>
              <a:buChar char="•"/>
            </a:pPr>
            <a:r>
              <a:rPr lang="en-US" sz="1600" b="1" dirty="0">
                <a:solidFill>
                  <a:schemeClr val="tx1"/>
                </a:solidFill>
              </a:rPr>
              <a:t>SVD: </a:t>
            </a:r>
            <a:r>
              <a:rPr lang="en-US" sz="1600" dirty="0">
                <a:solidFill>
                  <a:schemeClr val="tx1"/>
                </a:solidFill>
              </a:rPr>
              <a:t>M = UΣVᵀ. Singular values σ₁ ≥ σ₂ ≥ … measure how much each direction contributes.</a:t>
            </a:r>
            <a:endParaRPr lang="en-US" sz="1600" dirty="0"/>
          </a:p>
          <a:p>
            <a:pPr marL="228600" indent="-228600">
              <a:spcAft>
                <a:spcPts val="800"/>
              </a:spcAft>
              <a:buSzPct val="100000"/>
              <a:buChar char="•"/>
            </a:pPr>
            <a:r>
              <a:rPr lang="en-US" sz="1600" b="1" dirty="0">
                <a:solidFill>
                  <a:schemeClr val="tx1"/>
                </a:solidFill>
              </a:rPr>
              <a:t>Best rank-r approximation: </a:t>
            </a:r>
            <a:r>
              <a:rPr lang="en-US" sz="1600" dirty="0">
                <a:solidFill>
                  <a:schemeClr val="tx1"/>
                </a:solidFill>
              </a:rPr>
              <a:t>keep the top r singular values. Energy kept = (σ₁² + … + σᵣ²) / Σσᵢ².</a:t>
            </a:r>
            <a:endParaRPr lang="en-US" sz="1600" dirty="0"/>
          </a:p>
        </p:txBody>
      </p:sp>
      <p:sp>
        <p:nvSpPr>
          <p:cNvPr id="7" name="rank example"/>
          <p:cNvSpPr/>
          <p:nvPr/>
        </p:nvSpPr>
        <p:spPr>
          <a:xfrm>
            <a:off x="777240" y="4663440"/>
            <a:ext cx="4937760" cy="1325880"/>
          </a:xfrm>
          <a:prstGeom prst="roundRect">
            <a:avLst>
              <a:gd name="adj" fmla="val 8276"/>
            </a:avLst>
          </a:prstGeom>
          <a:solidFill>
            <a:schemeClr val="bg1"/>
          </a:solidFill>
          <a:ln w="12700">
            <a:solidFill>
              <a:schemeClr val="bg1"/>
            </a:solidFill>
            <a:prstDash val="solid"/>
          </a:ln>
        </p:spPr>
      </p:sp>
      <p:sp>
        <p:nvSpPr>
          <p:cNvPr id="8" name="Text 5"/>
          <p:cNvSpPr txBox="1"/>
          <p:nvPr/>
        </p:nvSpPr>
        <p:spPr>
          <a:xfrm>
            <a:off x="960120" y="4663440"/>
            <a:ext cx="4572000" cy="1325880"/>
          </a:xfrm>
          <a:prstGeom prst="rect">
            <a:avLst/>
          </a:prstGeom>
          <a:noFill/>
          <a:ln/>
        </p:spPr>
        <p:txBody>
          <a:bodyPr wrap="square" lIns="0" tIns="0" rIns="0" bIns="0" rtlCol="0" anchor="ctr"/>
          <a:lstStyle/>
          <a:p>
            <a:pPr indent="0" marL="0">
              <a:buNone/>
            </a:pPr>
            <a:r>
              <a:rPr lang="en-US" sz="1500" b="1" dirty="0">
                <a:solidFill>
                  <a:schemeClr val="tx1"/>
                </a:solidFill>
              </a:rPr>
              <a:t>A 4096 × 4096 change of rank 8 </a:t>
            </a:r>
            <a:endParaRPr lang="en-US" sz="1500" dirty="0"/>
          </a:p>
          <a:p>
            <a:pPr indent="0" marL="0">
              <a:buNone/>
            </a:pPr>
            <a:r>
              <a:rPr lang="en-US" sz="1500" dirty="0">
                <a:solidFill>
                  <a:schemeClr val="tx1"/>
                </a:solidFill>
              </a:rPr>
              <a:t>needs 8 × (4096 + 4096) = 65,536 numbers instead of 16,777,216.</a:t>
            </a:r>
            <a:endParaRPr lang="en-US" sz="1500" dirty="0"/>
          </a:p>
        </p:txBody>
      </p:sp>
      <p:sp>
        <p:nvSpPr>
          <p:cNvPr id="9" name="Text 6"/>
          <p:cNvSpPr txBox="1"/>
          <p:nvPr/>
        </p:nvSpPr>
        <p:spPr>
          <a:xfrm>
            <a:off x="6309360" y="1325880"/>
            <a:ext cx="5303520" cy="685800"/>
          </a:xfrm>
          <a:prstGeom prst="rect">
            <a:avLst/>
          </a:prstGeom>
          <a:noFill/>
          <a:ln/>
        </p:spPr>
        <p:txBody>
          <a:bodyPr wrap="square" lIns="0" tIns="0" rIns="0" bIns="0" rtlCol="0" anchor="ctr"/>
          <a:lstStyle/>
          <a:p>
            <a:pPr indent="0" marL="0">
              <a:buNone/>
            </a:pPr>
            <a:r>
              <a:rPr lang="en-US" sz="2800" b="1" dirty="0">
                <a:solidFill>
                  <a:schemeClr val="accent4"/>
                </a:solidFill>
                <a:latin typeface="Cambria" pitchFamily="34" charset="0"/>
                <a:ea typeface="Cambria" pitchFamily="34" charset="-122"/>
                <a:cs typeface="Cambria" pitchFamily="34" charset="-120"/>
              </a:rPr>
              <a:t>ΔW = W</a:t>
            </a:r>
            <a:r>
              <a:rPr lang="en-US" sz="2800" b="1" baseline="-40000" dirty="0">
                <a:solidFill>
                  <a:schemeClr val="accent4"/>
                </a:solidFill>
                <a:latin typeface="Cambria" pitchFamily="34" charset="0"/>
                <a:ea typeface="Cambria" pitchFamily="34" charset="-122"/>
                <a:cs typeface="Cambria" pitchFamily="34" charset="-120"/>
              </a:rPr>
              <a:t>fine-tuned</a:t>
            </a:r>
            <a:r>
              <a:rPr lang="en-US" sz="2800" b="1" dirty="0">
                <a:solidFill>
                  <a:schemeClr val="accent4"/>
                </a:solidFill>
                <a:latin typeface="Cambria" pitchFamily="34" charset="0"/>
                <a:ea typeface="Cambria" pitchFamily="34" charset="-122"/>
                <a:cs typeface="Cambria" pitchFamily="34" charset="-120"/>
              </a:rPr>
              <a:t> − W</a:t>
            </a:r>
            <a:r>
              <a:rPr lang="en-US" sz="2800" b="1" baseline="-40000" dirty="0">
                <a:solidFill>
                  <a:schemeClr val="accent4"/>
                </a:solidFill>
                <a:latin typeface="Cambria" pitchFamily="34" charset="0"/>
                <a:ea typeface="Cambria" pitchFamily="34" charset="-122"/>
                <a:cs typeface="Cambria" pitchFamily="34" charset="-120"/>
              </a:rPr>
              <a:t>pretrained</a:t>
            </a:r>
            <a:endParaRPr lang="en-US" sz="2800" dirty="0"/>
          </a:p>
        </p:txBody>
      </p:sp>
      <p:sp>
        <p:nvSpPr>
          <p:cNvPr id="10" name="Text 7"/>
          <p:cNvSpPr txBox="1"/>
          <p:nvPr/>
        </p:nvSpPr>
        <p:spPr>
          <a:xfrm>
            <a:off x="6309360" y="2011680"/>
            <a:ext cx="5303520" cy="411480"/>
          </a:xfrm>
          <a:prstGeom prst="rect">
            <a:avLst/>
          </a:prstGeom>
          <a:noFill/>
          <a:ln/>
        </p:spPr>
        <p:txBody>
          <a:bodyPr wrap="square" lIns="0" tIns="0" rIns="0" bIns="0" rtlCol="0" anchor="t"/>
          <a:lstStyle/>
          <a:p>
            <a:pPr indent="0" marL="0">
              <a:buNone/>
            </a:pPr>
            <a:r>
              <a:rPr lang="en-US" sz="1600" i="1" dirty="0">
                <a:solidFill>
                  <a:schemeClr val="tx2"/>
                </a:solidFill>
              </a:rPr>
              <a:t>The hypothesis is about the change, not the weight</a:t>
            </a:r>
            <a:endParaRPr lang="en-US" sz="1600" dirty="0"/>
          </a:p>
        </p:txBody>
      </p:sp>
      <p:sp>
        <p:nvSpPr>
          <p:cNvPr id="11" name="Aghajanyan"/>
          <p:cNvSpPr/>
          <p:nvPr/>
        </p:nvSpPr>
        <p:spPr>
          <a:xfrm>
            <a:off x="6309360" y="2606040"/>
            <a:ext cx="5303520" cy="1600200"/>
          </a:xfrm>
          <a:prstGeom prst="roundRect">
            <a:avLst>
              <a:gd name="adj" fmla="val 6857"/>
            </a:avLst>
          </a:prstGeom>
          <a:solidFill>
            <a:schemeClr val="bg2"/>
          </a:solidFill>
          <a:ln w="12700">
            <a:solidFill>
              <a:schemeClr val="bg2"/>
            </a:solidFill>
            <a:prstDash val="solid"/>
          </a:ln>
        </p:spPr>
      </p:sp>
      <p:sp>
        <p:nvSpPr>
          <p:cNvPr id="12" name="Text 9"/>
          <p:cNvSpPr txBox="1"/>
          <p:nvPr/>
        </p:nvSpPr>
        <p:spPr>
          <a:xfrm>
            <a:off x="6537960" y="2697480"/>
            <a:ext cx="4846320" cy="1417320"/>
          </a:xfrm>
          <a:prstGeom prst="rect">
            <a:avLst/>
          </a:prstGeom>
          <a:noFill/>
          <a:ln/>
        </p:spPr>
        <p:txBody>
          <a:bodyPr wrap="square" lIns="0" tIns="0" rIns="0" bIns="0" rtlCol="0" anchor="ctr"/>
          <a:lstStyle/>
          <a:p>
            <a:pPr indent="0" marL="0">
              <a:buNone/>
            </a:pPr>
            <a:r>
              <a:rPr lang="en-US" sz="1500" b="1" dirty="0">
                <a:solidFill>
                  <a:schemeClr val="tx1"/>
                </a:solidFill>
              </a:rPr>
              <a:t>Aghajanyan et al. (2020)</a:t>
            </a:r>
            <a:endParaRPr lang="en-US" sz="1500" dirty="0"/>
          </a:p>
          <a:p>
            <a:pPr indent="0" marL="0">
              <a:buNone/>
            </a:pPr>
            <a:r>
              <a:rPr lang="en-US" sz="1500" dirty="0">
                <a:solidFill>
                  <a:schemeClr val="tx1"/>
                </a:solidFill>
              </a:rPr>
              <a:t>About 200 trainable parameters, projected into RoBERTa's full parameter space, reached 90% of full fine-tuning performance on one paraphrase task (MRPC).</a:t>
            </a:r>
            <a:endParaRPr lang="en-US" sz="1500" dirty="0"/>
          </a:p>
        </p:txBody>
      </p:sp>
      <p:sp>
        <p:nvSpPr>
          <p:cNvPr id="13" name="Hu"/>
          <p:cNvSpPr/>
          <p:nvPr/>
        </p:nvSpPr>
        <p:spPr>
          <a:xfrm>
            <a:off x="6309360" y="4389120"/>
            <a:ext cx="5303520" cy="1783080"/>
          </a:xfrm>
          <a:prstGeom prst="roundRect">
            <a:avLst>
              <a:gd name="adj" fmla="val 6154"/>
            </a:avLst>
          </a:prstGeom>
          <a:solidFill>
            <a:schemeClr val="tx1"/>
          </a:solidFill>
          <a:ln w="12700">
            <a:solidFill>
              <a:schemeClr val="tx1"/>
            </a:solidFill>
            <a:prstDash val="solid"/>
          </a:ln>
        </p:spPr>
      </p:sp>
      <p:sp>
        <p:nvSpPr>
          <p:cNvPr id="14" name="Text 11"/>
          <p:cNvSpPr txBox="1"/>
          <p:nvPr/>
        </p:nvSpPr>
        <p:spPr>
          <a:xfrm>
            <a:off x="6537960" y="4480560"/>
            <a:ext cx="4846320" cy="1600200"/>
          </a:xfrm>
          <a:prstGeom prst="rect">
            <a:avLst/>
          </a:prstGeom>
          <a:noFill/>
          <a:ln/>
        </p:spPr>
        <p:txBody>
          <a:bodyPr wrap="square" lIns="0" tIns="0" rIns="0" bIns="0" rtlCol="0" anchor="ctr"/>
          <a:lstStyle/>
          <a:p>
            <a:pPr indent="0" marL="0">
              <a:buNone/>
            </a:pPr>
            <a:r>
              <a:rPr lang="en-US" sz="1700" b="1" dirty="0">
                <a:solidFill>
                  <a:schemeClr val="accent2"/>
                </a:solidFill>
              </a:rPr>
              <a:t>Hu et al. (2021), LoRA</a:t>
            </a:r>
            <a:endParaRPr lang="en-US" sz="1700" dirty="0"/>
          </a:p>
          <a:p>
            <a:pPr indent="0" marL="0">
              <a:buNone/>
            </a:pPr>
            <a:r>
              <a:rPr lang="en-US" sz="1700" dirty="0">
                <a:solidFill>
                  <a:schemeClr val="bg1"/>
                </a:solidFill>
              </a:rPr>
              <a:t>The update ΔW has a low “intrinsic rank”. So train a low-rank ΔW directly.</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toy check: is ΔW low-rank?</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11</a:t>
            </a:r>
            <a:endParaRPr lang="en-US" sz="1400" dirty="0"/>
          </a:p>
        </p:txBody>
      </p:sp>
      <p:sp>
        <p:nvSpPr>
          <p:cNvPr id="6" name="Text 3"/>
          <p:cNvSpPr txBox="1"/>
          <p:nvPr/>
        </p:nvSpPr>
        <p:spPr>
          <a:xfrm>
            <a:off x="548640" y="1325880"/>
            <a:ext cx="2377440" cy="1097280"/>
          </a:xfrm>
          <a:prstGeom prst="rect">
            <a:avLst/>
          </a:prstGeom>
          <a:noFill/>
          <a:ln/>
        </p:spPr>
        <p:txBody>
          <a:bodyPr wrap="square" lIns="0" tIns="0" rIns="0" bIns="0" rtlCol="0" anchor="ctr"/>
          <a:lstStyle/>
          <a:p>
            <a:pPr indent="0" marL="0">
              <a:buNone/>
            </a:pPr>
            <a:r>
              <a:rPr lang="en-US" sz="1700" b="1" dirty="0">
                <a:solidFill>
                  <a:schemeClr val="accent1"/>
                </a:solidFill>
              </a:rPr>
              <a:t>Task A (“pretraining”)</a:t>
            </a:r>
            <a:endParaRPr lang="en-US" sz="1700" dirty="0"/>
          </a:p>
        </p:txBody>
      </p:sp>
      <p:sp>
        <p:nvSpPr>
          <p:cNvPr id="7" name="Task A (“pretraining”) teacher"/>
          <p:cNvSpPr/>
          <p:nvPr/>
        </p:nvSpPr>
        <p:spPr>
          <a:xfrm>
            <a:off x="3017520" y="1325880"/>
            <a:ext cx="3291840" cy="1097280"/>
          </a:xfrm>
          <a:prstGeom prst="roundRect">
            <a:avLst>
              <a:gd name="adj" fmla="val 10000"/>
            </a:avLst>
          </a:prstGeom>
          <a:solidFill>
            <a:schemeClr val="bg2"/>
          </a:solidFill>
          <a:ln w="12700">
            <a:solidFill>
              <a:schemeClr val="bg2"/>
            </a:solidFill>
            <a:prstDash val="solid"/>
          </a:ln>
        </p:spPr>
      </p:sp>
      <p:sp>
        <p:nvSpPr>
          <p:cNvPr id="8" name="Text 5"/>
          <p:cNvSpPr txBox="1"/>
          <p:nvPr/>
        </p:nvSpPr>
        <p:spPr>
          <a:xfrm>
            <a:off x="3200400" y="1325880"/>
            <a:ext cx="2926080" cy="1097280"/>
          </a:xfrm>
          <a:prstGeom prst="rect">
            <a:avLst/>
          </a:prstGeom>
          <a:noFill/>
          <a:ln/>
        </p:spPr>
        <p:txBody>
          <a:bodyPr wrap="square" lIns="0" tIns="0" rIns="0" bIns="0" rtlCol="0" anchor="ctr"/>
          <a:lstStyle/>
          <a:p>
            <a:pPr indent="0" marL="0">
              <a:buNone/>
            </a:pPr>
            <a:r>
              <a:rPr lang="en-US" sz="1500" dirty="0">
                <a:solidFill>
                  <a:schemeClr val="tx1"/>
                </a:solidFill>
              </a:rPr>
              <a:t>teacher A: random 16 → 32 → 4 net; 4,000 examples</a:t>
            </a:r>
            <a:endParaRPr lang="en-US" sz="1500" dirty="0"/>
          </a:p>
        </p:txBody>
      </p:sp>
      <p:sp>
        <p:nvSpPr>
          <p:cNvPr id="9" name="Shape 6"/>
          <p:cNvSpPr/>
          <p:nvPr/>
        </p:nvSpPr>
        <p:spPr>
          <a:xfrm>
            <a:off x="6355080" y="1874520"/>
            <a:ext cx="548640" cy="0"/>
          </a:xfrm>
          <a:prstGeom prst="line">
            <a:avLst/>
          </a:prstGeom>
          <a:noFill/>
          <a:ln w="22225">
            <a:solidFill>
              <a:schemeClr val="tx2"/>
            </a:solidFill>
            <a:prstDash val="solid"/>
            <a:tailEnd type="triangle"/>
          </a:ln>
        </p:spPr>
      </p:sp>
      <p:sp>
        <p:nvSpPr>
          <p:cNvPr id="10" name="Task A (“pretraining”) student"/>
          <p:cNvSpPr/>
          <p:nvPr/>
        </p:nvSpPr>
        <p:spPr>
          <a:xfrm>
            <a:off x="6949440" y="1325880"/>
            <a:ext cx="2377440" cy="1097280"/>
          </a:xfrm>
          <a:prstGeom prst="roundRect">
            <a:avLst>
              <a:gd name="adj" fmla="val 10000"/>
            </a:avLst>
          </a:prstGeom>
          <a:solidFill>
            <a:schemeClr val="bg2"/>
          </a:solidFill>
          <a:ln w="12700">
            <a:solidFill>
              <a:schemeClr val="bg2"/>
            </a:solidFill>
            <a:prstDash val="solid"/>
          </a:ln>
        </p:spPr>
      </p:sp>
      <p:sp>
        <p:nvSpPr>
          <p:cNvPr id="11" name="Text 8"/>
          <p:cNvSpPr txBox="1"/>
          <p:nvPr/>
        </p:nvSpPr>
        <p:spPr>
          <a:xfrm>
            <a:off x="7086600" y="1325880"/>
            <a:ext cx="2103120" cy="1097280"/>
          </a:xfrm>
          <a:prstGeom prst="rect">
            <a:avLst/>
          </a:prstGeom>
          <a:noFill/>
          <a:ln/>
        </p:spPr>
        <p:txBody>
          <a:bodyPr wrap="square" lIns="0" tIns="0" rIns="0" bIns="0" rtlCol="0" anchor="ctr"/>
          <a:lstStyle/>
          <a:p>
            <a:pPr algn="ctr" indent="0" marL="0">
              <a:buNone/>
            </a:pPr>
            <a:r>
              <a:rPr lang="en-US" sz="1500" b="1" dirty="0">
                <a:solidFill>
                  <a:schemeClr val="tx1"/>
                </a:solidFill>
              </a:rPr>
              <a:t>pretrained student</a:t>
            </a:r>
            <a:endParaRPr lang="en-US" sz="1500" dirty="0"/>
          </a:p>
        </p:txBody>
      </p:sp>
      <p:sp>
        <p:nvSpPr>
          <p:cNvPr id="12" name="Text 9"/>
          <p:cNvSpPr txBox="1"/>
          <p:nvPr/>
        </p:nvSpPr>
        <p:spPr>
          <a:xfrm>
            <a:off x="548640" y="2697480"/>
            <a:ext cx="2377440" cy="1097280"/>
          </a:xfrm>
          <a:prstGeom prst="rect">
            <a:avLst/>
          </a:prstGeom>
          <a:noFill/>
          <a:ln/>
        </p:spPr>
        <p:txBody>
          <a:bodyPr wrap="square" lIns="0" tIns="0" rIns="0" bIns="0" rtlCol="0" anchor="ctr"/>
          <a:lstStyle/>
          <a:p>
            <a:pPr indent="0" marL="0">
              <a:buNone/>
            </a:pPr>
            <a:r>
              <a:rPr lang="en-US" sz="1700" b="1" dirty="0">
                <a:solidFill>
                  <a:schemeClr val="accent4"/>
                </a:solidFill>
              </a:rPr>
              <a:t>Task B (“fine-tuning”)</a:t>
            </a:r>
            <a:endParaRPr lang="en-US" sz="1700" dirty="0"/>
          </a:p>
        </p:txBody>
      </p:sp>
      <p:sp>
        <p:nvSpPr>
          <p:cNvPr id="13" name="Task B (“fine-tuning”) teacher"/>
          <p:cNvSpPr/>
          <p:nvPr/>
        </p:nvSpPr>
        <p:spPr>
          <a:xfrm>
            <a:off x="3017520" y="2697480"/>
            <a:ext cx="3291840" cy="1097280"/>
          </a:xfrm>
          <a:prstGeom prst="roundRect">
            <a:avLst>
              <a:gd name="adj" fmla="val 10000"/>
            </a:avLst>
          </a:prstGeom>
          <a:solidFill>
            <a:schemeClr val="bg2"/>
          </a:solidFill>
          <a:ln w="12700">
            <a:solidFill>
              <a:schemeClr val="bg2"/>
            </a:solidFill>
            <a:prstDash val="solid"/>
          </a:ln>
        </p:spPr>
      </p:sp>
      <p:sp>
        <p:nvSpPr>
          <p:cNvPr id="14" name="Text 11"/>
          <p:cNvSpPr txBox="1"/>
          <p:nvPr/>
        </p:nvSpPr>
        <p:spPr>
          <a:xfrm>
            <a:off x="3200400" y="2697480"/>
            <a:ext cx="2926080" cy="1097280"/>
          </a:xfrm>
          <a:prstGeom prst="rect">
            <a:avLst/>
          </a:prstGeom>
          <a:noFill/>
          <a:ln/>
        </p:spPr>
        <p:txBody>
          <a:bodyPr wrap="square" lIns="0" tIns="0" rIns="0" bIns="0" rtlCol="0" anchor="ctr"/>
          <a:lstStyle/>
          <a:p>
            <a:pPr indent="0" marL="0">
              <a:buNone/>
            </a:pPr>
            <a:r>
              <a:rPr lang="en-US" sz="1500" dirty="0">
                <a:solidFill>
                  <a:schemeClr val="tx1"/>
                </a:solidFill>
              </a:rPr>
              <a:t>teacher B = teacher A + 30% noise on every weight; 256 examples</a:t>
            </a:r>
            <a:endParaRPr lang="en-US" sz="1500" dirty="0"/>
          </a:p>
        </p:txBody>
      </p:sp>
      <p:sp>
        <p:nvSpPr>
          <p:cNvPr id="15" name="Shape 12"/>
          <p:cNvSpPr/>
          <p:nvPr/>
        </p:nvSpPr>
        <p:spPr>
          <a:xfrm>
            <a:off x="6355080" y="3246120"/>
            <a:ext cx="548640" cy="0"/>
          </a:xfrm>
          <a:prstGeom prst="line">
            <a:avLst/>
          </a:prstGeom>
          <a:noFill/>
          <a:ln w="22225">
            <a:solidFill>
              <a:schemeClr val="tx2"/>
            </a:solidFill>
            <a:prstDash val="solid"/>
            <a:tailEnd type="triangle"/>
          </a:ln>
        </p:spPr>
      </p:sp>
      <p:sp>
        <p:nvSpPr>
          <p:cNvPr id="16" name="Task B (“fine-tuning”) student"/>
          <p:cNvSpPr/>
          <p:nvPr/>
        </p:nvSpPr>
        <p:spPr>
          <a:xfrm>
            <a:off x="6949440" y="2697480"/>
            <a:ext cx="2377440" cy="1097280"/>
          </a:xfrm>
          <a:prstGeom prst="roundRect">
            <a:avLst>
              <a:gd name="adj" fmla="val 10000"/>
            </a:avLst>
          </a:prstGeom>
          <a:solidFill>
            <a:schemeClr val="accent6"/>
          </a:solidFill>
          <a:ln w="12700">
            <a:solidFill>
              <a:schemeClr val="accent6"/>
            </a:solidFill>
            <a:prstDash val="solid"/>
          </a:ln>
        </p:spPr>
      </p:sp>
      <p:sp>
        <p:nvSpPr>
          <p:cNvPr id="17" name="Text 14"/>
          <p:cNvSpPr txBox="1"/>
          <p:nvPr/>
        </p:nvSpPr>
        <p:spPr>
          <a:xfrm>
            <a:off x="7086600" y="2697480"/>
            <a:ext cx="2103120" cy="1097280"/>
          </a:xfrm>
          <a:prstGeom prst="rect">
            <a:avLst/>
          </a:prstGeom>
          <a:noFill/>
          <a:ln/>
        </p:spPr>
        <p:txBody>
          <a:bodyPr wrap="square" lIns="0" tIns="0" rIns="0" bIns="0" rtlCol="0" anchor="ctr"/>
          <a:lstStyle/>
          <a:p>
            <a:pPr algn="ctr" indent="0" marL="0">
              <a:buNone/>
            </a:pPr>
            <a:r>
              <a:rPr lang="en-US" sz="1500" b="1" dirty="0">
                <a:solidFill>
                  <a:schemeClr val="tx1"/>
                </a:solidFill>
              </a:rPr>
              <a:t>fully fine-tuned student</a:t>
            </a:r>
            <a:endParaRPr lang="en-US" sz="1500" dirty="0"/>
          </a:p>
        </p:txBody>
      </p:sp>
      <p:sp>
        <p:nvSpPr>
          <p:cNvPr id="18" name="task B nMSE, before"/>
          <p:cNvSpPr/>
          <p:nvPr/>
        </p:nvSpPr>
        <p:spPr>
          <a:xfrm>
            <a:off x="9601200" y="1325880"/>
            <a:ext cx="2011680" cy="1097280"/>
          </a:xfrm>
          <a:prstGeom prst="roundRect">
            <a:avLst>
              <a:gd name="adj" fmla="val 10000"/>
            </a:avLst>
          </a:prstGeom>
          <a:solidFill>
            <a:schemeClr val="bg2"/>
          </a:solidFill>
          <a:ln w="12700">
            <a:solidFill>
              <a:schemeClr val="bg2"/>
            </a:solidFill>
            <a:prstDash val="solid"/>
          </a:ln>
        </p:spPr>
      </p:sp>
      <p:sp>
        <p:nvSpPr>
          <p:cNvPr id="19" name="Text 16"/>
          <p:cNvSpPr txBox="1"/>
          <p:nvPr/>
        </p:nvSpPr>
        <p:spPr>
          <a:xfrm>
            <a:off x="9784080" y="1325880"/>
            <a:ext cx="1737360" cy="109728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0.122</a:t>
            </a:r>
            <a:endParaRPr lang="en-US" sz="1300" dirty="0"/>
          </a:p>
          <a:p>
            <a:pPr indent="0" marL="0">
              <a:buNone/>
            </a:pPr>
            <a:r>
              <a:rPr lang="en-US" sz="1300" dirty="0">
                <a:solidFill>
                  <a:schemeClr val="tx2"/>
                </a:solidFill>
              </a:rPr>
              <a:t>task B nMSE, before</a:t>
            </a:r>
            <a:endParaRPr lang="en-US" sz="1300" dirty="0"/>
          </a:p>
        </p:txBody>
      </p:sp>
      <p:sp>
        <p:nvSpPr>
          <p:cNvPr id="20" name="task B nMSE, after"/>
          <p:cNvSpPr/>
          <p:nvPr/>
        </p:nvSpPr>
        <p:spPr>
          <a:xfrm>
            <a:off x="9601200" y="2697480"/>
            <a:ext cx="2011680" cy="1097280"/>
          </a:xfrm>
          <a:prstGeom prst="roundRect">
            <a:avLst>
              <a:gd name="adj" fmla="val 10000"/>
            </a:avLst>
          </a:prstGeom>
          <a:solidFill>
            <a:schemeClr val="bg2"/>
          </a:solidFill>
          <a:ln w="12700">
            <a:solidFill>
              <a:schemeClr val="bg2"/>
            </a:solidFill>
            <a:prstDash val="solid"/>
          </a:ln>
        </p:spPr>
      </p:sp>
      <p:sp>
        <p:nvSpPr>
          <p:cNvPr id="21" name="Text 18"/>
          <p:cNvSpPr txBox="1"/>
          <p:nvPr/>
        </p:nvSpPr>
        <p:spPr>
          <a:xfrm>
            <a:off x="9784080" y="2697480"/>
            <a:ext cx="1737360" cy="109728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0.008</a:t>
            </a:r>
            <a:endParaRPr lang="en-US" sz="1300" dirty="0"/>
          </a:p>
          <a:p>
            <a:pPr indent="0" marL="0">
              <a:buNone/>
            </a:pPr>
            <a:r>
              <a:rPr lang="en-US" sz="1300" dirty="0">
                <a:solidFill>
                  <a:schemeClr val="tx2"/>
                </a:solidFill>
              </a:rPr>
              <a:t>task B nMSE, after</a:t>
            </a:r>
            <a:endParaRPr lang="en-US" sz="1300" dirty="0"/>
          </a:p>
        </p:txBody>
      </p:sp>
      <p:sp>
        <p:nvSpPr>
          <p:cNvPr id="22" name="Text 19"/>
          <p:cNvSpPr txBox="1"/>
          <p:nvPr/>
        </p:nvSpPr>
        <p:spPr>
          <a:xfrm>
            <a:off x="548640" y="4023360"/>
            <a:ext cx="11064240" cy="685800"/>
          </a:xfrm>
          <a:prstGeom prst="rect">
            <a:avLst/>
          </a:prstGeom>
          <a:noFill/>
          <a:ln/>
        </p:spPr>
        <p:txBody>
          <a:bodyPr wrap="square" lIns="0" tIns="0" rIns="0" bIns="0" rtlCol="0" anchor="t"/>
          <a:lstStyle/>
          <a:p>
            <a:pPr indent="0" marL="0">
              <a:buNone/>
            </a:pPr>
            <a:r>
              <a:rPr lang="en-US" sz="1500" b="1" dirty="0">
                <a:solidFill>
                  <a:schemeClr val="tx1"/>
                </a:solidFill>
              </a:rPr>
              <a:t>Measure: </a:t>
            </a:r>
            <a:r>
              <a:rPr lang="en-US" sz="1500" dirty="0">
                <a:solidFill>
                  <a:schemeClr val="tx1"/>
                </a:solidFill>
              </a:rPr>
              <a:t>ΔW of the student's middle 128 × 128 matrix, compared with a random matrix of the same size and norm. nMSE = MSE ÷ target variance (0 perfect, 1 = predicting the mean).</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11064240" cy="914400"/>
        </p:xfrm>
        <a:graphic>
          <a:graphicData uri="http://schemas.openxmlformats.org/drawingml/2006/table">
            <a:tbl>
              <a:tblPr/>
              <a:tblGrid>
                <a:gridCol w="4206240"/>
                <a:gridCol w="6858000"/>
              </a:tblGrid>
              <a:tr h="329184">
                <a:tc>
                  <a:txBody>
                    <a:bodyPr/>
                    <a:lstStyle/>
                    <a:p>
                      <a:pPr indent="0" marL="0">
                        <a:buNone/>
                      </a:pPr>
                      <a:r>
                        <a:rPr lang="en-US" sz="1400" b="1" dirty="0">
                          <a:solidFill>
                            <a:schemeClr val="bg1"/>
                          </a:solidFill>
                        </a:rPr>
                        <a:t>How task B could be built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Problem</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329184">
                <a:tc>
                  <a:txBody>
                    <a:bodyPr/>
                    <a:lstStyle/>
                    <a:p>
                      <a:pPr indent="0" marL="0">
                        <a:buNone/>
                      </a:pPr>
                      <a:r>
                        <a:rPr lang="en-US" sz="1400" dirty="0">
                          <a:solidFill>
                            <a:schemeClr val="tx1"/>
                          </a:solidFill>
                        </a:rPr>
                        <a:t>a fresh random teacher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unrelated task: training from scratch, not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29184">
                <a:tc>
                  <a:txBody>
                    <a:bodyPr/>
                    <a:lstStyle/>
                    <a:p>
                      <a:pPr indent="0" marL="0">
                        <a:buNone/>
                      </a:pPr>
                      <a:r>
                        <a:rPr lang="en-US" sz="1400" dirty="0">
                          <a:solidFill>
                            <a:schemeClr val="tx1"/>
                          </a:solidFill>
                        </a:rPr>
                        <a:t>a low-rank change to teacher 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circular: the low-rank result would be built in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29184">
                <a:tc>
                  <a:txBody>
                    <a:bodyPr/>
                    <a:lstStyle/>
                    <a:p>
                      <a:pPr indent="0" marL="0">
                        <a:buNone/>
                      </a:pPr>
                      <a:r>
                        <a:rPr lang="en-US" sz="1400" b="1" dirty="0">
                          <a:solidFill>
                            <a:schemeClr val="accent1"/>
                          </a:solidFill>
                        </a:rPr>
                        <a:t>noise on every weight of teacher 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related, adjustable, and no low-rank structure planted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ΔW concentrates in a few directions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12</a:t>
            </a:r>
            <a:endParaRPr lang="en-US" sz="1400" dirty="0"/>
          </a:p>
        </p:txBody>
      </p:sp>
      <p:pic>
        <p:nvPicPr>
          <p:cNvPr id="6" name="Image 0" descr="Left: normalized singular values; Delta W falls steeply, random matrix slowly. Right: cumulative energy against rank r on a log axis, with a dotted line at r = 8">    </p:cNvPr>
          <p:cNvPicPr>
            <a:picLocks noChangeAspect="1"/>
          </p:cNvPicPr>
          <p:nvPr/>
        </p:nvPicPr>
        <p:blipFill>
          <a:blip r:embed="rId1"/>
          <a:stretch>
            <a:fillRect/>
          </a:stretch>
        </p:blipFill>
        <p:spPr>
          <a:xfrm>
            <a:off x="548640" y="1188720"/>
            <a:ext cx="11064240" cy="3500290"/>
          </a:xfrm>
          <a:prstGeom prst="rect">
            <a:avLst/>
          </a:prstGeom>
        </p:spPr>
      </p:pic>
      <p:sp>
        <p:nvSpPr>
          <p:cNvPr id="7" name="energy in the top 8 directions: ΔW vs random"/>
          <p:cNvSpPr/>
          <p:nvPr/>
        </p:nvSpPr>
        <p:spPr>
          <a:xfrm>
            <a:off x="548640" y="4846320"/>
            <a:ext cx="2880360" cy="1325880"/>
          </a:xfrm>
          <a:prstGeom prst="roundRect">
            <a:avLst>
              <a:gd name="adj" fmla="val 8276"/>
            </a:avLst>
          </a:prstGeom>
          <a:solidFill>
            <a:schemeClr val="bg2"/>
          </a:solidFill>
          <a:ln w="12700">
            <a:solidFill>
              <a:schemeClr val="bg2"/>
            </a:solidFill>
            <a:prstDash val="solid"/>
          </a:ln>
        </p:spPr>
      </p:sp>
      <p:sp>
        <p:nvSpPr>
          <p:cNvPr id="8" name="Text 4"/>
          <p:cNvSpPr txBox="1"/>
          <p:nvPr/>
        </p:nvSpPr>
        <p:spPr>
          <a:xfrm>
            <a:off x="777240" y="4956048"/>
            <a:ext cx="2423160" cy="640080"/>
          </a:xfrm>
          <a:prstGeom prst="rect">
            <a:avLst/>
          </a:prstGeom>
          <a:noFill/>
          <a:ln/>
        </p:spPr>
        <p:txBody>
          <a:bodyPr wrap="square" lIns="0" tIns="0" rIns="0" bIns="0" rtlCol="0" anchor="b"/>
          <a:lstStyle/>
          <a:p>
            <a:pPr indent="0" marL="0">
              <a:buNone/>
            </a:pPr>
            <a:r>
              <a:rPr lang="en-US" sz="2600" b="1" dirty="0">
                <a:solidFill>
                  <a:schemeClr val="accent4"/>
                </a:solidFill>
                <a:latin typeface="Cambria" pitchFamily="34" charset="0"/>
                <a:ea typeface="Cambria" pitchFamily="34" charset="-122"/>
                <a:cs typeface="Cambria" pitchFamily="34" charset="-120"/>
              </a:rPr>
              <a:t>55% vs 22%</a:t>
            </a:r>
            <a:endParaRPr lang="en-US" sz="2600" dirty="0"/>
          </a:p>
        </p:txBody>
      </p:sp>
      <p:sp>
        <p:nvSpPr>
          <p:cNvPr id="9" name="Text 5"/>
          <p:cNvSpPr txBox="1"/>
          <p:nvPr/>
        </p:nvSpPr>
        <p:spPr>
          <a:xfrm>
            <a:off x="777240" y="5650992"/>
            <a:ext cx="2423160" cy="429768"/>
          </a:xfrm>
          <a:prstGeom prst="rect">
            <a:avLst/>
          </a:prstGeom>
          <a:noFill/>
          <a:ln/>
        </p:spPr>
        <p:txBody>
          <a:bodyPr wrap="square" lIns="0" tIns="0" rIns="0" bIns="0" rtlCol="0" anchor="t"/>
          <a:lstStyle/>
          <a:p>
            <a:pPr indent="0" marL="0">
              <a:buNone/>
            </a:pPr>
            <a:r>
              <a:rPr lang="en-US" sz="1400" dirty="0">
                <a:solidFill>
                  <a:schemeClr val="tx2"/>
                </a:solidFill>
              </a:rPr>
              <a:t>energy in the top 8 directions: ΔW vs random</a:t>
            </a:r>
            <a:endParaRPr lang="en-US" sz="1400" dirty="0"/>
          </a:p>
        </p:txBody>
      </p:sp>
      <p:sp>
        <p:nvSpPr>
          <p:cNvPr id="10" name="energy in the top 16 directions"/>
          <p:cNvSpPr/>
          <p:nvPr/>
        </p:nvSpPr>
        <p:spPr>
          <a:xfrm>
            <a:off x="3611880" y="4846320"/>
            <a:ext cx="2880360" cy="1325880"/>
          </a:xfrm>
          <a:prstGeom prst="roundRect">
            <a:avLst>
              <a:gd name="adj" fmla="val 8276"/>
            </a:avLst>
          </a:prstGeom>
          <a:solidFill>
            <a:schemeClr val="bg2"/>
          </a:solidFill>
          <a:ln w="12700">
            <a:solidFill>
              <a:schemeClr val="bg2"/>
            </a:solidFill>
            <a:prstDash val="solid"/>
          </a:ln>
        </p:spPr>
      </p:sp>
      <p:sp>
        <p:nvSpPr>
          <p:cNvPr id="11" name="Text 7"/>
          <p:cNvSpPr txBox="1"/>
          <p:nvPr/>
        </p:nvSpPr>
        <p:spPr>
          <a:xfrm>
            <a:off x="3840480" y="4956048"/>
            <a:ext cx="2423160" cy="640080"/>
          </a:xfrm>
          <a:prstGeom prst="rect">
            <a:avLst/>
          </a:prstGeom>
          <a:noFill/>
          <a:ln/>
        </p:spPr>
        <p:txBody>
          <a:bodyPr wrap="square" lIns="0" tIns="0" rIns="0" bIns="0" rtlCol="0" anchor="b"/>
          <a:lstStyle/>
          <a:p>
            <a:pPr indent="0" marL="0">
              <a:buNone/>
            </a:pPr>
            <a:r>
              <a:rPr lang="en-US" sz="2600" b="1" dirty="0">
                <a:solidFill>
                  <a:schemeClr val="accent4"/>
                </a:solidFill>
                <a:latin typeface="Cambria" pitchFamily="34" charset="0"/>
                <a:ea typeface="Cambria" pitchFamily="34" charset="-122"/>
                <a:cs typeface="Cambria" pitchFamily="34" charset="-120"/>
              </a:rPr>
              <a:t>74% vs 38%</a:t>
            </a:r>
            <a:endParaRPr lang="en-US" sz="2600" dirty="0"/>
          </a:p>
        </p:txBody>
      </p:sp>
      <p:sp>
        <p:nvSpPr>
          <p:cNvPr id="12" name="Text 8"/>
          <p:cNvSpPr txBox="1"/>
          <p:nvPr/>
        </p:nvSpPr>
        <p:spPr>
          <a:xfrm>
            <a:off x="3840480" y="5650992"/>
            <a:ext cx="2423160" cy="429768"/>
          </a:xfrm>
          <a:prstGeom prst="rect">
            <a:avLst/>
          </a:prstGeom>
          <a:noFill/>
          <a:ln/>
        </p:spPr>
        <p:txBody>
          <a:bodyPr wrap="square" lIns="0" tIns="0" rIns="0" bIns="0" rtlCol="0" anchor="t"/>
          <a:lstStyle/>
          <a:p>
            <a:pPr indent="0" marL="0">
              <a:buNone/>
            </a:pPr>
            <a:r>
              <a:rPr lang="en-US" sz="1400" dirty="0">
                <a:solidFill>
                  <a:schemeClr val="tx2"/>
                </a:solidFill>
              </a:rPr>
              <a:t>energy in the top 16 directions</a:t>
            </a:r>
            <a:endParaRPr lang="en-US" sz="1400" dirty="0"/>
          </a:p>
        </p:txBody>
      </p:sp>
      <p:sp>
        <p:nvSpPr>
          <p:cNvPr id="13" name="caveat"/>
          <p:cNvSpPr/>
          <p:nvPr/>
        </p:nvSpPr>
        <p:spPr>
          <a:xfrm>
            <a:off x="6720840" y="4846320"/>
            <a:ext cx="4892040" cy="1325880"/>
          </a:xfrm>
          <a:prstGeom prst="roundRect">
            <a:avLst>
              <a:gd name="adj" fmla="val 8276"/>
            </a:avLst>
          </a:prstGeom>
          <a:solidFill>
            <a:schemeClr val="accent5"/>
          </a:solidFill>
          <a:ln w="12700">
            <a:solidFill>
              <a:schemeClr val="accent5"/>
            </a:solidFill>
            <a:prstDash val="solid"/>
          </a:ln>
        </p:spPr>
      </p:sp>
      <p:sp>
        <p:nvSpPr>
          <p:cNvPr id="14" name="Text 10"/>
          <p:cNvSpPr txBox="1"/>
          <p:nvPr/>
        </p:nvSpPr>
        <p:spPr>
          <a:xfrm>
            <a:off x="6949440" y="4846320"/>
            <a:ext cx="4480560" cy="1325880"/>
          </a:xfrm>
          <a:prstGeom prst="rect">
            <a:avLst/>
          </a:prstGeom>
          <a:noFill/>
          <a:ln/>
        </p:spPr>
        <p:txBody>
          <a:bodyPr wrap="square" lIns="0" tIns="0" rIns="0" bIns="0" rtlCol="0" anchor="ctr"/>
          <a:lstStyle/>
          <a:p>
            <a:pPr indent="0" marL="0">
              <a:buNone/>
            </a:pPr>
            <a:r>
              <a:rPr lang="en-US" sz="1500" b="1" dirty="0">
                <a:solidFill>
                  <a:schemeClr val="tx1"/>
                </a:solidFill>
              </a:rPr>
              <a:t>Approximately low-rank. </a:t>
            </a:r>
            <a:r>
              <a:rPr lang="en-US" sz="1500" dirty="0">
                <a:solidFill>
                  <a:schemeClr val="tx1"/>
                </a:solidFill>
              </a:rPr>
              <a:t>LoRA only needs to find some low-rank change that solves the task, not copy this ΔW.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LoRA: a low-rank update beside W₀</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15</a:t>
            </a:r>
            <a:endParaRPr lang="en-US" sz="1400" dirty="0"/>
          </a:p>
        </p:txBody>
      </p:sp>
      <p:sp>
        <p:nvSpPr>
          <p:cNvPr id="6" name="io input x   (k features)"/>
          <p:cNvSpPr/>
          <p:nvPr/>
        </p:nvSpPr>
        <p:spPr>
          <a:xfrm>
            <a:off x="1097280" y="5532120"/>
            <a:ext cx="4572000" cy="502920"/>
          </a:xfrm>
          <a:prstGeom prst="rect">
            <a:avLst/>
          </a:prstGeom>
          <a:solidFill>
            <a:schemeClr val="bg1"/>
          </a:solidFill>
          <a:ln w="15875">
            <a:solidFill>
              <a:schemeClr val="tx2"/>
            </a:solidFill>
            <a:prstDash val="solid"/>
          </a:ln>
        </p:spPr>
      </p:sp>
      <p:sp>
        <p:nvSpPr>
          <p:cNvPr id="7" name="Text 4"/>
          <p:cNvSpPr txBox="1"/>
          <p:nvPr/>
        </p:nvSpPr>
        <p:spPr>
          <a:xfrm>
            <a:off x="1097280" y="5532120"/>
            <a:ext cx="4572000" cy="502920"/>
          </a:xfrm>
          <a:prstGeom prst="rect">
            <a:avLst/>
          </a:prstGeom>
          <a:noFill/>
          <a:ln/>
        </p:spPr>
        <p:txBody>
          <a:bodyPr wrap="square" lIns="0" tIns="0" rIns="0" bIns="0" rtlCol="0" anchor="ctr"/>
          <a:lstStyle/>
          <a:p>
            <a:pPr algn="ctr" indent="0" marL="0">
              <a:buNone/>
            </a:pPr>
            <a:r>
              <a:rPr lang="en-US" sz="1500" dirty="0">
                <a:solidFill>
                  <a:schemeClr val="tx1"/>
                </a:solidFill>
              </a:rPr>
              <a:t>input x   (k features)</a:t>
            </a:r>
            <a:endParaRPr lang="en-US" sz="1500" dirty="0"/>
          </a:p>
        </p:txBody>
      </p:sp>
      <p:sp>
        <p:nvSpPr>
          <p:cNvPr id="8" name="frozen "/>
          <p:cNvSpPr/>
          <p:nvPr/>
        </p:nvSpPr>
        <p:spPr>
          <a:xfrm>
            <a:off x="822960" y="2331720"/>
            <a:ext cx="2194560" cy="2651760"/>
          </a:xfrm>
          <a:prstGeom prst="rect">
            <a:avLst/>
          </a:prstGeom>
          <a:solidFill>
            <a:schemeClr val="bg2"/>
          </a:solidFill>
          <a:ln w="15875">
            <a:solidFill>
              <a:schemeClr val="tx2"/>
            </a:solidFill>
            <a:prstDash val="solid"/>
          </a:ln>
        </p:spPr>
      </p:sp>
      <p:sp>
        <p:nvSpPr>
          <p:cNvPr id="9" name="Text 6"/>
          <p:cNvSpPr txBox="1"/>
          <p:nvPr/>
        </p:nvSpPr>
        <p:spPr>
          <a:xfrm>
            <a:off x="822960" y="2331720"/>
            <a:ext cx="2194560" cy="2651760"/>
          </a:xfrm>
          <a:prstGeom prst="rect">
            <a:avLst/>
          </a:prstGeom>
          <a:noFill/>
          <a:ln/>
        </p:spPr>
        <p:txBody>
          <a:bodyPr wrap="square" lIns="0" tIns="0" rIns="0" bIns="0" rtlCol="0" anchor="ctr"/>
          <a:lstStyle/>
          <a:p>
            <a:pPr algn="ctr" indent="0" marL="0">
              <a:buNone/>
            </a:pPr>
            <a:endParaRPr lang="en-US" sz="1500" dirty="0"/>
          </a:p>
        </p:txBody>
      </p:sp>
      <p:sp>
        <p:nvSpPr>
          <p:cNvPr id="10" name="Text 7"/>
          <p:cNvSpPr txBox="1"/>
          <p:nvPr/>
        </p:nvSpPr>
        <p:spPr>
          <a:xfrm>
            <a:off x="822960" y="2331720"/>
            <a:ext cx="2194560" cy="2651760"/>
          </a:xfrm>
          <a:prstGeom prst="rect">
            <a:avLst/>
          </a:prstGeom>
          <a:noFill/>
          <a:ln/>
        </p:spPr>
        <p:txBody>
          <a:bodyPr wrap="square" lIns="0" tIns="0" rIns="0" bIns="0" rtlCol="0" anchor="ctr"/>
          <a:lstStyle/>
          <a:p>
            <a:pPr algn="ctr" indent="0" marL="0">
              <a:buNone/>
            </a:pPr>
            <a:r>
              <a:rPr lang="en-US" sz="2600" b="1" dirty="0">
                <a:solidFill>
                  <a:schemeClr val="tx1"/>
                </a:solidFill>
              </a:rPr>
              <a:t>W₀</a:t>
            </a:r>
            <a:endParaRPr lang="en-US" sz="1600" dirty="0"/>
          </a:p>
          <a:p>
            <a:pPr algn="ctr" indent="0" marL="0">
              <a:buNone/>
            </a:pPr>
            <a:r>
              <a:rPr lang="en-US" sz="1600" dirty="0">
                <a:solidFill>
                  <a:schemeClr val="tx1"/>
                </a:solidFill>
              </a:rPr>
              <a:t>d × k</a:t>
            </a:r>
            <a:endParaRPr lang="en-US" sz="1600" dirty="0"/>
          </a:p>
          <a:p>
            <a:pPr algn="ctr" indent="0" marL="0">
              <a:buNone/>
            </a:pPr>
            <a:r>
              <a:rPr lang="en-US" sz="1600" dirty="0">
                <a:solidFill>
                  <a:schemeClr val="tx2"/>
                </a:solidFill>
              </a:rPr>
              <a:t>frozen</a:t>
            </a:r>
            <a:endParaRPr lang="en-US" sz="1600" dirty="0"/>
          </a:p>
        </p:txBody>
      </p:sp>
      <p:sp>
        <p:nvSpPr>
          <p:cNvPr id="11" name="A"/>
          <p:cNvSpPr/>
          <p:nvPr/>
        </p:nvSpPr>
        <p:spPr>
          <a:xfrm>
            <a:off x="3429000" y="3931920"/>
            <a:ext cx="2194560" cy="1097280"/>
          </a:xfrm>
          <a:prstGeom prst="trapezoid">
            <a:avLst/>
          </a:prstGeom>
          <a:solidFill>
            <a:schemeClr val="accent6"/>
          </a:solidFill>
          <a:ln w="15875">
            <a:solidFill>
              <a:schemeClr val="accent4"/>
            </a:solidFill>
            <a:prstDash val="solid"/>
          </a:ln>
        </p:spPr>
      </p:sp>
      <p:sp>
        <p:nvSpPr>
          <p:cNvPr id="12" name="Text 9"/>
          <p:cNvSpPr txBox="1"/>
          <p:nvPr/>
        </p:nvSpPr>
        <p:spPr>
          <a:xfrm>
            <a:off x="3429000" y="3931920"/>
            <a:ext cx="2194560" cy="1097280"/>
          </a:xfrm>
          <a:prstGeom prst="rect">
            <a:avLst/>
          </a:prstGeom>
          <a:noFill/>
          <a:ln/>
        </p:spPr>
        <p:txBody>
          <a:bodyPr wrap="square" lIns="0" tIns="0" rIns="0" bIns="0" rtlCol="0" anchor="ctr"/>
          <a:lstStyle/>
          <a:p>
            <a:pPr algn="ctr" indent="0" marL="0">
              <a:buNone/>
            </a:pPr>
            <a:r>
              <a:rPr lang="en-US" sz="1700" b="1" dirty="0">
                <a:solidFill>
                  <a:schemeClr val="tx1"/>
                </a:solidFill>
              </a:rPr>
              <a:t>A</a:t>
            </a:r>
            <a:endParaRPr lang="en-US" sz="1700" dirty="0"/>
          </a:p>
          <a:p>
            <a:pPr algn="ctr" indent="0" marL="0">
              <a:buNone/>
            </a:pPr>
            <a:r>
              <a:rPr lang="en-US" sz="1300" dirty="0">
                <a:solidFill>
                  <a:schemeClr val="tx1"/>
                </a:solidFill>
              </a:rPr>
              <a:t>r × k, random</a:t>
            </a:r>
            <a:endParaRPr lang="en-US" sz="1700" dirty="0"/>
          </a:p>
        </p:txBody>
      </p:sp>
      <p:sp>
        <p:nvSpPr>
          <p:cNvPr id="13" name="B"/>
          <p:cNvSpPr/>
          <p:nvPr/>
        </p:nvSpPr>
        <p:spPr>
          <a:xfrm flipV="1">
            <a:off x="3429000" y="2331720"/>
            <a:ext cx="2194560" cy="1097280"/>
          </a:xfrm>
          <a:prstGeom prst="trapezoid">
            <a:avLst/>
          </a:prstGeom>
          <a:solidFill>
            <a:schemeClr val="accent6"/>
          </a:solidFill>
          <a:ln w="15875">
            <a:solidFill>
              <a:schemeClr val="accent4"/>
            </a:solidFill>
            <a:prstDash val="solid"/>
          </a:ln>
        </p:spPr>
      </p:sp>
      <p:sp>
        <p:nvSpPr>
          <p:cNvPr id="14" name="Text 11"/>
          <p:cNvSpPr txBox="1"/>
          <p:nvPr/>
        </p:nvSpPr>
        <p:spPr>
          <a:xfrm>
            <a:off x="3429000" y="2331720"/>
            <a:ext cx="2194560" cy="1097280"/>
          </a:xfrm>
          <a:prstGeom prst="rect">
            <a:avLst/>
          </a:prstGeom>
          <a:noFill/>
          <a:ln/>
        </p:spPr>
        <p:txBody>
          <a:bodyPr wrap="square" lIns="0" tIns="0" rIns="0" bIns="0" rtlCol="0" anchor="ctr"/>
          <a:lstStyle/>
          <a:p>
            <a:pPr algn="ctr" indent="0" marL="0">
              <a:buNone/>
            </a:pPr>
            <a:r>
              <a:rPr lang="en-US" sz="1700" b="1" dirty="0">
                <a:solidFill>
                  <a:schemeClr val="tx1"/>
                </a:solidFill>
              </a:rPr>
              <a:t>B</a:t>
            </a:r>
            <a:endParaRPr lang="en-US" sz="1700" dirty="0"/>
          </a:p>
          <a:p>
            <a:pPr algn="ctr" indent="0" marL="0">
              <a:buNone/>
            </a:pPr>
            <a:r>
              <a:rPr lang="en-US" sz="1300" dirty="0">
                <a:solidFill>
                  <a:schemeClr val="tx1"/>
                </a:solidFill>
              </a:rPr>
              <a:t>d × r, zero</a:t>
            </a:r>
            <a:endParaRPr lang="en-US" sz="1700" dirty="0"/>
          </a:p>
        </p:txBody>
      </p:sp>
      <p:sp>
        <p:nvSpPr>
          <p:cNvPr id="15" name="Text 12"/>
          <p:cNvSpPr txBox="1"/>
          <p:nvPr/>
        </p:nvSpPr>
        <p:spPr>
          <a:xfrm>
            <a:off x="4892040" y="3520440"/>
            <a:ext cx="1097280" cy="320040"/>
          </a:xfrm>
          <a:prstGeom prst="rect">
            <a:avLst/>
          </a:prstGeom>
          <a:noFill/>
          <a:ln/>
        </p:spPr>
        <p:txBody>
          <a:bodyPr wrap="square" lIns="0" tIns="0" rIns="0" bIns="0" rtlCol="0" anchor="t"/>
          <a:lstStyle/>
          <a:p>
            <a:pPr indent="0" marL="0">
              <a:buNone/>
            </a:pPr>
            <a:r>
              <a:rPr lang="en-US" sz="1200" dirty="0">
                <a:solidFill>
                  <a:schemeClr val="tx2"/>
                </a:solidFill>
              </a:rPr>
              <a:t>r features</a:t>
            </a:r>
            <a:endParaRPr lang="en-US" sz="1200" dirty="0"/>
          </a:p>
        </p:txBody>
      </p:sp>
      <p:sp>
        <p:nvSpPr>
          <p:cNvPr id="16" name="io h = W₀x + (α/r)·BAx   (d features)"/>
          <p:cNvSpPr/>
          <p:nvPr/>
        </p:nvSpPr>
        <p:spPr>
          <a:xfrm>
            <a:off x="822960" y="1188720"/>
            <a:ext cx="4937760" cy="411480"/>
          </a:xfrm>
          <a:prstGeom prst="rect">
            <a:avLst/>
          </a:prstGeom>
          <a:solidFill>
            <a:schemeClr val="bg1"/>
          </a:solidFill>
          <a:ln w="15875">
            <a:solidFill>
              <a:schemeClr val="tx2"/>
            </a:solidFill>
            <a:prstDash val="solid"/>
          </a:ln>
        </p:spPr>
      </p:sp>
      <p:sp>
        <p:nvSpPr>
          <p:cNvPr id="17" name="Text 14"/>
          <p:cNvSpPr txBox="1"/>
          <p:nvPr/>
        </p:nvSpPr>
        <p:spPr>
          <a:xfrm>
            <a:off x="822960" y="1188720"/>
            <a:ext cx="4937760" cy="411480"/>
          </a:xfrm>
          <a:prstGeom prst="rect">
            <a:avLst/>
          </a:prstGeom>
          <a:noFill/>
          <a:ln/>
        </p:spPr>
        <p:txBody>
          <a:bodyPr wrap="square" lIns="0" tIns="0" rIns="0" bIns="0" rtlCol="0" anchor="ctr"/>
          <a:lstStyle/>
          <a:p>
            <a:pPr algn="ctr" indent="0" marL="0">
              <a:buNone/>
            </a:pPr>
            <a:r>
              <a:rPr lang="en-US" sz="1500" dirty="0">
                <a:solidFill>
                  <a:schemeClr val="tx1"/>
                </a:solidFill>
              </a:rPr>
              <a:t>h = W₀x + (α/r)·BAx   (d features)</a:t>
            </a:r>
            <a:endParaRPr lang="en-US" sz="1500" dirty="0"/>
          </a:p>
        </p:txBody>
      </p:sp>
      <p:sp>
        <p:nvSpPr>
          <p:cNvPr id="18" name="Shape 15"/>
          <p:cNvSpPr/>
          <p:nvPr/>
        </p:nvSpPr>
        <p:spPr>
          <a:xfrm>
            <a:off x="2926080" y="1783080"/>
            <a:ext cx="411480" cy="411480"/>
          </a:xfrm>
          <a:prstGeom prst="ellipse">
            <a:avLst/>
          </a:prstGeom>
          <a:solidFill>
            <a:schemeClr val="bg1"/>
          </a:solidFill>
          <a:ln w="15875">
            <a:solidFill>
              <a:schemeClr val="tx1"/>
            </a:solidFill>
            <a:prstDash val="solid"/>
          </a:ln>
        </p:spPr>
      </p:sp>
      <p:sp>
        <p:nvSpPr>
          <p:cNvPr id="19" name="Text 16"/>
          <p:cNvSpPr txBox="1"/>
          <p:nvPr/>
        </p:nvSpPr>
        <p:spPr>
          <a:xfrm>
            <a:off x="2926080" y="1783080"/>
            <a:ext cx="411480" cy="41148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20" name="Shape 17"/>
          <p:cNvSpPr/>
          <p:nvPr/>
        </p:nvSpPr>
        <p:spPr>
          <a:xfrm>
            <a:off x="1920240" y="5532120"/>
            <a:ext cx="0" cy="-548640"/>
          </a:xfrm>
          <a:prstGeom prst="line">
            <a:avLst/>
          </a:prstGeom>
          <a:noFill/>
          <a:ln w="22225">
            <a:solidFill>
              <a:schemeClr val="tx2"/>
            </a:solidFill>
            <a:prstDash val="solid"/>
            <a:tailEnd type="triangle"/>
          </a:ln>
        </p:spPr>
      </p:sp>
      <p:sp>
        <p:nvSpPr>
          <p:cNvPr id="21" name="Shape 18"/>
          <p:cNvSpPr/>
          <p:nvPr/>
        </p:nvSpPr>
        <p:spPr>
          <a:xfrm>
            <a:off x="4526280" y="5532120"/>
            <a:ext cx="0" cy="-502920"/>
          </a:xfrm>
          <a:prstGeom prst="line">
            <a:avLst/>
          </a:prstGeom>
          <a:noFill/>
          <a:ln w="22225">
            <a:solidFill>
              <a:schemeClr val="tx2"/>
            </a:solidFill>
            <a:prstDash val="solid"/>
            <a:tailEnd type="triangle"/>
          </a:ln>
        </p:spPr>
      </p:sp>
      <p:sp>
        <p:nvSpPr>
          <p:cNvPr id="22" name="Shape 19"/>
          <p:cNvSpPr/>
          <p:nvPr/>
        </p:nvSpPr>
        <p:spPr>
          <a:xfrm>
            <a:off x="4526280" y="3931920"/>
            <a:ext cx="0" cy="-502920"/>
          </a:xfrm>
          <a:prstGeom prst="line">
            <a:avLst/>
          </a:prstGeom>
          <a:noFill/>
          <a:ln w="22225">
            <a:solidFill>
              <a:schemeClr val="tx2"/>
            </a:solidFill>
            <a:prstDash val="solid"/>
            <a:tailEnd type="triangle"/>
          </a:ln>
        </p:spPr>
      </p:sp>
      <p:sp>
        <p:nvSpPr>
          <p:cNvPr id="23" name="Shape 20"/>
          <p:cNvSpPr/>
          <p:nvPr/>
        </p:nvSpPr>
        <p:spPr>
          <a:xfrm>
            <a:off x="1920240" y="2331720"/>
            <a:ext cx="1033272" cy="-246888"/>
          </a:xfrm>
          <a:prstGeom prst="line">
            <a:avLst/>
          </a:prstGeom>
          <a:noFill/>
          <a:ln w="22225">
            <a:solidFill>
              <a:schemeClr val="tx2"/>
            </a:solidFill>
            <a:prstDash val="solid"/>
            <a:tailEnd type="triangle"/>
          </a:ln>
        </p:spPr>
      </p:sp>
      <p:sp>
        <p:nvSpPr>
          <p:cNvPr id="24" name="Shape 21"/>
          <p:cNvSpPr/>
          <p:nvPr/>
        </p:nvSpPr>
        <p:spPr>
          <a:xfrm>
            <a:off x="4526280" y="2331720"/>
            <a:ext cx="-1216152" cy="-246888"/>
          </a:xfrm>
          <a:prstGeom prst="line">
            <a:avLst/>
          </a:prstGeom>
          <a:noFill/>
          <a:ln w="22225">
            <a:solidFill>
              <a:schemeClr val="tx2"/>
            </a:solidFill>
            <a:prstDash val="solid"/>
            <a:tailEnd type="triangle"/>
          </a:ln>
        </p:spPr>
      </p:sp>
      <p:sp>
        <p:nvSpPr>
          <p:cNvPr id="25" name="Text 22"/>
          <p:cNvSpPr txBox="1"/>
          <p:nvPr/>
        </p:nvSpPr>
        <p:spPr>
          <a:xfrm>
            <a:off x="4069080" y="1874520"/>
            <a:ext cx="822960" cy="274320"/>
          </a:xfrm>
          <a:prstGeom prst="rect">
            <a:avLst/>
          </a:prstGeom>
          <a:noFill/>
          <a:ln/>
        </p:spPr>
        <p:txBody>
          <a:bodyPr wrap="square" lIns="0" tIns="0" rIns="0" bIns="0" rtlCol="0" anchor="t"/>
          <a:lstStyle/>
          <a:p>
            <a:pPr indent="0" marL="0">
              <a:buNone/>
            </a:pPr>
            <a:r>
              <a:rPr lang="en-US" sz="1300" dirty="0">
                <a:solidFill>
                  <a:schemeClr val="tx2"/>
                </a:solidFill>
              </a:rPr>
              <a:t>× α/r</a:t>
            </a:r>
            <a:endParaRPr lang="en-US" sz="1300" dirty="0"/>
          </a:p>
        </p:txBody>
      </p:sp>
      <p:sp>
        <p:nvSpPr>
          <p:cNvPr id="26" name="Shape 23"/>
          <p:cNvSpPr/>
          <p:nvPr/>
        </p:nvSpPr>
        <p:spPr>
          <a:xfrm>
            <a:off x="3131820" y="1783080"/>
            <a:ext cx="0" cy="-182880"/>
          </a:xfrm>
          <a:prstGeom prst="line">
            <a:avLst/>
          </a:prstGeom>
          <a:noFill/>
          <a:ln w="22225">
            <a:solidFill>
              <a:schemeClr val="tx2"/>
            </a:solidFill>
            <a:prstDash val="solid"/>
            <a:tailEnd type="triangle"/>
          </a:ln>
        </p:spPr>
      </p:sp>
      <p:sp>
        <p:nvSpPr>
          <p:cNvPr id="27" name="equation"/>
          <p:cNvSpPr/>
          <p:nvPr/>
        </p:nvSpPr>
        <p:spPr>
          <a:xfrm>
            <a:off x="6309360" y="1280160"/>
            <a:ext cx="5303520" cy="1325880"/>
          </a:xfrm>
          <a:prstGeom prst="roundRect">
            <a:avLst>
              <a:gd name="adj" fmla="val 8276"/>
            </a:avLst>
          </a:prstGeom>
          <a:solidFill>
            <a:schemeClr val="tx1"/>
          </a:solidFill>
          <a:ln w="12700">
            <a:solidFill>
              <a:schemeClr val="tx1"/>
            </a:solidFill>
            <a:prstDash val="solid"/>
          </a:ln>
        </p:spPr>
      </p:sp>
      <p:sp>
        <p:nvSpPr>
          <p:cNvPr id="28" name="Text 25"/>
          <p:cNvSpPr txBox="1"/>
          <p:nvPr/>
        </p:nvSpPr>
        <p:spPr>
          <a:xfrm>
            <a:off x="6537960" y="1325880"/>
            <a:ext cx="4846320" cy="685800"/>
          </a:xfrm>
          <a:prstGeom prst="rect">
            <a:avLst/>
          </a:prstGeom>
          <a:noFill/>
          <a:ln/>
        </p:spPr>
        <p:txBody>
          <a:bodyPr wrap="square" lIns="0" tIns="0" rIns="0" bIns="0" rtlCol="0" anchor="ctr"/>
          <a:lstStyle/>
          <a:p>
            <a:pPr indent="0" marL="0">
              <a:buNone/>
            </a:pPr>
            <a:r>
              <a:rPr lang="en-US" sz="2400" dirty="0">
                <a:solidFill>
                  <a:schemeClr val="bg1"/>
                </a:solidFill>
                <a:latin typeface="Cambria" pitchFamily="34" charset="0"/>
                <a:ea typeface="Cambria" pitchFamily="34" charset="-122"/>
                <a:cs typeface="Cambria" pitchFamily="34" charset="-120"/>
              </a:rPr>
              <a:t>h = W</a:t>
            </a:r>
            <a:r>
              <a:rPr lang="en-US" sz="2400" baseline="-40000" dirty="0">
                <a:solidFill>
                  <a:schemeClr val="bg1"/>
                </a:solidFill>
                <a:latin typeface="Cambria" pitchFamily="34" charset="0"/>
                <a:ea typeface="Cambria" pitchFamily="34" charset="-122"/>
                <a:cs typeface="Cambria" pitchFamily="34" charset="-120"/>
              </a:rPr>
              <a:t>0</a:t>
            </a:r>
            <a:r>
              <a:rPr lang="en-US" sz="2400" dirty="0">
                <a:solidFill>
                  <a:schemeClr val="bg1"/>
                </a:solidFill>
                <a:latin typeface="Cambria" pitchFamily="34" charset="0"/>
                <a:ea typeface="Cambria" pitchFamily="34" charset="-122"/>
                <a:cs typeface="Cambria" pitchFamily="34" charset="-120"/>
              </a:rPr>
              <a:t>x + ΔWx = W</a:t>
            </a:r>
            <a:r>
              <a:rPr lang="en-US" sz="2400" baseline="-40000" dirty="0">
                <a:solidFill>
                  <a:schemeClr val="bg1"/>
                </a:solidFill>
                <a:latin typeface="Cambria" pitchFamily="34" charset="0"/>
                <a:ea typeface="Cambria" pitchFamily="34" charset="-122"/>
                <a:cs typeface="Cambria" pitchFamily="34" charset="-120"/>
              </a:rPr>
              <a:t>0</a:t>
            </a:r>
            <a:r>
              <a:rPr lang="en-US" sz="2400" dirty="0">
                <a:solidFill>
                  <a:schemeClr val="bg1"/>
                </a:solidFill>
                <a:latin typeface="Cambria" pitchFamily="34" charset="0"/>
                <a:ea typeface="Cambria" pitchFamily="34" charset="-122"/>
                <a:cs typeface="Cambria" pitchFamily="34" charset="-120"/>
              </a:rPr>
              <a:t>x + </a:t>
            </a:r>
            <a:r>
              <a:rPr lang="en-US" sz="2400" dirty="0">
                <a:solidFill>
                  <a:schemeClr val="accent2"/>
                </a:solidFill>
                <a:latin typeface="Cambria" pitchFamily="34" charset="0"/>
                <a:ea typeface="Cambria" pitchFamily="34" charset="-122"/>
                <a:cs typeface="Cambria" pitchFamily="34" charset="-120"/>
              </a:rPr>
              <a:t>(α/r)</a:t>
            </a:r>
            <a:r>
              <a:rPr lang="en-US" sz="2400" dirty="0">
                <a:solidFill>
                  <a:schemeClr val="bg1"/>
                </a:solidFill>
                <a:latin typeface="Cambria" pitchFamily="34" charset="0"/>
                <a:ea typeface="Cambria" pitchFamily="34" charset="-122"/>
                <a:cs typeface="Cambria" pitchFamily="34" charset="-120"/>
              </a:rPr>
              <a:t> B A x</a:t>
            </a:r>
            <a:endParaRPr lang="en-US" sz="2400" dirty="0"/>
          </a:p>
        </p:txBody>
      </p:sp>
      <p:sp>
        <p:nvSpPr>
          <p:cNvPr id="29" name="Text 26"/>
          <p:cNvSpPr txBox="1"/>
          <p:nvPr/>
        </p:nvSpPr>
        <p:spPr>
          <a:xfrm>
            <a:off x="6537960" y="2011680"/>
            <a:ext cx="4846320" cy="457200"/>
          </a:xfrm>
          <a:prstGeom prst="rect">
            <a:avLst/>
          </a:prstGeom>
          <a:noFill/>
          <a:ln/>
        </p:spPr>
        <p:txBody>
          <a:bodyPr wrap="square" lIns="0" tIns="0" rIns="0" bIns="0" rtlCol="0" anchor="ctr"/>
          <a:lstStyle/>
          <a:p>
            <a:pPr indent="0" marL="0">
              <a:buNone/>
            </a:pPr>
            <a:r>
              <a:rPr lang="en-US" sz="1500" dirty="0">
                <a:solidFill>
                  <a:srgbClr val="C9CFDA"/>
                </a:solidFill>
              </a:rPr>
              <a:t>A ∈ ℝ^(r×k),  B ∈ ℝ^(d×r),  r ≪ min(d, k)</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09360" y="2834640"/>
          <a:ext cx="5303520" cy="914400"/>
        </p:xfrm>
        <a:graphic>
          <a:graphicData uri="http://schemas.openxmlformats.org/drawingml/2006/table">
            <a:tbl>
              <a:tblPr/>
              <a:tblGrid>
                <a:gridCol w="914400"/>
                <a:gridCol w="2468880"/>
                <a:gridCol w="1920240"/>
              </a:tblGrid>
              <a:tr h="411480">
                <a:tc>
                  <a:txBody>
                    <a:bodyPr/>
                    <a:lstStyle/>
                    <a:p>
                      <a:pPr indent="0" marL="0">
                        <a:buNone/>
                      </a:pPr>
                      <a:r>
                        <a:rPr lang="en-US" sz="1400" b="1" dirty="0">
                          <a:solidFill>
                            <a:schemeClr val="bg1"/>
                          </a:solidFill>
                        </a:rPr>
                        <a:t>Symbol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Meaning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Set by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11480">
                <a:tc>
                  <a:txBody>
                    <a:bodyPr/>
                    <a:lstStyle/>
                    <a:p>
                      <a:pPr indent="0" marL="0">
                        <a:buNone/>
                      </a:pPr>
                      <a:r>
                        <a:rPr lang="en-US" sz="1400" b="1" dirty="0">
                          <a:solidFill>
                            <a:schemeClr val="tx1"/>
                          </a:solidFill>
                        </a:rPr>
                        <a:t>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input width of the matrix</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architecture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11480">
                <a:tc>
                  <a:txBody>
                    <a:bodyPr/>
                    <a:lstStyle/>
                    <a:p>
                      <a:pPr indent="0" marL="0">
                        <a:buNone/>
                      </a:pPr>
                      <a:r>
                        <a:rPr lang="en-US" sz="1400" b="1" dirty="0">
                          <a:solidFill>
                            <a:schemeClr val="tx1"/>
                          </a:solidFill>
                        </a:rPr>
                        <a:t>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output width of the matrix</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 architecture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11480">
                <a:tc>
                  <a:txBody>
                    <a:bodyPr/>
                    <a:lstStyle/>
                    <a:p>
                      <a:pPr indent="0" marL="0">
                        <a:buNone/>
                      </a:pPr>
                      <a:r>
                        <a:rPr lang="en-US" sz="1400" b="1" dirty="0">
                          <a:solidFill>
                            <a:schemeClr val="accent4"/>
                          </a:solidFill>
                        </a:rPr>
                        <a:t>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rank: the narrow middle width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you (LoraConfig(r=8))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31" name="rank bound"/>
          <p:cNvSpPr/>
          <p:nvPr/>
        </p:nvSpPr>
        <p:spPr>
          <a:xfrm>
            <a:off x="6309360" y="4617720"/>
            <a:ext cx="5303520" cy="1554480"/>
          </a:xfrm>
          <a:prstGeom prst="roundRect">
            <a:avLst>
              <a:gd name="adj" fmla="val 7059"/>
            </a:avLst>
          </a:prstGeom>
          <a:solidFill>
            <a:schemeClr val="accent5"/>
          </a:solidFill>
          <a:ln w="12700">
            <a:solidFill>
              <a:schemeClr val="accent5"/>
            </a:solidFill>
            <a:prstDash val="solid"/>
          </a:ln>
        </p:spPr>
      </p:sp>
      <p:sp>
        <p:nvSpPr>
          <p:cNvPr id="32" name="Text 28"/>
          <p:cNvSpPr txBox="1"/>
          <p:nvPr/>
        </p:nvSpPr>
        <p:spPr>
          <a:xfrm>
            <a:off x="6537960" y="4617720"/>
            <a:ext cx="4846320" cy="1554480"/>
          </a:xfrm>
          <a:prstGeom prst="rect">
            <a:avLst/>
          </a:prstGeom>
          <a:noFill/>
          <a:ln/>
        </p:spPr>
        <p:txBody>
          <a:bodyPr wrap="square" lIns="0" tIns="0" rIns="0" bIns="0" rtlCol="0" anchor="ctr"/>
          <a:lstStyle/>
          <a:p>
            <a:pPr indent="0" marL="0">
              <a:buNone/>
            </a:pPr>
            <a:r>
              <a:rPr lang="en-US" sz="1500" b="1" dirty="0">
                <a:solidFill>
                  <a:schemeClr val="tx1"/>
                </a:solidFill>
              </a:rPr>
              <a:t>Rank ≤ r, by construction. </a:t>
            </a:r>
            <a:r>
              <a:rPr lang="en-US" sz="1500" dirty="0">
                <a:solidFill>
                  <a:schemeClr val="tx1"/>
                </a:solidFill>
              </a:rPr>
              <a:t>BA is d × k like W₀, so the two can be added, but every input is squeezed through r features on the way.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Shapes and parameter count</a:t>
            </a:r>
            <a:endParaRPr lang="en-US" sz="3200" dirty="0"/>
          </a:p>
        </p:txBody>
      </p:sp>
      <p:sp>
        <p:nvSpPr>
          <p:cNvPr id="4" name="Text 1"/>
          <p:cNvSpPr txBox="1"/>
          <p:nvPr/>
        </p:nvSpPr>
        <p:spPr>
          <a:xfrm>
            <a:off x="548640" y="1280160"/>
            <a:ext cx="11064240" cy="411480"/>
          </a:xfrm>
          <a:prstGeom prst="rect">
            <a:avLst/>
          </a:prstGeom>
          <a:noFill/>
          <a:ln/>
        </p:spPr>
        <p:txBody>
          <a:bodyPr wrap="square" lIns="0" tIns="0" rIns="0" bIns="0" rtlCol="0" anchor="t"/>
          <a:lstStyle/>
          <a:p>
            <a:pPr indent="0" marL="0">
              <a:buNone/>
            </a:pPr>
            <a:r>
              <a:rPr lang="en-US" sz="1800" b="1" dirty="0">
                <a:solidFill>
                  <a:schemeClr val="tx1"/>
                </a:solidFill>
              </a:rPr>
              <a:t>Shape trace: N sequences of T tokens</a:t>
            </a:r>
            <a:endParaRPr lang="en-US" sz="1800" dirty="0"/>
          </a:p>
        </p:txBody>
      </p:sp>
      <p:sp>
        <p:nvSpPr>
          <p:cNvPr id="5" name="io "/>
          <p:cNvSpPr/>
          <p:nvPr/>
        </p:nvSpPr>
        <p:spPr>
          <a:xfrm>
            <a:off x="548640" y="1828800"/>
            <a:ext cx="2377440" cy="914400"/>
          </a:xfrm>
          <a:prstGeom prst="rect">
            <a:avLst/>
          </a:prstGeom>
          <a:solidFill>
            <a:schemeClr val="bg1"/>
          </a:solidFill>
          <a:ln w="15875">
            <a:solidFill>
              <a:schemeClr val="tx2"/>
            </a:solidFill>
            <a:prstDash val="solid"/>
          </a:ln>
        </p:spPr>
      </p:sp>
      <p:sp>
        <p:nvSpPr>
          <p:cNvPr id="6" name="Text 3"/>
          <p:cNvSpPr txBox="1"/>
          <p:nvPr/>
        </p:nvSpPr>
        <p:spPr>
          <a:xfrm>
            <a:off x="548640" y="1828800"/>
            <a:ext cx="2377440" cy="914400"/>
          </a:xfrm>
          <a:prstGeom prst="rect">
            <a:avLst/>
          </a:prstGeom>
          <a:noFill/>
          <a:ln/>
        </p:spPr>
        <p:txBody>
          <a:bodyPr wrap="square" lIns="0" tIns="0" rIns="0" bIns="0" rtlCol="0" anchor="ctr"/>
          <a:lstStyle/>
          <a:p>
            <a:pPr algn="ctr" indent="0" marL="0">
              <a:buNone/>
            </a:pPr>
            <a:endParaRPr lang="en-US" sz="1500" dirty="0"/>
          </a:p>
        </p:txBody>
      </p:sp>
      <p:sp>
        <p:nvSpPr>
          <p:cNvPr id="7" name="Text 4"/>
          <p:cNvSpPr txBox="1"/>
          <p:nvPr/>
        </p:nvSpPr>
        <p:spPr>
          <a:xfrm>
            <a:off x="548640" y="1828800"/>
            <a:ext cx="2377440" cy="91440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x</a:t>
            </a:r>
            <a:endParaRPr lang="en-US" sz="1500" dirty="0"/>
          </a:p>
          <a:p>
            <a:pPr algn="ctr" indent="0" marL="0">
              <a:buNone/>
            </a:pPr>
            <a:r>
              <a:rPr lang="en-US" sz="1500" dirty="0">
                <a:solidFill>
                  <a:schemeClr val="tx1"/>
                </a:solidFill>
                <a:latin typeface="Courier New" pitchFamily="34" charset="0"/>
                <a:ea typeface="Courier New" pitchFamily="34" charset="-122"/>
                <a:cs typeface="Courier New" pitchFamily="34" charset="-120"/>
              </a:rPr>
              <a:t>(N, T, k)</a:t>
            </a:r>
            <a:endParaRPr lang="en-US" sz="1500" dirty="0"/>
          </a:p>
        </p:txBody>
      </p:sp>
      <p:sp>
        <p:nvSpPr>
          <p:cNvPr id="8" name="Shape 5"/>
          <p:cNvSpPr/>
          <p:nvPr/>
        </p:nvSpPr>
        <p:spPr>
          <a:xfrm>
            <a:off x="2971800" y="2286000"/>
            <a:ext cx="365760" cy="0"/>
          </a:xfrm>
          <a:prstGeom prst="line">
            <a:avLst/>
          </a:prstGeom>
          <a:noFill/>
          <a:ln w="22225">
            <a:solidFill>
              <a:schemeClr val="tx2"/>
            </a:solidFill>
            <a:prstDash val="solid"/>
            <a:tailEnd type="triangle"/>
          </a:ln>
        </p:spPr>
      </p:sp>
      <p:sp>
        <p:nvSpPr>
          <p:cNvPr id="9" name="trainable "/>
          <p:cNvSpPr/>
          <p:nvPr/>
        </p:nvSpPr>
        <p:spPr>
          <a:xfrm>
            <a:off x="3383280" y="1828800"/>
            <a:ext cx="2377440" cy="914400"/>
          </a:xfrm>
          <a:prstGeom prst="rect">
            <a:avLst/>
          </a:prstGeom>
          <a:solidFill>
            <a:schemeClr val="accent6"/>
          </a:solidFill>
          <a:ln w="15875">
            <a:solidFill>
              <a:schemeClr val="accent4"/>
            </a:solidFill>
            <a:prstDash val="solid"/>
          </a:ln>
        </p:spPr>
      </p:sp>
      <p:sp>
        <p:nvSpPr>
          <p:cNvPr id="10" name="Text 7"/>
          <p:cNvSpPr txBox="1"/>
          <p:nvPr/>
        </p:nvSpPr>
        <p:spPr>
          <a:xfrm>
            <a:off x="3383280" y="1828800"/>
            <a:ext cx="2377440" cy="914400"/>
          </a:xfrm>
          <a:prstGeom prst="rect">
            <a:avLst/>
          </a:prstGeom>
          <a:noFill/>
          <a:ln/>
        </p:spPr>
        <p:txBody>
          <a:bodyPr wrap="square" lIns="0" tIns="0" rIns="0" bIns="0" rtlCol="0" anchor="ctr"/>
          <a:lstStyle/>
          <a:p>
            <a:pPr algn="ctr" indent="0" marL="0">
              <a:buNone/>
            </a:pPr>
            <a:endParaRPr lang="en-US" sz="1500" dirty="0"/>
          </a:p>
        </p:txBody>
      </p:sp>
      <p:sp>
        <p:nvSpPr>
          <p:cNvPr id="11" name="Text 8"/>
          <p:cNvSpPr txBox="1"/>
          <p:nvPr/>
        </p:nvSpPr>
        <p:spPr>
          <a:xfrm>
            <a:off x="3383280" y="1828800"/>
            <a:ext cx="2377440" cy="91440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x @ A.T</a:t>
            </a:r>
            <a:endParaRPr lang="en-US" sz="1500" dirty="0"/>
          </a:p>
          <a:p>
            <a:pPr algn="ctr" indent="0" marL="0">
              <a:buNone/>
            </a:pPr>
            <a:r>
              <a:rPr lang="en-US" sz="1500" dirty="0">
                <a:solidFill>
                  <a:schemeClr val="tx1"/>
                </a:solidFill>
                <a:latin typeface="Courier New" pitchFamily="34" charset="0"/>
                <a:ea typeface="Courier New" pitchFamily="34" charset="-122"/>
                <a:cs typeface="Courier New" pitchFamily="34" charset="-120"/>
              </a:rPr>
              <a:t>(N, T, r)</a:t>
            </a:r>
            <a:endParaRPr lang="en-US" sz="1500" dirty="0"/>
          </a:p>
        </p:txBody>
      </p:sp>
      <p:sp>
        <p:nvSpPr>
          <p:cNvPr id="12" name="Shape 9"/>
          <p:cNvSpPr/>
          <p:nvPr/>
        </p:nvSpPr>
        <p:spPr>
          <a:xfrm>
            <a:off x="5806440" y="2286000"/>
            <a:ext cx="365760" cy="0"/>
          </a:xfrm>
          <a:prstGeom prst="line">
            <a:avLst/>
          </a:prstGeom>
          <a:noFill/>
          <a:ln w="22225">
            <a:solidFill>
              <a:schemeClr val="tx2"/>
            </a:solidFill>
            <a:prstDash val="solid"/>
            <a:tailEnd type="triangle"/>
          </a:ln>
        </p:spPr>
      </p:sp>
      <p:sp>
        <p:nvSpPr>
          <p:cNvPr id="13" name="trainable "/>
          <p:cNvSpPr/>
          <p:nvPr/>
        </p:nvSpPr>
        <p:spPr>
          <a:xfrm>
            <a:off x="6217920" y="1828800"/>
            <a:ext cx="2377440" cy="914400"/>
          </a:xfrm>
          <a:prstGeom prst="rect">
            <a:avLst/>
          </a:prstGeom>
          <a:solidFill>
            <a:schemeClr val="accent6"/>
          </a:solidFill>
          <a:ln w="15875">
            <a:solidFill>
              <a:schemeClr val="accent4"/>
            </a:solidFill>
            <a:prstDash val="solid"/>
          </a:ln>
        </p:spPr>
      </p:sp>
      <p:sp>
        <p:nvSpPr>
          <p:cNvPr id="14" name="Text 11"/>
          <p:cNvSpPr txBox="1"/>
          <p:nvPr/>
        </p:nvSpPr>
        <p:spPr>
          <a:xfrm>
            <a:off x="6217920" y="1828800"/>
            <a:ext cx="2377440" cy="914400"/>
          </a:xfrm>
          <a:prstGeom prst="rect">
            <a:avLst/>
          </a:prstGeom>
          <a:noFill/>
          <a:ln/>
        </p:spPr>
        <p:txBody>
          <a:bodyPr wrap="square" lIns="0" tIns="0" rIns="0" bIns="0" rtlCol="0" anchor="ctr"/>
          <a:lstStyle/>
          <a:p>
            <a:pPr algn="ctr" indent="0" marL="0">
              <a:buNone/>
            </a:pPr>
            <a:endParaRPr lang="en-US" sz="1500" dirty="0"/>
          </a:p>
        </p:txBody>
      </p:sp>
      <p:sp>
        <p:nvSpPr>
          <p:cNvPr id="15" name="Text 12"/>
          <p:cNvSpPr txBox="1"/>
          <p:nvPr/>
        </p:nvSpPr>
        <p:spPr>
          <a:xfrm>
            <a:off x="6217920" y="1828800"/>
            <a:ext cx="2377440" cy="91440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(x @ A.T) @ B.T</a:t>
            </a:r>
            <a:endParaRPr lang="en-US" sz="1500" dirty="0"/>
          </a:p>
          <a:p>
            <a:pPr algn="ctr" indent="0" marL="0">
              <a:buNone/>
            </a:pPr>
            <a:r>
              <a:rPr lang="en-US" sz="1500" dirty="0">
                <a:solidFill>
                  <a:schemeClr val="tx1"/>
                </a:solidFill>
                <a:latin typeface="Courier New" pitchFamily="34" charset="0"/>
                <a:ea typeface="Courier New" pitchFamily="34" charset="-122"/>
                <a:cs typeface="Courier New" pitchFamily="34" charset="-120"/>
              </a:rPr>
              <a:t>(N, T, d)</a:t>
            </a:r>
            <a:endParaRPr lang="en-US" sz="1500" dirty="0"/>
          </a:p>
        </p:txBody>
      </p:sp>
      <p:sp>
        <p:nvSpPr>
          <p:cNvPr id="16" name="Shape 13"/>
          <p:cNvSpPr/>
          <p:nvPr/>
        </p:nvSpPr>
        <p:spPr>
          <a:xfrm>
            <a:off x="8641080" y="2286000"/>
            <a:ext cx="365760" cy="0"/>
          </a:xfrm>
          <a:prstGeom prst="line">
            <a:avLst/>
          </a:prstGeom>
          <a:noFill/>
          <a:ln w="22225">
            <a:solidFill>
              <a:schemeClr val="tx2"/>
            </a:solidFill>
            <a:prstDash val="solid"/>
            <a:tailEnd type="triangle"/>
          </a:ln>
        </p:spPr>
      </p:sp>
      <p:sp>
        <p:nvSpPr>
          <p:cNvPr id="17" name="frozen "/>
          <p:cNvSpPr/>
          <p:nvPr/>
        </p:nvSpPr>
        <p:spPr>
          <a:xfrm>
            <a:off x="9052560" y="1828800"/>
            <a:ext cx="2377440" cy="914400"/>
          </a:xfrm>
          <a:prstGeom prst="rect">
            <a:avLst/>
          </a:prstGeom>
          <a:solidFill>
            <a:schemeClr val="bg2"/>
          </a:solidFill>
          <a:ln w="15875">
            <a:solidFill>
              <a:schemeClr val="tx2"/>
            </a:solidFill>
            <a:prstDash val="solid"/>
          </a:ln>
        </p:spPr>
      </p:sp>
      <p:sp>
        <p:nvSpPr>
          <p:cNvPr id="18" name="Text 15"/>
          <p:cNvSpPr txBox="1"/>
          <p:nvPr/>
        </p:nvSpPr>
        <p:spPr>
          <a:xfrm>
            <a:off x="9052560" y="1828800"/>
            <a:ext cx="2377440" cy="914400"/>
          </a:xfrm>
          <a:prstGeom prst="rect">
            <a:avLst/>
          </a:prstGeom>
          <a:noFill/>
          <a:ln/>
        </p:spPr>
        <p:txBody>
          <a:bodyPr wrap="square" lIns="0" tIns="0" rIns="0" bIns="0" rtlCol="0" anchor="ctr"/>
          <a:lstStyle/>
          <a:p>
            <a:pPr algn="ctr" indent="0" marL="0">
              <a:buNone/>
            </a:pPr>
            <a:endParaRPr lang="en-US" sz="1500" dirty="0"/>
          </a:p>
        </p:txBody>
      </p:sp>
      <p:sp>
        <p:nvSpPr>
          <p:cNvPr id="19" name="Text 16"/>
          <p:cNvSpPr txBox="1"/>
          <p:nvPr/>
        </p:nvSpPr>
        <p:spPr>
          <a:xfrm>
            <a:off x="9052560" y="1828800"/>
            <a:ext cx="2377440" cy="91440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 W₀x</a:t>
            </a:r>
            <a:endParaRPr lang="en-US" sz="1500" dirty="0"/>
          </a:p>
          <a:p>
            <a:pPr algn="ctr" indent="0" marL="0">
              <a:buNone/>
            </a:pPr>
            <a:r>
              <a:rPr lang="en-US" sz="1500" dirty="0">
                <a:solidFill>
                  <a:schemeClr val="tx1"/>
                </a:solidFill>
                <a:latin typeface="Courier New" pitchFamily="34" charset="0"/>
                <a:ea typeface="Courier New" pitchFamily="34" charset="-122"/>
                <a:cs typeface="Courier New" pitchFamily="34" charset="-120"/>
              </a:rPr>
              <a:t>(N, T, d)</a:t>
            </a:r>
            <a:endParaRPr lang="en-US" sz="1500" dirty="0"/>
          </a:p>
        </p:txBody>
      </p:sp>
      <p:sp>
        <p:nvSpPr>
          <p:cNvPr id="20" name="Text 17"/>
          <p:cNvSpPr txBox="1"/>
          <p:nvPr/>
        </p:nvSpPr>
        <p:spPr>
          <a:xfrm>
            <a:off x="548640" y="2880360"/>
            <a:ext cx="11064240" cy="365760"/>
          </a:xfrm>
          <a:prstGeom prst="rect">
            <a:avLst/>
          </a:prstGeom>
          <a:noFill/>
          <a:ln/>
        </p:spPr>
        <p:txBody>
          <a:bodyPr wrap="square" lIns="0" tIns="0" rIns="0" bIns="0" rtlCol="0" anchor="t"/>
          <a:lstStyle/>
          <a:p>
            <a:pPr indent="0" marL="0">
              <a:buNone/>
            </a:pPr>
            <a:r>
              <a:rPr lang="en-US" sz="1500" dirty="0">
                <a:solidFill>
                  <a:schemeClr val="tx2"/>
                </a:solidFill>
              </a:rPr>
              <a:t>The output has the same shape as W₀x, so the two are added. forward() never forms the d × k matrix BA.</a:t>
            </a:r>
            <a:endParaRPr lang="en-US" sz="1500" dirty="0"/>
          </a:p>
        </p:txBody>
      </p:sp>
      <p:sp>
        <p:nvSpPr>
          <p:cNvPr id="21" name="Text 18"/>
          <p:cNvSpPr txBox="1"/>
          <p:nvPr/>
        </p:nvSpPr>
        <p:spPr>
          <a:xfrm>
            <a:off x="548640" y="3520440"/>
            <a:ext cx="11064240" cy="411480"/>
          </a:xfrm>
          <a:prstGeom prst="rect">
            <a:avLst/>
          </a:prstGeom>
          <a:noFill/>
          <a:ln/>
        </p:spPr>
        <p:txBody>
          <a:bodyPr wrap="square" lIns="0" tIns="0" rIns="0" bIns="0" rtlCol="0" anchor="t"/>
          <a:lstStyle/>
          <a:p>
            <a:pPr indent="0" marL="0">
              <a:buNone/>
            </a:pPr>
            <a:r>
              <a:rPr lang="en-US" sz="1800" b="1" dirty="0">
                <a:solidFill>
                  <a:schemeClr val="tx1"/>
                </a:solidFill>
              </a:rPr>
              <a:t>Example: Qwen2.5-0.5B q_proj (896 × 896), r = 8</a:t>
            </a:r>
            <a:endParaRPr lang="en-US" sz="1800" dirty="0"/>
          </a:p>
        </p:txBody>
      </p:sp>
      <p:sp>
        <p:nvSpPr>
          <p:cNvPr id="22" name="frozen path: d · k = 896 × 896"/>
          <p:cNvSpPr/>
          <p:nvPr/>
        </p:nvSpPr>
        <p:spPr>
          <a:xfrm>
            <a:off x="548640" y="4069080"/>
            <a:ext cx="3474720" cy="1600200"/>
          </a:xfrm>
          <a:prstGeom prst="roundRect">
            <a:avLst>
              <a:gd name="adj" fmla="val 6857"/>
            </a:avLst>
          </a:prstGeom>
          <a:solidFill>
            <a:schemeClr val="bg2"/>
          </a:solidFill>
          <a:ln w="12700">
            <a:solidFill>
              <a:schemeClr val="bg2"/>
            </a:solidFill>
            <a:prstDash val="solid"/>
          </a:ln>
        </p:spPr>
      </p:sp>
      <p:sp>
        <p:nvSpPr>
          <p:cNvPr id="23" name="Text 20"/>
          <p:cNvSpPr txBox="1"/>
          <p:nvPr/>
        </p:nvSpPr>
        <p:spPr>
          <a:xfrm>
            <a:off x="777240" y="4178808"/>
            <a:ext cx="3017520" cy="640080"/>
          </a:xfrm>
          <a:prstGeom prst="rect">
            <a:avLst/>
          </a:prstGeom>
          <a:noFill/>
          <a:ln/>
        </p:spPr>
        <p:txBody>
          <a:bodyPr wrap="square" lIns="0" tIns="0" rIns="0" bIns="0" rtlCol="0" anchor="b"/>
          <a:lstStyle/>
          <a:p>
            <a:pPr indent="0" marL="0">
              <a:buNone/>
            </a:pPr>
            <a:r>
              <a:rPr lang="en-US" sz="3600" b="1" dirty="0">
                <a:solidFill>
                  <a:schemeClr val="tx2"/>
                </a:solidFill>
                <a:latin typeface="Cambria" pitchFamily="34" charset="0"/>
                <a:ea typeface="Cambria" pitchFamily="34" charset="-122"/>
                <a:cs typeface="Cambria" pitchFamily="34" charset="-120"/>
              </a:rPr>
              <a:t>802,816</a:t>
            </a:r>
            <a:endParaRPr lang="en-US" sz="3600" dirty="0"/>
          </a:p>
        </p:txBody>
      </p:sp>
      <p:sp>
        <p:nvSpPr>
          <p:cNvPr id="24" name="Text 21"/>
          <p:cNvSpPr txBox="1"/>
          <p:nvPr/>
        </p:nvSpPr>
        <p:spPr>
          <a:xfrm>
            <a:off x="777240" y="4873752"/>
            <a:ext cx="3017520" cy="704088"/>
          </a:xfrm>
          <a:prstGeom prst="rect">
            <a:avLst/>
          </a:prstGeom>
          <a:noFill/>
          <a:ln/>
        </p:spPr>
        <p:txBody>
          <a:bodyPr wrap="square" lIns="0" tIns="0" rIns="0" bIns="0" rtlCol="0" anchor="t"/>
          <a:lstStyle/>
          <a:p>
            <a:pPr indent="0" marL="0">
              <a:buNone/>
            </a:pPr>
            <a:r>
              <a:rPr lang="en-US" sz="1400" dirty="0">
                <a:solidFill>
                  <a:schemeClr val="tx2"/>
                </a:solidFill>
              </a:rPr>
              <a:t>frozen path: d · k = 896 × 896</a:t>
            </a:r>
            <a:endParaRPr lang="en-US" sz="1400" dirty="0"/>
          </a:p>
        </p:txBody>
      </p:sp>
      <p:sp>
        <p:nvSpPr>
          <p:cNvPr id="25" name="trainable path: r · (d + k) = 8 × (896 + 896)"/>
          <p:cNvSpPr/>
          <p:nvPr/>
        </p:nvSpPr>
        <p:spPr>
          <a:xfrm>
            <a:off x="4343400" y="4069080"/>
            <a:ext cx="3474720" cy="1600200"/>
          </a:xfrm>
          <a:prstGeom prst="roundRect">
            <a:avLst>
              <a:gd name="adj" fmla="val 6857"/>
            </a:avLst>
          </a:prstGeom>
          <a:solidFill>
            <a:schemeClr val="accent6"/>
          </a:solidFill>
          <a:ln w="12700">
            <a:solidFill>
              <a:schemeClr val="accent6"/>
            </a:solidFill>
            <a:prstDash val="solid"/>
          </a:ln>
        </p:spPr>
      </p:sp>
      <p:sp>
        <p:nvSpPr>
          <p:cNvPr id="26" name="Text 23"/>
          <p:cNvSpPr txBox="1"/>
          <p:nvPr/>
        </p:nvSpPr>
        <p:spPr>
          <a:xfrm>
            <a:off x="4572000" y="4178808"/>
            <a:ext cx="3017520" cy="640080"/>
          </a:xfrm>
          <a:prstGeom prst="rect">
            <a:avLst/>
          </a:prstGeom>
          <a:noFill/>
          <a:ln/>
        </p:spPr>
        <p:txBody>
          <a:bodyPr wrap="square" lIns="0" tIns="0" rIns="0" bIns="0" rtlCol="0" anchor="b"/>
          <a:lstStyle/>
          <a:p>
            <a:pPr indent="0" marL="0">
              <a:buNone/>
            </a:pPr>
            <a:r>
              <a:rPr lang="en-US" sz="3600" b="1" dirty="0">
                <a:solidFill>
                  <a:schemeClr val="accent4"/>
                </a:solidFill>
                <a:latin typeface="Cambria" pitchFamily="34" charset="0"/>
                <a:ea typeface="Cambria" pitchFamily="34" charset="-122"/>
                <a:cs typeface="Cambria" pitchFamily="34" charset="-120"/>
              </a:rPr>
              <a:t>14,336</a:t>
            </a:r>
            <a:endParaRPr lang="en-US" sz="3600" dirty="0"/>
          </a:p>
        </p:txBody>
      </p:sp>
      <p:sp>
        <p:nvSpPr>
          <p:cNvPr id="27" name="Text 24"/>
          <p:cNvSpPr txBox="1"/>
          <p:nvPr/>
        </p:nvSpPr>
        <p:spPr>
          <a:xfrm>
            <a:off x="4572000" y="4873752"/>
            <a:ext cx="3017520" cy="704088"/>
          </a:xfrm>
          <a:prstGeom prst="rect">
            <a:avLst/>
          </a:prstGeom>
          <a:noFill/>
          <a:ln/>
        </p:spPr>
        <p:txBody>
          <a:bodyPr wrap="square" lIns="0" tIns="0" rIns="0" bIns="0" rtlCol="0" anchor="t"/>
          <a:lstStyle/>
          <a:p>
            <a:pPr indent="0" marL="0">
              <a:buNone/>
            </a:pPr>
            <a:r>
              <a:rPr lang="en-US" sz="1400" dirty="0">
                <a:solidFill>
                  <a:schemeClr val="tx2"/>
                </a:solidFill>
              </a:rPr>
              <a:t>trainable path: r · (d + k) = 8 × (896 + 896)</a:t>
            </a:r>
            <a:endParaRPr lang="en-US" sz="1400" dirty="0"/>
          </a:p>
        </p:txBody>
      </p:sp>
      <p:sp>
        <p:nvSpPr>
          <p:cNvPr id="28" name="r·(d + k) grows linearly with width; d·k grows quadratically"/>
          <p:cNvSpPr/>
          <p:nvPr/>
        </p:nvSpPr>
        <p:spPr>
          <a:xfrm>
            <a:off x="8138160" y="4069080"/>
            <a:ext cx="3474720" cy="1600200"/>
          </a:xfrm>
          <a:prstGeom prst="roundRect">
            <a:avLst>
              <a:gd name="adj" fmla="val 6857"/>
            </a:avLst>
          </a:prstGeom>
          <a:solidFill>
            <a:schemeClr val="bg2"/>
          </a:solidFill>
          <a:ln w="12700">
            <a:solidFill>
              <a:schemeClr val="bg2"/>
            </a:solidFill>
            <a:prstDash val="solid"/>
          </a:ln>
        </p:spPr>
      </p:sp>
      <p:sp>
        <p:nvSpPr>
          <p:cNvPr id="29" name="Text 26"/>
          <p:cNvSpPr txBox="1"/>
          <p:nvPr/>
        </p:nvSpPr>
        <p:spPr>
          <a:xfrm>
            <a:off x="8366760" y="4178808"/>
            <a:ext cx="3017520" cy="64008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1.8%</a:t>
            </a:r>
            <a:endParaRPr lang="en-US" sz="3600" dirty="0"/>
          </a:p>
        </p:txBody>
      </p:sp>
      <p:sp>
        <p:nvSpPr>
          <p:cNvPr id="30" name="Text 27"/>
          <p:cNvSpPr txBox="1"/>
          <p:nvPr/>
        </p:nvSpPr>
        <p:spPr>
          <a:xfrm>
            <a:off x="8366760" y="4873752"/>
            <a:ext cx="3017520" cy="704088"/>
          </a:xfrm>
          <a:prstGeom prst="rect">
            <a:avLst/>
          </a:prstGeom>
          <a:noFill/>
          <a:ln/>
        </p:spPr>
        <p:txBody>
          <a:bodyPr wrap="square" lIns="0" tIns="0" rIns="0" bIns="0" rtlCol="0" anchor="t"/>
          <a:lstStyle/>
          <a:p>
            <a:pPr indent="0" marL="0">
              <a:buNone/>
            </a:pPr>
            <a:r>
              <a:rPr lang="en-US" sz="1400" dirty="0">
                <a:solidFill>
                  <a:schemeClr val="tx2"/>
                </a:solidFill>
              </a:rPr>
              <a:t>r·(d + k) grows linearly with width; d·k grows quadratically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Why B starts at zero, and what α/r does</a:t>
            </a:r>
            <a:endParaRPr lang="en-US" sz="3200" dirty="0"/>
          </a:p>
        </p:txBody>
      </p:sp>
      <p:sp>
        <p:nvSpPr>
          <p:cNvPr id="4" name="Both random"/>
          <p:cNvSpPr/>
          <p:nvPr/>
        </p:nvSpPr>
        <p:spPr>
          <a:xfrm>
            <a:off x="548640" y="1280160"/>
            <a:ext cx="3474720" cy="1737360"/>
          </a:xfrm>
          <a:prstGeom prst="roundRect">
            <a:avLst>
              <a:gd name="adj" fmla="val 6316"/>
            </a:avLst>
          </a:prstGeom>
          <a:solidFill>
            <a:schemeClr val="accent6"/>
          </a:solidFill>
          <a:ln w="12700">
            <a:solidFill>
              <a:schemeClr val="accent6"/>
            </a:solidFill>
            <a:prstDash val="solid"/>
          </a:ln>
        </p:spPr>
      </p:sp>
      <p:sp>
        <p:nvSpPr>
          <p:cNvPr id="5" name="Text 2"/>
          <p:cNvSpPr txBox="1"/>
          <p:nvPr/>
        </p:nvSpPr>
        <p:spPr>
          <a:xfrm>
            <a:off x="777240" y="1371600"/>
            <a:ext cx="3017520" cy="1554480"/>
          </a:xfrm>
          <a:prstGeom prst="rect">
            <a:avLst/>
          </a:prstGeom>
          <a:noFill/>
          <a:ln/>
        </p:spPr>
        <p:txBody>
          <a:bodyPr wrap="square" lIns="0" tIns="0" rIns="0" bIns="0" rtlCol="0" anchor="ctr"/>
          <a:lstStyle/>
          <a:p>
            <a:pPr indent="0" marL="0">
              <a:buNone/>
            </a:pPr>
            <a:r>
              <a:rPr lang="en-US" sz="1500" b="1" dirty="0">
                <a:solidFill>
                  <a:schemeClr val="accent3"/>
                </a:solidFill>
              </a:rPr>
              <a:t>Both random</a:t>
            </a:r>
            <a:endParaRPr lang="en-US" sz="1500" dirty="0"/>
          </a:p>
          <a:p>
            <a:pPr indent="0" marL="0">
              <a:buNone/>
            </a:pPr>
            <a:r>
              <a:rPr lang="en-US" sz="1500" dirty="0">
                <a:solidFill>
                  <a:schemeClr val="tx1"/>
                </a:solidFill>
              </a:rPr>
              <a:t>BA ≠ 0: training starts from a randomly disturbed copy of the pretrained model</a:t>
            </a:r>
            <a:endParaRPr lang="en-US" sz="1500" dirty="0"/>
          </a:p>
        </p:txBody>
      </p:sp>
      <p:sp>
        <p:nvSpPr>
          <p:cNvPr id="6" name="Both zero"/>
          <p:cNvSpPr/>
          <p:nvPr/>
        </p:nvSpPr>
        <p:spPr>
          <a:xfrm>
            <a:off x="4297680" y="1280160"/>
            <a:ext cx="3474720" cy="1737360"/>
          </a:xfrm>
          <a:prstGeom prst="roundRect">
            <a:avLst>
              <a:gd name="adj" fmla="val 6316"/>
            </a:avLst>
          </a:prstGeom>
          <a:solidFill>
            <a:schemeClr val="accent6"/>
          </a:solidFill>
          <a:ln w="12700">
            <a:solidFill>
              <a:schemeClr val="accent6"/>
            </a:solidFill>
            <a:prstDash val="solid"/>
          </a:ln>
        </p:spPr>
      </p:sp>
      <p:sp>
        <p:nvSpPr>
          <p:cNvPr id="7" name="Text 4"/>
          <p:cNvSpPr txBox="1"/>
          <p:nvPr/>
        </p:nvSpPr>
        <p:spPr>
          <a:xfrm>
            <a:off x="4526280" y="1371600"/>
            <a:ext cx="3017520" cy="1554480"/>
          </a:xfrm>
          <a:prstGeom prst="rect">
            <a:avLst/>
          </a:prstGeom>
          <a:noFill/>
          <a:ln/>
        </p:spPr>
        <p:txBody>
          <a:bodyPr wrap="square" lIns="0" tIns="0" rIns="0" bIns="0" rtlCol="0" anchor="ctr"/>
          <a:lstStyle/>
          <a:p>
            <a:pPr indent="0" marL="0">
              <a:buNone/>
            </a:pPr>
            <a:r>
              <a:rPr lang="en-US" sz="1500" b="1" dirty="0">
                <a:solidFill>
                  <a:schemeClr val="accent3"/>
                </a:solidFill>
              </a:rPr>
              <a:t>Both zero</a:t>
            </a:r>
            <a:endParaRPr lang="en-US" sz="1500" dirty="0"/>
          </a:p>
          <a:p>
            <a:pPr indent="0" marL="0">
              <a:buNone/>
            </a:pPr>
            <a:r>
              <a:rPr lang="en-US" sz="1500" dirty="0">
                <a:solidFill>
                  <a:schemeClr val="tx1"/>
                </a:solidFill>
              </a:rPr>
              <a:t>Both gradients are zero forever: nothing learns</a:t>
            </a:r>
            <a:endParaRPr lang="en-US" sz="1500" dirty="0"/>
          </a:p>
        </p:txBody>
      </p:sp>
      <p:sp>
        <p:nvSpPr>
          <p:cNvPr id="8" name="A random, B = 0  (LoRA)"/>
          <p:cNvSpPr/>
          <p:nvPr/>
        </p:nvSpPr>
        <p:spPr>
          <a:xfrm>
            <a:off x="8046720" y="1280160"/>
            <a:ext cx="3474720" cy="1737360"/>
          </a:xfrm>
          <a:prstGeom prst="roundRect">
            <a:avLst>
              <a:gd name="adj" fmla="val 6316"/>
            </a:avLst>
          </a:prstGeom>
          <a:solidFill>
            <a:schemeClr val="bg2"/>
          </a:solidFill>
          <a:ln w="12700">
            <a:solidFill>
              <a:schemeClr val="bg2"/>
            </a:solidFill>
            <a:prstDash val="solid"/>
          </a:ln>
        </p:spPr>
      </p:sp>
      <p:sp>
        <p:nvSpPr>
          <p:cNvPr id="9" name="Text 6"/>
          <p:cNvSpPr txBox="1"/>
          <p:nvPr/>
        </p:nvSpPr>
        <p:spPr>
          <a:xfrm>
            <a:off x="8275320" y="1371600"/>
            <a:ext cx="3017520" cy="1554480"/>
          </a:xfrm>
          <a:prstGeom prst="rect">
            <a:avLst/>
          </a:prstGeom>
          <a:noFill/>
          <a:ln/>
        </p:spPr>
        <p:txBody>
          <a:bodyPr wrap="square" lIns="0" tIns="0" rIns="0" bIns="0" rtlCol="0" anchor="ctr"/>
          <a:lstStyle/>
          <a:p>
            <a:pPr indent="0" marL="0">
              <a:buNone/>
            </a:pPr>
            <a:r>
              <a:rPr lang="en-US" sz="1500" b="1" dirty="0">
                <a:solidFill>
                  <a:schemeClr val="accent1"/>
                </a:solidFill>
              </a:rPr>
              <a:t>A random, B = 0  (LoRA)</a:t>
            </a:r>
            <a:endParaRPr lang="en-US" sz="1500" dirty="0"/>
          </a:p>
          <a:p>
            <a:pPr indent="0" marL="0">
              <a:buNone/>
            </a:pPr>
            <a:r>
              <a:rPr lang="en-US" sz="1500" dirty="0">
                <a:solidFill>
                  <a:schemeClr val="tx1"/>
                </a:solidFill>
              </a:rPr>
              <a:t>BA = 0: step 0 is exactly the pretrained model, and B can learn</a:t>
            </a:r>
            <a:endParaRPr lang="en-US" sz="1500" dirty="0"/>
          </a:p>
        </p:txBody>
      </p:sp>
      <p:sp>
        <p:nvSpPr>
          <p:cNvPr id="10" name="gradients"/>
          <p:cNvSpPr/>
          <p:nvPr/>
        </p:nvSpPr>
        <p:spPr>
          <a:xfrm>
            <a:off x="548640" y="3246120"/>
            <a:ext cx="6400800" cy="2926080"/>
          </a:xfrm>
          <a:prstGeom prst="roundRect">
            <a:avLst>
              <a:gd name="adj" fmla="val 3750"/>
            </a:avLst>
          </a:prstGeom>
          <a:solidFill>
            <a:schemeClr val="bg2"/>
          </a:solidFill>
          <a:ln w="12700">
            <a:solidFill>
              <a:schemeClr val="bg2"/>
            </a:solidFill>
            <a:prstDash val="solid"/>
          </a:ln>
        </p:spPr>
      </p:sp>
      <p:sp>
        <p:nvSpPr>
          <p:cNvPr id="11" name="Text 8"/>
          <p:cNvSpPr txBox="1"/>
          <p:nvPr/>
        </p:nvSpPr>
        <p:spPr>
          <a:xfrm>
            <a:off x="822960" y="3383280"/>
            <a:ext cx="5852160" cy="411480"/>
          </a:xfrm>
          <a:prstGeom prst="rect">
            <a:avLst/>
          </a:prstGeom>
          <a:noFill/>
          <a:ln/>
        </p:spPr>
        <p:txBody>
          <a:bodyPr wrap="square" lIns="0" tIns="0" rIns="0" bIns="0" rtlCol="0" anchor="t"/>
          <a:lstStyle/>
          <a:p>
            <a:pPr indent="0" marL="0">
              <a:buNone/>
            </a:pPr>
            <a:r>
              <a:rPr lang="en-US" sz="1800" b="1" dirty="0">
                <a:solidFill>
                  <a:schemeClr val="tx1"/>
                </a:solidFill>
              </a:rPr>
              <a:t>First training step  (g = ∂L/∂h)</a:t>
            </a:r>
            <a:endParaRPr lang="en-US" sz="1800" dirty="0"/>
          </a:p>
        </p:txBody>
      </p:sp>
      <p:sp>
        <p:nvSpPr>
          <p:cNvPr id="12" name="Text 9"/>
          <p:cNvSpPr txBox="1"/>
          <p:nvPr/>
        </p:nvSpPr>
        <p:spPr>
          <a:xfrm>
            <a:off x="822960" y="3931920"/>
            <a:ext cx="5852160" cy="50292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∂L/∂B ∝ g (Ax)ᵀ</a:t>
            </a:r>
            <a:r>
              <a:rPr lang="en-US" sz="1600" dirty="0">
                <a:solidFill>
                  <a:schemeClr val="accent1"/>
                </a:solidFill>
                <a:latin typeface="Calibri" pitchFamily="34" charset="0"/>
                <a:ea typeface="Calibri" pitchFamily="34" charset="-122"/>
                <a:cs typeface="Calibri" pitchFamily="34" charset="-120"/>
              </a:rPr>
              <a:t>   ≠ 0, because A is random</a:t>
            </a:r>
            <a:endParaRPr lang="en-US" sz="2200" dirty="0"/>
          </a:p>
        </p:txBody>
      </p:sp>
      <p:sp>
        <p:nvSpPr>
          <p:cNvPr id="13" name="Text 10"/>
          <p:cNvSpPr txBox="1"/>
          <p:nvPr/>
        </p:nvSpPr>
        <p:spPr>
          <a:xfrm>
            <a:off x="822960" y="4526280"/>
            <a:ext cx="5852160" cy="502920"/>
          </a:xfrm>
          <a:prstGeom prst="rect">
            <a:avLst/>
          </a:prstGeom>
          <a:noFill/>
          <a:ln/>
        </p:spPr>
        <p:txBody>
          <a:bodyPr wrap="square" lIns="0" tIns="0" rIns="0" bIns="0" rtlCol="0" anchor="ctr"/>
          <a:lstStyle/>
          <a:p>
            <a:pPr indent="0" marL="0">
              <a:buNone/>
            </a:pPr>
            <a:r>
              <a:rPr lang="en-US" sz="2200" dirty="0">
                <a:solidFill>
                  <a:schemeClr val="tx1"/>
                </a:solidFill>
                <a:latin typeface="Cambria" pitchFamily="34" charset="0"/>
                <a:ea typeface="Cambria" pitchFamily="34" charset="-122"/>
                <a:cs typeface="Cambria" pitchFamily="34" charset="-120"/>
              </a:rPr>
              <a:t>∂L/∂A ∝ Bᵀ g xᵀ</a:t>
            </a:r>
            <a:r>
              <a:rPr lang="en-US" sz="1600" dirty="0">
                <a:solidFill>
                  <a:schemeClr val="accent3"/>
                </a:solidFill>
                <a:latin typeface="Calibri" pitchFamily="34" charset="0"/>
                <a:ea typeface="Calibri" pitchFamily="34" charset="-122"/>
                <a:cs typeface="Calibri" pitchFamily="34" charset="-120"/>
              </a:rPr>
              <a:t>   = 0, because B = 0</a:t>
            </a:r>
            <a:endParaRPr lang="en-US" sz="2200" dirty="0"/>
          </a:p>
        </p:txBody>
      </p:sp>
      <p:sp>
        <p:nvSpPr>
          <p:cNvPr id="14" name="Text 11"/>
          <p:cNvSpPr txBox="1"/>
          <p:nvPr/>
        </p:nvSpPr>
        <p:spPr>
          <a:xfrm>
            <a:off x="822960" y="5166360"/>
            <a:ext cx="5852160" cy="868680"/>
          </a:xfrm>
          <a:prstGeom prst="rect">
            <a:avLst/>
          </a:prstGeom>
          <a:noFill/>
          <a:ln/>
        </p:spPr>
        <p:txBody>
          <a:bodyPr wrap="square" lIns="0" tIns="0" rIns="0" bIns="0" rtlCol="0" anchor="t"/>
          <a:lstStyle/>
          <a:p>
            <a:pPr indent="0" marL="0">
              <a:buNone/>
            </a:pPr>
            <a:r>
              <a:rPr lang="en-US" sz="1500" dirty="0">
                <a:solidFill>
                  <a:schemeClr val="tx2"/>
                </a:solidFill>
              </a:rPr>
              <a:t>Only B moves at first. Once B ≠ 0, A also receives gradients. peft on Qwen2.5, first backward pass: ‖grad A‖ = 0, ‖grad B‖ = 0.165.</a:t>
            </a:r>
            <a:endParaRPr lang="en-US" sz="1500" dirty="0"/>
          </a:p>
        </p:txBody>
      </p:sp>
      <p:sp>
        <p:nvSpPr>
          <p:cNvPr id="15" name="scaling"/>
          <p:cNvSpPr/>
          <p:nvPr/>
        </p:nvSpPr>
        <p:spPr>
          <a:xfrm>
            <a:off x="7223760" y="3246120"/>
            <a:ext cx="4389120" cy="2926080"/>
          </a:xfrm>
          <a:prstGeom prst="roundRect">
            <a:avLst>
              <a:gd name="adj" fmla="val 3750"/>
            </a:avLst>
          </a:prstGeom>
          <a:solidFill>
            <a:schemeClr val="accent5"/>
          </a:solidFill>
          <a:ln w="12700">
            <a:solidFill>
              <a:schemeClr val="accent5"/>
            </a:solidFill>
            <a:prstDash val="solid"/>
          </a:ln>
        </p:spPr>
      </p:sp>
      <p:sp>
        <p:nvSpPr>
          <p:cNvPr id="16" name="Text 13"/>
          <p:cNvSpPr txBox="1"/>
          <p:nvPr/>
        </p:nvSpPr>
        <p:spPr>
          <a:xfrm>
            <a:off x="7452360" y="3383280"/>
            <a:ext cx="3931920" cy="2697480"/>
          </a:xfrm>
          <a:prstGeom prst="rect">
            <a:avLst/>
          </a:prstGeom>
          <a:noFill/>
          <a:ln/>
        </p:spPr>
        <p:txBody>
          <a:bodyPr wrap="square" lIns="0" tIns="0" rIns="0" bIns="0" rtlCol="0" anchor="t"/>
          <a:lstStyle/>
          <a:p>
            <a:pPr indent="0" marL="0">
              <a:buNone/>
            </a:pPr>
            <a:r>
              <a:rPr lang="en-US" sz="1500" b="1" dirty="0">
                <a:solidFill>
                  <a:schemeClr val="tx1"/>
                </a:solidFill>
              </a:rPr>
              <a:t>The α/r scale</a:t>
            </a:r>
            <a:endParaRPr lang="en-US" sz="1500" dirty="0"/>
          </a:p>
          <a:p>
            <a:pPr indent="0" marL="0">
              <a:buNone/>
            </a:pPr>
            <a:r>
              <a:rPr lang="en-US" sz="1500" dirty="0">
                <a:solidFill>
                  <a:schemeClr val="tx1"/>
                </a:solidFill>
              </a:rPr>
              <a:t>Keeps the size of the update roughly the same when r changes, so the learning rate does not have to be retuned for every rank.</a:t>
            </a:r>
            <a:endParaRPr lang="en-US" sz="1500" dirty="0"/>
          </a:p>
          <a:p>
            <a:pPr indent="0" marL="0">
              <a:buNone/>
            </a:pPr>
            <a:r>
              <a:rPr lang="en-US" sz="1500" dirty="0">
                <a:solidFill>
                  <a:schemeClr val="tx1"/>
                </a:solidFill>
              </a:rPr>
              <a:t> </a:t>
            </a:r>
            <a:endParaRPr lang="en-US" sz="1500" dirty="0"/>
          </a:p>
          <a:p>
            <a:pPr indent="0" marL="0">
              <a:buNone/>
            </a:pPr>
            <a:r>
              <a:rPr lang="en-US" sz="1500" dirty="0">
                <a:solidFill>
                  <a:schemeClr val="tx2"/>
                </a:solidFill>
              </a:rPr>
              <a:t>The notebook uses α = 2r: scale 2 at every rank. rsLoRA (Kalajdzievski, 2023) argues for α/√r.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Which matrices get an adapter</a:t>
            </a:r>
            <a:endParaRPr lang="en-US" sz="3200" dirty="0"/>
          </a:p>
        </p:txBody>
      </p:sp>
      <p:sp>
        <p:nvSpPr>
          <p:cNvPr id="4" name="Text 1"/>
          <p:cNvSpPr txBox="1"/>
          <p:nvPr/>
        </p:nvSpPr>
        <p:spPr>
          <a:xfrm>
            <a:off x="548640" y="1234440"/>
            <a:ext cx="7315200" cy="365760"/>
          </a:xfrm>
          <a:prstGeom prst="rect">
            <a:avLst/>
          </a:prstGeom>
          <a:noFill/>
          <a:ln/>
        </p:spPr>
        <p:txBody>
          <a:bodyPr wrap="square" lIns="0" tIns="0" rIns="0" bIns="0" rtlCol="0" anchor="t"/>
          <a:lstStyle/>
          <a:p>
            <a:pPr indent="0" marL="0">
              <a:buNone/>
            </a:pPr>
            <a:r>
              <a:rPr lang="en-US" sz="1600" b="1" dirty="0">
                <a:solidFill>
                  <a:schemeClr val="tx1"/>
                </a:solidFill>
              </a:rPr>
              <a:t>Qwen2.5-0.5B (24 layers, width 896), r = 8, one layer</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315200" cy="914400"/>
        </p:xfrm>
        <a:graphic>
          <a:graphicData uri="http://schemas.openxmlformats.org/drawingml/2006/table">
            <a:tbl>
              <a:tblPr/>
              <a:tblGrid>
                <a:gridCol w="1371600"/>
                <a:gridCol w="1234440"/>
                <a:gridCol w="1234440"/>
                <a:gridCol w="1188720"/>
                <a:gridCol w="1280160"/>
                <a:gridCol w="1005840"/>
              </a:tblGrid>
              <a:tr h="384048">
                <a:tc>
                  <a:txBody>
                    <a:bodyPr/>
                    <a:lstStyle/>
                    <a:p>
                      <a:pPr indent="0" marL="0">
                        <a:buNone/>
                      </a:pPr>
                      <a:r>
                        <a:rPr lang="en-US" sz="1400" b="1" dirty="0">
                          <a:solidFill>
                            <a:schemeClr val="bg1"/>
                          </a:solidFill>
                        </a:rPr>
                        <a:t>Block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Module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k → 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W₀: d·k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LoRA: r·(d+k)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LoRA / W₀</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tx1"/>
                          </a:solidFill>
                        </a:rPr>
                        <a:t>Attention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q_proj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896 → 896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802,816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14,336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1.79%</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84048">
                <a:tc>
                  <a:txBody>
                    <a:bodyPr/>
                    <a:lstStyle/>
                    <a:p>
                      <a:pPr indent="0" marL="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k_proj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896 → 128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114,688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8,192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7.14%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84048">
                <a:tc>
                  <a:txBody>
                    <a:bodyPr/>
                    <a:lstStyle/>
                    <a:p>
                      <a:pPr indent="0" marL="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v_proj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896 → 128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114,688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8,192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7.14%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84048">
                <a:tc>
                  <a:txBody>
                    <a:bodyPr/>
                    <a:lstStyle/>
                    <a:p>
                      <a:pPr indent="0" marL="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o_proj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896 → 896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802,816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14,336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1.79%</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Feed-forward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gate_proj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896 → 4864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4,358,144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46,080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84048">
                <a:tc>
                  <a:txBody>
                    <a:bodyPr/>
                    <a:lstStyle/>
                    <a:p>
                      <a:pPr indent="0" marL="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up_proj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896 → 4864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4,358,144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46,080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84048">
                <a:tc>
                  <a:txBody>
                    <a:bodyPr/>
                    <a:lstStyle/>
                    <a:p>
                      <a:pPr indent="0" marL="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down_proj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4864 → 896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4,358,144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46,080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8183880" y="1234440"/>
            <a:ext cx="3429000" cy="365760"/>
          </a:xfrm>
          <a:prstGeom prst="rect">
            <a:avLst/>
          </a:prstGeom>
          <a:noFill/>
          <a:ln/>
        </p:spPr>
        <p:txBody>
          <a:bodyPr wrap="square" lIns="0" tIns="0" rIns="0" bIns="0" rtlCol="0" anchor="t"/>
          <a:lstStyle/>
          <a:p>
            <a:pPr indent="0" marL="0">
              <a:buNone/>
            </a:pPr>
            <a:r>
              <a:rPr lang="en-US" sz="1600" b="1" dirty="0">
                <a:solidFill>
                  <a:schemeClr val="tx1"/>
                </a:solidFill>
              </a:rPr>
              <a:t>Whole model, all 24 layers</a:t>
            </a:r>
            <a:endParaRPr lang="en-US" sz="1600" dirty="0"/>
          </a:p>
        </p:txBody>
      </p:sp>
      <p:sp>
        <p:nvSpPr>
          <p:cNvPr id="7" name="full fine-tuning: every parameter"/>
          <p:cNvSpPr/>
          <p:nvPr/>
        </p:nvSpPr>
        <p:spPr>
          <a:xfrm>
            <a:off x="8183880" y="1645920"/>
            <a:ext cx="3429000" cy="960120"/>
          </a:xfrm>
          <a:prstGeom prst="roundRect">
            <a:avLst>
              <a:gd name="adj" fmla="val 11429"/>
            </a:avLst>
          </a:prstGeom>
          <a:solidFill>
            <a:schemeClr val="bg2"/>
          </a:solidFill>
          <a:ln w="12700">
            <a:solidFill>
              <a:schemeClr val="bg2"/>
            </a:solidFill>
            <a:prstDash val="solid"/>
          </a:ln>
        </p:spPr>
      </p:sp>
      <p:sp>
        <p:nvSpPr>
          <p:cNvPr id="8" name="Text 4"/>
          <p:cNvSpPr txBox="1"/>
          <p:nvPr/>
        </p:nvSpPr>
        <p:spPr>
          <a:xfrm>
            <a:off x="8366760" y="1645920"/>
            <a:ext cx="3108960" cy="96012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494,032,768</a:t>
            </a:r>
            <a:endParaRPr lang="en-US" sz="1400" dirty="0"/>
          </a:p>
          <a:p>
            <a:pPr indent="0" marL="0">
              <a:buNone/>
            </a:pPr>
            <a:r>
              <a:rPr lang="en-US" sz="1400" dirty="0">
                <a:solidFill>
                  <a:schemeClr val="tx2"/>
                </a:solidFill>
              </a:rPr>
              <a:t>full fine-tuning: every parameter</a:t>
            </a:r>
            <a:endParaRPr lang="en-US" sz="1400" dirty="0"/>
          </a:p>
        </p:txBody>
      </p:sp>
      <p:sp>
        <p:nvSpPr>
          <p:cNvPr id="9" name="LoRA on q_proj, v_proj: 0.11%"/>
          <p:cNvSpPr/>
          <p:nvPr/>
        </p:nvSpPr>
        <p:spPr>
          <a:xfrm>
            <a:off x="8183880" y="2715768"/>
            <a:ext cx="3429000" cy="960120"/>
          </a:xfrm>
          <a:prstGeom prst="roundRect">
            <a:avLst>
              <a:gd name="adj" fmla="val 11429"/>
            </a:avLst>
          </a:prstGeom>
          <a:solidFill>
            <a:schemeClr val="accent6"/>
          </a:solidFill>
          <a:ln w="12700">
            <a:solidFill>
              <a:schemeClr val="accent6"/>
            </a:solidFill>
            <a:prstDash val="solid"/>
          </a:ln>
        </p:spPr>
      </p:sp>
      <p:sp>
        <p:nvSpPr>
          <p:cNvPr id="10" name="Text 6"/>
          <p:cNvSpPr txBox="1"/>
          <p:nvPr/>
        </p:nvSpPr>
        <p:spPr>
          <a:xfrm>
            <a:off x="8366760" y="2715768"/>
            <a:ext cx="3108960" cy="96012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540,672</a:t>
            </a:r>
            <a:endParaRPr lang="en-US" sz="1400" dirty="0"/>
          </a:p>
          <a:p>
            <a:pPr indent="0" marL="0">
              <a:buNone/>
            </a:pPr>
            <a:r>
              <a:rPr lang="en-US" sz="1400" dirty="0">
                <a:solidFill>
                  <a:schemeClr val="tx2"/>
                </a:solidFill>
              </a:rPr>
              <a:t>LoRA on q_proj, v_proj: 0.11%</a:t>
            </a:r>
            <a:endParaRPr lang="en-US" sz="1400" dirty="0"/>
          </a:p>
        </p:txBody>
      </p:sp>
      <p:sp>
        <p:nvSpPr>
          <p:cNvPr id="11" name="LoRA on all seven: 0.89%"/>
          <p:cNvSpPr/>
          <p:nvPr/>
        </p:nvSpPr>
        <p:spPr>
          <a:xfrm>
            <a:off x="8183880" y="3785616"/>
            <a:ext cx="3429000" cy="960120"/>
          </a:xfrm>
          <a:prstGeom prst="roundRect">
            <a:avLst>
              <a:gd name="adj" fmla="val 11429"/>
            </a:avLst>
          </a:prstGeom>
          <a:solidFill>
            <a:schemeClr val="accent6"/>
          </a:solidFill>
          <a:ln w="12700">
            <a:solidFill>
              <a:schemeClr val="accent6"/>
            </a:solidFill>
            <a:prstDash val="solid"/>
          </a:ln>
        </p:spPr>
      </p:sp>
      <p:sp>
        <p:nvSpPr>
          <p:cNvPr id="12" name="Text 8"/>
          <p:cNvSpPr txBox="1"/>
          <p:nvPr/>
        </p:nvSpPr>
        <p:spPr>
          <a:xfrm>
            <a:off x="8366760" y="3785616"/>
            <a:ext cx="3108960" cy="960120"/>
          </a:xfrm>
          <a:prstGeom prst="rect">
            <a:avLst/>
          </a:prstGeom>
          <a:noFill/>
          <a:ln/>
        </p:spPr>
        <p:txBody>
          <a:bodyPr wrap="square" lIns="0" tIns="0" rIns="0" bIns="0" rtlCol="0" anchor="ctr"/>
          <a:lstStyle/>
          <a:p>
            <a:pPr indent="0" marL="0">
              <a:buNone/>
            </a:pPr>
            <a:r>
              <a:rPr lang="en-US" sz="2200" b="1" dirty="0">
                <a:solidFill>
                  <a:schemeClr val="accent4"/>
                </a:solidFill>
                <a:latin typeface="Cambria" pitchFamily="34" charset="0"/>
                <a:ea typeface="Cambria" pitchFamily="34" charset="-122"/>
                <a:cs typeface="Cambria" pitchFamily="34" charset="-120"/>
              </a:rPr>
              <a:t>4,399,104</a:t>
            </a:r>
            <a:endParaRPr lang="en-US" sz="1400" dirty="0"/>
          </a:p>
          <a:p>
            <a:pPr indent="0" marL="0">
              <a:buNone/>
            </a:pPr>
            <a:r>
              <a:rPr lang="en-US" sz="1400" dirty="0">
                <a:solidFill>
                  <a:schemeClr val="tx2"/>
                </a:solidFill>
              </a:rPr>
              <a:t>LoRA on all seven: 0.89%</a:t>
            </a:r>
            <a:endParaRPr lang="en-US" sz="1400" dirty="0"/>
          </a:p>
        </p:txBody>
      </p:sp>
      <p:sp>
        <p:nvSpPr>
          <p:cNvPr id="13" name="notes"/>
          <p:cNvSpPr/>
          <p:nvPr/>
        </p:nvSpPr>
        <p:spPr>
          <a:xfrm>
            <a:off x="548640" y="4937760"/>
            <a:ext cx="11064240" cy="1234440"/>
          </a:xfrm>
          <a:prstGeom prst="roundRect">
            <a:avLst>
              <a:gd name="adj" fmla="val 8889"/>
            </a:avLst>
          </a:prstGeom>
          <a:solidFill>
            <a:schemeClr val="accent5"/>
          </a:solidFill>
          <a:ln w="12700">
            <a:solidFill>
              <a:schemeClr val="accent5"/>
            </a:solidFill>
            <a:prstDash val="solid"/>
          </a:ln>
        </p:spPr>
      </p:sp>
      <p:sp>
        <p:nvSpPr>
          <p:cNvPr id="14" name="Text 10"/>
          <p:cNvSpPr txBox="1"/>
          <p:nvPr/>
        </p:nvSpPr>
        <p:spPr>
          <a:xfrm>
            <a:off x="822960" y="4937760"/>
            <a:ext cx="10607040" cy="1234440"/>
          </a:xfrm>
          <a:prstGeom prst="rect">
            <a:avLst/>
          </a:prstGeom>
          <a:noFill/>
          <a:ln/>
        </p:spPr>
        <p:txBody>
          <a:bodyPr wrap="square" lIns="0" tIns="0" rIns="0" bIns="0" rtlCol="0" anchor="ctr"/>
          <a:lstStyle/>
          <a:p>
            <a:pPr marL="228600" indent="-228600">
              <a:spcAft>
                <a:spcPts val="800"/>
              </a:spcAft>
              <a:buSzPct val="100000"/>
              <a:buChar char="•"/>
            </a:pPr>
            <a:r>
              <a:rPr lang="en-US" sz="1500" b="1" dirty="0">
                <a:solidFill>
                  <a:schemeClr val="tx1"/>
                </a:solidFill>
              </a:rPr>
              <a:t>Grouped-query attention: </a:t>
            </a:r>
            <a:r>
              <a:rPr lang="en-US" sz="1500" dirty="0">
                <a:solidFill>
                  <a:schemeClr val="tx1"/>
                </a:solidFill>
              </a:rPr>
              <a:t>14 query heads share 2 key/value heads of 64 features, so k_proj and v_proj output 128.</a:t>
            </a:r>
            <a:endParaRPr lang="en-US" sz="1500" dirty="0"/>
          </a:p>
          <a:p>
            <a:pPr marL="228600" indent="-228600">
              <a:spcAft>
                <a:spcPts val="800"/>
              </a:spcAft>
              <a:buSzPct val="100000"/>
              <a:buChar char="•"/>
            </a:pPr>
            <a:r>
              <a:rPr lang="en-US" sz="1500" b="1" dirty="0">
                <a:solidFill>
                  <a:schemeClr val="tx1"/>
                </a:solidFill>
              </a:rPr>
              <a:t>Not adapted: </a:t>
            </a:r>
            <a:r>
              <a:rPr lang="en-US" sz="1500" dirty="0">
                <a:solidFill>
                  <a:schemeClr val="tx1"/>
                </a:solidFill>
              </a:rPr>
              <a:t>embeddings (most of the other 27.6%), normalization weights, biases. Print one layer to see the names.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same choice in GPT-2: names and shapes differ</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1645920"/>
                <a:gridCol w="1920240"/>
                <a:gridCol w="1188720"/>
                <a:gridCol w="1188720"/>
                <a:gridCol w="1005840"/>
              </a:tblGrid>
              <a:tr h="438912">
                <a:tc>
                  <a:txBody>
                    <a:bodyPr/>
                    <a:lstStyle/>
                    <a:p>
                      <a:pPr indent="0" marL="0">
                        <a:buNone/>
                      </a:pPr>
                      <a:r>
                        <a:rPr lang="en-US" sz="1400" b="1" dirty="0">
                          <a:solidFill>
                            <a:schemeClr val="bg1"/>
                          </a:solidFill>
                        </a:rPr>
                        <a:t>Module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k → 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W₀: d·k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LoRA r = 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LoRA / W₀</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38912">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attn.c_attn</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768 → 2304 (q, k, v)</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1,769,472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24,576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1.39%</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attn.c_proj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768 → 768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589,824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12,288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2.08%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38912">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mlp.c_fc</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768 → 3072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2,359,296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30,720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1.30%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b="1" dirty="0">
                          <a:solidFill>
                            <a:schemeClr val="tx1"/>
                          </a:solidFill>
                          <a:latin typeface="Courier New" pitchFamily="34" charset="0"/>
                          <a:ea typeface="Courier New" pitchFamily="34" charset="-122"/>
                          <a:cs typeface="Courier New" pitchFamily="34" charset="-120"/>
                        </a:rPr>
                        <a:t>mlp.c_proj</a:t>
                      </a:r>
                      <a:endParaRPr lang="en-US" sz="14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3072 → 768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2,359,296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30,720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1.30%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3611880"/>
            <a:ext cx="6949440" cy="685800"/>
          </a:xfrm>
          <a:prstGeom prst="rect">
            <a:avLst/>
          </a:prstGeom>
          <a:noFill/>
          <a:ln/>
        </p:spPr>
        <p:txBody>
          <a:bodyPr wrap="square" lIns="0" tIns="0" rIns="0" bIns="0" rtlCol="0" anchor="t"/>
          <a:lstStyle/>
          <a:p>
            <a:pPr indent="0" marL="0">
              <a:buNone/>
            </a:pPr>
            <a:r>
              <a:rPr lang="en-US" sz="1400" dirty="0">
                <a:solidFill>
                  <a:schemeClr val="tx2"/>
                </a:solidFill>
              </a:rPr>
              <a:t>GPT-2 small: 12 layers, width 768, 124,439,808 parameters. LoRA on c_attn: 294,912 (0.24%); on all four: 1,179,648 (0.95%).</a:t>
            </a:r>
            <a:endParaRPr lang="en-US" sz="1400" dirty="0"/>
          </a:p>
        </p:txBody>
      </p:sp>
      <p:sp>
        <p:nvSpPr>
          <p:cNvPr id="6" name="q, k, v are one matrix"/>
          <p:cNvSpPr/>
          <p:nvPr/>
        </p:nvSpPr>
        <p:spPr>
          <a:xfrm>
            <a:off x="7772400" y="1280160"/>
            <a:ext cx="3840480" cy="914400"/>
          </a:xfrm>
          <a:prstGeom prst="roundRect">
            <a:avLst>
              <a:gd name="adj" fmla="val 12000"/>
            </a:avLst>
          </a:prstGeom>
          <a:solidFill>
            <a:schemeClr val="accent6"/>
          </a:solidFill>
          <a:ln w="12700">
            <a:solidFill>
              <a:schemeClr val="accent6"/>
            </a:solidFill>
            <a:prstDash val="solid"/>
          </a:ln>
        </p:spPr>
      </p:sp>
      <p:sp>
        <p:nvSpPr>
          <p:cNvPr id="7" name="Text 3"/>
          <p:cNvSpPr txBox="1"/>
          <p:nvPr/>
        </p:nvSpPr>
        <p:spPr>
          <a:xfrm>
            <a:off x="7955280" y="1280160"/>
            <a:ext cx="3520440" cy="914400"/>
          </a:xfrm>
          <a:prstGeom prst="rect">
            <a:avLst/>
          </a:prstGeom>
          <a:noFill/>
          <a:ln/>
        </p:spPr>
        <p:txBody>
          <a:bodyPr wrap="square" lIns="0" tIns="0" rIns="0" bIns="0" rtlCol="0" anchor="ctr"/>
          <a:lstStyle/>
          <a:p>
            <a:pPr indent="0" marL="0">
              <a:buNone/>
            </a:pPr>
            <a:r>
              <a:rPr lang="en-US" sz="1400" b="1" dirty="0">
                <a:solidFill>
                  <a:schemeClr val="accent3"/>
                </a:solidFill>
              </a:rPr>
              <a:t>q, k, v are one matrix</a:t>
            </a:r>
            <a:endParaRPr lang="en-US" sz="1400" dirty="0"/>
          </a:p>
          <a:p>
            <a:pPr indent="0" marL="0">
              <a:buNone/>
            </a:pPr>
            <a:r>
              <a:rPr lang="en-US" sz="1400" dirty="0">
                <a:solidFill>
                  <a:schemeClr val="tx1"/>
                </a:solidFill>
              </a:rPr>
              <a:t>An adapter on c_attn updates all three, through one shared A.</a:t>
            </a:r>
            <a:endParaRPr lang="en-US" sz="1400" dirty="0"/>
          </a:p>
        </p:txBody>
      </p:sp>
      <p:sp>
        <p:nvSpPr>
          <p:cNvPr id="8" name="Two modules called c_proj"/>
          <p:cNvSpPr/>
          <p:nvPr/>
        </p:nvSpPr>
        <p:spPr>
          <a:xfrm>
            <a:off x="7772400" y="2331720"/>
            <a:ext cx="3840480" cy="914400"/>
          </a:xfrm>
          <a:prstGeom prst="roundRect">
            <a:avLst>
              <a:gd name="adj" fmla="val 12000"/>
            </a:avLst>
          </a:prstGeom>
          <a:solidFill>
            <a:schemeClr val="accent6"/>
          </a:solidFill>
          <a:ln w="12700">
            <a:solidFill>
              <a:schemeClr val="accent6"/>
            </a:solidFill>
            <a:prstDash val="solid"/>
          </a:ln>
        </p:spPr>
      </p:sp>
      <p:sp>
        <p:nvSpPr>
          <p:cNvPr id="9" name="Text 5"/>
          <p:cNvSpPr txBox="1"/>
          <p:nvPr/>
        </p:nvSpPr>
        <p:spPr>
          <a:xfrm>
            <a:off x="7955280" y="2331720"/>
            <a:ext cx="3520440" cy="914400"/>
          </a:xfrm>
          <a:prstGeom prst="rect">
            <a:avLst/>
          </a:prstGeom>
          <a:noFill/>
          <a:ln/>
        </p:spPr>
        <p:txBody>
          <a:bodyPr wrap="square" lIns="0" tIns="0" rIns="0" bIns="0" rtlCol="0" anchor="ctr"/>
          <a:lstStyle/>
          <a:p>
            <a:pPr indent="0" marL="0">
              <a:buNone/>
            </a:pPr>
            <a:r>
              <a:rPr lang="en-US" sz="1400" b="1" dirty="0">
                <a:solidFill>
                  <a:schemeClr val="accent3"/>
                </a:solidFill>
              </a:rPr>
              <a:t>Two modules called c_proj</a:t>
            </a:r>
            <a:endParaRPr lang="en-US" sz="1400" dirty="0"/>
          </a:p>
          <a:p>
            <a:pPr indent="0" marL="0">
              <a:buNone/>
            </a:pPr>
            <a:r>
              <a:rPr lang="en-US" sz="1400" dirty="0">
                <a:solidFill>
                  <a:schemeClr val="tx1"/>
                </a:solidFill>
              </a:rPr>
              <a:t>"c_proj" matches both; write "attn.c_proj" for attention only.</a:t>
            </a:r>
            <a:endParaRPr lang="en-US" sz="1400" dirty="0"/>
          </a:p>
        </p:txBody>
      </p:sp>
      <p:sp>
        <p:nvSpPr>
          <p:cNvPr id="10" name="Conv1D stores the weight as (k, d)"/>
          <p:cNvSpPr/>
          <p:nvPr/>
        </p:nvSpPr>
        <p:spPr>
          <a:xfrm>
            <a:off x="7772400" y="3383280"/>
            <a:ext cx="3840480" cy="914400"/>
          </a:xfrm>
          <a:prstGeom prst="roundRect">
            <a:avLst>
              <a:gd name="adj" fmla="val 12000"/>
            </a:avLst>
          </a:prstGeom>
          <a:solidFill>
            <a:schemeClr val="accent6"/>
          </a:solidFill>
          <a:ln w="12700">
            <a:solidFill>
              <a:schemeClr val="accent6"/>
            </a:solidFill>
            <a:prstDash val="solid"/>
          </a:ln>
        </p:spPr>
      </p:sp>
      <p:sp>
        <p:nvSpPr>
          <p:cNvPr id="11" name="Text 7"/>
          <p:cNvSpPr txBox="1"/>
          <p:nvPr/>
        </p:nvSpPr>
        <p:spPr>
          <a:xfrm>
            <a:off x="7955280" y="3383280"/>
            <a:ext cx="3520440" cy="914400"/>
          </a:xfrm>
          <a:prstGeom prst="rect">
            <a:avLst/>
          </a:prstGeom>
          <a:noFill/>
          <a:ln/>
        </p:spPr>
        <p:txBody>
          <a:bodyPr wrap="square" lIns="0" tIns="0" rIns="0" bIns="0" rtlCol="0" anchor="ctr"/>
          <a:lstStyle/>
          <a:p>
            <a:pPr indent="0" marL="0">
              <a:buNone/>
            </a:pPr>
            <a:r>
              <a:rPr lang="en-US" sz="1400" b="1" dirty="0">
                <a:solidFill>
                  <a:schemeClr val="accent3"/>
                </a:solidFill>
              </a:rPr>
              <a:t>Conv1D stores the weight as (k, d)</a:t>
            </a:r>
            <a:endParaRPr lang="en-US" sz="1400" dirty="0"/>
          </a:p>
          <a:p>
            <a:pPr indent="0" marL="0">
              <a:buNone/>
            </a:pPr>
            <a:r>
              <a:rPr lang="en-US" sz="1400" dirty="0">
                <a:solidFill>
                  <a:schemeClr val="tx1"/>
                </a:solidFill>
              </a:rPr>
              <a:t>peft sets fan_in_fan_out=True for GPT-2 automatically, with a warning.</a:t>
            </a:r>
            <a:endParaRPr lang="en-US" sz="1400" dirty="0"/>
          </a:p>
        </p:txBody>
      </p:sp>
      <p:sp>
        <p:nvSpPr>
          <p:cNvPr id="12" name="rule"/>
          <p:cNvSpPr/>
          <p:nvPr/>
        </p:nvSpPr>
        <p:spPr>
          <a:xfrm>
            <a:off x="548640" y="4526280"/>
            <a:ext cx="11064240" cy="1645920"/>
          </a:xfrm>
          <a:prstGeom prst="roundRect">
            <a:avLst>
              <a:gd name="adj" fmla="val 6667"/>
            </a:avLst>
          </a:prstGeom>
          <a:solidFill>
            <a:schemeClr val="tx1"/>
          </a:solidFill>
          <a:ln w="12700">
            <a:solidFill>
              <a:schemeClr val="tx1"/>
            </a:solidFill>
            <a:prstDash val="solid"/>
          </a:ln>
        </p:spPr>
      </p:sp>
      <p:sp>
        <p:nvSpPr>
          <p:cNvPr id="13" name="Text 9"/>
          <p:cNvSpPr txBox="1"/>
          <p:nvPr/>
        </p:nvSpPr>
        <p:spPr>
          <a:xfrm>
            <a:off x="822960" y="4526280"/>
            <a:ext cx="10515600" cy="1645920"/>
          </a:xfrm>
          <a:prstGeom prst="rect">
            <a:avLst/>
          </a:prstGeom>
          <a:noFill/>
          <a:ln/>
        </p:spPr>
        <p:txBody>
          <a:bodyPr wrap="square" lIns="0" tIns="0" rIns="0" bIns="0" rtlCol="0" anchor="ctr"/>
          <a:lstStyle/>
          <a:p>
            <a:pPr indent="0" marL="0">
              <a:buNone/>
            </a:pPr>
            <a:r>
              <a:rPr lang="en-US" sz="1600" b="1" dirty="0">
                <a:solidFill>
                  <a:schemeClr val="accent2"/>
                </a:solidFill>
              </a:rPr>
              <a:t>Before writing target_modules, print one layer:</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print(model.model.layers[0])</a:t>
            </a:r>
            <a:r>
              <a:rPr lang="en-US" sz="1600" dirty="0">
                <a:solidFill>
                  <a:srgbClr val="C9CFDA"/>
                </a:solidFill>
              </a:rPr>
              <a:t>   for Qwen2.5    </a:t>
            </a:r>
            <a:r>
              <a:rPr lang="en-US" sz="1600" dirty="0">
                <a:solidFill>
                  <a:schemeClr val="bg1"/>
                </a:solidFill>
                <a:latin typeface="Courier New" pitchFamily="34" charset="0"/>
                <a:ea typeface="Courier New" pitchFamily="34" charset="-122"/>
                <a:cs typeface="Courier New" pitchFamily="34" charset="-120"/>
              </a:rPr>
              <a:t>print(model.transformer.h[0])</a:t>
            </a:r>
            <a:r>
              <a:rPr lang="en-US" sz="1600" dirty="0">
                <a:solidFill>
                  <a:srgbClr val="C9CFDA"/>
                </a:solidFill>
              </a:rPr>
              <a:t>   for GPT-2</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LoRALinear from scratch</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19</a:t>
            </a:r>
            <a:endParaRPr lang="en-US" sz="1400" dirty="0"/>
          </a:p>
        </p:txBody>
      </p:sp>
      <p:sp>
        <p:nvSpPr>
          <p:cNvPr id="6" name="code"/>
          <p:cNvSpPr/>
          <p:nvPr/>
        </p:nvSpPr>
        <p:spPr>
          <a:xfrm>
            <a:off x="548640" y="1234440"/>
            <a:ext cx="7406640" cy="4937760"/>
          </a:xfrm>
          <a:prstGeom prst="roundRect">
            <a:avLst>
              <a:gd name="adj" fmla="val 2222"/>
            </a:avLst>
          </a:prstGeom>
          <a:solidFill>
            <a:schemeClr val="bg2"/>
          </a:solidFill>
          <a:ln w="12700">
            <a:solidFill>
              <a:schemeClr val="bg2"/>
            </a:solidFill>
            <a:prstDash val="solid"/>
          </a:ln>
        </p:spPr>
      </p:sp>
      <p:sp>
        <p:nvSpPr>
          <p:cNvPr id="7" name="Text 4"/>
          <p:cNvSpPr txBox="1"/>
          <p:nvPr/>
        </p:nvSpPr>
        <p:spPr>
          <a:xfrm>
            <a:off x="731520" y="1371600"/>
            <a:ext cx="7132320" cy="4663440"/>
          </a:xfrm>
          <a:prstGeom prst="rect">
            <a:avLst/>
          </a:prstGeom>
          <a:noFill/>
          <a:ln/>
        </p:spPr>
        <p:txBody>
          <a:bodyPr wrap="square" lIns="0" tIns="0" rIns="0" bIns="0" rtlCol="0" anchor="ctr"/>
          <a:lstStyle/>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class LoRALinear(nn.Module):</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def __init__(self, base: nn.Linear, r, alpha):</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super().__init__()</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self.base = base                 # holds W0 (d, k) and b</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for p in self.base.parameters():</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p.requires_grad_(False)      # freeze W0 and b</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self.scale = alpha / r</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self.A = nn.Parameter(torch.empty(r, base.in_features))</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self.B = nn.Parameter(torch.zeros(base.out_features, r))</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nn.init.kaiming_uniform_(self.A, a=math.sqrt(5))</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self.merged = False</a:t>
            </a:r>
            <a:endParaRPr lang="en-US" sz="1300" dirty="0"/>
          </a:p>
          <a:p>
            <a:pPr indent="0" marL="0">
              <a:lnSpc>
                <a:spcPct val="110000"/>
              </a:lnSpc>
              <a:buNone/>
            </a:pP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def forward(self, x):                # x: (..., k)</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out = self.base(x)               # W0 x + b</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if not self.merged:</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out = out + self.scale * (x @ self.A.T) @ self.B.T</a:t>
            </a:r>
            <a:endParaRPr lang="en-US" sz="1300" dirty="0"/>
          </a:p>
          <a:p>
            <a:pPr indent="0" marL="0">
              <a:lnSpc>
                <a:spcPct val="110000"/>
              </a:lnSpc>
              <a:buNone/>
            </a:pPr>
            <a:r>
              <a:rPr lang="en-US" sz="1300" dirty="0">
                <a:solidFill>
                  <a:schemeClr val="tx1"/>
                </a:solidFill>
                <a:latin typeface="Courier New" pitchFamily="34" charset="0"/>
                <a:ea typeface="Courier New" pitchFamily="34" charset="-122"/>
                <a:cs typeface="Courier New" pitchFamily="34" charset="-120"/>
              </a:rPr>
              <a:t>        return out                       # (..., d)</a:t>
            </a:r>
            <a:endParaRPr lang="en-US" sz="1300" dirty="0"/>
          </a:p>
        </p:txBody>
      </p:sp>
      <p:sp>
        <p:nvSpPr>
          <p:cNvPr id="8" name="Freeze"/>
          <p:cNvSpPr/>
          <p:nvPr/>
        </p:nvSpPr>
        <p:spPr>
          <a:xfrm>
            <a:off x="8229600" y="1234440"/>
            <a:ext cx="3383280" cy="1115568"/>
          </a:xfrm>
          <a:prstGeom prst="roundRect">
            <a:avLst>
              <a:gd name="adj" fmla="val 9836"/>
            </a:avLst>
          </a:prstGeom>
          <a:solidFill>
            <a:schemeClr val="bg2"/>
          </a:solidFill>
          <a:ln w="12700">
            <a:solidFill>
              <a:schemeClr val="bg2"/>
            </a:solidFill>
            <a:prstDash val="solid"/>
          </a:ln>
        </p:spPr>
      </p:sp>
      <p:sp>
        <p:nvSpPr>
          <p:cNvPr id="9" name="Text 6"/>
          <p:cNvSpPr txBox="1"/>
          <p:nvPr/>
        </p:nvSpPr>
        <p:spPr>
          <a:xfrm>
            <a:off x="8412480" y="1234440"/>
            <a:ext cx="3063240" cy="1115568"/>
          </a:xfrm>
          <a:prstGeom prst="rect">
            <a:avLst/>
          </a:prstGeom>
          <a:noFill/>
          <a:ln/>
        </p:spPr>
        <p:txBody>
          <a:bodyPr wrap="square" lIns="0" tIns="0" rIns="0" bIns="0" rtlCol="0" anchor="ctr"/>
          <a:lstStyle/>
          <a:p>
            <a:pPr indent="0" marL="0">
              <a:buNone/>
            </a:pPr>
            <a:r>
              <a:rPr lang="en-US" sz="1400" b="1" dirty="0">
                <a:solidFill>
                  <a:schemeClr val="tx2"/>
                </a:solidFill>
              </a:rPr>
              <a:t>Freeze</a:t>
            </a:r>
            <a:endParaRPr lang="en-US" sz="1400" dirty="0"/>
          </a:p>
          <a:p>
            <a:pPr indent="0" marL="0">
              <a:buNone/>
            </a:pPr>
            <a:r>
              <a:rPr lang="en-US" sz="1400" dirty="0">
                <a:solidFill>
                  <a:schemeClr val="tx1"/>
                </a:solidFill>
              </a:rPr>
              <a:t>the wrapped weight and bias receive no gradients</a:t>
            </a:r>
            <a:endParaRPr lang="en-US" sz="1400" dirty="0"/>
          </a:p>
        </p:txBody>
      </p:sp>
      <p:sp>
        <p:nvSpPr>
          <p:cNvPr id="10" name="A: (r, k), random"/>
          <p:cNvSpPr/>
          <p:nvPr/>
        </p:nvSpPr>
        <p:spPr>
          <a:xfrm>
            <a:off x="8229600" y="2496312"/>
            <a:ext cx="3383280" cy="1115568"/>
          </a:xfrm>
          <a:prstGeom prst="roundRect">
            <a:avLst>
              <a:gd name="adj" fmla="val 9836"/>
            </a:avLst>
          </a:prstGeom>
          <a:solidFill>
            <a:schemeClr val="bg2"/>
          </a:solidFill>
          <a:ln w="12700">
            <a:solidFill>
              <a:schemeClr val="bg2"/>
            </a:solidFill>
            <a:prstDash val="solid"/>
          </a:ln>
        </p:spPr>
      </p:sp>
      <p:sp>
        <p:nvSpPr>
          <p:cNvPr id="11" name="Text 8"/>
          <p:cNvSpPr txBox="1"/>
          <p:nvPr/>
        </p:nvSpPr>
        <p:spPr>
          <a:xfrm>
            <a:off x="8412480" y="2496312"/>
            <a:ext cx="3063240" cy="1115568"/>
          </a:xfrm>
          <a:prstGeom prst="rect">
            <a:avLst/>
          </a:prstGeom>
          <a:noFill/>
          <a:ln/>
        </p:spPr>
        <p:txBody>
          <a:bodyPr wrap="square" lIns="0" tIns="0" rIns="0" bIns="0" rtlCol="0" anchor="ctr"/>
          <a:lstStyle/>
          <a:p>
            <a:pPr indent="0" marL="0">
              <a:buNone/>
            </a:pPr>
            <a:r>
              <a:rPr lang="en-US" sz="1400" b="1" dirty="0">
                <a:solidFill>
                  <a:schemeClr val="accent4"/>
                </a:solidFill>
              </a:rPr>
              <a:t>A: (r, k), random</a:t>
            </a:r>
            <a:endParaRPr lang="en-US" sz="1400" dirty="0"/>
          </a:p>
          <a:p>
            <a:pPr indent="0" marL="0">
              <a:buNone/>
            </a:pPr>
            <a:r>
              <a:rPr lang="en-US" sz="1400" dirty="0">
                <a:solidFill>
                  <a:schemeClr val="tx1"/>
                </a:solidFill>
              </a:rPr>
              <a:t>same init as nn.Linear and peft's default</a:t>
            </a:r>
            <a:endParaRPr lang="en-US" sz="1400" dirty="0"/>
          </a:p>
        </p:txBody>
      </p:sp>
      <p:sp>
        <p:nvSpPr>
          <p:cNvPr id="12" name="B: (d, r), zeros"/>
          <p:cNvSpPr/>
          <p:nvPr/>
        </p:nvSpPr>
        <p:spPr>
          <a:xfrm>
            <a:off x="8229600" y="3758184"/>
            <a:ext cx="3383280" cy="1115568"/>
          </a:xfrm>
          <a:prstGeom prst="roundRect">
            <a:avLst>
              <a:gd name="adj" fmla="val 9836"/>
            </a:avLst>
          </a:prstGeom>
          <a:solidFill>
            <a:schemeClr val="bg2"/>
          </a:solidFill>
          <a:ln w="12700">
            <a:solidFill>
              <a:schemeClr val="bg2"/>
            </a:solidFill>
            <a:prstDash val="solid"/>
          </a:ln>
        </p:spPr>
      </p:sp>
      <p:sp>
        <p:nvSpPr>
          <p:cNvPr id="13" name="Text 10"/>
          <p:cNvSpPr txBox="1"/>
          <p:nvPr/>
        </p:nvSpPr>
        <p:spPr>
          <a:xfrm>
            <a:off x="8412480" y="3758184"/>
            <a:ext cx="3063240" cy="1115568"/>
          </a:xfrm>
          <a:prstGeom prst="rect">
            <a:avLst/>
          </a:prstGeom>
          <a:noFill/>
          <a:ln/>
        </p:spPr>
        <p:txBody>
          <a:bodyPr wrap="square" lIns="0" tIns="0" rIns="0" bIns="0" rtlCol="0" anchor="ctr"/>
          <a:lstStyle/>
          <a:p>
            <a:pPr indent="0" marL="0">
              <a:buNone/>
            </a:pPr>
            <a:r>
              <a:rPr lang="en-US" sz="1400" b="1" dirty="0">
                <a:solidFill>
                  <a:schemeClr val="accent4"/>
                </a:solidFill>
              </a:rPr>
              <a:t>B: (d, r), zeros</a:t>
            </a:r>
            <a:endParaRPr lang="en-US" sz="1400" dirty="0"/>
          </a:p>
          <a:p>
            <a:pPr indent="0" marL="0">
              <a:buNone/>
            </a:pPr>
            <a:r>
              <a:rPr lang="en-US" sz="1400" dirty="0">
                <a:solidFill>
                  <a:schemeClr val="tx1"/>
                </a:solidFill>
              </a:rPr>
              <a:t>so BA = 0 and step 0 is the pretrained model</a:t>
            </a:r>
            <a:endParaRPr lang="en-US" sz="1400" dirty="0"/>
          </a:p>
        </p:txBody>
      </p:sp>
      <p:sp>
        <p:nvSpPr>
          <p:cNvPr id="14" name="Two thin products"/>
          <p:cNvSpPr/>
          <p:nvPr/>
        </p:nvSpPr>
        <p:spPr>
          <a:xfrm>
            <a:off x="8229600" y="5020056"/>
            <a:ext cx="3383280" cy="1115568"/>
          </a:xfrm>
          <a:prstGeom prst="roundRect">
            <a:avLst>
              <a:gd name="adj" fmla="val 9836"/>
            </a:avLst>
          </a:prstGeom>
          <a:solidFill>
            <a:schemeClr val="bg2"/>
          </a:solidFill>
          <a:ln w="12700">
            <a:solidFill>
              <a:schemeClr val="bg2"/>
            </a:solidFill>
            <a:prstDash val="solid"/>
          </a:ln>
        </p:spPr>
      </p:sp>
      <p:sp>
        <p:nvSpPr>
          <p:cNvPr id="15" name="Text 12"/>
          <p:cNvSpPr txBox="1"/>
          <p:nvPr/>
        </p:nvSpPr>
        <p:spPr>
          <a:xfrm>
            <a:off x="8412480" y="5020056"/>
            <a:ext cx="3063240" cy="1115568"/>
          </a:xfrm>
          <a:prstGeom prst="rect">
            <a:avLst/>
          </a:prstGeom>
          <a:noFill/>
          <a:ln/>
        </p:spPr>
        <p:txBody>
          <a:bodyPr wrap="square" lIns="0" tIns="0" rIns="0" bIns="0" rtlCol="0" anchor="ctr"/>
          <a:lstStyle/>
          <a:p>
            <a:pPr indent="0" marL="0">
              <a:buNone/>
            </a:pPr>
            <a:r>
              <a:rPr lang="en-US" sz="1400" b="1" dirty="0">
                <a:solidFill>
                  <a:schemeClr val="accent1"/>
                </a:solidFill>
              </a:rPr>
              <a:t>Two thin products</a:t>
            </a:r>
            <a:endParaRPr lang="en-US" sz="1400" dirty="0"/>
          </a:p>
          <a:p>
            <a:pPr indent="0" marL="0">
              <a:buNone/>
            </a:pPr>
            <a:r>
              <a:rPr lang="en-US" sz="1400" dirty="0">
                <a:solidFill>
                  <a:schemeClr val="tx1"/>
                </a:solidFill>
              </a:rPr>
              <a:t>(x @ Aᵀ) @ Bᵀ; BA itself is never built in forward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Three checks before trusting it</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22</a:t>
            </a:r>
            <a:endParaRPr lang="en-US" sz="1400" dirty="0"/>
          </a:p>
        </p:txBody>
      </p:sp>
      <p:sp>
        <p:nvSpPr>
          <p:cNvPr id="6" name="Shape 3"/>
          <p:cNvSpPr/>
          <p:nvPr/>
        </p:nvSpPr>
        <p:spPr>
          <a:xfrm>
            <a:off x="548640" y="169164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280160" y="1280160"/>
            <a:ext cx="3291840" cy="457200"/>
          </a:xfrm>
          <a:prstGeom prst="rect">
            <a:avLst/>
          </a:prstGeom>
          <a:noFill/>
          <a:ln/>
        </p:spPr>
        <p:txBody>
          <a:bodyPr wrap="square" lIns="0" tIns="0" rIns="0" bIns="0" rtlCol="0" anchor="ctr"/>
          <a:lstStyle/>
          <a:p>
            <a:pPr indent="0" marL="0">
              <a:buNone/>
            </a:pPr>
            <a:r>
              <a:rPr lang="en-US" sz="1800" b="1" dirty="0">
                <a:solidFill>
                  <a:schemeClr val="tx1"/>
                </a:solidFill>
              </a:rPr>
              <a:t>Same function at initialization</a:t>
            </a:r>
            <a:endParaRPr lang="en-US" sz="1800" dirty="0"/>
          </a:p>
        </p:txBody>
      </p:sp>
      <p:sp>
        <p:nvSpPr>
          <p:cNvPr id="9" name="Text 6"/>
          <p:cNvSpPr txBox="1"/>
          <p:nvPr/>
        </p:nvSpPr>
        <p:spPr>
          <a:xfrm>
            <a:off x="1280160" y="1783080"/>
            <a:ext cx="3291840" cy="8229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assert torch.equal(lora(x), base(x))</a:t>
            </a:r>
            <a:endParaRPr lang="en-US" sz="1300" dirty="0"/>
          </a:p>
        </p:txBody>
      </p:sp>
      <p:sp>
        <p:nvSpPr>
          <p:cNvPr id="10" name="check 1"/>
          <p:cNvSpPr/>
          <p:nvPr/>
        </p:nvSpPr>
        <p:spPr>
          <a:xfrm>
            <a:off x="4754880" y="1280160"/>
            <a:ext cx="6858000" cy="1417320"/>
          </a:xfrm>
          <a:prstGeom prst="roundRect">
            <a:avLst>
              <a:gd name="adj" fmla="val 7742"/>
            </a:avLst>
          </a:prstGeom>
          <a:solidFill>
            <a:schemeClr val="bg2"/>
          </a:solidFill>
          <a:ln w="12700">
            <a:solidFill>
              <a:schemeClr val="bg2"/>
            </a:solidFill>
            <a:prstDash val="solid"/>
          </a:ln>
        </p:spPr>
      </p:sp>
      <p:sp>
        <p:nvSpPr>
          <p:cNvPr id="11" name="Text 8"/>
          <p:cNvSpPr txBox="1"/>
          <p:nvPr/>
        </p:nvSpPr>
        <p:spPr>
          <a:xfrm>
            <a:off x="4983480" y="1389888"/>
            <a:ext cx="6400800" cy="45720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1. identical outputs at initialization</a:t>
            </a:r>
            <a:endParaRPr lang="en-US" sz="1400" dirty="0"/>
          </a:p>
        </p:txBody>
      </p:sp>
      <p:sp>
        <p:nvSpPr>
          <p:cNvPr id="12" name="Text 9"/>
          <p:cNvSpPr txBox="1"/>
          <p:nvPr/>
        </p:nvSpPr>
        <p:spPr>
          <a:xfrm>
            <a:off x="4983480" y="1920240"/>
            <a:ext cx="6400800" cy="685800"/>
          </a:xfrm>
          <a:prstGeom prst="rect">
            <a:avLst/>
          </a:prstGeom>
          <a:noFill/>
          <a:ln/>
        </p:spPr>
        <p:txBody>
          <a:bodyPr wrap="square" lIns="0" tIns="0" rIns="0" bIns="0" rtlCol="0" anchor="t"/>
          <a:lstStyle/>
          <a:p>
            <a:pPr indent="0" marL="0">
              <a:buNone/>
            </a:pPr>
            <a:r>
              <a:rPr lang="en-US" sz="1500" dirty="0">
                <a:solidFill>
                  <a:schemeClr val="tx1"/>
                </a:solidFill>
              </a:rPr>
              <a:t>B = 0, so BA = 0: training starts from the pretrained model.</a:t>
            </a:r>
            <a:endParaRPr lang="en-US" sz="1500" dirty="0"/>
          </a:p>
        </p:txBody>
      </p:sp>
      <p:sp>
        <p:nvSpPr>
          <p:cNvPr id="13" name="Shape 10"/>
          <p:cNvSpPr/>
          <p:nvPr/>
        </p:nvSpPr>
        <p:spPr>
          <a:xfrm>
            <a:off x="548640" y="333756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548640" y="33375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1280160" y="2926080"/>
            <a:ext cx="3291840" cy="457200"/>
          </a:xfrm>
          <a:prstGeom prst="rect">
            <a:avLst/>
          </a:prstGeom>
          <a:noFill/>
          <a:ln/>
        </p:spPr>
        <p:txBody>
          <a:bodyPr wrap="square" lIns="0" tIns="0" rIns="0" bIns="0" rtlCol="0" anchor="ctr"/>
          <a:lstStyle/>
          <a:p>
            <a:pPr indent="0" marL="0">
              <a:buNone/>
            </a:pPr>
            <a:r>
              <a:rPr lang="en-US" sz="1800" b="1" dirty="0">
                <a:solidFill>
                  <a:schemeClr val="tx1"/>
                </a:solidFill>
              </a:rPr>
              <a:t>Only A and B get gradients</a:t>
            </a:r>
            <a:endParaRPr lang="en-US" sz="1800" dirty="0"/>
          </a:p>
        </p:txBody>
      </p:sp>
      <p:sp>
        <p:nvSpPr>
          <p:cNvPr id="16" name="Text 13"/>
          <p:cNvSpPr txBox="1"/>
          <p:nvPr/>
        </p:nvSpPr>
        <p:spPr>
          <a:xfrm>
            <a:off x="1280160" y="3429000"/>
            <a:ext cx="3291840" cy="8229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loss.backward(); list params with .grad</a:t>
            </a:r>
            <a:endParaRPr lang="en-US" sz="1300" dirty="0"/>
          </a:p>
        </p:txBody>
      </p:sp>
      <p:sp>
        <p:nvSpPr>
          <p:cNvPr id="17" name="check 2"/>
          <p:cNvSpPr/>
          <p:nvPr/>
        </p:nvSpPr>
        <p:spPr>
          <a:xfrm>
            <a:off x="4754880" y="2926080"/>
            <a:ext cx="6858000" cy="1417320"/>
          </a:xfrm>
          <a:prstGeom prst="roundRect">
            <a:avLst>
              <a:gd name="adj" fmla="val 7742"/>
            </a:avLst>
          </a:prstGeom>
          <a:solidFill>
            <a:schemeClr val="bg2"/>
          </a:solidFill>
          <a:ln w="12700">
            <a:solidFill>
              <a:schemeClr val="bg2"/>
            </a:solidFill>
            <a:prstDash val="solid"/>
          </a:ln>
        </p:spPr>
      </p:sp>
      <p:sp>
        <p:nvSpPr>
          <p:cNvPr id="18" name="Text 15"/>
          <p:cNvSpPr txBox="1"/>
          <p:nvPr/>
        </p:nvSpPr>
        <p:spPr>
          <a:xfrm>
            <a:off x="4983480" y="3035808"/>
            <a:ext cx="6400800" cy="45720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2. ['0.A', '0.B', '2.A', '2.B', '4.A', '4.B']</a:t>
            </a:r>
            <a:endParaRPr lang="en-US" sz="1400" dirty="0"/>
          </a:p>
        </p:txBody>
      </p:sp>
      <p:sp>
        <p:nvSpPr>
          <p:cNvPr id="19" name="Text 16"/>
          <p:cNvSpPr txBox="1"/>
          <p:nvPr/>
        </p:nvSpPr>
        <p:spPr>
          <a:xfrm>
            <a:off x="4983480" y="3566160"/>
            <a:ext cx="6400800" cy="685800"/>
          </a:xfrm>
          <a:prstGeom prst="rect">
            <a:avLst/>
          </a:prstGeom>
          <a:noFill/>
          <a:ln/>
        </p:spPr>
        <p:txBody>
          <a:bodyPr wrap="square" lIns="0" tIns="0" rIns="0" bIns="0" rtlCol="0" anchor="t"/>
          <a:lstStyle/>
          <a:p>
            <a:pPr indent="0" marL="0">
              <a:buNone/>
            </a:pPr>
            <a:r>
              <a:rPr lang="en-US" sz="1500" dirty="0">
                <a:solidFill>
                  <a:schemeClr val="tx1"/>
                </a:solidFill>
              </a:rPr>
              <a:t>Gradients flow through the frozen layers, but their own gradients are never stored.</a:t>
            </a:r>
            <a:endParaRPr lang="en-US" sz="1500" dirty="0"/>
          </a:p>
        </p:txBody>
      </p:sp>
      <p:sp>
        <p:nvSpPr>
          <p:cNvPr id="20" name="Shape 17"/>
          <p:cNvSpPr/>
          <p:nvPr/>
        </p:nvSpPr>
        <p:spPr>
          <a:xfrm>
            <a:off x="548640" y="4983480"/>
            <a:ext cx="548640" cy="548640"/>
          </a:xfrm>
          <a:prstGeom prst="ellipse">
            <a:avLst/>
          </a:prstGeom>
          <a:solidFill>
            <a:schemeClr val="accent1"/>
          </a:solidFill>
          <a:ln w="12700">
            <a:solidFill>
              <a:schemeClr val="accent1"/>
            </a:solidFill>
            <a:prstDash val="solid"/>
          </a:ln>
        </p:spPr>
      </p:sp>
      <p:sp>
        <p:nvSpPr>
          <p:cNvPr id="21" name="Text 18"/>
          <p:cNvSpPr txBox="1"/>
          <p:nvPr/>
        </p:nvSpPr>
        <p:spPr>
          <a:xfrm>
            <a:off x="548640" y="4983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2" name="Text 19"/>
          <p:cNvSpPr txBox="1"/>
          <p:nvPr/>
        </p:nvSpPr>
        <p:spPr>
          <a:xfrm>
            <a:off x="1280160" y="4572000"/>
            <a:ext cx="3291840" cy="457200"/>
          </a:xfrm>
          <a:prstGeom prst="rect">
            <a:avLst/>
          </a:prstGeom>
          <a:noFill/>
          <a:ln/>
        </p:spPr>
        <p:txBody>
          <a:bodyPr wrap="square" lIns="0" tIns="0" rIns="0" bIns="0" rtlCol="0" anchor="ctr"/>
          <a:lstStyle/>
          <a:p>
            <a:pPr indent="0" marL="0">
              <a:buNone/>
            </a:pPr>
            <a:r>
              <a:rPr lang="en-US" sz="1800" b="1" dirty="0">
                <a:solidFill>
                  <a:schemeClr val="tx1"/>
                </a:solidFill>
              </a:rPr>
              <a:t>The count matches the formula</a:t>
            </a:r>
            <a:endParaRPr lang="en-US" sz="1800" dirty="0"/>
          </a:p>
        </p:txBody>
      </p:sp>
      <p:sp>
        <p:nvSpPr>
          <p:cNvPr id="23" name="Text 20"/>
          <p:cNvSpPr txBox="1"/>
          <p:nvPr/>
        </p:nvSpPr>
        <p:spPr>
          <a:xfrm>
            <a:off x="1280160" y="5074920"/>
            <a:ext cx="3291840" cy="8229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Σ r · (in + out) over wrapped layers</a:t>
            </a:r>
            <a:endParaRPr lang="en-US" sz="1300" dirty="0"/>
          </a:p>
        </p:txBody>
      </p:sp>
      <p:sp>
        <p:nvSpPr>
          <p:cNvPr id="24" name="check 3"/>
          <p:cNvSpPr/>
          <p:nvPr/>
        </p:nvSpPr>
        <p:spPr>
          <a:xfrm>
            <a:off x="4754880" y="4572000"/>
            <a:ext cx="6858000" cy="1417320"/>
          </a:xfrm>
          <a:prstGeom prst="roundRect">
            <a:avLst>
              <a:gd name="adj" fmla="val 7742"/>
            </a:avLst>
          </a:prstGeom>
          <a:solidFill>
            <a:schemeClr val="bg2"/>
          </a:solidFill>
          <a:ln w="12700">
            <a:solidFill>
              <a:schemeClr val="bg2"/>
            </a:solidFill>
            <a:prstDash val="solid"/>
          </a:ln>
        </p:spPr>
      </p:sp>
      <p:sp>
        <p:nvSpPr>
          <p:cNvPr id="25" name="Text 22"/>
          <p:cNvSpPr txBox="1"/>
          <p:nvPr/>
        </p:nvSpPr>
        <p:spPr>
          <a:xfrm>
            <a:off x="4983480" y="4681728"/>
            <a:ext cx="6400800" cy="457200"/>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3. trainable 2,128 of 21,332 (10.0%); formula 2,128</a:t>
            </a:r>
            <a:endParaRPr lang="en-US" sz="1400" dirty="0"/>
          </a:p>
        </p:txBody>
      </p:sp>
      <p:sp>
        <p:nvSpPr>
          <p:cNvPr id="26" name="Text 23"/>
          <p:cNvSpPr txBox="1"/>
          <p:nvPr/>
        </p:nvSpPr>
        <p:spPr>
          <a:xfrm>
            <a:off x="4983480" y="5212080"/>
            <a:ext cx="6400800" cy="685800"/>
          </a:xfrm>
          <a:prstGeom prst="rect">
            <a:avLst/>
          </a:prstGeom>
          <a:noFill/>
          <a:ln/>
        </p:spPr>
        <p:txBody>
          <a:bodyPr wrap="square" lIns="0" tIns="0" rIns="0" bIns="0" rtlCol="0" anchor="t"/>
          <a:lstStyle/>
          <a:p>
            <a:pPr indent="0" marL="0">
              <a:buNone/>
            </a:pPr>
            <a:r>
              <a:rPr lang="en-US" sz="1500" dirty="0">
                <a:solidFill>
                  <a:schemeClr val="tx1"/>
                </a:solidFill>
              </a:rPr>
              <a:t>Tiny toy MLP: 10%. Real layers are wide, so the fraction is far smaller.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merge() and unmerge(): two forms of the same layer</a:t>
            </a:r>
            <a:endParaRPr lang="en-US" sz="3200" dirty="0"/>
          </a:p>
        </p:txBody>
      </p:sp>
      <p:sp>
        <p:nvSpPr>
          <p:cNvPr id="4" name="distributivity"/>
          <p:cNvSpPr/>
          <p:nvPr/>
        </p:nvSpPr>
        <p:spPr>
          <a:xfrm>
            <a:off x="548640" y="1280160"/>
            <a:ext cx="11064240" cy="1234440"/>
          </a:xfrm>
          <a:prstGeom prst="roundRect">
            <a:avLst>
              <a:gd name="adj" fmla="val 8889"/>
            </a:avLst>
          </a:prstGeom>
          <a:solidFill>
            <a:schemeClr val="tx1"/>
          </a:solidFill>
          <a:ln w="12700">
            <a:solidFill>
              <a:schemeClr val="tx1"/>
            </a:solidFill>
            <a:prstDash val="solid"/>
          </a:ln>
        </p:spPr>
      </p:sp>
      <p:sp>
        <p:nvSpPr>
          <p:cNvPr id="5" name="Text 2"/>
          <p:cNvSpPr txBox="1"/>
          <p:nvPr/>
        </p:nvSpPr>
        <p:spPr>
          <a:xfrm>
            <a:off x="822960" y="1325880"/>
            <a:ext cx="6766560" cy="731520"/>
          </a:xfrm>
          <a:prstGeom prst="rect">
            <a:avLst/>
          </a:prstGeom>
          <a:noFill/>
          <a:ln/>
        </p:spPr>
        <p:txBody>
          <a:bodyPr wrap="square" lIns="0" tIns="0" rIns="0" bIns="0" rtlCol="0" anchor="ctr"/>
          <a:lstStyle/>
          <a:p>
            <a:pPr indent="0" marL="0">
              <a:buNone/>
            </a:pPr>
            <a:r>
              <a:rPr lang="en-US" sz="2600" dirty="0">
                <a:solidFill>
                  <a:schemeClr val="accent4"/>
                </a:solidFill>
                <a:latin typeface="Cambria" pitchFamily="34" charset="0"/>
                <a:ea typeface="Cambria" pitchFamily="34" charset="-122"/>
                <a:cs typeface="Cambria" pitchFamily="34" charset="-120"/>
              </a:rPr>
              <a:t>W</a:t>
            </a:r>
            <a:r>
              <a:rPr lang="en-US" sz="2600" baseline="-40000" dirty="0">
                <a:solidFill>
                  <a:schemeClr val="accent4"/>
                </a:solidFill>
                <a:latin typeface="Cambria" pitchFamily="34" charset="0"/>
                <a:ea typeface="Cambria" pitchFamily="34" charset="-122"/>
                <a:cs typeface="Cambria" pitchFamily="34" charset="-120"/>
              </a:rPr>
              <a:t>0</a:t>
            </a:r>
            <a:r>
              <a:rPr lang="en-US" sz="2600" dirty="0">
                <a:solidFill>
                  <a:schemeClr val="accent4"/>
                </a:solidFill>
                <a:latin typeface="Cambria" pitchFamily="34" charset="0"/>
                <a:ea typeface="Cambria" pitchFamily="34" charset="-122"/>
                <a:cs typeface="Cambria" pitchFamily="34" charset="-120"/>
              </a:rPr>
              <a:t>x + (α/r)BAx</a:t>
            </a:r>
            <a:r>
              <a:rPr lang="en-US" sz="2600" dirty="0">
                <a:solidFill>
                  <a:schemeClr val="bg1"/>
                </a:solidFill>
                <a:latin typeface="Cambria" pitchFamily="34" charset="0"/>
                <a:ea typeface="Cambria" pitchFamily="34" charset="-122"/>
                <a:cs typeface="Cambria" pitchFamily="34" charset="-120"/>
              </a:rPr>
              <a:t>   =   </a:t>
            </a:r>
            <a:r>
              <a:rPr lang="en-US" sz="2600" dirty="0">
                <a:solidFill>
                  <a:schemeClr val="accent2"/>
                </a:solidFill>
                <a:latin typeface="Cambria" pitchFamily="34" charset="0"/>
                <a:ea typeface="Cambria" pitchFamily="34" charset="-122"/>
                <a:cs typeface="Cambria" pitchFamily="34" charset="-120"/>
              </a:rPr>
              <a:t>(W</a:t>
            </a:r>
            <a:r>
              <a:rPr lang="en-US" sz="2600" baseline="-40000" dirty="0">
                <a:solidFill>
                  <a:schemeClr val="accent2"/>
                </a:solidFill>
                <a:latin typeface="Cambria" pitchFamily="34" charset="0"/>
                <a:ea typeface="Cambria" pitchFamily="34" charset="-122"/>
                <a:cs typeface="Cambria" pitchFamily="34" charset="-120"/>
              </a:rPr>
              <a:t>0</a:t>
            </a:r>
            <a:r>
              <a:rPr lang="en-US" sz="2600" dirty="0">
                <a:solidFill>
                  <a:schemeClr val="accent2"/>
                </a:solidFill>
                <a:latin typeface="Cambria" pitchFamily="34" charset="0"/>
                <a:ea typeface="Cambria" pitchFamily="34" charset="-122"/>
                <a:cs typeface="Cambria" pitchFamily="34" charset="-120"/>
              </a:rPr>
              <a:t> + (α/r)BA) x</a:t>
            </a:r>
            <a:endParaRPr lang="en-US" sz="2600" dirty="0"/>
          </a:p>
        </p:txBody>
      </p:sp>
      <p:sp>
        <p:nvSpPr>
          <p:cNvPr id="6" name="Text 3"/>
          <p:cNvSpPr txBox="1"/>
          <p:nvPr/>
        </p:nvSpPr>
        <p:spPr>
          <a:xfrm>
            <a:off x="822960" y="2011680"/>
            <a:ext cx="6766560" cy="365760"/>
          </a:xfrm>
          <a:prstGeom prst="rect">
            <a:avLst/>
          </a:prstGeom>
          <a:noFill/>
          <a:ln/>
        </p:spPr>
        <p:txBody>
          <a:bodyPr wrap="square" lIns="0" tIns="0" rIns="0" bIns="0" rtlCol="0" anchor="t"/>
          <a:lstStyle/>
          <a:p>
            <a:pPr indent="0" marL="0">
              <a:buNone/>
            </a:pPr>
            <a:r>
              <a:rPr lang="en-US" sz="1400" dirty="0">
                <a:solidFill>
                  <a:schemeClr val="accent4"/>
                </a:solidFill>
              </a:rPr>
              <a:t>unmerged: two paths</a:t>
            </a:r>
            <a:r>
              <a:rPr lang="en-US" sz="1400" dirty="0">
                <a:solidFill>
                  <a:schemeClr val="tx1"/>
                </a:solidFill>
              </a:rPr>
              <a:t>          </a:t>
            </a:r>
            <a:r>
              <a:rPr lang="en-US" sz="1400" dirty="0">
                <a:solidFill>
                  <a:schemeClr val="accent2"/>
                </a:solidFill>
              </a:rPr>
              <a:t>merged: one matrix</a:t>
            </a:r>
            <a:endParaRPr lang="en-US" sz="1400" dirty="0"/>
          </a:p>
        </p:txBody>
      </p:sp>
      <p:sp>
        <p:nvSpPr>
          <p:cNvPr id="7" name="Text 4"/>
          <p:cNvSpPr txBox="1"/>
          <p:nvPr/>
        </p:nvSpPr>
        <p:spPr>
          <a:xfrm>
            <a:off x="7680960" y="1371600"/>
            <a:ext cx="3840480" cy="1051560"/>
          </a:xfrm>
          <a:prstGeom prst="rect">
            <a:avLst/>
          </a:prstGeom>
          <a:noFill/>
          <a:ln/>
        </p:spPr>
        <p:txBody>
          <a:bodyPr wrap="square" lIns="0" tIns="0" rIns="0" bIns="0" rtlCol="0" anchor="ctr"/>
          <a:lstStyle/>
          <a:p>
            <a:pPr indent="0" marL="0">
              <a:buNone/>
            </a:pPr>
            <a:r>
              <a:rPr lang="en-US" sz="1300" dirty="0">
                <a:solidFill>
                  <a:schemeClr val="bg1"/>
                </a:solidFill>
                <a:latin typeface="Courier New" pitchFamily="34" charset="0"/>
                <a:ea typeface="Courier New" pitchFamily="34" charset="-122"/>
                <a:cs typeface="Courier New" pitchFamily="34" charset="-120"/>
              </a:rPr>
              <a:t>merge():   W₀ ← W₀ + (α/r)·B@A</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unmerge(): W₀ ← W₀ − (α/r)·B@A</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64240" cy="914400"/>
        </p:xfrm>
        <a:graphic>
          <a:graphicData uri="http://schemas.openxmlformats.org/drawingml/2006/table">
            <a:tbl>
              <a:tblPr/>
              <a:tblGrid>
                <a:gridCol w="3017520"/>
                <a:gridCol w="1463040"/>
                <a:gridCol w="6583680"/>
              </a:tblGrid>
              <a:tr h="438912">
                <a:tc>
                  <a:txBody>
                    <a:bodyPr/>
                    <a:lstStyle/>
                    <a:p>
                      <a:pPr indent="0" marL="0">
                        <a:buNone/>
                      </a:pPr>
                      <a:r>
                        <a:rPr lang="en-US" sz="1400" b="1" dirty="0">
                          <a:solidFill>
                            <a:schemeClr val="bg1"/>
                          </a:solidFill>
                        </a:rPr>
                        <a:t>Situation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Prefer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tx1"/>
                          </a:solidFill>
                        </a:rPr>
                        <a:t>One model for one task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rPr>
                        <a:t>merged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same architecture and speed as the original; no LoRA code at inference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Several tasks from one base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unmerged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base in memory; switching tasks = loading a different A and 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Training, or continuing to train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4"/>
                          </a:solidFill>
                        </a:rPr>
                        <a:t>unmerged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merged layer skips A and B in forward(), so they get no gradients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Base loaded in 4-bit (QLoRA)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4"/>
                          </a:solidFill>
                        </a:rPr>
                        <a:t>unmerged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merging into 4-bit weights loses part of the update to rounding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Storing or sharing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adapter file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megabytes, against a full-size copy for a merged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500" b="1" dirty="0">
                <a:solidFill>
                  <a:schemeClr val="tx1"/>
                </a:solidFill>
              </a:rPr>
              <a:t>Guards: </a:t>
            </a:r>
            <a:r>
              <a:rPr lang="en-US" sz="1500" dirty="0">
                <a:solidFill>
                  <a:schemeClr val="tx1"/>
                </a:solidFill>
              </a:rPr>
              <a:t>both run under @torch.no_grad() and check the merged flag first, so the update is never added twice or subtracted when it was never added.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How large does r need to be?</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25, 26</a:t>
            </a:r>
            <a:endParaRPr lang="en-US" sz="1400" dirty="0"/>
          </a:p>
        </p:txBody>
      </p:sp>
      <p:graphicFrame>
        <p:nvGraphicFramePr>
          <p:cNvPr id="6" name="Chart 0" descr=""/>
          <p:cNvGraphicFramePr/>
          <p:nvPr/>
        </p:nvGraphicFramePr>
        <p:xfrm>
          <a:off x="548640" y="1234440"/>
          <a:ext cx="640080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223760" y="1280160"/>
          <a:ext cx="4389120" cy="914400"/>
        </p:xfrm>
        <a:graphic>
          <a:graphicData uri="http://schemas.openxmlformats.org/drawingml/2006/table">
            <a:tbl>
              <a:tblPr/>
              <a:tblGrid>
                <a:gridCol w="1600200"/>
                <a:gridCol w="1051560"/>
                <a:gridCol w="868680"/>
                <a:gridCol w="868680"/>
              </a:tblGrid>
              <a:tr h="365760">
                <a:tc>
                  <a:txBody>
                    <a:bodyPr/>
                    <a:lstStyle/>
                    <a:p>
                      <a:pPr indent="0" marL="0">
                        <a:buNone/>
                      </a:pPr>
                      <a:r>
                        <a:rPr lang="en-US" sz="1400" b="1" dirty="0">
                          <a:solidFill>
                            <a:schemeClr val="bg1"/>
                          </a:solidFill>
                        </a:rPr>
                        <a:t>Method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Trainable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Best lr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nMSE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365760">
                <a:tc>
                  <a:txBody>
                    <a:bodyPr/>
                    <a:lstStyle/>
                    <a:p>
                      <a:pPr indent="0" marL="0">
                        <a:buNone/>
                      </a:pPr>
                      <a:r>
                        <a:rPr lang="en-US" sz="1400" dirty="0">
                          <a:solidFill>
                            <a:schemeClr val="tx1"/>
                          </a:solidFill>
                        </a:rPr>
                        <a:t>no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0.122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65760">
                <a:tc>
                  <a:txBody>
                    <a:bodyPr/>
                    <a:lstStyle/>
                    <a:p>
                      <a:pPr indent="0" marL="0">
                        <a:buNone/>
                      </a:pPr>
                      <a:r>
                        <a:rPr lang="en-US" sz="1400" dirty="0">
                          <a:solidFill>
                            <a:schemeClr val="tx1"/>
                          </a:solidFill>
                        </a:rPr>
                        <a:t>from scratch</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19,204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3e-3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0.034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65760">
                <a:tc>
                  <a:txBody>
                    <a:bodyPr/>
                    <a:lstStyle/>
                    <a:p>
                      <a:pPr indent="0" marL="0">
                        <a:buNone/>
                      </a:pPr>
                      <a:r>
                        <a:rPr lang="en-US" sz="1400" b="1" dirty="0">
                          <a:solidFill>
                            <a:schemeClr val="accent4"/>
                          </a:solidFill>
                        </a:rPr>
                        <a:t>LoRA r = 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532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3e-3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0.017</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65760">
                <a:tc>
                  <a:txBody>
                    <a:bodyPr/>
                    <a:lstStyle/>
                    <a:p>
                      <a:pPr indent="0" marL="0">
                        <a:buNone/>
                      </a:pPr>
                      <a:r>
                        <a:rPr lang="en-US" sz="1400" b="1" dirty="0">
                          <a:solidFill>
                            <a:schemeClr val="accent4"/>
                          </a:solidFill>
                        </a:rPr>
                        <a:t>LoRA r = 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1,064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1e-3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0.010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65760">
                <a:tc>
                  <a:txBody>
                    <a:bodyPr/>
                    <a:lstStyle/>
                    <a:p>
                      <a:pPr indent="0" marL="0">
                        <a:buNone/>
                      </a:pPr>
                      <a:r>
                        <a:rPr lang="en-US" sz="1400" b="1" dirty="0">
                          <a:solidFill>
                            <a:schemeClr val="accent4"/>
                          </a:solidFill>
                        </a:rPr>
                        <a:t>LoRA r = 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2,128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1e-3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0.010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65760">
                <a:tc>
                  <a:txBody>
                    <a:bodyPr/>
                    <a:lstStyle/>
                    <a:p>
                      <a:pPr indent="0" marL="0">
                        <a:buNone/>
                      </a:pPr>
                      <a:r>
                        <a:rPr lang="en-US" sz="1400" b="1" dirty="0">
                          <a:solidFill>
                            <a:schemeClr val="accent4"/>
                          </a:solidFill>
                        </a:rPr>
                        <a:t>LoRA r = 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4,256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1e-3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0.008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65760">
                <a:tc>
                  <a:txBody>
                    <a:bodyPr/>
                    <a:lstStyle/>
                    <a:p>
                      <a:pPr indent="0" marL="0">
                        <a:buNone/>
                      </a:pPr>
                      <a:r>
                        <a:rPr lang="en-US" sz="1400" b="1" dirty="0">
                          <a:solidFill>
                            <a:schemeClr val="accent4"/>
                          </a:solidFill>
                        </a:rPr>
                        <a:t>LoRA r = 16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8,512</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1e-3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0.008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65760">
                <a:tc>
                  <a:txBody>
                    <a:bodyPr/>
                    <a:lstStyle/>
                    <a:p>
                      <a:pPr indent="0" marL="0">
                        <a:buNone/>
                      </a:pPr>
                      <a:r>
                        <a:rPr lang="en-US" sz="1400" b="1" dirty="0">
                          <a:solidFill>
                            <a:schemeClr val="accent1"/>
                          </a:solidFill>
                        </a:rPr>
                        <a:t>full fine-tune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19,204</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1e-3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0.008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8" name="takeaway"/>
          <p:cNvSpPr/>
          <p:nvPr/>
        </p:nvSpPr>
        <p:spPr>
          <a:xfrm>
            <a:off x="548640" y="5486400"/>
            <a:ext cx="11064240" cy="685800"/>
          </a:xfrm>
          <a:prstGeom prst="roundRect">
            <a:avLst>
              <a:gd name="adj" fmla="val 16000"/>
            </a:avLst>
          </a:prstGeom>
          <a:solidFill>
            <a:schemeClr val="accent5"/>
          </a:solidFill>
          <a:ln w="12700">
            <a:solidFill>
              <a:schemeClr val="accent5"/>
            </a:solidFill>
            <a:prstDash val="solid"/>
          </a:ln>
        </p:spPr>
      </p:sp>
      <p:sp>
        <p:nvSpPr>
          <p:cNvPr id="9" name="Text 4"/>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500" b="1" dirty="0">
                <a:solidFill>
                  <a:schemeClr val="tx1"/>
                </a:solidFill>
              </a:rPr>
              <a:t>r = 8 matched full fine-tuning with 22% of its trainable parameters. </a:t>
            </a:r>
            <a:r>
              <a:rPr lang="en-US" sz="1500" dirty="0">
                <a:solidFill>
                  <a:schemeClr val="tx1"/>
                </a:solidFill>
              </a:rPr>
              <a:t>One seed, toy model: read the trend, not the third decimal.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Merging is free; swapping changes the task</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29, 31</a:t>
            </a:r>
            <a:endParaRPr lang="en-US" sz="1400" dirty="0"/>
          </a:p>
        </p:txBody>
      </p:sp>
      <p:sp>
        <p:nvSpPr>
          <p:cNvPr id="6" name="max |difference| in outputs after merging every layer"/>
          <p:cNvSpPr/>
          <p:nvPr/>
        </p:nvSpPr>
        <p:spPr>
          <a:xfrm>
            <a:off x="548640" y="1280160"/>
            <a:ext cx="3291840" cy="1600200"/>
          </a:xfrm>
          <a:prstGeom prst="roundRect">
            <a:avLst>
              <a:gd name="adj" fmla="val 6857"/>
            </a:avLst>
          </a:prstGeom>
          <a:solidFill>
            <a:schemeClr val="bg2"/>
          </a:solidFill>
          <a:ln w="12700">
            <a:solidFill>
              <a:schemeClr val="bg2"/>
            </a:solidFill>
            <a:prstDash val="solid"/>
          </a:ln>
        </p:spPr>
      </p:sp>
      <p:sp>
        <p:nvSpPr>
          <p:cNvPr id="7" name="Text 4"/>
          <p:cNvSpPr txBox="1"/>
          <p:nvPr/>
        </p:nvSpPr>
        <p:spPr>
          <a:xfrm>
            <a:off x="777240" y="1389888"/>
            <a:ext cx="2834640" cy="640080"/>
          </a:xfrm>
          <a:prstGeom prst="rect">
            <a:avLst/>
          </a:prstGeom>
          <a:noFill/>
          <a:ln/>
        </p:spPr>
        <p:txBody>
          <a:bodyPr wrap="square" lIns="0" tIns="0" rIns="0" bIns="0" rtlCol="0" anchor="b"/>
          <a:lstStyle/>
          <a:p>
            <a:pPr indent="0" marL="0">
              <a:buNone/>
            </a:pPr>
            <a:r>
              <a:rPr lang="en-US" sz="3000" b="1" dirty="0">
                <a:solidFill>
                  <a:schemeClr val="accent1"/>
                </a:solidFill>
                <a:latin typeface="Cambria" pitchFamily="34" charset="0"/>
                <a:ea typeface="Cambria" pitchFamily="34" charset="-122"/>
                <a:cs typeface="Cambria" pitchFamily="34" charset="-120"/>
              </a:rPr>
              <a:t>4.8 × 10⁻⁷</a:t>
            </a:r>
            <a:endParaRPr lang="en-US" sz="3000" dirty="0"/>
          </a:p>
        </p:txBody>
      </p:sp>
      <p:sp>
        <p:nvSpPr>
          <p:cNvPr id="8" name="Text 5"/>
          <p:cNvSpPr txBox="1"/>
          <p:nvPr/>
        </p:nvSpPr>
        <p:spPr>
          <a:xfrm>
            <a:off x="777240" y="2084832"/>
            <a:ext cx="2834640" cy="704088"/>
          </a:xfrm>
          <a:prstGeom prst="rect">
            <a:avLst/>
          </a:prstGeom>
          <a:noFill/>
          <a:ln/>
        </p:spPr>
        <p:txBody>
          <a:bodyPr wrap="square" lIns="0" tIns="0" rIns="0" bIns="0" rtlCol="0" anchor="t"/>
          <a:lstStyle/>
          <a:p>
            <a:pPr indent="0" marL="0">
              <a:buNone/>
            </a:pPr>
            <a:r>
              <a:rPr lang="en-US" sz="1400" dirty="0">
                <a:solidFill>
                  <a:schemeClr val="tx2"/>
                </a:solidFill>
              </a:rPr>
              <a:t>max |difference| in outputs after merging every layer</a:t>
            </a:r>
            <a:endParaRPr lang="en-US" sz="1400" dirty="0"/>
          </a:p>
        </p:txBody>
      </p:sp>
      <p:sp>
        <p:nvSpPr>
          <p:cNvPr id="9" name="Text 6"/>
          <p:cNvSpPr txBox="1"/>
          <p:nvPr/>
        </p:nvSpPr>
        <p:spPr>
          <a:xfrm>
            <a:off x="4206240" y="1280160"/>
            <a:ext cx="7406640" cy="411480"/>
          </a:xfrm>
          <a:prstGeom prst="rect">
            <a:avLst/>
          </a:prstGeom>
          <a:noFill/>
          <a:ln/>
        </p:spPr>
        <p:txBody>
          <a:bodyPr wrap="square" lIns="0" tIns="0" rIns="0" bIns="0" rtlCol="0" anchor="t"/>
          <a:lstStyle/>
          <a:p>
            <a:pPr indent="0" marL="0">
              <a:buNone/>
            </a:pPr>
            <a:r>
              <a:rPr lang="en-US" sz="1700" b="1" dirty="0">
                <a:solidFill>
                  <a:schemeClr val="tx1"/>
                </a:solidFill>
              </a:rPr>
              <a:t>One base, two adapters: validation nMSE</a:t>
            </a:r>
            <a:endParaRPr lang="en-US" sz="17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206240" y="1783080"/>
          <a:ext cx="7406640" cy="914400"/>
        </p:xfrm>
        <a:graphic>
          <a:graphicData uri="http://schemas.openxmlformats.org/drawingml/2006/table">
            <a:tbl>
              <a:tblPr/>
              <a:tblGrid>
                <a:gridCol w="2651760"/>
                <a:gridCol w="2377440"/>
                <a:gridCol w="2377440"/>
              </a:tblGrid>
              <a:tr h="384048">
                <a:tc>
                  <a:txBody>
                    <a:bodyPr/>
                    <a:lstStyle/>
                    <a:p>
                      <a:pPr algn="ctr" indent="0" marL="0">
                        <a:buNone/>
                      </a:pP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on task B</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on task C</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384048">
                <a:tc>
                  <a:txBody>
                    <a:bodyPr/>
                    <a:lstStyle/>
                    <a:p>
                      <a:pPr algn="ctr" indent="0" marL="0">
                        <a:buNone/>
                      </a:pPr>
                      <a:r>
                        <a:rPr lang="en-US" sz="1500" b="1" dirty="0">
                          <a:solidFill>
                            <a:schemeClr val="tx1"/>
                          </a:solidFill>
                        </a:rPr>
                        <a:t>adapter B</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1"/>
                          </a:solidFill>
                        </a:rPr>
                        <a:t>0.010</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3"/>
                          </a:solidFill>
                        </a:rPr>
                        <a:t>0.386</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384048">
                <a:tc>
                  <a:txBody>
                    <a:bodyPr/>
                    <a:lstStyle/>
                    <a:p>
                      <a:pPr algn="ctr" indent="0" marL="0">
                        <a:buNone/>
                      </a:pPr>
                      <a:r>
                        <a:rPr lang="en-US" sz="1500" b="1" dirty="0">
                          <a:solidFill>
                            <a:schemeClr val="tx1"/>
                          </a:solidFill>
                        </a:rPr>
                        <a:t>adapter C</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3"/>
                          </a:solidFill>
                        </a:rPr>
                        <a:t>0.265</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1"/>
                          </a:solidFill>
                        </a:rPr>
                        <a:t>0.013</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384048">
                <a:tc>
                  <a:txBody>
                    <a:bodyPr/>
                    <a:lstStyle/>
                    <a:p>
                      <a:pPr algn="ctr" indent="0" marL="0">
                        <a:buNone/>
                      </a:pPr>
                      <a:r>
                        <a:rPr lang="en-US" sz="1500" dirty="0">
                          <a:solidFill>
                            <a:schemeClr val="tx2"/>
                          </a:solidFill>
                        </a:rPr>
                        <a:t>base, no adapter</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2"/>
                          </a:solidFill>
                        </a:rPr>
                        <a:t>0.122</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2"/>
                          </a:solidFill>
                        </a:rPr>
                        <a: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11" name="frozen frozen base (one copy)"/>
          <p:cNvSpPr/>
          <p:nvPr/>
        </p:nvSpPr>
        <p:spPr>
          <a:xfrm>
            <a:off x="548640" y="3749040"/>
            <a:ext cx="3291840" cy="822960"/>
          </a:xfrm>
          <a:prstGeom prst="rect">
            <a:avLst/>
          </a:prstGeom>
          <a:solidFill>
            <a:schemeClr val="bg2"/>
          </a:solidFill>
          <a:ln w="15875">
            <a:solidFill>
              <a:schemeClr val="tx2"/>
            </a:solidFill>
            <a:prstDash val="solid"/>
          </a:ln>
        </p:spPr>
      </p:sp>
      <p:sp>
        <p:nvSpPr>
          <p:cNvPr id="12" name="Text 8"/>
          <p:cNvSpPr txBox="1"/>
          <p:nvPr/>
        </p:nvSpPr>
        <p:spPr>
          <a:xfrm>
            <a:off x="548640" y="3749040"/>
            <a:ext cx="3291840" cy="822960"/>
          </a:xfrm>
          <a:prstGeom prst="rect">
            <a:avLst/>
          </a:prstGeom>
          <a:noFill/>
          <a:ln/>
        </p:spPr>
        <p:txBody>
          <a:bodyPr wrap="square" lIns="0" tIns="0" rIns="0" bIns="0" rtlCol="0" anchor="ctr"/>
          <a:lstStyle/>
          <a:p>
            <a:pPr algn="ctr" indent="0" marL="0">
              <a:buNone/>
            </a:pPr>
            <a:r>
              <a:rPr lang="en-US" sz="1500" dirty="0">
                <a:solidFill>
                  <a:schemeClr val="tx1"/>
                </a:solidFill>
              </a:rPr>
              <a:t>frozen base (one copy)</a:t>
            </a:r>
            <a:endParaRPr lang="en-US" sz="1500" dirty="0"/>
          </a:p>
        </p:txBody>
      </p:sp>
      <p:sp>
        <p:nvSpPr>
          <p:cNvPr id="13" name="trainable adapter B  →  task B"/>
          <p:cNvSpPr/>
          <p:nvPr/>
        </p:nvSpPr>
        <p:spPr>
          <a:xfrm>
            <a:off x="4206240" y="3749040"/>
            <a:ext cx="2240280" cy="822960"/>
          </a:xfrm>
          <a:prstGeom prst="rect">
            <a:avLst/>
          </a:prstGeom>
          <a:solidFill>
            <a:schemeClr val="accent6"/>
          </a:solidFill>
          <a:ln w="15875">
            <a:solidFill>
              <a:schemeClr val="accent4"/>
            </a:solidFill>
            <a:prstDash val="solid"/>
          </a:ln>
        </p:spPr>
      </p:sp>
      <p:sp>
        <p:nvSpPr>
          <p:cNvPr id="14" name="Text 10"/>
          <p:cNvSpPr txBox="1"/>
          <p:nvPr/>
        </p:nvSpPr>
        <p:spPr>
          <a:xfrm>
            <a:off x="4206240" y="3749040"/>
            <a:ext cx="2240280" cy="822960"/>
          </a:xfrm>
          <a:prstGeom prst="rect">
            <a:avLst/>
          </a:prstGeom>
          <a:noFill/>
          <a:ln/>
        </p:spPr>
        <p:txBody>
          <a:bodyPr wrap="square" lIns="0" tIns="0" rIns="0" bIns="0" rtlCol="0" anchor="ctr"/>
          <a:lstStyle/>
          <a:p>
            <a:pPr algn="ctr" indent="0" marL="0">
              <a:buNone/>
            </a:pPr>
            <a:r>
              <a:rPr lang="en-US" sz="1400" dirty="0">
                <a:solidFill>
                  <a:schemeClr val="tx1"/>
                </a:solidFill>
              </a:rPr>
              <a:t>adapter B  →  task B</a:t>
            </a:r>
            <a:endParaRPr lang="en-US" sz="1400" dirty="0"/>
          </a:p>
        </p:txBody>
      </p:sp>
      <p:sp>
        <p:nvSpPr>
          <p:cNvPr id="15" name="trainable adapter C  →  task C"/>
          <p:cNvSpPr/>
          <p:nvPr/>
        </p:nvSpPr>
        <p:spPr>
          <a:xfrm>
            <a:off x="6720840" y="3749040"/>
            <a:ext cx="2240280" cy="822960"/>
          </a:xfrm>
          <a:prstGeom prst="rect">
            <a:avLst/>
          </a:prstGeom>
          <a:solidFill>
            <a:schemeClr val="accent6"/>
          </a:solidFill>
          <a:ln w="15875">
            <a:solidFill>
              <a:schemeClr val="accent4"/>
            </a:solidFill>
            <a:prstDash val="solid"/>
          </a:ln>
        </p:spPr>
      </p:sp>
      <p:sp>
        <p:nvSpPr>
          <p:cNvPr id="16" name="Text 12"/>
          <p:cNvSpPr txBox="1"/>
          <p:nvPr/>
        </p:nvSpPr>
        <p:spPr>
          <a:xfrm>
            <a:off x="6720840" y="3749040"/>
            <a:ext cx="2240280" cy="822960"/>
          </a:xfrm>
          <a:prstGeom prst="rect">
            <a:avLst/>
          </a:prstGeom>
          <a:noFill/>
          <a:ln/>
        </p:spPr>
        <p:txBody>
          <a:bodyPr wrap="square" lIns="0" tIns="0" rIns="0" bIns="0" rtlCol="0" anchor="ctr"/>
          <a:lstStyle/>
          <a:p>
            <a:pPr algn="ctr" indent="0" marL="0">
              <a:buNone/>
            </a:pPr>
            <a:r>
              <a:rPr lang="en-US" sz="1400" dirty="0">
                <a:solidFill>
                  <a:schemeClr val="tx1"/>
                </a:solidFill>
              </a:rPr>
              <a:t>adapter C  →  task C</a:t>
            </a:r>
            <a:endParaRPr lang="en-US" sz="1400" dirty="0"/>
          </a:p>
        </p:txBody>
      </p:sp>
      <p:sp>
        <p:nvSpPr>
          <p:cNvPr id="17" name="trainable adapter …  →  task …"/>
          <p:cNvSpPr/>
          <p:nvPr/>
        </p:nvSpPr>
        <p:spPr>
          <a:xfrm>
            <a:off x="9235440" y="3749040"/>
            <a:ext cx="2240280" cy="822960"/>
          </a:xfrm>
          <a:prstGeom prst="rect">
            <a:avLst/>
          </a:prstGeom>
          <a:solidFill>
            <a:schemeClr val="accent6"/>
          </a:solidFill>
          <a:ln w="15875">
            <a:solidFill>
              <a:schemeClr val="accent4"/>
            </a:solidFill>
            <a:prstDash val="solid"/>
          </a:ln>
        </p:spPr>
      </p:sp>
      <p:sp>
        <p:nvSpPr>
          <p:cNvPr id="18" name="Text 14"/>
          <p:cNvSpPr txBox="1"/>
          <p:nvPr/>
        </p:nvSpPr>
        <p:spPr>
          <a:xfrm>
            <a:off x="9235440" y="3749040"/>
            <a:ext cx="2240280" cy="822960"/>
          </a:xfrm>
          <a:prstGeom prst="rect">
            <a:avLst/>
          </a:prstGeom>
          <a:noFill/>
          <a:ln/>
        </p:spPr>
        <p:txBody>
          <a:bodyPr wrap="square" lIns="0" tIns="0" rIns="0" bIns="0" rtlCol="0" anchor="ctr"/>
          <a:lstStyle/>
          <a:p>
            <a:pPr algn="ctr" indent="0" marL="0">
              <a:buNone/>
            </a:pPr>
            <a:r>
              <a:rPr lang="en-US" sz="1400" dirty="0">
                <a:solidFill>
                  <a:schemeClr val="tx1"/>
                </a:solidFill>
              </a:rPr>
              <a:t>adapter …  →  task …</a:t>
            </a:r>
            <a:endParaRPr lang="en-US" sz="1400" dirty="0"/>
          </a:p>
        </p:txBody>
      </p:sp>
      <p:sp>
        <p:nvSpPr>
          <p:cNvPr id="19" name="Text 15"/>
          <p:cNvSpPr txBox="1"/>
          <p:nvPr/>
        </p:nvSpPr>
        <p:spPr>
          <a:xfrm>
            <a:off x="548640" y="4663440"/>
            <a:ext cx="11064240" cy="365760"/>
          </a:xfrm>
          <a:prstGeom prst="rect">
            <a:avLst/>
          </a:prstGeom>
          <a:noFill/>
          <a:ln/>
        </p:spPr>
        <p:txBody>
          <a:bodyPr wrap="square" lIns="0" tIns="0" rIns="0" bIns="0" rtlCol="0" anchor="t"/>
          <a:lstStyle/>
          <a:p>
            <a:pPr indent="0" marL="0">
              <a:buNone/>
            </a:pPr>
            <a:r>
              <a:rPr lang="en-US" sz="1400" dirty="0">
                <a:solidFill>
                  <a:schemeClr val="tx2"/>
                </a:solidFill>
                <a:latin typeface="Courier New" pitchFamily="34" charset="0"/>
                <a:ea typeface="Courier New" pitchFamily="34" charset="-122"/>
                <a:cs typeface="Courier New" pitchFamily="34" charset="-120"/>
              </a:rPr>
              <a:t>Swap only A and B: load_state_dict(adapter, strict=False)</a:t>
            </a:r>
            <a:endParaRPr lang="en-US" sz="1400" dirty="0"/>
          </a:p>
        </p:txBody>
      </p:sp>
      <p:sp>
        <p:nvSpPr>
          <p:cNvPr id="20" name="toy: full model vs one adapter"/>
          <p:cNvSpPr/>
          <p:nvPr/>
        </p:nvSpPr>
        <p:spPr>
          <a:xfrm>
            <a:off x="548640" y="5120640"/>
            <a:ext cx="3474720" cy="1051560"/>
          </a:xfrm>
          <a:prstGeom prst="roundRect">
            <a:avLst>
              <a:gd name="adj" fmla="val 10435"/>
            </a:avLst>
          </a:prstGeom>
          <a:solidFill>
            <a:schemeClr val="bg2"/>
          </a:solidFill>
          <a:ln w="12700">
            <a:solidFill>
              <a:schemeClr val="bg2"/>
            </a:solidFill>
            <a:prstDash val="solid"/>
          </a:ln>
        </p:spPr>
      </p:sp>
      <p:sp>
        <p:nvSpPr>
          <p:cNvPr id="21" name="Text 17"/>
          <p:cNvSpPr txBox="1"/>
          <p:nvPr/>
        </p:nvSpPr>
        <p:spPr>
          <a:xfrm>
            <a:off x="777240" y="5120640"/>
            <a:ext cx="3017520" cy="1051560"/>
          </a:xfrm>
          <a:prstGeom prst="rect">
            <a:avLst/>
          </a:prstGeom>
          <a:noFill/>
          <a:ln/>
        </p:spPr>
        <p:txBody>
          <a:bodyPr wrap="square" lIns="0" tIns="0" rIns="0" bIns="0" rtlCol="0" anchor="ctr"/>
          <a:lstStyle/>
          <a:p>
            <a:pPr indent="0" marL="0">
              <a:buNone/>
            </a:pPr>
            <a:r>
              <a:rPr lang="en-US" sz="1800" b="1" dirty="0">
                <a:solidFill>
                  <a:schemeClr val="tx1"/>
                </a:solidFill>
              </a:rPr>
              <a:t>0.080 MB vs 0.011 MB</a:t>
            </a:r>
            <a:endParaRPr lang="en-US" sz="1400" dirty="0"/>
          </a:p>
          <a:p>
            <a:pPr indent="0" marL="0">
              <a:buNone/>
            </a:pPr>
            <a:r>
              <a:rPr lang="en-US" sz="1400" dirty="0">
                <a:solidFill>
                  <a:schemeClr val="tx2"/>
                </a:solidFill>
              </a:rPr>
              <a:t>toy: full model vs one adapter</a:t>
            </a:r>
            <a:endParaRPr lang="en-US" sz="1400" dirty="0"/>
          </a:p>
        </p:txBody>
      </p:sp>
      <p:sp>
        <p:nvSpPr>
          <p:cNvPr id="22" name="Qwen2.5-0.5B vs its q,v adapter (Section 9)"/>
          <p:cNvSpPr/>
          <p:nvPr/>
        </p:nvSpPr>
        <p:spPr>
          <a:xfrm>
            <a:off x="4297680" y="5120640"/>
            <a:ext cx="3474720" cy="1051560"/>
          </a:xfrm>
          <a:prstGeom prst="roundRect">
            <a:avLst>
              <a:gd name="adj" fmla="val 10435"/>
            </a:avLst>
          </a:prstGeom>
          <a:solidFill>
            <a:schemeClr val="bg2"/>
          </a:solidFill>
          <a:ln w="12700">
            <a:solidFill>
              <a:schemeClr val="bg2"/>
            </a:solidFill>
            <a:prstDash val="solid"/>
          </a:ln>
        </p:spPr>
      </p:sp>
      <p:sp>
        <p:nvSpPr>
          <p:cNvPr id="23" name="Text 19"/>
          <p:cNvSpPr txBox="1"/>
          <p:nvPr/>
        </p:nvSpPr>
        <p:spPr>
          <a:xfrm>
            <a:off x="4526280" y="5120640"/>
            <a:ext cx="3017520" cy="1051560"/>
          </a:xfrm>
          <a:prstGeom prst="rect">
            <a:avLst/>
          </a:prstGeom>
          <a:noFill/>
          <a:ln/>
        </p:spPr>
        <p:txBody>
          <a:bodyPr wrap="square" lIns="0" tIns="0" rIns="0" bIns="0" rtlCol="0" anchor="ctr"/>
          <a:lstStyle/>
          <a:p>
            <a:pPr indent="0" marL="0">
              <a:buNone/>
            </a:pPr>
            <a:r>
              <a:rPr lang="en-US" sz="1800" b="1" dirty="0">
                <a:solidFill>
                  <a:schemeClr val="tx1"/>
                </a:solidFill>
              </a:rPr>
              <a:t>≈1 GB vs 2.18 MB</a:t>
            </a:r>
            <a:endParaRPr lang="en-US" sz="1400" dirty="0"/>
          </a:p>
          <a:p>
            <a:pPr indent="0" marL="0">
              <a:buNone/>
            </a:pPr>
            <a:r>
              <a:rPr lang="en-US" sz="1400" dirty="0">
                <a:solidFill>
                  <a:schemeClr val="tx2"/>
                </a:solidFill>
              </a:rPr>
              <a:t>Qwen2.5-0.5B vs its q,v adapter (Section 9)</a:t>
            </a:r>
            <a:endParaRPr lang="en-US" sz="1400" dirty="0"/>
          </a:p>
        </p:txBody>
      </p:sp>
      <p:sp>
        <p:nvSpPr>
          <p:cNvPr id="24" name="GPT-3 175B checkpoint (Hu et al., 2021)"/>
          <p:cNvSpPr/>
          <p:nvPr/>
        </p:nvSpPr>
        <p:spPr>
          <a:xfrm>
            <a:off x="8046720" y="5120640"/>
            <a:ext cx="3474720" cy="1051560"/>
          </a:xfrm>
          <a:prstGeom prst="roundRect">
            <a:avLst>
              <a:gd name="adj" fmla="val 10435"/>
            </a:avLst>
          </a:prstGeom>
          <a:solidFill>
            <a:schemeClr val="bg2"/>
          </a:solidFill>
          <a:ln w="12700">
            <a:solidFill>
              <a:schemeClr val="bg2"/>
            </a:solidFill>
            <a:prstDash val="solid"/>
          </a:ln>
        </p:spPr>
      </p:sp>
      <p:sp>
        <p:nvSpPr>
          <p:cNvPr id="25" name="Text 21"/>
          <p:cNvSpPr txBox="1"/>
          <p:nvPr/>
        </p:nvSpPr>
        <p:spPr>
          <a:xfrm>
            <a:off x="8275320" y="5120640"/>
            <a:ext cx="3017520" cy="1051560"/>
          </a:xfrm>
          <a:prstGeom prst="rect">
            <a:avLst/>
          </a:prstGeom>
          <a:noFill/>
          <a:ln/>
        </p:spPr>
        <p:txBody>
          <a:bodyPr wrap="square" lIns="0" tIns="0" rIns="0" bIns="0" rtlCol="0" anchor="ctr"/>
          <a:lstStyle/>
          <a:p>
            <a:pPr indent="0" marL="0">
              <a:buNone/>
            </a:pPr>
            <a:r>
              <a:rPr lang="en-US" sz="1800" b="1" dirty="0">
                <a:solidFill>
                  <a:schemeClr val="tx1"/>
                </a:solidFill>
              </a:rPr>
              <a:t>350 GB vs ≈35 MB</a:t>
            </a:r>
            <a:endParaRPr lang="en-US" sz="1400" dirty="0"/>
          </a:p>
          <a:p>
            <a:pPr indent="0" marL="0">
              <a:buNone/>
            </a:pPr>
            <a:r>
              <a:rPr lang="en-US" sz="1400" dirty="0">
                <a:solidFill>
                  <a:schemeClr val="tx2"/>
                </a:solidFill>
              </a:rPr>
              <a:t>GPT-3 175B checkpoint (Hu et al., 2021)</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At real scale: what LoRA trains</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 34</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5486400" cy="914400"/>
        </p:xfrm>
        <a:graphic>
          <a:graphicData uri="http://schemas.openxmlformats.org/drawingml/2006/table">
            <a:tbl>
              <a:tblPr/>
              <a:tblGrid>
                <a:gridCol w="1554480"/>
                <a:gridCol w="1920240"/>
                <a:gridCol w="2011680"/>
              </a:tblGrid>
              <a:tr h="438912">
                <a:tc>
                  <a:txBody>
                    <a:bodyPr/>
                    <a:lstStyle/>
                    <a:p>
                      <a:pPr indent="0" marL="0">
                        <a:buNone/>
                      </a:pPr>
                      <a:r>
                        <a:rPr lang="en-US" sz="1400" b="1" dirty="0">
                          <a:solidFill>
                            <a:schemeClr val="bg1"/>
                          </a:solidFill>
                        </a:rPr>
                        <a:t>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q, v at r = 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all linear at r = 16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tx1"/>
                          </a:solidFill>
                        </a:rPr>
                        <a:t>Qwen2.5-0.5B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540,672 (0.11%)</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8,798,208 (1.78%)</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Qwen2.5-1.5B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1,089,536 (0.07%)</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18,464,768 (1.20%)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Qwen2.5-7B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2,523,136 (0.03%)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40,370,176 (0.53%)</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3291840"/>
            <a:ext cx="5486400" cy="365760"/>
          </a:xfrm>
          <a:prstGeom prst="rect">
            <a:avLst/>
          </a:prstGeom>
          <a:noFill/>
          <a:ln/>
        </p:spPr>
        <p:txBody>
          <a:bodyPr wrap="square" lIns="0" tIns="0" rIns="0" bIns="0" rtlCol="0" anchor="t"/>
          <a:lstStyle/>
          <a:p>
            <a:pPr indent="0" marL="0">
              <a:buNone/>
            </a:pPr>
            <a:r>
              <a:rPr lang="en-US" sz="1700" b="1" dirty="0">
                <a:solidFill>
                  <a:schemeClr val="tx1"/>
                </a:solidFill>
              </a:rPr>
              <a:t>Memory with LoRA</a:t>
            </a:r>
            <a:endParaRPr lang="en-US" sz="1700" dirty="0"/>
          </a:p>
        </p:txBody>
      </p:sp>
      <p:sp>
        <p:nvSpPr>
          <p:cNvPr id="8" name="frozen frozen: 2 B"/>
          <p:cNvSpPr/>
          <p:nvPr/>
        </p:nvSpPr>
        <p:spPr>
          <a:xfrm>
            <a:off x="548640" y="3749040"/>
            <a:ext cx="1828800" cy="685800"/>
          </a:xfrm>
          <a:prstGeom prst="rect">
            <a:avLst/>
          </a:prstGeom>
          <a:solidFill>
            <a:schemeClr val="bg2"/>
          </a:solidFill>
          <a:ln w="15875">
            <a:solidFill>
              <a:schemeClr val="tx2"/>
            </a:solidFill>
            <a:prstDash val="solid"/>
          </a:ln>
        </p:spPr>
      </p:sp>
      <p:sp>
        <p:nvSpPr>
          <p:cNvPr id="9" name="Text 5"/>
          <p:cNvSpPr txBox="1"/>
          <p:nvPr/>
        </p:nvSpPr>
        <p:spPr>
          <a:xfrm>
            <a:off x="548640" y="3749040"/>
            <a:ext cx="1828800" cy="685800"/>
          </a:xfrm>
          <a:prstGeom prst="rect">
            <a:avLst/>
          </a:prstGeom>
          <a:noFill/>
          <a:ln/>
        </p:spPr>
        <p:txBody>
          <a:bodyPr wrap="square" lIns="0" tIns="0" rIns="0" bIns="0" rtlCol="0" anchor="ctr"/>
          <a:lstStyle/>
          <a:p>
            <a:pPr algn="ctr" indent="0" marL="0">
              <a:buNone/>
            </a:pPr>
            <a:r>
              <a:rPr lang="en-US" sz="1500" dirty="0">
                <a:solidFill>
                  <a:schemeClr val="tx1"/>
                </a:solidFill>
              </a:rPr>
              <a:t>frozen: 2 B</a:t>
            </a:r>
            <a:endParaRPr lang="en-US" sz="1500" dirty="0"/>
          </a:p>
        </p:txBody>
      </p:sp>
      <p:sp>
        <p:nvSpPr>
          <p:cNvPr id="10" name="Text 6"/>
          <p:cNvSpPr txBox="1"/>
          <p:nvPr/>
        </p:nvSpPr>
        <p:spPr>
          <a:xfrm>
            <a:off x="2560320" y="3749040"/>
            <a:ext cx="3474720" cy="685800"/>
          </a:xfrm>
          <a:prstGeom prst="rect">
            <a:avLst/>
          </a:prstGeom>
          <a:noFill/>
          <a:ln/>
        </p:spPr>
        <p:txBody>
          <a:bodyPr wrap="square" lIns="0" tIns="0" rIns="0" bIns="0" rtlCol="0" anchor="ctr"/>
          <a:lstStyle/>
          <a:p>
            <a:pPr indent="0" marL="0">
              <a:buNone/>
            </a:pPr>
            <a:r>
              <a:rPr lang="en-US" sz="1500" dirty="0">
                <a:solidFill>
                  <a:schemeClr val="tx1"/>
                </a:solidFill>
              </a:rPr>
              <a:t>per base parameter: the 16-bit weight only</a:t>
            </a:r>
            <a:endParaRPr lang="en-US" sz="1500" dirty="0"/>
          </a:p>
        </p:txBody>
      </p:sp>
      <p:sp>
        <p:nvSpPr>
          <p:cNvPr id="11" name="trainable adapter: 16 B"/>
          <p:cNvSpPr/>
          <p:nvPr/>
        </p:nvSpPr>
        <p:spPr>
          <a:xfrm>
            <a:off x="548640" y="4572000"/>
            <a:ext cx="1828800" cy="685800"/>
          </a:xfrm>
          <a:prstGeom prst="rect">
            <a:avLst/>
          </a:prstGeom>
          <a:solidFill>
            <a:schemeClr val="accent6"/>
          </a:solidFill>
          <a:ln w="15875">
            <a:solidFill>
              <a:schemeClr val="accent4"/>
            </a:solidFill>
            <a:prstDash val="solid"/>
          </a:ln>
        </p:spPr>
      </p:sp>
      <p:sp>
        <p:nvSpPr>
          <p:cNvPr id="12" name="Text 8"/>
          <p:cNvSpPr txBox="1"/>
          <p:nvPr/>
        </p:nvSpPr>
        <p:spPr>
          <a:xfrm>
            <a:off x="548640" y="4572000"/>
            <a:ext cx="1828800" cy="685800"/>
          </a:xfrm>
          <a:prstGeom prst="rect">
            <a:avLst/>
          </a:prstGeom>
          <a:noFill/>
          <a:ln/>
        </p:spPr>
        <p:txBody>
          <a:bodyPr wrap="square" lIns="0" tIns="0" rIns="0" bIns="0" rtlCol="0" anchor="ctr"/>
          <a:lstStyle/>
          <a:p>
            <a:pPr algn="ctr" indent="0" marL="0">
              <a:buNone/>
            </a:pPr>
            <a:r>
              <a:rPr lang="en-US" sz="1500" dirty="0">
                <a:solidFill>
                  <a:schemeClr val="tx1"/>
                </a:solidFill>
              </a:rPr>
              <a:t>adapter: 16 B</a:t>
            </a:r>
            <a:endParaRPr lang="en-US" sz="1500" dirty="0"/>
          </a:p>
        </p:txBody>
      </p:sp>
      <p:sp>
        <p:nvSpPr>
          <p:cNvPr id="13" name="Text 9"/>
          <p:cNvSpPr txBox="1"/>
          <p:nvPr/>
        </p:nvSpPr>
        <p:spPr>
          <a:xfrm>
            <a:off x="2560320" y="4572000"/>
            <a:ext cx="3474720" cy="685800"/>
          </a:xfrm>
          <a:prstGeom prst="rect">
            <a:avLst/>
          </a:prstGeom>
          <a:noFill/>
          <a:ln/>
        </p:spPr>
        <p:txBody>
          <a:bodyPr wrap="square" lIns="0" tIns="0" rIns="0" bIns="0" rtlCol="0" anchor="ctr"/>
          <a:lstStyle/>
          <a:p>
            <a:pPr indent="0" marL="0">
              <a:buNone/>
            </a:pPr>
            <a:r>
              <a:rPr lang="en-US" sz="1500" dirty="0">
                <a:solidFill>
                  <a:schemeClr val="tx1"/>
                </a:solidFill>
              </a:rPr>
              <a:t>per adapter parameter: weight, gradient and Adam state</a:t>
            </a:r>
            <a:endParaRPr lang="en-US" sz="1500" dirty="0"/>
          </a:p>
        </p:txBody>
      </p:sp>
      <p:sp>
        <p:nvSpPr>
          <p:cNvPr id="14" name="Text 10"/>
          <p:cNvSpPr txBox="1"/>
          <p:nvPr/>
        </p:nvSpPr>
        <p:spPr>
          <a:xfrm>
            <a:off x="548640" y="5486400"/>
            <a:ext cx="5486400" cy="365760"/>
          </a:xfrm>
          <a:prstGeom prst="rect">
            <a:avLst/>
          </a:prstGeom>
          <a:noFill/>
          <a:ln/>
        </p:spPr>
        <p:txBody>
          <a:bodyPr wrap="square" lIns="0" tIns="0" rIns="0" bIns="0" rtlCol="0" anchor="t"/>
          <a:lstStyle/>
          <a:p>
            <a:pPr indent="0" marL="0">
              <a:buNone/>
            </a:pPr>
            <a:r>
              <a:rPr lang="en-US" sz="1400" dirty="0">
                <a:solidFill>
                  <a:schemeClr val="tx2"/>
                </a:solidFill>
              </a:rPr>
              <a:t>Activations come on top of both bars.</a:t>
            </a:r>
            <a:endParaRPr lang="en-US" sz="1400" dirty="0"/>
          </a:p>
        </p:txBody>
      </p:sp>
      <p:graphicFrame>
        <p:nvGraphicFramePr>
          <p:cNvPr id="15" name="Chart 0" descr=""/>
          <p:cNvGraphicFramePr/>
          <p:nvPr/>
        </p:nvGraphicFramePr>
        <p:xfrm>
          <a:off x="6309360" y="1234440"/>
          <a:ext cx="5303520" cy="49377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LoRA saves, and what it does not</a:t>
            </a:r>
            <a:endParaRPr lang="en-US" sz="3200" dirty="0"/>
          </a:p>
        </p:txBody>
      </p:sp>
      <p:sp>
        <p:nvSpPr>
          <p:cNvPr id="4" name="Text 1"/>
          <p:cNvSpPr txBox="1"/>
          <p:nvPr/>
        </p:nvSpPr>
        <p:spPr>
          <a:xfrm>
            <a:off x="548640" y="1234440"/>
            <a:ext cx="539496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Saved</a:t>
            </a:r>
            <a:endParaRPr lang="en-US" sz="2000" dirty="0"/>
          </a:p>
        </p:txBody>
      </p:sp>
      <p:sp>
        <p:nvSpPr>
          <p:cNvPr id="5" name="saved memory"/>
          <p:cNvSpPr/>
          <p:nvPr/>
        </p:nvSpPr>
        <p:spPr>
          <a:xfrm>
            <a:off x="548640" y="1691640"/>
            <a:ext cx="5394960" cy="1828800"/>
          </a:xfrm>
          <a:prstGeom prst="roundRect">
            <a:avLst>
              <a:gd name="adj" fmla="val 6000"/>
            </a:avLst>
          </a:prstGeom>
          <a:solidFill>
            <a:schemeClr val="bg2"/>
          </a:solidFill>
          <a:ln w="12700">
            <a:solidFill>
              <a:schemeClr val="bg2"/>
            </a:solidFill>
            <a:prstDash val="solid"/>
          </a:ln>
        </p:spPr>
      </p:sp>
      <p:sp>
        <p:nvSpPr>
          <p:cNvPr id="6" name="Text 3"/>
          <p:cNvSpPr txBox="1"/>
          <p:nvPr/>
        </p:nvSpPr>
        <p:spPr>
          <a:xfrm>
            <a:off x="777240" y="1691640"/>
            <a:ext cx="4937760" cy="1828800"/>
          </a:xfrm>
          <a:prstGeom prst="rect">
            <a:avLst/>
          </a:prstGeom>
          <a:noFill/>
          <a:ln/>
        </p:spPr>
        <p:txBody>
          <a:bodyPr wrap="square" lIns="0" tIns="0" rIns="0" bIns="0" rtlCol="0" anchor="ctr"/>
          <a:lstStyle/>
          <a:p>
            <a:pPr indent="0" marL="0">
              <a:buNone/>
            </a:pPr>
            <a:r>
              <a:rPr lang="en-US" sz="1500" b="1" dirty="0">
                <a:solidFill>
                  <a:schemeClr val="tx1"/>
                </a:solidFill>
              </a:rPr>
              <a:t>Training state of frozen weights</a:t>
            </a:r>
            <a:endParaRPr lang="en-US" sz="1500" dirty="0"/>
          </a:p>
          <a:p>
            <a:pPr indent="0" marL="0">
              <a:buNone/>
            </a:pPr>
            <a:r>
              <a:rPr lang="en-US" sz="1500" dirty="0">
                <a:solidFill>
                  <a:schemeClr val="tx1"/>
                </a:solidFill>
              </a:rPr>
              <a:t>No gradients, fp32 master copies or Adam moments: 14 of the 16 bytes per frozen parameter.</a:t>
            </a:r>
            <a:endParaRPr lang="en-US" sz="1500" dirty="0"/>
          </a:p>
        </p:txBody>
      </p:sp>
      <p:sp>
        <p:nvSpPr>
          <p:cNvPr id="7" name="saved storage"/>
          <p:cNvSpPr/>
          <p:nvPr/>
        </p:nvSpPr>
        <p:spPr>
          <a:xfrm>
            <a:off x="548640" y="3703320"/>
            <a:ext cx="5394960" cy="2468880"/>
          </a:xfrm>
          <a:prstGeom prst="roundRect">
            <a:avLst>
              <a:gd name="adj" fmla="val 4444"/>
            </a:avLst>
          </a:prstGeom>
          <a:solidFill>
            <a:schemeClr val="bg2"/>
          </a:solidFill>
          <a:ln w="12700">
            <a:solidFill>
              <a:schemeClr val="bg2"/>
            </a:solidFill>
            <a:prstDash val="solid"/>
          </a:ln>
        </p:spPr>
      </p:sp>
      <p:sp>
        <p:nvSpPr>
          <p:cNvPr id="8" name="Text 5"/>
          <p:cNvSpPr txBox="1"/>
          <p:nvPr/>
        </p:nvSpPr>
        <p:spPr>
          <a:xfrm>
            <a:off x="777240" y="3794760"/>
            <a:ext cx="4937760" cy="731520"/>
          </a:xfrm>
          <a:prstGeom prst="rect">
            <a:avLst/>
          </a:prstGeom>
          <a:noFill/>
          <a:ln/>
        </p:spPr>
        <p:txBody>
          <a:bodyPr wrap="square" lIns="0" tIns="0" rIns="0" bIns="0" rtlCol="0" anchor="t"/>
          <a:lstStyle/>
          <a:p>
            <a:pPr indent="0" marL="0">
              <a:buNone/>
            </a:pPr>
            <a:r>
              <a:rPr lang="en-US" sz="1500" b="1" dirty="0">
                <a:solidFill>
                  <a:schemeClr val="tx1"/>
                </a:solidFill>
              </a:rPr>
              <a:t>Storage per task</a:t>
            </a:r>
            <a:endParaRPr lang="en-US" sz="1500" dirty="0"/>
          </a:p>
          <a:p>
            <a:pPr indent="0" marL="0">
              <a:buNone/>
            </a:pPr>
            <a:r>
              <a:rPr lang="en-US" sz="1500" dirty="0">
                <a:solidFill>
                  <a:schemeClr val="tx1"/>
                </a:solidFill>
              </a:rPr>
              <a:t>Ten task-specific 7B models:</a:t>
            </a:r>
            <a:endParaRPr lang="en-US" sz="1500" dirty="0"/>
          </a:p>
        </p:txBody>
      </p:sp>
      <p:sp>
        <p:nvSpPr>
          <p:cNvPr id="9" name="Text 6"/>
          <p:cNvSpPr txBox="1"/>
          <p:nvPr/>
        </p:nvSpPr>
        <p:spPr>
          <a:xfrm>
            <a:off x="777240" y="4526280"/>
            <a:ext cx="4937760" cy="1508760"/>
          </a:xfrm>
          <a:prstGeom prst="rect">
            <a:avLst/>
          </a:prstGeom>
          <a:noFill/>
          <a:ln/>
        </p:spPr>
        <p:txBody>
          <a:bodyPr wrap="square" lIns="0" tIns="0" rIns="0" bIns="0" rtlCol="0" anchor="ctr"/>
          <a:lstStyle/>
          <a:p>
            <a:pPr indent="0" marL="0">
              <a:buNone/>
            </a:pPr>
            <a:r>
              <a:rPr lang="en-US" sz="2600" b="1" dirty="0">
                <a:solidFill>
                  <a:schemeClr val="accent3"/>
                </a:solidFill>
                <a:latin typeface="Cambria" pitchFamily="34" charset="0"/>
                <a:ea typeface="Cambria" pitchFamily="34" charset="-122"/>
                <a:cs typeface="Cambria" pitchFamily="34" charset="-120"/>
              </a:rPr>
              <a:t>152 GB</a:t>
            </a:r>
            <a:r>
              <a:rPr lang="en-US" sz="1500" dirty="0">
                <a:solidFill>
                  <a:schemeClr val="tx1"/>
                </a:solidFill>
                <a:latin typeface="Cambria" pitchFamily="34" charset="0"/>
                <a:ea typeface="Cambria" pitchFamily="34" charset="-122"/>
                <a:cs typeface="Cambria" pitchFamily="34" charset="-120"/>
              </a:rPr>
              <a:t>  as full copies</a:t>
            </a:r>
            <a:endParaRPr lang="en-US" sz="1500" dirty="0"/>
          </a:p>
          <a:p>
            <a:pPr indent="0" marL="0">
              <a:buNone/>
            </a:pPr>
            <a:r>
              <a:rPr lang="en-US" sz="2600" b="1" dirty="0">
                <a:solidFill>
                  <a:schemeClr val="accent1"/>
                </a:solidFill>
                <a:latin typeface="Cambria" pitchFamily="34" charset="0"/>
                <a:ea typeface="Cambria" pitchFamily="34" charset="-122"/>
                <a:cs typeface="Cambria" pitchFamily="34" charset="-120"/>
              </a:rPr>
              <a:t>15.2 GB + 10 × 81 MB</a:t>
            </a:r>
            <a:r>
              <a:rPr lang="en-US" sz="1500" dirty="0">
                <a:solidFill>
                  <a:schemeClr val="tx1"/>
                </a:solidFill>
                <a:latin typeface="Cambria" pitchFamily="34" charset="0"/>
                <a:ea typeface="Cambria" pitchFamily="34" charset="-122"/>
                <a:cs typeface="Cambria" pitchFamily="34" charset="-120"/>
              </a:rPr>
              <a:t>  base + adapters</a:t>
            </a:r>
            <a:endParaRPr lang="en-US" sz="1500" dirty="0"/>
          </a:p>
        </p:txBody>
      </p:sp>
      <p:sp>
        <p:nvSpPr>
          <p:cNvPr id="10" name="Text 7"/>
          <p:cNvSpPr txBox="1"/>
          <p:nvPr/>
        </p:nvSpPr>
        <p:spPr>
          <a:xfrm>
            <a:off x="6263640" y="1234440"/>
            <a:ext cx="5349240" cy="41148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Not saved</a:t>
            </a:r>
            <a:endParaRPr lang="en-US" sz="2000" dirty="0"/>
          </a:p>
        </p:txBody>
      </p:sp>
      <p:sp>
        <p:nvSpPr>
          <p:cNvPr id="11" name="frozen weights"/>
          <p:cNvSpPr/>
          <p:nvPr/>
        </p:nvSpPr>
        <p:spPr>
          <a:xfrm>
            <a:off x="6263640" y="1691640"/>
            <a:ext cx="5349240" cy="1828800"/>
          </a:xfrm>
          <a:prstGeom prst="roundRect">
            <a:avLst>
              <a:gd name="adj" fmla="val 6000"/>
            </a:avLst>
          </a:prstGeom>
          <a:solidFill>
            <a:schemeClr val="accent6"/>
          </a:solidFill>
          <a:ln w="12700">
            <a:solidFill>
              <a:schemeClr val="accent6"/>
            </a:solidFill>
            <a:prstDash val="solid"/>
          </a:ln>
        </p:spPr>
      </p:sp>
      <p:sp>
        <p:nvSpPr>
          <p:cNvPr id="12" name="Text 9"/>
          <p:cNvSpPr txBox="1"/>
          <p:nvPr/>
        </p:nvSpPr>
        <p:spPr>
          <a:xfrm>
            <a:off x="6492240" y="1691640"/>
            <a:ext cx="4892040" cy="1828800"/>
          </a:xfrm>
          <a:prstGeom prst="rect">
            <a:avLst/>
          </a:prstGeom>
          <a:noFill/>
          <a:ln/>
        </p:spPr>
        <p:txBody>
          <a:bodyPr wrap="square" lIns="0" tIns="0" rIns="0" bIns="0" rtlCol="0" anchor="ctr"/>
          <a:lstStyle/>
          <a:p>
            <a:pPr indent="0" marL="0">
              <a:buNone/>
            </a:pPr>
            <a:r>
              <a:rPr lang="en-US" sz="1500" b="1" dirty="0">
                <a:solidFill>
                  <a:schemeClr val="tx1"/>
                </a:solidFill>
              </a:rPr>
              <a:t>The frozen weights</a:t>
            </a:r>
            <a:endParaRPr lang="en-US" sz="1500" dirty="0"/>
          </a:p>
          <a:p>
            <a:pPr indent="0" marL="0">
              <a:buNone/>
            </a:pPr>
            <a:r>
              <a:rPr lang="en-US" sz="1500" dirty="0">
                <a:solidFill>
                  <a:schemeClr val="tx1"/>
                </a:solidFill>
              </a:rPr>
              <a:t>Still 2 bytes each. Qwen2.5-7B: about 15 GB, leaving almost nothing of a 16 GB T4 for activations.</a:t>
            </a:r>
            <a:endParaRPr lang="en-US" sz="1500" dirty="0"/>
          </a:p>
        </p:txBody>
      </p:sp>
      <p:sp>
        <p:nvSpPr>
          <p:cNvPr id="13" name="activations"/>
          <p:cNvSpPr/>
          <p:nvPr/>
        </p:nvSpPr>
        <p:spPr>
          <a:xfrm>
            <a:off x="6263640" y="3703320"/>
            <a:ext cx="5349240" cy="1325880"/>
          </a:xfrm>
          <a:prstGeom prst="roundRect">
            <a:avLst>
              <a:gd name="adj" fmla="val 8276"/>
            </a:avLst>
          </a:prstGeom>
          <a:solidFill>
            <a:schemeClr val="accent6"/>
          </a:solidFill>
          <a:ln w="12700">
            <a:solidFill>
              <a:schemeClr val="accent6"/>
            </a:solidFill>
            <a:prstDash val="solid"/>
          </a:ln>
        </p:spPr>
      </p:sp>
      <p:sp>
        <p:nvSpPr>
          <p:cNvPr id="14" name="Text 11"/>
          <p:cNvSpPr txBox="1"/>
          <p:nvPr/>
        </p:nvSpPr>
        <p:spPr>
          <a:xfrm>
            <a:off x="6492240" y="3703320"/>
            <a:ext cx="4892040" cy="1325880"/>
          </a:xfrm>
          <a:prstGeom prst="rect">
            <a:avLst/>
          </a:prstGeom>
          <a:noFill/>
          <a:ln/>
        </p:spPr>
        <p:txBody>
          <a:bodyPr wrap="square" lIns="0" tIns="0" rIns="0" bIns="0" rtlCol="0" anchor="ctr"/>
          <a:lstStyle/>
          <a:p>
            <a:pPr indent="0" marL="0">
              <a:buNone/>
            </a:pPr>
            <a:r>
              <a:rPr lang="en-US" sz="1500" b="1" dirty="0">
                <a:solidFill>
                  <a:schemeClr val="tx1"/>
                </a:solidFill>
              </a:rPr>
              <a:t>Activations, mostly</a:t>
            </a:r>
            <a:endParaRPr lang="en-US" sz="1500" dirty="0"/>
          </a:p>
          <a:p>
            <a:pPr indent="0" marL="0">
              <a:buNone/>
            </a:pPr>
            <a:r>
              <a:rPr lang="en-US" sz="1500" dirty="0">
                <a:solidFill>
                  <a:schemeClr val="tx1"/>
                </a:solidFill>
              </a:rPr>
              <a:t>The backward pass still runs through every layer. Remedy: gradient checkpointing.</a:t>
            </a:r>
            <a:endParaRPr lang="en-US" sz="1500" dirty="0"/>
          </a:p>
        </p:txBody>
      </p:sp>
      <p:sp>
        <p:nvSpPr>
          <p:cNvPr id="15" name="next"/>
          <p:cNvSpPr/>
          <p:nvPr/>
        </p:nvSpPr>
        <p:spPr>
          <a:xfrm>
            <a:off x="6263640" y="5212080"/>
            <a:ext cx="5349240" cy="960120"/>
          </a:xfrm>
          <a:prstGeom prst="roundRect">
            <a:avLst>
              <a:gd name="adj" fmla="val 11429"/>
            </a:avLst>
          </a:prstGeom>
          <a:solidFill>
            <a:schemeClr val="tx1"/>
          </a:solidFill>
          <a:ln w="12700">
            <a:solidFill>
              <a:schemeClr val="tx1"/>
            </a:solidFill>
            <a:prstDash val="solid"/>
          </a:ln>
        </p:spPr>
      </p:sp>
      <p:sp>
        <p:nvSpPr>
          <p:cNvPr id="16" name="Text 13"/>
          <p:cNvSpPr txBox="1"/>
          <p:nvPr/>
        </p:nvSpPr>
        <p:spPr>
          <a:xfrm>
            <a:off x="6492240" y="5212080"/>
            <a:ext cx="4892040" cy="960120"/>
          </a:xfrm>
          <a:prstGeom prst="rect">
            <a:avLst/>
          </a:prstGeom>
          <a:noFill/>
          <a:ln/>
        </p:spPr>
        <p:txBody>
          <a:bodyPr wrap="square" lIns="0" tIns="0" rIns="0" bIns="0" rtlCol="0" anchor="ctr"/>
          <a:lstStyle/>
          <a:p>
            <a:pPr indent="0" marL="0">
              <a:buNone/>
            </a:pPr>
            <a:r>
              <a:rPr lang="en-US" sz="1500" b="1" dirty="0">
                <a:solidFill>
                  <a:schemeClr val="accent2"/>
                </a:solidFill>
              </a:rPr>
              <a:t>Next lecture: </a:t>
            </a:r>
            <a:r>
              <a:rPr lang="en-US" sz="1500" dirty="0">
                <a:solidFill>
                  <a:schemeClr val="bg1"/>
                </a:solidFill>
              </a:rPr>
              <a:t>shrink the frozen weights themselves. Quantization + LoRA = QLoRA.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same thing with Hugging Face peft</a:t>
            </a:r>
            <a:endParaRPr lang="en-US" sz="3200" dirty="0"/>
          </a:p>
        </p:txBody>
      </p:sp>
      <p:sp>
        <p:nvSpPr>
          <p:cNvPr id="4" name="demo tag"/>
          <p:cNvSpPr/>
          <p:nvPr/>
        </p:nvSpPr>
        <p:spPr>
          <a:xfrm>
            <a:off x="8732520" y="411480"/>
            <a:ext cx="2880360" cy="457200"/>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8732520" y="411480"/>
            <a:ext cx="2880360" cy="457200"/>
          </a:xfrm>
          <a:prstGeom prst="rect">
            <a:avLst/>
          </a:prstGeom>
          <a:noFill/>
          <a:ln/>
        </p:spPr>
        <p:txBody>
          <a:bodyPr wrap="square" lIns="0" tIns="0" rIns="0" bIns="0" rtlCol="0" anchor="ctr"/>
          <a:lstStyle/>
          <a:p>
            <a:pPr algn="ctr" indent="0" marL="0">
              <a:buNone/>
            </a:pPr>
            <a:r>
              <a:rPr lang="en-US" sz="1400" b="1" dirty="0">
                <a:solidFill>
                  <a:schemeClr val="tx1"/>
                </a:solidFill>
              </a:rPr>
              <a:t>LIVE DEMO  </a:t>
            </a:r>
            <a:r>
              <a:rPr lang="en-US" sz="1400" dirty="0">
                <a:solidFill>
                  <a:schemeClr val="tx1"/>
                </a:solidFill>
              </a:rPr>
              <a:t>cells 38–42</a:t>
            </a:r>
            <a:endParaRPr lang="en-US" sz="1400" dirty="0"/>
          </a:p>
        </p:txBody>
      </p:sp>
      <p:sp>
        <p:nvSpPr>
          <p:cNvPr id="6" name="code"/>
          <p:cNvSpPr/>
          <p:nvPr/>
        </p:nvSpPr>
        <p:spPr>
          <a:xfrm>
            <a:off x="548640" y="1234440"/>
            <a:ext cx="6400800" cy="2743200"/>
          </a:xfrm>
          <a:prstGeom prst="roundRect">
            <a:avLst>
              <a:gd name="adj" fmla="val 4000"/>
            </a:avLst>
          </a:prstGeom>
          <a:solidFill>
            <a:schemeClr val="bg2"/>
          </a:solidFill>
          <a:ln w="12700">
            <a:solidFill>
              <a:schemeClr val="bg2"/>
            </a:solidFill>
            <a:prstDash val="solid"/>
          </a:ln>
        </p:spPr>
      </p:sp>
      <p:sp>
        <p:nvSpPr>
          <p:cNvPr id="7" name="Text 4"/>
          <p:cNvSpPr txBox="1"/>
          <p:nvPr/>
        </p:nvSpPr>
        <p:spPr>
          <a:xfrm>
            <a:off x="731520" y="1325880"/>
            <a:ext cx="6126480" cy="2560320"/>
          </a:xfrm>
          <a:prstGeom prst="rect">
            <a:avLst/>
          </a:prstGeom>
          <a:noFill/>
          <a:ln/>
        </p:spPr>
        <p:txBody>
          <a:bodyPr wrap="square" lIns="0" tIns="0" rIns="0" bIns="0" rtlCol="0" anchor="ctr"/>
          <a:lstStyle/>
          <a:p>
            <a:pPr indent="0" marL="0">
              <a:buNone/>
            </a:pPr>
            <a:r>
              <a:rPr lang="en-US" sz="1300" dirty="0">
                <a:solidFill>
                  <a:schemeClr val="tx1"/>
                </a:solidFill>
                <a:latin typeface="Courier New" pitchFamily="34" charset="0"/>
                <a:ea typeface="Courier New" pitchFamily="34" charset="-122"/>
                <a:cs typeface="Courier New" pitchFamily="34" charset="-120"/>
              </a:rPr>
              <a:t>config = LoraConfig(r=8, lora_alpha=16, lora_dropout=0.05,</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target_modules=["q_proj", "v_proj"],</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task_type="CAUSAL_LM")</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peft_model = get_peft_model(qwen, config)   # freeze + wrap</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peft_model.print_trainable_parameters()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peft_model.save_pretrained(out_dir)         # adapter only</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merged = peft_model.merge_and_unload()      # W0 + (α/r)BA</a:t>
            </a:r>
            <a:endParaRPr lang="en-US" sz="1300" dirty="0"/>
          </a:p>
        </p:txBody>
      </p:sp>
      <p:sp>
        <p:nvSpPr>
          <p:cNvPr id="8" name="Text 5"/>
          <p:cNvSpPr txBox="1"/>
          <p:nvPr/>
        </p:nvSpPr>
        <p:spPr>
          <a:xfrm>
            <a:off x="548640" y="4114800"/>
            <a:ext cx="6400800" cy="640080"/>
          </a:xfrm>
          <a:prstGeom prst="rect">
            <a:avLst/>
          </a:prstGeom>
          <a:noFill/>
          <a:ln/>
        </p:spPr>
        <p:txBody>
          <a:bodyPr wrap="square" lIns="0" tIns="0" rIns="0" bIns="0" rtlCol="0" anchor="t"/>
          <a:lstStyle/>
          <a:p>
            <a:pPr indent="0" marL="0">
              <a:buNone/>
            </a:pPr>
            <a:r>
              <a:rPr lang="en-US" sz="1400" dirty="0">
                <a:solidFill>
                  <a:schemeClr val="tx2"/>
                </a:solidFill>
              </a:rPr>
              <a:t>Qwen2.5-0.5B-Instruct in fp16 on a Kaggle T4. Nothing is trained: the cells repeat the from-scratch checks.</a:t>
            </a:r>
            <a:endParaRPr lang="en-US" sz="1400" dirty="0"/>
          </a:p>
        </p:txBody>
      </p:sp>
      <p:sp>
        <p:nvSpPr>
          <p:cNvPr id="9" name="torchao"/>
          <p:cNvSpPr/>
          <p:nvPr/>
        </p:nvSpPr>
        <p:spPr>
          <a:xfrm>
            <a:off x="548640" y="4846320"/>
            <a:ext cx="6400800" cy="1325880"/>
          </a:xfrm>
          <a:prstGeom prst="roundRect">
            <a:avLst>
              <a:gd name="adj" fmla="val 8276"/>
            </a:avLst>
          </a:prstGeom>
          <a:solidFill>
            <a:schemeClr val="accent6"/>
          </a:solidFill>
          <a:ln w="12700">
            <a:solidFill>
              <a:schemeClr val="accent6"/>
            </a:solidFill>
            <a:prstDash val="solid"/>
          </a:ln>
        </p:spPr>
      </p:sp>
      <p:sp>
        <p:nvSpPr>
          <p:cNvPr id="10" name="Text 7"/>
          <p:cNvSpPr txBox="1"/>
          <p:nvPr/>
        </p:nvSpPr>
        <p:spPr>
          <a:xfrm>
            <a:off x="777240" y="4846320"/>
            <a:ext cx="6035040" cy="1325880"/>
          </a:xfrm>
          <a:prstGeom prst="rect">
            <a:avLst/>
          </a:prstGeom>
          <a:noFill/>
          <a:ln/>
        </p:spPr>
        <p:txBody>
          <a:bodyPr wrap="square" lIns="0" tIns="0" rIns="0" bIns="0" rtlCol="0" anchor="ctr"/>
          <a:lstStyle/>
          <a:p>
            <a:pPr indent="0" marL="0">
              <a:buNone/>
            </a:pPr>
            <a:r>
              <a:rPr lang="en-US" sz="1400" b="1" dirty="0">
                <a:solidFill>
                  <a:schemeClr val="accent3"/>
                </a:solidFill>
              </a:rPr>
              <a:t>Kaggle pitfall: </a:t>
            </a:r>
            <a:r>
              <a:rPr lang="en-US" sz="1200" dirty="0">
                <a:solidFill>
                  <a:schemeClr val="tx1"/>
                </a:solidFill>
                <a:latin typeface="Courier New" pitchFamily="34" charset="0"/>
                <a:ea typeface="Courier New" pitchFamily="34" charset="-122"/>
                <a:cs typeface="Courier New" pitchFamily="34" charset="-120"/>
              </a:rPr>
              <a:t>ImportError: Found an incompatible version of torchao</a:t>
            </a:r>
            <a:endParaRPr lang="en-US" sz="1400" dirty="0"/>
          </a:p>
          <a:p>
            <a:pPr indent="0" marL="0">
              <a:buNone/>
            </a:pPr>
            <a:r>
              <a:rPr lang="en-US" sz="1400" dirty="0">
                <a:solidFill>
                  <a:schemeClr val="tx1"/>
                </a:solidFill>
              </a:rPr>
              <a:t>Fix: </a:t>
            </a:r>
            <a:r>
              <a:rPr lang="en-US" sz="1300" dirty="0">
                <a:solidFill>
                  <a:schemeClr val="tx1"/>
                </a:solidFill>
                <a:latin typeface="Courier New" pitchFamily="34" charset="0"/>
                <a:ea typeface="Courier New" pitchFamily="34" charset="-122"/>
                <a:cs typeface="Courier New" pitchFamily="34" charset="-120"/>
              </a:rPr>
              <a:t>%pip uninstall -y torchao</a:t>
            </a:r>
            <a:r>
              <a:rPr lang="en-US" sz="1400" dirty="0">
                <a:solidFill>
                  <a:schemeClr val="tx1"/>
                </a:solidFill>
              </a:rPr>
              <a:t>, restart the kernel, rerun.</a:t>
            </a:r>
            <a:endParaRPr lang="en-US" sz="1400" dirty="0"/>
          </a:p>
        </p:txBody>
      </p:sp>
      <p:sp>
        <p:nvSpPr>
          <p:cNvPr id="11" name="trainable: exactly our formula (0.1093%)"/>
          <p:cNvSpPr/>
          <p:nvPr/>
        </p:nvSpPr>
        <p:spPr>
          <a:xfrm>
            <a:off x="7223760" y="1234440"/>
            <a:ext cx="2103120" cy="1691640"/>
          </a:xfrm>
          <a:prstGeom prst="roundRect">
            <a:avLst>
              <a:gd name="adj" fmla="val 6486"/>
            </a:avLst>
          </a:prstGeom>
          <a:solidFill>
            <a:schemeClr val="bg2"/>
          </a:solidFill>
          <a:ln w="12700">
            <a:solidFill>
              <a:schemeClr val="bg2"/>
            </a:solidFill>
            <a:prstDash val="solid"/>
          </a:ln>
        </p:spPr>
      </p:sp>
      <p:sp>
        <p:nvSpPr>
          <p:cNvPr id="12" name="Text 9"/>
          <p:cNvSpPr txBox="1"/>
          <p:nvPr/>
        </p:nvSpPr>
        <p:spPr>
          <a:xfrm>
            <a:off x="7452360" y="1344168"/>
            <a:ext cx="1645920" cy="640080"/>
          </a:xfrm>
          <a:prstGeom prst="rect">
            <a:avLst/>
          </a:prstGeom>
          <a:noFill/>
          <a:ln/>
        </p:spPr>
        <p:txBody>
          <a:bodyPr wrap="square" lIns="0" tIns="0" rIns="0" bIns="0" rtlCol="0" anchor="b"/>
          <a:lstStyle/>
          <a:p>
            <a:pPr indent="0" marL="0">
              <a:buNone/>
            </a:pPr>
            <a:r>
              <a:rPr lang="en-US" sz="2600" b="1" dirty="0">
                <a:solidFill>
                  <a:schemeClr val="accent4"/>
                </a:solidFill>
                <a:latin typeface="Cambria" pitchFamily="34" charset="0"/>
                <a:ea typeface="Cambria" pitchFamily="34" charset="-122"/>
                <a:cs typeface="Cambria" pitchFamily="34" charset="-120"/>
              </a:rPr>
              <a:t>540,672</a:t>
            </a:r>
            <a:endParaRPr lang="en-US" sz="2600" dirty="0"/>
          </a:p>
        </p:txBody>
      </p:sp>
      <p:sp>
        <p:nvSpPr>
          <p:cNvPr id="13" name="Text 10"/>
          <p:cNvSpPr txBox="1"/>
          <p:nvPr/>
        </p:nvSpPr>
        <p:spPr>
          <a:xfrm>
            <a:off x="7452360" y="2039112"/>
            <a:ext cx="1645920" cy="795528"/>
          </a:xfrm>
          <a:prstGeom prst="rect">
            <a:avLst/>
          </a:prstGeom>
          <a:noFill/>
          <a:ln/>
        </p:spPr>
        <p:txBody>
          <a:bodyPr wrap="square" lIns="0" tIns="0" rIns="0" bIns="0" rtlCol="0" anchor="t"/>
          <a:lstStyle/>
          <a:p>
            <a:pPr indent="0" marL="0">
              <a:buNone/>
            </a:pPr>
            <a:r>
              <a:rPr lang="en-US" sz="1400" dirty="0">
                <a:solidFill>
                  <a:schemeClr val="tx2"/>
                </a:solidFill>
              </a:rPr>
              <a:t>trainable: exactly our formula (0.1093%)</a:t>
            </a:r>
            <a:endParaRPr lang="en-US" sz="1400" dirty="0"/>
          </a:p>
        </p:txBody>
      </p:sp>
      <p:sp>
        <p:nvSpPr>
          <p:cNvPr id="14" name="max |logit difference| at initialization"/>
          <p:cNvSpPr/>
          <p:nvPr/>
        </p:nvSpPr>
        <p:spPr>
          <a:xfrm>
            <a:off x="9464040" y="1234440"/>
            <a:ext cx="2103120" cy="1691640"/>
          </a:xfrm>
          <a:prstGeom prst="roundRect">
            <a:avLst>
              <a:gd name="adj" fmla="val 6486"/>
            </a:avLst>
          </a:prstGeom>
          <a:solidFill>
            <a:schemeClr val="bg2"/>
          </a:solidFill>
          <a:ln w="12700">
            <a:solidFill>
              <a:schemeClr val="bg2"/>
            </a:solidFill>
            <a:prstDash val="solid"/>
          </a:ln>
        </p:spPr>
      </p:sp>
      <p:sp>
        <p:nvSpPr>
          <p:cNvPr id="15" name="Text 12"/>
          <p:cNvSpPr txBox="1"/>
          <p:nvPr/>
        </p:nvSpPr>
        <p:spPr>
          <a:xfrm>
            <a:off x="9692640" y="1344168"/>
            <a:ext cx="1645920" cy="64008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0.0</a:t>
            </a:r>
            <a:endParaRPr lang="en-US" sz="2600" dirty="0"/>
          </a:p>
        </p:txBody>
      </p:sp>
      <p:sp>
        <p:nvSpPr>
          <p:cNvPr id="16" name="Text 13"/>
          <p:cNvSpPr txBox="1"/>
          <p:nvPr/>
        </p:nvSpPr>
        <p:spPr>
          <a:xfrm>
            <a:off x="9692640" y="2039112"/>
            <a:ext cx="1645920" cy="795528"/>
          </a:xfrm>
          <a:prstGeom prst="rect">
            <a:avLst/>
          </a:prstGeom>
          <a:noFill/>
          <a:ln/>
        </p:spPr>
        <p:txBody>
          <a:bodyPr wrap="square" lIns="0" tIns="0" rIns="0" bIns="0" rtlCol="0" anchor="t"/>
          <a:lstStyle/>
          <a:p>
            <a:pPr indent="0" marL="0">
              <a:buNone/>
            </a:pPr>
            <a:r>
              <a:rPr lang="en-US" sz="1400" dirty="0">
                <a:solidFill>
                  <a:schemeClr val="tx2"/>
                </a:solidFill>
              </a:rPr>
              <a:t>max |logit difference| at initialization</a:t>
            </a:r>
            <a:endParaRPr lang="en-US" sz="1400" dirty="0"/>
          </a:p>
        </p:txBody>
      </p:sp>
      <p:sp>
        <p:nvSpPr>
          <p:cNvPr id="17" name="tensors with gradients = 24 × 2 × 2, all LoRA"/>
          <p:cNvSpPr/>
          <p:nvPr/>
        </p:nvSpPr>
        <p:spPr>
          <a:xfrm>
            <a:off x="7223760" y="3063240"/>
            <a:ext cx="2103120" cy="1691640"/>
          </a:xfrm>
          <a:prstGeom prst="roundRect">
            <a:avLst>
              <a:gd name="adj" fmla="val 6486"/>
            </a:avLst>
          </a:prstGeom>
          <a:solidFill>
            <a:schemeClr val="bg2"/>
          </a:solidFill>
          <a:ln w="12700">
            <a:solidFill>
              <a:schemeClr val="bg2"/>
            </a:solidFill>
            <a:prstDash val="solid"/>
          </a:ln>
        </p:spPr>
      </p:sp>
      <p:sp>
        <p:nvSpPr>
          <p:cNvPr id="18" name="Text 15"/>
          <p:cNvSpPr txBox="1"/>
          <p:nvPr/>
        </p:nvSpPr>
        <p:spPr>
          <a:xfrm>
            <a:off x="7452360" y="3172968"/>
            <a:ext cx="1645920" cy="640080"/>
          </a:xfrm>
          <a:prstGeom prst="rect">
            <a:avLst/>
          </a:prstGeom>
          <a:noFill/>
          <a:ln/>
        </p:spPr>
        <p:txBody>
          <a:bodyPr wrap="square" lIns="0" tIns="0" rIns="0" bIns="0" rtlCol="0" anchor="b"/>
          <a:lstStyle/>
          <a:p>
            <a:pPr indent="0" marL="0">
              <a:buNone/>
            </a:pPr>
            <a:r>
              <a:rPr lang="en-US" sz="2600" b="1" dirty="0">
                <a:solidFill>
                  <a:schemeClr val="accent1"/>
                </a:solidFill>
                <a:latin typeface="Cambria" pitchFamily="34" charset="0"/>
                <a:ea typeface="Cambria" pitchFamily="34" charset="-122"/>
                <a:cs typeface="Cambria" pitchFamily="34" charset="-120"/>
              </a:rPr>
              <a:t>96</a:t>
            </a:r>
            <a:endParaRPr lang="en-US" sz="2600" dirty="0"/>
          </a:p>
        </p:txBody>
      </p:sp>
      <p:sp>
        <p:nvSpPr>
          <p:cNvPr id="19" name="Text 16"/>
          <p:cNvSpPr txBox="1"/>
          <p:nvPr/>
        </p:nvSpPr>
        <p:spPr>
          <a:xfrm>
            <a:off x="7452360" y="3867912"/>
            <a:ext cx="1645920" cy="795528"/>
          </a:xfrm>
          <a:prstGeom prst="rect">
            <a:avLst/>
          </a:prstGeom>
          <a:noFill/>
          <a:ln/>
        </p:spPr>
        <p:txBody>
          <a:bodyPr wrap="square" lIns="0" tIns="0" rIns="0" bIns="0" rtlCol="0" anchor="t"/>
          <a:lstStyle/>
          <a:p>
            <a:pPr indent="0" marL="0">
              <a:buNone/>
            </a:pPr>
            <a:r>
              <a:rPr lang="en-US" sz="1400" dirty="0">
                <a:solidFill>
                  <a:schemeClr val="tx2"/>
                </a:solidFill>
              </a:rPr>
              <a:t>tensors with gradients = 24 × 2 × 2, all LoRA</a:t>
            </a:r>
            <a:endParaRPr lang="en-US" sz="1400" dirty="0"/>
          </a:p>
        </p:txBody>
      </p:sp>
      <p:sp>
        <p:nvSpPr>
          <p:cNvPr id="20" name="adapter file: 540,672 × 4 bytes (fp32)"/>
          <p:cNvSpPr/>
          <p:nvPr/>
        </p:nvSpPr>
        <p:spPr>
          <a:xfrm>
            <a:off x="9464040" y="3063240"/>
            <a:ext cx="2103120" cy="1691640"/>
          </a:xfrm>
          <a:prstGeom prst="roundRect">
            <a:avLst>
              <a:gd name="adj" fmla="val 6486"/>
            </a:avLst>
          </a:prstGeom>
          <a:solidFill>
            <a:schemeClr val="bg2"/>
          </a:solidFill>
          <a:ln w="12700">
            <a:solidFill>
              <a:schemeClr val="bg2"/>
            </a:solidFill>
            <a:prstDash val="solid"/>
          </a:ln>
        </p:spPr>
      </p:sp>
      <p:sp>
        <p:nvSpPr>
          <p:cNvPr id="21" name="Text 18"/>
          <p:cNvSpPr txBox="1"/>
          <p:nvPr/>
        </p:nvSpPr>
        <p:spPr>
          <a:xfrm>
            <a:off x="9692640" y="3172968"/>
            <a:ext cx="1645920" cy="640080"/>
          </a:xfrm>
          <a:prstGeom prst="rect">
            <a:avLst/>
          </a:prstGeom>
          <a:noFill/>
          <a:ln/>
        </p:spPr>
        <p:txBody>
          <a:bodyPr wrap="square" lIns="0" tIns="0" rIns="0" bIns="0" rtlCol="0" anchor="b"/>
          <a:lstStyle/>
          <a:p>
            <a:pPr indent="0" marL="0">
              <a:buNone/>
            </a:pPr>
            <a:r>
              <a:rPr lang="en-US" sz="2600" b="1" dirty="0">
                <a:solidFill>
                  <a:schemeClr val="accent4"/>
                </a:solidFill>
                <a:latin typeface="Cambria" pitchFamily="34" charset="0"/>
                <a:ea typeface="Cambria" pitchFamily="34" charset="-122"/>
                <a:cs typeface="Cambria" pitchFamily="34" charset="-120"/>
              </a:rPr>
              <a:t>2.18 MB</a:t>
            </a:r>
            <a:endParaRPr lang="en-US" sz="2600" dirty="0"/>
          </a:p>
        </p:txBody>
      </p:sp>
      <p:sp>
        <p:nvSpPr>
          <p:cNvPr id="22" name="Text 19"/>
          <p:cNvSpPr txBox="1"/>
          <p:nvPr/>
        </p:nvSpPr>
        <p:spPr>
          <a:xfrm>
            <a:off x="9692640" y="3867912"/>
            <a:ext cx="1645920" cy="795528"/>
          </a:xfrm>
          <a:prstGeom prst="rect">
            <a:avLst/>
          </a:prstGeom>
          <a:noFill/>
          <a:ln/>
        </p:spPr>
        <p:txBody>
          <a:bodyPr wrap="square" lIns="0" tIns="0" rIns="0" bIns="0" rtlCol="0" anchor="t"/>
          <a:lstStyle/>
          <a:p>
            <a:pPr indent="0" marL="0">
              <a:buNone/>
            </a:pPr>
            <a:r>
              <a:rPr lang="en-US" sz="1400" dirty="0">
                <a:solidFill>
                  <a:schemeClr val="tx2"/>
                </a:solidFill>
              </a:rPr>
              <a:t>adapter file: 540,672 × 4 bytes (fp32)</a:t>
            </a:r>
            <a:endParaRPr lang="en-US" sz="1400" dirty="0"/>
          </a:p>
        </p:txBody>
      </p:sp>
      <p:sp>
        <p:nvSpPr>
          <p:cNvPr id="23" name="merge"/>
          <p:cNvSpPr/>
          <p:nvPr/>
        </p:nvSpPr>
        <p:spPr>
          <a:xfrm>
            <a:off x="7223760" y="4937760"/>
            <a:ext cx="4389120" cy="1234440"/>
          </a:xfrm>
          <a:prstGeom prst="roundRect">
            <a:avLst>
              <a:gd name="adj" fmla="val 8889"/>
            </a:avLst>
          </a:prstGeom>
          <a:solidFill>
            <a:schemeClr val="bg2"/>
          </a:solidFill>
          <a:ln w="12700">
            <a:solidFill>
              <a:schemeClr val="bg2"/>
            </a:solidFill>
            <a:prstDash val="solid"/>
          </a:ln>
        </p:spPr>
      </p:sp>
      <p:sp>
        <p:nvSpPr>
          <p:cNvPr id="24" name="Text 21"/>
          <p:cNvSpPr txBox="1"/>
          <p:nvPr/>
        </p:nvSpPr>
        <p:spPr>
          <a:xfrm>
            <a:off x="7406640" y="4937760"/>
            <a:ext cx="4069080" cy="1234440"/>
          </a:xfrm>
          <a:prstGeom prst="rect">
            <a:avLst/>
          </a:prstGeom>
          <a:noFill/>
          <a:ln/>
        </p:spPr>
        <p:txBody>
          <a:bodyPr wrap="square" lIns="0" tIns="0" rIns="0" bIns="0" rtlCol="0" anchor="ctr"/>
          <a:lstStyle/>
          <a:p>
            <a:pPr indent="0" marL="0">
              <a:buNone/>
            </a:pPr>
            <a:r>
              <a:rPr lang="en-US" sz="1400" dirty="0">
                <a:solidFill>
                  <a:schemeClr val="tx1"/>
                </a:solidFill>
                <a:latin typeface="Courier New" pitchFamily="34" charset="0"/>
                <a:ea typeface="Courier New" pitchFamily="34" charset="-122"/>
                <a:cs typeface="Courier New" pitchFamily="34" charset="-120"/>
              </a:rPr>
              <a:t>merge_and_unload()</a:t>
            </a:r>
            <a:r>
              <a:rPr lang="en-US" sz="1400" dirty="0">
                <a:solidFill>
                  <a:schemeClr val="tx1"/>
                </a:solidFill>
              </a:rPr>
              <a:t> returns a plain </a:t>
            </a:r>
            <a:r>
              <a:rPr lang="en-US" sz="1400" dirty="0">
                <a:solidFill>
                  <a:schemeClr val="tx1"/>
                </a:solidFill>
                <a:latin typeface="Courier New" pitchFamily="34" charset="0"/>
                <a:ea typeface="Courier New" pitchFamily="34" charset="-122"/>
                <a:cs typeface="Courier New" pitchFamily="34" charset="-120"/>
              </a:rPr>
              <a:t>Linear</a:t>
            </a:r>
            <a:r>
              <a:rPr lang="en-US" sz="1400" dirty="0">
                <a:solidFill>
                  <a:schemeClr val="tx1"/>
                </a:solidFill>
              </a:rPr>
              <a:t>: Section 7's merge, wrapper removed.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Summary and common misconceptions</a:t>
            </a:r>
            <a:endParaRPr lang="en-US"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400800" cy="914400"/>
        </p:xfrm>
        <a:graphic>
          <a:graphicData uri="http://schemas.openxmlformats.org/drawingml/2006/table">
            <a:tbl>
              <a:tblPr/>
              <a:tblGrid>
                <a:gridCol w="1920240"/>
                <a:gridCol w="4480560"/>
              </a:tblGrid>
              <a:tr h="566928">
                <a:tc>
                  <a:txBody>
                    <a:bodyPr/>
                    <a:lstStyle/>
                    <a:p>
                      <a:pPr indent="0" marL="0">
                        <a:buNone/>
                      </a:pPr>
                      <a:r>
                        <a:rPr lang="en-US" sz="1400" b="1" dirty="0">
                          <a:solidFill>
                            <a:schemeClr val="bg1"/>
                          </a:solidFill>
                        </a:rPr>
                        <a:t>Idea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means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566928">
                <a:tc>
                  <a:txBody>
                    <a:bodyPr/>
                    <a:lstStyle/>
                    <a:p>
                      <a:pPr indent="0" marL="0">
                        <a:buNone/>
                      </a:pPr>
                      <a:r>
                        <a:rPr lang="en-US" sz="1400" dirty="0">
                          <a:solidFill>
                            <a:schemeClr val="tx1"/>
                          </a:solidFill>
                        </a:rPr>
                        <a:t>Cost of full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about 16 bytes per trainable parameter, plus activations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PEFT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freeze the pretrained weights; train a small set of new or selected parameters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Low intrinsic rank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change for a new task can be much simpler than the weights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LoRA update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ΔW = (α/r)·BA, rank ≤ r; r·(d + k) parameters, not d·k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Zero-initialized 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training starts exactly at the pretrained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66928">
                <a:tc>
                  <a:txBody>
                    <a:bodyPr/>
                    <a:lstStyle/>
                    <a:p>
                      <a:pPr indent="0" marL="0">
                        <a:buNone/>
                      </a:pPr>
                      <a:r>
                        <a:rPr lang="en-US" sz="1400" dirty="0">
                          <a:solidFill>
                            <a:schemeClr val="tx1"/>
                          </a:solidFill>
                        </a:rPr>
                        <a:t>Merging / swapping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no extra inference cost, or one base with many small adapters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66928">
                <a:tc>
                  <a:txBody>
                    <a:bodyPr/>
                    <a:lstStyle/>
                    <a:p>
                      <a:pPr indent="0" marL="0">
                        <a:buNone/>
                      </a:pPr>
                      <a:r>
                        <a:rPr lang="en-US" sz="1400" dirty="0">
                          <a:solidFill>
                            <a:schemeClr val="tx1"/>
                          </a:solidFill>
                        </a:rPr>
                        <a:t>Not shrunk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frozen weights and (mostly) the activations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LoRA makes the model smaller.”"/>
          <p:cNvSpPr/>
          <p:nvPr/>
        </p:nvSpPr>
        <p:spPr>
          <a:xfrm>
            <a:off x="7223760" y="1280160"/>
            <a:ext cx="4389120" cy="1115568"/>
          </a:xfrm>
          <a:prstGeom prst="roundRect">
            <a:avLst>
              <a:gd name="adj" fmla="val 9836"/>
            </a:avLst>
          </a:prstGeom>
          <a:solidFill>
            <a:schemeClr val="accent6"/>
          </a:solidFill>
          <a:ln w="12700">
            <a:solidFill>
              <a:schemeClr val="accent6"/>
            </a:solidFill>
            <a:prstDash val="solid"/>
          </a:ln>
        </p:spPr>
      </p:sp>
      <p:sp>
        <p:nvSpPr>
          <p:cNvPr id="6" name="Text 2"/>
          <p:cNvSpPr txBox="1"/>
          <p:nvPr/>
        </p:nvSpPr>
        <p:spPr>
          <a:xfrm>
            <a:off x="7406640" y="1280160"/>
            <a:ext cx="4069080" cy="1115568"/>
          </a:xfrm>
          <a:prstGeom prst="rect">
            <a:avLst/>
          </a:prstGeom>
          <a:noFill/>
          <a:ln/>
        </p:spPr>
        <p:txBody>
          <a:bodyPr wrap="square" lIns="0" tIns="0" rIns="0" bIns="0" rtlCol="0" anchor="ctr"/>
          <a:lstStyle/>
          <a:p>
            <a:pPr indent="0" marL="0">
              <a:buNone/>
            </a:pPr>
            <a:r>
              <a:rPr lang="en-US" sz="1400" b="1" dirty="0">
                <a:solidFill>
                  <a:schemeClr val="accent3"/>
                </a:solidFill>
              </a:rPr>
              <a:t>“LoRA makes the model smaller.”</a:t>
            </a:r>
            <a:endParaRPr lang="en-US" sz="1400" dirty="0"/>
          </a:p>
          <a:p>
            <a:pPr indent="0" marL="0">
              <a:buNone/>
            </a:pPr>
            <a:r>
              <a:rPr lang="en-US" sz="1400" dirty="0">
                <a:solidFill>
                  <a:schemeClr val="tx1"/>
                </a:solidFill>
              </a:rPr>
              <a:t>No: training is cheaper and checkpoints smaller; the base is unchanged.</a:t>
            </a:r>
            <a:endParaRPr lang="en-US" sz="1400" dirty="0"/>
          </a:p>
        </p:txBody>
      </p:sp>
      <p:sp>
        <p:nvSpPr>
          <p:cNvPr id="7" name="“Rank r means only r things.”"/>
          <p:cNvSpPr/>
          <p:nvPr/>
        </p:nvSpPr>
        <p:spPr>
          <a:xfrm>
            <a:off x="7223760" y="2514600"/>
            <a:ext cx="4389120" cy="1115568"/>
          </a:xfrm>
          <a:prstGeom prst="roundRect">
            <a:avLst>
              <a:gd name="adj" fmla="val 9836"/>
            </a:avLst>
          </a:prstGeom>
          <a:solidFill>
            <a:schemeClr val="accent6"/>
          </a:solidFill>
          <a:ln w="12700">
            <a:solidFill>
              <a:schemeClr val="accent6"/>
            </a:solidFill>
            <a:prstDash val="solid"/>
          </a:ln>
        </p:spPr>
      </p:sp>
      <p:sp>
        <p:nvSpPr>
          <p:cNvPr id="8" name="Text 4"/>
          <p:cNvSpPr txBox="1"/>
          <p:nvPr/>
        </p:nvSpPr>
        <p:spPr>
          <a:xfrm>
            <a:off x="7406640" y="2514600"/>
            <a:ext cx="4069080" cy="1115568"/>
          </a:xfrm>
          <a:prstGeom prst="rect">
            <a:avLst/>
          </a:prstGeom>
          <a:noFill/>
          <a:ln/>
        </p:spPr>
        <p:txBody>
          <a:bodyPr wrap="square" lIns="0" tIns="0" rIns="0" bIns="0" rtlCol="0" anchor="ctr"/>
          <a:lstStyle/>
          <a:p>
            <a:pPr indent="0" marL="0">
              <a:buNone/>
            </a:pPr>
            <a:r>
              <a:rPr lang="en-US" sz="1400" b="1" dirty="0">
                <a:solidFill>
                  <a:schemeClr val="accent3"/>
                </a:solidFill>
              </a:rPr>
              <a:t>“Rank r means only r things.”</a:t>
            </a:r>
            <a:endParaRPr lang="en-US" sz="1400" dirty="0"/>
          </a:p>
          <a:p>
            <a:pPr indent="0" marL="0">
              <a:buNone/>
            </a:pPr>
            <a:r>
              <a:rPr lang="en-US" sz="1400" dirty="0">
                <a:solidFill>
                  <a:schemeClr val="tx1"/>
                </a:solidFill>
              </a:rPr>
              <a:t>Each wrapped matrix gets its own rank-r update: 48 of them for q,v on Qwen2.5-0.5B.</a:t>
            </a:r>
            <a:endParaRPr lang="en-US" sz="1400" dirty="0"/>
          </a:p>
        </p:txBody>
      </p:sp>
      <p:sp>
        <p:nvSpPr>
          <p:cNvPr id="9" name="“LoRA removes activation memory.”"/>
          <p:cNvSpPr/>
          <p:nvPr/>
        </p:nvSpPr>
        <p:spPr>
          <a:xfrm>
            <a:off x="7223760" y="3749040"/>
            <a:ext cx="4389120" cy="1115568"/>
          </a:xfrm>
          <a:prstGeom prst="roundRect">
            <a:avLst>
              <a:gd name="adj" fmla="val 9836"/>
            </a:avLst>
          </a:prstGeom>
          <a:solidFill>
            <a:schemeClr val="accent6"/>
          </a:solidFill>
          <a:ln w="12700">
            <a:solidFill>
              <a:schemeClr val="accent6"/>
            </a:solidFill>
            <a:prstDash val="solid"/>
          </a:ln>
        </p:spPr>
      </p:sp>
      <p:sp>
        <p:nvSpPr>
          <p:cNvPr id="10" name="Text 6"/>
          <p:cNvSpPr txBox="1"/>
          <p:nvPr/>
        </p:nvSpPr>
        <p:spPr>
          <a:xfrm>
            <a:off x="7406640" y="3749040"/>
            <a:ext cx="4069080" cy="1115568"/>
          </a:xfrm>
          <a:prstGeom prst="rect">
            <a:avLst/>
          </a:prstGeom>
          <a:noFill/>
          <a:ln/>
        </p:spPr>
        <p:txBody>
          <a:bodyPr wrap="square" lIns="0" tIns="0" rIns="0" bIns="0" rtlCol="0" anchor="ctr"/>
          <a:lstStyle/>
          <a:p>
            <a:pPr indent="0" marL="0">
              <a:buNone/>
            </a:pPr>
            <a:r>
              <a:rPr lang="en-US" sz="1400" b="1" dirty="0">
                <a:solidFill>
                  <a:schemeClr val="accent3"/>
                </a:solidFill>
              </a:rPr>
              <a:t>“LoRA removes activation memory.”</a:t>
            </a:r>
            <a:endParaRPr lang="en-US" sz="1400" dirty="0"/>
          </a:p>
          <a:p>
            <a:pPr indent="0" marL="0">
              <a:buNone/>
            </a:pPr>
            <a:r>
              <a:rPr lang="en-US" sz="1400" dirty="0">
                <a:solidFill>
                  <a:schemeClr val="tx1"/>
                </a:solidFill>
              </a:rPr>
              <a:t>Mostly not: the backward pass runs through the frozen layers.</a:t>
            </a:r>
            <a:endParaRPr lang="en-US" sz="1400" dirty="0"/>
          </a:p>
        </p:txBody>
      </p:sp>
      <p:sp>
        <p:nvSpPr>
          <p:cNvPr id="11" name="“PEFT is an evaluation technique.”"/>
          <p:cNvSpPr/>
          <p:nvPr/>
        </p:nvSpPr>
        <p:spPr>
          <a:xfrm>
            <a:off x="7223760" y="4983480"/>
            <a:ext cx="4389120" cy="1115568"/>
          </a:xfrm>
          <a:prstGeom prst="roundRect">
            <a:avLst>
              <a:gd name="adj" fmla="val 9836"/>
            </a:avLst>
          </a:prstGeom>
          <a:solidFill>
            <a:schemeClr val="accent6"/>
          </a:solidFill>
          <a:ln w="12700">
            <a:solidFill>
              <a:schemeClr val="accent6"/>
            </a:solidFill>
            <a:prstDash val="solid"/>
          </a:ln>
        </p:spPr>
      </p:sp>
      <p:sp>
        <p:nvSpPr>
          <p:cNvPr id="12" name="Text 8"/>
          <p:cNvSpPr txBox="1"/>
          <p:nvPr/>
        </p:nvSpPr>
        <p:spPr>
          <a:xfrm>
            <a:off x="7406640" y="4983480"/>
            <a:ext cx="4069080" cy="1115568"/>
          </a:xfrm>
          <a:prstGeom prst="rect">
            <a:avLst/>
          </a:prstGeom>
          <a:noFill/>
          <a:ln/>
        </p:spPr>
        <p:txBody>
          <a:bodyPr wrap="square" lIns="0" tIns="0" rIns="0" bIns="0" rtlCol="0" anchor="ctr"/>
          <a:lstStyle/>
          <a:p>
            <a:pPr indent="0" marL="0">
              <a:buNone/>
            </a:pPr>
            <a:r>
              <a:rPr lang="en-US" sz="1400" b="1" dirty="0">
                <a:solidFill>
                  <a:schemeClr val="accent3"/>
                </a:solidFill>
              </a:rPr>
              <a:t>“PEFT is an evaluation technique.”</a:t>
            </a:r>
            <a:endParaRPr lang="en-US" sz="1400" dirty="0"/>
          </a:p>
          <a:p>
            <a:pPr indent="0" marL="0">
              <a:buNone/>
            </a:pPr>
            <a:r>
              <a:rPr lang="en-US" sz="1400" dirty="0">
                <a:solidFill>
                  <a:schemeClr val="tx1"/>
                </a:solidFill>
              </a:rPr>
              <a:t>It adapts a model. Evaluate it like any fine-tuned model, against the base and full fine-tuning.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understanding</a:t>
            </a:r>
            <a:endParaRPr lang="en-US" sz="3200" dirty="0"/>
          </a:p>
        </p:txBody>
      </p:sp>
      <p:sp>
        <p:nvSpPr>
          <p:cNvPr id="4" name="question 1"/>
          <p:cNvSpPr/>
          <p:nvPr/>
        </p:nvSpPr>
        <p:spPr>
          <a:xfrm>
            <a:off x="548640" y="1280160"/>
            <a:ext cx="5440680" cy="1463040"/>
          </a:xfrm>
          <a:prstGeom prst="roundRect">
            <a:avLst>
              <a:gd name="adj" fmla="val 7500"/>
            </a:avLst>
          </a:prstGeom>
          <a:solidFill>
            <a:schemeClr val="bg2"/>
          </a:solidFill>
          <a:ln w="12700">
            <a:solidFill>
              <a:schemeClr val="bg2"/>
            </a:solidFill>
            <a:prstDash val="solid"/>
          </a:ln>
        </p:spPr>
      </p:sp>
      <p:sp>
        <p:nvSpPr>
          <p:cNvPr id="5" name="Shape 2"/>
          <p:cNvSpPr/>
          <p:nvPr/>
        </p:nvSpPr>
        <p:spPr>
          <a:xfrm>
            <a:off x="777240" y="150876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77724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417320" y="1417320"/>
            <a:ext cx="4389120" cy="1188720"/>
          </a:xfrm>
          <a:prstGeom prst="rect">
            <a:avLst/>
          </a:prstGeom>
          <a:noFill/>
          <a:ln/>
        </p:spPr>
        <p:txBody>
          <a:bodyPr wrap="square" lIns="0" tIns="0" rIns="0" bIns="0" rtlCol="0" anchor="ctr"/>
          <a:lstStyle/>
          <a:p>
            <a:pPr indent="0" marL="0">
              <a:buNone/>
            </a:pPr>
            <a:r>
              <a:rPr lang="en-US" sz="1500" dirty="0">
                <a:solidFill>
                  <a:schemeClr val="tx1"/>
                </a:solidFill>
              </a:rPr>
              <a:t>A weight matrix is 4096 × 4096. How many parameters does a LoRA adapter with r = 16 add? What fraction is that?</a:t>
            </a:r>
            <a:endParaRPr lang="en-US" sz="1500" dirty="0"/>
          </a:p>
        </p:txBody>
      </p:sp>
      <p:sp>
        <p:nvSpPr>
          <p:cNvPr id="8" name="question 2"/>
          <p:cNvSpPr/>
          <p:nvPr/>
        </p:nvSpPr>
        <p:spPr>
          <a:xfrm>
            <a:off x="6172200" y="1280160"/>
            <a:ext cx="5440680" cy="1463040"/>
          </a:xfrm>
          <a:prstGeom prst="roundRect">
            <a:avLst>
              <a:gd name="adj" fmla="val 7500"/>
            </a:avLst>
          </a:prstGeom>
          <a:solidFill>
            <a:schemeClr val="bg2"/>
          </a:solidFill>
          <a:ln w="12700">
            <a:solidFill>
              <a:schemeClr val="bg2"/>
            </a:solidFill>
            <a:prstDash val="solid"/>
          </a:ln>
        </p:spPr>
      </p:sp>
      <p:sp>
        <p:nvSpPr>
          <p:cNvPr id="9" name="Shape 6"/>
          <p:cNvSpPr/>
          <p:nvPr/>
        </p:nvSpPr>
        <p:spPr>
          <a:xfrm>
            <a:off x="6400800" y="1508760"/>
            <a:ext cx="457200" cy="457200"/>
          </a:xfrm>
          <a:prstGeom prst="ellipse">
            <a:avLst/>
          </a:prstGeom>
          <a:solidFill>
            <a:schemeClr val="accent4"/>
          </a:solidFill>
          <a:ln w="12700">
            <a:solidFill>
              <a:schemeClr val="accent4"/>
            </a:solidFill>
            <a:prstDash val="solid"/>
          </a:ln>
        </p:spPr>
      </p:sp>
      <p:sp>
        <p:nvSpPr>
          <p:cNvPr id="10" name="Text 7"/>
          <p:cNvSpPr txBox="1"/>
          <p:nvPr/>
        </p:nvSpPr>
        <p:spPr>
          <a:xfrm>
            <a:off x="6400800" y="1508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7040880" y="1417320"/>
            <a:ext cx="4389120" cy="1188720"/>
          </a:xfrm>
          <a:prstGeom prst="rect">
            <a:avLst/>
          </a:prstGeom>
          <a:noFill/>
          <a:ln/>
        </p:spPr>
        <p:txBody>
          <a:bodyPr wrap="square" lIns="0" tIns="0" rIns="0" bIns="0" rtlCol="0" anchor="ctr"/>
          <a:lstStyle/>
          <a:p>
            <a:pPr indent="0" marL="0">
              <a:buNone/>
            </a:pPr>
            <a:r>
              <a:rPr lang="en-US" sz="1500" dirty="0">
                <a:solidFill>
                  <a:schemeClr val="tx1"/>
                </a:solidFill>
              </a:rPr>
              <a:t>Why does LoRA initialize B to zero and A randomly, rather than both randomly or both to zero?</a:t>
            </a:r>
            <a:endParaRPr lang="en-US" sz="1500" dirty="0"/>
          </a:p>
        </p:txBody>
      </p:sp>
      <p:sp>
        <p:nvSpPr>
          <p:cNvPr id="12" name="question 3"/>
          <p:cNvSpPr/>
          <p:nvPr/>
        </p:nvSpPr>
        <p:spPr>
          <a:xfrm>
            <a:off x="548640" y="2926080"/>
            <a:ext cx="5440680" cy="1463040"/>
          </a:xfrm>
          <a:prstGeom prst="roundRect">
            <a:avLst>
              <a:gd name="adj" fmla="val 7500"/>
            </a:avLst>
          </a:prstGeom>
          <a:solidFill>
            <a:schemeClr val="bg2"/>
          </a:solidFill>
          <a:ln w="12700">
            <a:solidFill>
              <a:schemeClr val="bg2"/>
            </a:solidFill>
            <a:prstDash val="solid"/>
          </a:ln>
        </p:spPr>
      </p:sp>
      <p:sp>
        <p:nvSpPr>
          <p:cNvPr id="13" name="Shape 10"/>
          <p:cNvSpPr/>
          <p:nvPr/>
        </p:nvSpPr>
        <p:spPr>
          <a:xfrm>
            <a:off x="777240" y="3154680"/>
            <a:ext cx="457200" cy="457200"/>
          </a:xfrm>
          <a:prstGeom prst="ellipse">
            <a:avLst/>
          </a:prstGeom>
          <a:solidFill>
            <a:schemeClr val="accent1"/>
          </a:solidFill>
          <a:ln w="12700">
            <a:solidFill>
              <a:schemeClr val="accent1"/>
            </a:solidFill>
            <a:prstDash val="solid"/>
          </a:ln>
        </p:spPr>
      </p:sp>
      <p:sp>
        <p:nvSpPr>
          <p:cNvPr id="14" name="Text 11"/>
          <p:cNvSpPr txBox="1"/>
          <p:nvPr/>
        </p:nvSpPr>
        <p:spPr>
          <a:xfrm>
            <a:off x="77724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417320" y="3063240"/>
            <a:ext cx="4389120" cy="1188720"/>
          </a:xfrm>
          <a:prstGeom prst="rect">
            <a:avLst/>
          </a:prstGeom>
          <a:noFill/>
          <a:ln/>
        </p:spPr>
        <p:txBody>
          <a:bodyPr wrap="square" lIns="0" tIns="0" rIns="0" bIns="0" rtlCol="0" anchor="ctr"/>
          <a:lstStyle/>
          <a:p>
            <a:pPr indent="0" marL="0">
              <a:buNone/>
            </a:pPr>
            <a:r>
              <a:rPr lang="en-US" sz="1500" dirty="0">
                <a:solidFill>
                  <a:schemeClr val="tx1"/>
                </a:solidFill>
              </a:rPr>
              <a:t>In the first training step, which of A and B receives a nonzero gradient? Use the gradient formulas.</a:t>
            </a:r>
            <a:endParaRPr lang="en-US" sz="1500" dirty="0"/>
          </a:p>
        </p:txBody>
      </p:sp>
      <p:sp>
        <p:nvSpPr>
          <p:cNvPr id="16" name="question 4"/>
          <p:cNvSpPr/>
          <p:nvPr/>
        </p:nvSpPr>
        <p:spPr>
          <a:xfrm>
            <a:off x="6172200" y="2926080"/>
            <a:ext cx="5440680" cy="1463040"/>
          </a:xfrm>
          <a:prstGeom prst="roundRect">
            <a:avLst>
              <a:gd name="adj" fmla="val 7500"/>
            </a:avLst>
          </a:prstGeom>
          <a:solidFill>
            <a:schemeClr val="bg2"/>
          </a:solidFill>
          <a:ln w="12700">
            <a:solidFill>
              <a:schemeClr val="bg2"/>
            </a:solidFill>
            <a:prstDash val="solid"/>
          </a:ln>
        </p:spPr>
      </p:sp>
      <p:sp>
        <p:nvSpPr>
          <p:cNvPr id="17" name="Shape 14"/>
          <p:cNvSpPr/>
          <p:nvPr/>
        </p:nvSpPr>
        <p:spPr>
          <a:xfrm>
            <a:off x="6400800" y="3154680"/>
            <a:ext cx="457200" cy="457200"/>
          </a:xfrm>
          <a:prstGeom prst="ellipse">
            <a:avLst/>
          </a:prstGeom>
          <a:solidFill>
            <a:schemeClr val="accent4"/>
          </a:solidFill>
          <a:ln w="12700">
            <a:solidFill>
              <a:schemeClr val="accent4"/>
            </a:solidFill>
            <a:prstDash val="solid"/>
          </a:ln>
        </p:spPr>
      </p:sp>
      <p:sp>
        <p:nvSpPr>
          <p:cNvPr id="18" name="Text 15"/>
          <p:cNvSpPr txBox="1"/>
          <p:nvPr/>
        </p:nvSpPr>
        <p:spPr>
          <a:xfrm>
            <a:off x="6400800" y="3154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7040880" y="3063240"/>
            <a:ext cx="4389120" cy="1188720"/>
          </a:xfrm>
          <a:prstGeom prst="rect">
            <a:avLst/>
          </a:prstGeom>
          <a:noFill/>
          <a:ln/>
        </p:spPr>
        <p:txBody>
          <a:bodyPr wrap="square" lIns="0" tIns="0" rIns="0" bIns="0" rtlCol="0" anchor="ctr"/>
          <a:lstStyle/>
          <a:p>
            <a:pPr indent="0" marL="0">
              <a:buNone/>
            </a:pPr>
            <a:r>
              <a:rPr lang="en-US" sz="1500" dirty="0">
                <a:solidFill>
                  <a:schemeClr val="tx1"/>
                </a:solidFill>
              </a:rPr>
              <a:t>After merge(), how does inference cost compare with the original model? When would you keep adapters unmerged?</a:t>
            </a:r>
            <a:endParaRPr lang="en-US" sz="1500" dirty="0"/>
          </a:p>
        </p:txBody>
      </p:sp>
      <p:sp>
        <p:nvSpPr>
          <p:cNvPr id="20" name="question 5"/>
          <p:cNvSpPr/>
          <p:nvPr/>
        </p:nvSpPr>
        <p:spPr>
          <a:xfrm>
            <a:off x="548640" y="4572000"/>
            <a:ext cx="5440680" cy="1463040"/>
          </a:xfrm>
          <a:prstGeom prst="roundRect">
            <a:avLst>
              <a:gd name="adj" fmla="val 7500"/>
            </a:avLst>
          </a:prstGeom>
          <a:solidFill>
            <a:schemeClr val="bg2"/>
          </a:solidFill>
          <a:ln w="12700">
            <a:solidFill>
              <a:schemeClr val="bg2"/>
            </a:solidFill>
            <a:prstDash val="solid"/>
          </a:ln>
        </p:spPr>
      </p:sp>
      <p:sp>
        <p:nvSpPr>
          <p:cNvPr id="21" name="Shape 18"/>
          <p:cNvSpPr/>
          <p:nvPr/>
        </p:nvSpPr>
        <p:spPr>
          <a:xfrm>
            <a:off x="777240" y="480060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77724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1417320" y="4709160"/>
            <a:ext cx="4389120" cy="1188720"/>
          </a:xfrm>
          <a:prstGeom prst="rect">
            <a:avLst/>
          </a:prstGeom>
          <a:noFill/>
          <a:ln/>
        </p:spPr>
        <p:txBody>
          <a:bodyPr wrap="square" lIns="0" tIns="0" rIns="0" bIns="0" rtlCol="0" anchor="ctr"/>
          <a:lstStyle/>
          <a:p>
            <a:pPr indent="0" marL="0">
              <a:buNone/>
            </a:pPr>
            <a:r>
              <a:rPr lang="en-US" sz="1500" dirty="0">
                <a:solidFill>
                  <a:schemeClr val="tx1"/>
                </a:solidFill>
              </a:rPr>
              <a:t>Which parts of training memory does LoRA reduce, and which does it leave unchanged?</a:t>
            </a:r>
            <a:endParaRPr lang="en-US" sz="1500" dirty="0"/>
          </a:p>
        </p:txBody>
      </p:sp>
      <p:sp>
        <p:nvSpPr>
          <p:cNvPr id="24" name="question 6"/>
          <p:cNvSpPr/>
          <p:nvPr/>
        </p:nvSpPr>
        <p:spPr>
          <a:xfrm>
            <a:off x="6172200" y="4572000"/>
            <a:ext cx="5440680" cy="1463040"/>
          </a:xfrm>
          <a:prstGeom prst="roundRect">
            <a:avLst>
              <a:gd name="adj" fmla="val 7500"/>
            </a:avLst>
          </a:prstGeom>
          <a:solidFill>
            <a:schemeClr val="bg2"/>
          </a:solidFill>
          <a:ln w="12700">
            <a:solidFill>
              <a:schemeClr val="bg2"/>
            </a:solidFill>
            <a:prstDash val="solid"/>
          </a:ln>
        </p:spPr>
      </p:sp>
      <p:sp>
        <p:nvSpPr>
          <p:cNvPr id="25" name="Shape 22"/>
          <p:cNvSpPr/>
          <p:nvPr/>
        </p:nvSpPr>
        <p:spPr>
          <a:xfrm>
            <a:off x="6400800" y="4800600"/>
            <a:ext cx="457200" cy="457200"/>
          </a:xfrm>
          <a:prstGeom prst="ellipse">
            <a:avLst/>
          </a:prstGeom>
          <a:solidFill>
            <a:schemeClr val="accent4"/>
          </a:solidFill>
          <a:ln w="12700">
            <a:solidFill>
              <a:schemeClr val="accent4"/>
            </a:solidFill>
            <a:prstDash val="solid"/>
          </a:ln>
        </p:spPr>
      </p:sp>
      <p:sp>
        <p:nvSpPr>
          <p:cNvPr id="26" name="Text 23"/>
          <p:cNvSpPr txBox="1"/>
          <p:nvPr/>
        </p:nvSpPr>
        <p:spPr>
          <a:xfrm>
            <a:off x="6400800" y="48006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4"/>
          <p:cNvSpPr txBox="1"/>
          <p:nvPr/>
        </p:nvSpPr>
        <p:spPr>
          <a:xfrm>
            <a:off x="7040880" y="4709160"/>
            <a:ext cx="4389120" cy="1188720"/>
          </a:xfrm>
          <a:prstGeom prst="rect">
            <a:avLst/>
          </a:prstGeom>
          <a:noFill/>
          <a:ln/>
        </p:spPr>
        <p:txBody>
          <a:bodyPr wrap="square" lIns="0" tIns="0" rIns="0" bIns="0" rtlCol="0" anchor="ctr"/>
          <a:lstStyle/>
          <a:p>
            <a:pPr indent="0" marL="0">
              <a:buNone/>
            </a:pPr>
            <a:r>
              <a:rPr lang="en-US" sz="1500" dirty="0">
                <a:solidFill>
                  <a:schemeClr val="tx1"/>
                </a:solidFill>
              </a:rPr>
              <a:t>Qwen2.5-7B needs about 15 GB in 16-bit. Why does LoRA alone not make fine-tuning it on a 16 GB T4 practical?</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Takeaways and further reading</a:t>
            </a:r>
            <a:endParaRPr lang="en-US" sz="3200" dirty="0"/>
          </a:p>
        </p:txBody>
      </p:sp>
      <p:sp>
        <p:nvSpPr>
          <p:cNvPr id="4" name="takeaways"/>
          <p:cNvSpPr/>
          <p:nvPr/>
        </p:nvSpPr>
        <p:spPr>
          <a:xfrm>
            <a:off x="548640" y="1280160"/>
            <a:ext cx="5303520" cy="4892040"/>
          </a:xfrm>
          <a:prstGeom prst="roundRect">
            <a:avLst>
              <a:gd name="adj" fmla="val 2243"/>
            </a:avLst>
          </a:prstGeom>
          <a:solidFill>
            <a:schemeClr val="tx1"/>
          </a:solidFill>
          <a:ln w="12700">
            <a:solidFill>
              <a:schemeClr val="tx1"/>
            </a:solidFill>
            <a:prstDash val="solid"/>
          </a:ln>
        </p:spPr>
      </p:sp>
      <p:sp>
        <p:nvSpPr>
          <p:cNvPr id="5" name="Text 2"/>
          <p:cNvSpPr txBox="1"/>
          <p:nvPr/>
        </p:nvSpPr>
        <p:spPr>
          <a:xfrm>
            <a:off x="822960" y="1463040"/>
            <a:ext cx="475488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Takeaways</a:t>
            </a:r>
            <a:endParaRPr lang="en-US" sz="2200" dirty="0"/>
          </a:p>
        </p:txBody>
      </p:sp>
      <p:sp>
        <p:nvSpPr>
          <p:cNvPr id="6" name="Text 3"/>
          <p:cNvSpPr txBox="1"/>
          <p:nvPr/>
        </p:nvSpPr>
        <p:spPr>
          <a:xfrm>
            <a:off x="822960" y="2057400"/>
            <a:ext cx="4754880" cy="39319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bg1"/>
                </a:solidFill>
              </a:rPr>
              <a:t>Training state, not the model, is what full fine-tuning cannot fit</a:t>
            </a:r>
            <a:endParaRPr lang="en-US" sz="1800" dirty="0"/>
          </a:p>
          <a:p>
            <a:pPr marL="228600" indent="-228600">
              <a:spcAft>
                <a:spcPts val="800"/>
              </a:spcAft>
              <a:buSzPct val="100000"/>
              <a:buChar char="•"/>
            </a:pPr>
            <a:r>
              <a:rPr lang="en-US" sz="1800" dirty="0">
                <a:solidFill>
                  <a:schemeClr val="bg1"/>
                </a:solidFill>
              </a:rPr>
              <a:t>Freeze W₀; train ΔW = (α/r)·BA, with B = 0 at the start</a:t>
            </a:r>
            <a:endParaRPr lang="en-US" sz="1800" dirty="0"/>
          </a:p>
          <a:p>
            <a:pPr marL="228600" indent="-228600">
              <a:spcAft>
                <a:spcPts val="800"/>
              </a:spcAft>
              <a:buSzPct val="100000"/>
              <a:buChar char="•"/>
            </a:pPr>
            <a:r>
              <a:rPr lang="en-US" sz="1800" dirty="0">
                <a:solidFill>
                  <a:schemeClr val="bg1"/>
                </a:solidFill>
              </a:rPr>
              <a:t>Small ranks are often enough; check on your task</a:t>
            </a:r>
            <a:endParaRPr lang="en-US" sz="1800" dirty="0"/>
          </a:p>
          <a:p>
            <a:pPr marL="228600" indent="-228600">
              <a:spcAft>
                <a:spcPts val="800"/>
              </a:spcAft>
              <a:buSzPct val="100000"/>
              <a:buChar char="•"/>
            </a:pPr>
            <a:r>
              <a:rPr lang="en-US" sz="1800" dirty="0">
                <a:solidFill>
                  <a:schemeClr val="bg1"/>
                </a:solidFill>
              </a:rPr>
              <a:t>Merge for one task, keep adapters for many</a:t>
            </a:r>
            <a:endParaRPr lang="en-US" sz="1800" dirty="0"/>
          </a:p>
          <a:p>
            <a:pPr marL="228600" indent="-228600">
              <a:spcAft>
                <a:spcPts val="800"/>
              </a:spcAft>
              <a:buSzPct val="100000"/>
              <a:buChar char="•"/>
            </a:pPr>
            <a:r>
              <a:rPr lang="en-US" sz="1800" dirty="0">
                <a:solidFill>
                  <a:schemeClr val="bg1"/>
                </a:solidFill>
              </a:rPr>
              <a:t>Check before trusting: same output at init, gradients only on A and B, the count</a:t>
            </a:r>
            <a:endParaRPr lang="en-US" sz="1800" dirty="0"/>
          </a:p>
        </p:txBody>
      </p:sp>
      <p:sp>
        <p:nvSpPr>
          <p:cNvPr id="7" name="Text 4"/>
          <p:cNvSpPr txBox="1"/>
          <p:nvPr/>
        </p:nvSpPr>
        <p:spPr>
          <a:xfrm>
            <a:off x="6217920" y="1463040"/>
            <a:ext cx="5394960"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Further reading</a:t>
            </a:r>
            <a:endParaRPr lang="en-US" sz="2200" dirty="0"/>
          </a:p>
        </p:txBody>
      </p:sp>
      <p:sp>
        <p:nvSpPr>
          <p:cNvPr id="8" name="Text 5"/>
          <p:cNvSpPr txBox="1"/>
          <p:nvPr/>
        </p:nvSpPr>
        <p:spPr>
          <a:xfrm>
            <a:off x="6217920" y="2057400"/>
            <a:ext cx="5394960" cy="402336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Hu et al. (2021). </a:t>
            </a:r>
            <a:r>
              <a:rPr lang="en-US" sz="1500" dirty="0">
                <a:solidFill>
                  <a:schemeClr val="tx1"/>
                </a:solidFill>
              </a:rPr>
              <a:t>LoRA: Low-Rank Adaptation of Large Language Models. arXiv:2106.09685</a:t>
            </a:r>
            <a:endParaRPr lang="en-US" sz="1500" dirty="0"/>
          </a:p>
          <a:p>
            <a:pPr marL="228600" indent="-228600">
              <a:spcAft>
                <a:spcPts val="800"/>
              </a:spcAft>
              <a:buSzPct val="100000"/>
              <a:buChar char="•"/>
            </a:pPr>
            <a:r>
              <a:rPr lang="en-US" sz="1500" b="1" dirty="0">
                <a:solidFill>
                  <a:schemeClr val="tx1"/>
                </a:solidFill>
              </a:rPr>
              <a:t>Aghajanyan, Zettlemoyer &amp; Gupta (2020). </a:t>
            </a:r>
            <a:r>
              <a:rPr lang="en-US" sz="1500" dirty="0">
                <a:solidFill>
                  <a:schemeClr val="tx1"/>
                </a:solidFill>
              </a:rPr>
              <a:t>Intrinsic Dimensionality Explains the Effectiveness of Language Model Fine-Tuning. arXiv:2012.13255</a:t>
            </a:r>
            <a:endParaRPr lang="en-US" sz="1500" dirty="0"/>
          </a:p>
          <a:p>
            <a:pPr marL="228600" indent="-228600">
              <a:spcAft>
                <a:spcPts val="800"/>
              </a:spcAft>
              <a:buSzPct val="100000"/>
              <a:buChar char="•"/>
            </a:pPr>
            <a:r>
              <a:rPr lang="en-US" sz="1500" b="1" dirty="0">
                <a:solidFill>
                  <a:schemeClr val="tx1"/>
                </a:solidFill>
              </a:rPr>
              <a:t>Houlsby et al. (2019); Lester et al. (2021); Ben Zaken et al. (2021). </a:t>
            </a:r>
            <a:r>
              <a:rPr lang="en-US" sz="1500" dirty="0">
                <a:solidFill>
                  <a:schemeClr val="tx1"/>
                </a:solidFill>
              </a:rPr>
              <a:t>Adapters; prompt tuning; BitFit</a:t>
            </a:r>
            <a:endParaRPr lang="en-US" sz="1500" dirty="0"/>
          </a:p>
          <a:p>
            <a:pPr marL="228600" indent="-228600">
              <a:spcAft>
                <a:spcPts val="800"/>
              </a:spcAft>
              <a:buSzPct val="100000"/>
              <a:buChar char="•"/>
            </a:pPr>
            <a:r>
              <a:rPr lang="en-US" sz="1500" b="1" dirty="0">
                <a:solidFill>
                  <a:schemeClr val="tx1"/>
                </a:solidFill>
              </a:rPr>
              <a:t>Rajbhandari et al. (2020). </a:t>
            </a:r>
            <a:r>
              <a:rPr lang="en-US" sz="1500" dirty="0">
                <a:solidFill>
                  <a:schemeClr val="tx1"/>
                </a:solidFill>
              </a:rPr>
              <a:t>ZeRO: Memory Optimizations Toward Training Trillion Parameter Models (16 bytes per parameter). arXiv:1910.02054</a:t>
            </a:r>
            <a:endParaRPr lang="en-US" sz="1500" dirty="0"/>
          </a:p>
          <a:p>
            <a:pPr marL="228600" indent="-228600">
              <a:spcAft>
                <a:spcPts val="800"/>
              </a:spcAft>
              <a:buSzPct val="100000"/>
              <a:buChar char="•"/>
            </a:pPr>
            <a:r>
              <a:rPr lang="en-US" sz="1500" b="1" dirty="0">
                <a:solidFill>
                  <a:schemeClr val="tx1"/>
                </a:solidFill>
              </a:rPr>
              <a:t>Hugging Face PEFT docs: </a:t>
            </a:r>
            <a:r>
              <a:rPr lang="en-US" sz="1500" dirty="0">
                <a:solidFill>
                  <a:schemeClr val="tx1"/>
                </a:solidFill>
              </a:rPr>
              <a:t>LoRA conceptual guide and LoraConfig reference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Supplement: how a float is stored</a:t>
            </a:r>
            <a:endParaRPr lang="en-US" sz="3200" dirty="0"/>
          </a:p>
        </p:txBody>
      </p:sp>
      <p:sp>
        <p:nvSpPr>
          <p:cNvPr id="4" name="Text 1"/>
          <p:cNvSpPr txBox="1"/>
          <p:nvPr/>
        </p:nvSpPr>
        <p:spPr>
          <a:xfrm>
            <a:off x="548640" y="1234440"/>
            <a:ext cx="11064240" cy="594360"/>
          </a:xfrm>
          <a:prstGeom prst="rect">
            <a:avLst/>
          </a:prstGeom>
          <a:noFill/>
          <a:ln/>
        </p:spPr>
        <p:txBody>
          <a:bodyPr wrap="square" lIns="0" tIns="0" rIns="0" bIns="0" rtlCol="0" anchor="ctr"/>
          <a:lstStyle/>
          <a:p>
            <a:pPr indent="0" marL="0">
              <a:buNone/>
            </a:pPr>
            <a:r>
              <a:rPr lang="en-US" sz="2400" dirty="0">
                <a:solidFill>
                  <a:schemeClr val="tx1"/>
                </a:solidFill>
                <a:latin typeface="Cambria" pitchFamily="34" charset="0"/>
                <a:ea typeface="Cambria" pitchFamily="34" charset="-122"/>
                <a:cs typeface="Cambria" pitchFamily="34" charset="-120"/>
              </a:rPr>
              <a:t>value = (−1)</a:t>
            </a:r>
            <a:r>
              <a:rPr lang="en-US" sz="2400" baseline="30000" dirty="0">
                <a:solidFill>
                  <a:schemeClr val="tx1"/>
                </a:solidFill>
                <a:latin typeface="Cambria" pitchFamily="34" charset="0"/>
                <a:ea typeface="Cambria" pitchFamily="34" charset="-122"/>
                <a:cs typeface="Cambria" pitchFamily="34" charset="-120"/>
              </a:rPr>
              <a:t>sign</a:t>
            </a:r>
            <a:r>
              <a:rPr lang="en-US" sz="2400" dirty="0">
                <a:solidFill>
                  <a:schemeClr val="tx1"/>
                </a:solidFill>
                <a:latin typeface="Cambria" pitchFamily="34" charset="0"/>
                <a:ea typeface="Cambria" pitchFamily="34" charset="-122"/>
                <a:cs typeface="Cambria" pitchFamily="34" charset="-120"/>
              </a:rPr>
              <a:t> × 1.mantissa₂ × 2</a:t>
            </a:r>
            <a:r>
              <a:rPr lang="en-US" sz="2400" baseline="30000" dirty="0">
                <a:solidFill>
                  <a:schemeClr val="tx1"/>
                </a:solidFill>
                <a:latin typeface="Cambria" pitchFamily="34" charset="0"/>
                <a:ea typeface="Cambria" pitchFamily="34" charset="-122"/>
                <a:cs typeface="Cambria" pitchFamily="34" charset="-120"/>
              </a:rPr>
              <a:t>exponent − bias</a:t>
            </a:r>
            <a:endParaRPr lang="en-US" sz="2400" dirty="0"/>
          </a:p>
        </p:txBody>
      </p:sp>
      <p:sp>
        <p:nvSpPr>
          <p:cNvPr id="5" name="Text 2"/>
          <p:cNvSpPr txBox="1"/>
          <p:nvPr/>
        </p:nvSpPr>
        <p:spPr>
          <a:xfrm>
            <a:off x="548640" y="2057400"/>
            <a:ext cx="822960" cy="548640"/>
          </a:xfrm>
          <a:prstGeom prst="rect">
            <a:avLst/>
          </a:prstGeom>
          <a:noFill/>
          <a:ln/>
        </p:spPr>
        <p:txBody>
          <a:bodyPr wrap="square" lIns="0" tIns="0" rIns="0" bIns="0" rtlCol="0" anchor="ctr"/>
          <a:lstStyle/>
          <a:p>
            <a:pPr indent="0" marL="0">
              <a:buNone/>
            </a:pPr>
            <a:r>
              <a:rPr lang="en-US" sz="1800" b="1" dirty="0">
                <a:solidFill>
                  <a:schemeClr val="tx1"/>
                </a:solidFill>
              </a:rPr>
              <a:t>fp32</a:t>
            </a:r>
            <a:endParaRPr lang="en-US" sz="1800" dirty="0"/>
          </a:p>
        </p:txBody>
      </p:sp>
      <p:sp>
        <p:nvSpPr>
          <p:cNvPr id="6" name="Shape 3"/>
          <p:cNvSpPr/>
          <p:nvPr/>
        </p:nvSpPr>
        <p:spPr>
          <a:xfrm>
            <a:off x="1371600" y="2057400"/>
            <a:ext cx="245745" cy="548640"/>
          </a:xfrm>
          <a:prstGeom prst="rect">
            <a:avLst/>
          </a:prstGeom>
          <a:solidFill>
            <a:schemeClr val="accent3"/>
          </a:solidFill>
          <a:ln w="12700">
            <a:solidFill>
              <a:schemeClr val="bg1"/>
            </a:solidFill>
            <a:prstDash val="solid"/>
          </a:ln>
        </p:spPr>
      </p:sp>
      <p:sp>
        <p:nvSpPr>
          <p:cNvPr id="7" name="Text 4"/>
          <p:cNvSpPr txBox="1"/>
          <p:nvPr/>
        </p:nvSpPr>
        <p:spPr>
          <a:xfrm>
            <a:off x="1371600" y="2057400"/>
            <a:ext cx="245745" cy="548640"/>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8" name="Shape 5"/>
          <p:cNvSpPr/>
          <p:nvPr/>
        </p:nvSpPr>
        <p:spPr>
          <a:xfrm>
            <a:off x="1617345" y="2057400"/>
            <a:ext cx="1965960" cy="548640"/>
          </a:xfrm>
          <a:prstGeom prst="rect">
            <a:avLst/>
          </a:prstGeom>
          <a:solidFill>
            <a:schemeClr val="accent1"/>
          </a:solidFill>
          <a:ln w="12700">
            <a:solidFill>
              <a:schemeClr val="bg1"/>
            </a:solidFill>
            <a:prstDash val="solid"/>
          </a:ln>
        </p:spPr>
      </p:sp>
      <p:sp>
        <p:nvSpPr>
          <p:cNvPr id="9" name="Text 6"/>
          <p:cNvSpPr txBox="1"/>
          <p:nvPr/>
        </p:nvSpPr>
        <p:spPr>
          <a:xfrm>
            <a:off x="1617345" y="2057400"/>
            <a:ext cx="1965960" cy="548640"/>
          </a:xfrm>
          <a:prstGeom prst="rect">
            <a:avLst/>
          </a:prstGeom>
          <a:noFill/>
          <a:ln/>
        </p:spPr>
        <p:txBody>
          <a:bodyPr wrap="square" lIns="0" tIns="0" rIns="0" bIns="0" rtlCol="0" anchor="ctr"/>
          <a:lstStyle/>
          <a:p>
            <a:pPr algn="ctr" indent="0" marL="0">
              <a:buNone/>
            </a:pPr>
            <a:r>
              <a:rPr lang="en-US" sz="1400" b="1" dirty="0">
                <a:solidFill>
                  <a:schemeClr val="bg1"/>
                </a:solidFill>
              </a:rPr>
              <a:t>exp 8</a:t>
            </a:r>
            <a:endParaRPr lang="en-US" sz="1400" dirty="0"/>
          </a:p>
        </p:txBody>
      </p:sp>
      <p:sp>
        <p:nvSpPr>
          <p:cNvPr id="10" name="Shape 7"/>
          <p:cNvSpPr/>
          <p:nvPr/>
        </p:nvSpPr>
        <p:spPr>
          <a:xfrm>
            <a:off x="3583305" y="2057400"/>
            <a:ext cx="5652135" cy="548640"/>
          </a:xfrm>
          <a:prstGeom prst="rect">
            <a:avLst/>
          </a:prstGeom>
          <a:solidFill>
            <a:schemeClr val="accent6"/>
          </a:solidFill>
          <a:ln w="12700">
            <a:solidFill>
              <a:schemeClr val="bg1"/>
            </a:solidFill>
            <a:prstDash val="solid"/>
          </a:ln>
        </p:spPr>
      </p:sp>
      <p:sp>
        <p:nvSpPr>
          <p:cNvPr id="11" name="Text 8"/>
          <p:cNvSpPr txBox="1"/>
          <p:nvPr/>
        </p:nvSpPr>
        <p:spPr>
          <a:xfrm>
            <a:off x="3583305" y="2057400"/>
            <a:ext cx="5652135" cy="548640"/>
          </a:xfrm>
          <a:prstGeom prst="rect">
            <a:avLst/>
          </a:prstGeom>
          <a:noFill/>
          <a:ln/>
        </p:spPr>
        <p:txBody>
          <a:bodyPr wrap="square" lIns="0" tIns="0" rIns="0" bIns="0" rtlCol="0" anchor="ctr"/>
          <a:lstStyle/>
          <a:p>
            <a:pPr algn="ctr" indent="0" marL="0">
              <a:buNone/>
            </a:pPr>
            <a:r>
              <a:rPr lang="en-US" sz="1400" b="1" dirty="0">
                <a:solidFill>
                  <a:schemeClr val="tx1"/>
                </a:solidFill>
              </a:rPr>
              <a:t>mantissa 23</a:t>
            </a:r>
            <a:endParaRPr lang="en-US" sz="1400" dirty="0"/>
          </a:p>
        </p:txBody>
      </p:sp>
      <p:sp>
        <p:nvSpPr>
          <p:cNvPr id="12" name="Text 9"/>
          <p:cNvSpPr txBox="1"/>
          <p:nvPr/>
        </p:nvSpPr>
        <p:spPr>
          <a:xfrm>
            <a:off x="9418320" y="2057400"/>
            <a:ext cx="2286000" cy="548640"/>
          </a:xfrm>
          <a:prstGeom prst="rect">
            <a:avLst/>
          </a:prstGeom>
          <a:noFill/>
          <a:ln/>
        </p:spPr>
        <p:txBody>
          <a:bodyPr wrap="square" lIns="0" tIns="0" rIns="0" bIns="0" rtlCol="0" anchor="ctr"/>
          <a:lstStyle/>
          <a:p>
            <a:pPr indent="0" marL="0">
              <a:buNone/>
            </a:pPr>
            <a:r>
              <a:rPr lang="en-US" sz="1400" dirty="0">
                <a:solidFill>
                  <a:schemeClr val="tx2"/>
                </a:solidFill>
              </a:rPr>
              <a:t>32 bits, bias 127</a:t>
            </a:r>
            <a:endParaRPr lang="en-US" sz="1400" dirty="0"/>
          </a:p>
        </p:txBody>
      </p:sp>
      <p:sp>
        <p:nvSpPr>
          <p:cNvPr id="13" name="Text 10"/>
          <p:cNvSpPr txBox="1"/>
          <p:nvPr/>
        </p:nvSpPr>
        <p:spPr>
          <a:xfrm>
            <a:off x="548640" y="2788920"/>
            <a:ext cx="822960" cy="548640"/>
          </a:xfrm>
          <a:prstGeom prst="rect">
            <a:avLst/>
          </a:prstGeom>
          <a:noFill/>
          <a:ln/>
        </p:spPr>
        <p:txBody>
          <a:bodyPr wrap="square" lIns="0" tIns="0" rIns="0" bIns="0" rtlCol="0" anchor="ctr"/>
          <a:lstStyle/>
          <a:p>
            <a:pPr indent="0" marL="0">
              <a:buNone/>
            </a:pPr>
            <a:r>
              <a:rPr lang="en-US" sz="1800" b="1" dirty="0">
                <a:solidFill>
                  <a:schemeClr val="tx1"/>
                </a:solidFill>
              </a:rPr>
              <a:t>fp16</a:t>
            </a:r>
            <a:endParaRPr lang="en-US" sz="1800" dirty="0"/>
          </a:p>
        </p:txBody>
      </p:sp>
      <p:sp>
        <p:nvSpPr>
          <p:cNvPr id="14" name="Shape 11"/>
          <p:cNvSpPr/>
          <p:nvPr/>
        </p:nvSpPr>
        <p:spPr>
          <a:xfrm>
            <a:off x="1371600" y="2788920"/>
            <a:ext cx="245745" cy="548640"/>
          </a:xfrm>
          <a:prstGeom prst="rect">
            <a:avLst/>
          </a:prstGeom>
          <a:solidFill>
            <a:schemeClr val="accent3"/>
          </a:solidFill>
          <a:ln w="12700">
            <a:solidFill>
              <a:schemeClr val="bg1"/>
            </a:solidFill>
            <a:prstDash val="solid"/>
          </a:ln>
        </p:spPr>
      </p:sp>
      <p:sp>
        <p:nvSpPr>
          <p:cNvPr id="15" name="Text 12"/>
          <p:cNvSpPr txBox="1"/>
          <p:nvPr/>
        </p:nvSpPr>
        <p:spPr>
          <a:xfrm>
            <a:off x="1371600" y="2788920"/>
            <a:ext cx="245745" cy="548640"/>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16" name="Shape 13"/>
          <p:cNvSpPr/>
          <p:nvPr/>
        </p:nvSpPr>
        <p:spPr>
          <a:xfrm>
            <a:off x="1617345" y="2788920"/>
            <a:ext cx="1228725" cy="548640"/>
          </a:xfrm>
          <a:prstGeom prst="rect">
            <a:avLst/>
          </a:prstGeom>
          <a:solidFill>
            <a:schemeClr val="accent1"/>
          </a:solidFill>
          <a:ln w="12700">
            <a:solidFill>
              <a:schemeClr val="bg1"/>
            </a:solidFill>
            <a:prstDash val="solid"/>
          </a:ln>
        </p:spPr>
      </p:sp>
      <p:sp>
        <p:nvSpPr>
          <p:cNvPr id="17" name="Text 14"/>
          <p:cNvSpPr txBox="1"/>
          <p:nvPr/>
        </p:nvSpPr>
        <p:spPr>
          <a:xfrm>
            <a:off x="1617345" y="2788920"/>
            <a:ext cx="1228725" cy="548640"/>
          </a:xfrm>
          <a:prstGeom prst="rect">
            <a:avLst/>
          </a:prstGeom>
          <a:noFill/>
          <a:ln/>
        </p:spPr>
        <p:txBody>
          <a:bodyPr wrap="square" lIns="0" tIns="0" rIns="0" bIns="0" rtlCol="0" anchor="ctr"/>
          <a:lstStyle/>
          <a:p>
            <a:pPr algn="ctr" indent="0" marL="0">
              <a:buNone/>
            </a:pPr>
            <a:r>
              <a:rPr lang="en-US" sz="1400" b="1" dirty="0">
                <a:solidFill>
                  <a:schemeClr val="bg1"/>
                </a:solidFill>
              </a:rPr>
              <a:t>exp 5</a:t>
            </a:r>
            <a:endParaRPr lang="en-US" sz="1400" dirty="0"/>
          </a:p>
        </p:txBody>
      </p:sp>
      <p:sp>
        <p:nvSpPr>
          <p:cNvPr id="18" name="Shape 15"/>
          <p:cNvSpPr/>
          <p:nvPr/>
        </p:nvSpPr>
        <p:spPr>
          <a:xfrm>
            <a:off x="2846070" y="2788920"/>
            <a:ext cx="2457450" cy="548640"/>
          </a:xfrm>
          <a:prstGeom prst="rect">
            <a:avLst/>
          </a:prstGeom>
          <a:solidFill>
            <a:schemeClr val="accent6"/>
          </a:solidFill>
          <a:ln w="12700">
            <a:solidFill>
              <a:schemeClr val="bg1"/>
            </a:solidFill>
            <a:prstDash val="solid"/>
          </a:ln>
        </p:spPr>
      </p:sp>
      <p:sp>
        <p:nvSpPr>
          <p:cNvPr id="19" name="Text 16"/>
          <p:cNvSpPr txBox="1"/>
          <p:nvPr/>
        </p:nvSpPr>
        <p:spPr>
          <a:xfrm>
            <a:off x="2846070" y="2788920"/>
            <a:ext cx="2457450" cy="548640"/>
          </a:xfrm>
          <a:prstGeom prst="rect">
            <a:avLst/>
          </a:prstGeom>
          <a:noFill/>
          <a:ln/>
        </p:spPr>
        <p:txBody>
          <a:bodyPr wrap="square" lIns="0" tIns="0" rIns="0" bIns="0" rtlCol="0" anchor="ctr"/>
          <a:lstStyle/>
          <a:p>
            <a:pPr algn="ctr" indent="0" marL="0">
              <a:buNone/>
            </a:pPr>
            <a:r>
              <a:rPr lang="en-US" sz="1400" b="1" dirty="0">
                <a:solidFill>
                  <a:schemeClr val="tx1"/>
                </a:solidFill>
              </a:rPr>
              <a:t>mantissa 10</a:t>
            </a:r>
            <a:endParaRPr lang="en-US" sz="1400" dirty="0"/>
          </a:p>
        </p:txBody>
      </p:sp>
      <p:sp>
        <p:nvSpPr>
          <p:cNvPr id="20" name="Text 17"/>
          <p:cNvSpPr txBox="1"/>
          <p:nvPr/>
        </p:nvSpPr>
        <p:spPr>
          <a:xfrm>
            <a:off x="5486400" y="2788920"/>
            <a:ext cx="2286000" cy="548640"/>
          </a:xfrm>
          <a:prstGeom prst="rect">
            <a:avLst/>
          </a:prstGeom>
          <a:noFill/>
          <a:ln/>
        </p:spPr>
        <p:txBody>
          <a:bodyPr wrap="square" lIns="0" tIns="0" rIns="0" bIns="0" rtlCol="0" anchor="ctr"/>
          <a:lstStyle/>
          <a:p>
            <a:pPr indent="0" marL="0">
              <a:buNone/>
            </a:pPr>
            <a:r>
              <a:rPr lang="en-US" sz="1400" dirty="0">
                <a:solidFill>
                  <a:schemeClr val="tx2"/>
                </a:solidFill>
              </a:rPr>
              <a:t>16 bits, bias 15</a:t>
            </a:r>
            <a:endParaRPr lang="en-US" sz="1400" dirty="0"/>
          </a:p>
        </p:txBody>
      </p:sp>
      <p:sp>
        <p:nvSpPr>
          <p:cNvPr id="21" name="Text 18"/>
          <p:cNvSpPr txBox="1"/>
          <p:nvPr/>
        </p:nvSpPr>
        <p:spPr>
          <a:xfrm>
            <a:off x="548640" y="3520440"/>
            <a:ext cx="822960" cy="548640"/>
          </a:xfrm>
          <a:prstGeom prst="rect">
            <a:avLst/>
          </a:prstGeom>
          <a:noFill/>
          <a:ln/>
        </p:spPr>
        <p:txBody>
          <a:bodyPr wrap="square" lIns="0" tIns="0" rIns="0" bIns="0" rtlCol="0" anchor="ctr"/>
          <a:lstStyle/>
          <a:p>
            <a:pPr indent="0" marL="0">
              <a:buNone/>
            </a:pPr>
            <a:r>
              <a:rPr lang="en-US" sz="1800" b="1" dirty="0">
                <a:solidFill>
                  <a:schemeClr val="tx1"/>
                </a:solidFill>
              </a:rPr>
              <a:t>bf16</a:t>
            </a:r>
            <a:endParaRPr lang="en-US" sz="1800" dirty="0"/>
          </a:p>
        </p:txBody>
      </p:sp>
      <p:sp>
        <p:nvSpPr>
          <p:cNvPr id="22" name="Shape 19"/>
          <p:cNvSpPr/>
          <p:nvPr/>
        </p:nvSpPr>
        <p:spPr>
          <a:xfrm>
            <a:off x="1371600" y="3520440"/>
            <a:ext cx="245745" cy="548640"/>
          </a:xfrm>
          <a:prstGeom prst="rect">
            <a:avLst/>
          </a:prstGeom>
          <a:solidFill>
            <a:schemeClr val="accent3"/>
          </a:solidFill>
          <a:ln w="12700">
            <a:solidFill>
              <a:schemeClr val="bg1"/>
            </a:solidFill>
            <a:prstDash val="solid"/>
          </a:ln>
        </p:spPr>
      </p:sp>
      <p:sp>
        <p:nvSpPr>
          <p:cNvPr id="23" name="Text 20"/>
          <p:cNvSpPr txBox="1"/>
          <p:nvPr/>
        </p:nvSpPr>
        <p:spPr>
          <a:xfrm>
            <a:off x="1371600" y="3520440"/>
            <a:ext cx="245745" cy="548640"/>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24" name="Shape 21"/>
          <p:cNvSpPr/>
          <p:nvPr/>
        </p:nvSpPr>
        <p:spPr>
          <a:xfrm>
            <a:off x="1617345" y="3520440"/>
            <a:ext cx="1965960" cy="548640"/>
          </a:xfrm>
          <a:prstGeom prst="rect">
            <a:avLst/>
          </a:prstGeom>
          <a:solidFill>
            <a:schemeClr val="accent1"/>
          </a:solidFill>
          <a:ln w="12700">
            <a:solidFill>
              <a:schemeClr val="bg1"/>
            </a:solidFill>
            <a:prstDash val="solid"/>
          </a:ln>
        </p:spPr>
      </p:sp>
      <p:sp>
        <p:nvSpPr>
          <p:cNvPr id="25" name="Text 22"/>
          <p:cNvSpPr txBox="1"/>
          <p:nvPr/>
        </p:nvSpPr>
        <p:spPr>
          <a:xfrm>
            <a:off x="1617345" y="3520440"/>
            <a:ext cx="1965960" cy="548640"/>
          </a:xfrm>
          <a:prstGeom prst="rect">
            <a:avLst/>
          </a:prstGeom>
          <a:noFill/>
          <a:ln/>
        </p:spPr>
        <p:txBody>
          <a:bodyPr wrap="square" lIns="0" tIns="0" rIns="0" bIns="0" rtlCol="0" anchor="ctr"/>
          <a:lstStyle/>
          <a:p>
            <a:pPr algn="ctr" indent="0" marL="0">
              <a:buNone/>
            </a:pPr>
            <a:r>
              <a:rPr lang="en-US" sz="1400" b="1" dirty="0">
                <a:solidFill>
                  <a:schemeClr val="bg1"/>
                </a:solidFill>
              </a:rPr>
              <a:t>exp 8</a:t>
            </a:r>
            <a:endParaRPr lang="en-US" sz="1400" dirty="0"/>
          </a:p>
        </p:txBody>
      </p:sp>
      <p:sp>
        <p:nvSpPr>
          <p:cNvPr id="26" name="Shape 23"/>
          <p:cNvSpPr/>
          <p:nvPr/>
        </p:nvSpPr>
        <p:spPr>
          <a:xfrm>
            <a:off x="3583305" y="3520440"/>
            <a:ext cx="1720215" cy="548640"/>
          </a:xfrm>
          <a:prstGeom prst="rect">
            <a:avLst/>
          </a:prstGeom>
          <a:solidFill>
            <a:schemeClr val="accent6"/>
          </a:solidFill>
          <a:ln w="12700">
            <a:solidFill>
              <a:schemeClr val="bg1"/>
            </a:solidFill>
            <a:prstDash val="solid"/>
          </a:ln>
        </p:spPr>
      </p:sp>
      <p:sp>
        <p:nvSpPr>
          <p:cNvPr id="27" name="Text 24"/>
          <p:cNvSpPr txBox="1"/>
          <p:nvPr/>
        </p:nvSpPr>
        <p:spPr>
          <a:xfrm>
            <a:off x="3583305" y="3520440"/>
            <a:ext cx="1720215" cy="548640"/>
          </a:xfrm>
          <a:prstGeom prst="rect">
            <a:avLst/>
          </a:prstGeom>
          <a:noFill/>
          <a:ln/>
        </p:spPr>
        <p:txBody>
          <a:bodyPr wrap="square" lIns="0" tIns="0" rIns="0" bIns="0" rtlCol="0" anchor="ctr"/>
          <a:lstStyle/>
          <a:p>
            <a:pPr algn="ctr" indent="0" marL="0">
              <a:buNone/>
            </a:pPr>
            <a:r>
              <a:rPr lang="en-US" sz="1400" b="1" dirty="0">
                <a:solidFill>
                  <a:schemeClr val="tx1"/>
                </a:solidFill>
              </a:rPr>
              <a:t>mantissa 7</a:t>
            </a:r>
            <a:endParaRPr lang="en-US" sz="1400" dirty="0"/>
          </a:p>
        </p:txBody>
      </p:sp>
      <p:sp>
        <p:nvSpPr>
          <p:cNvPr id="28" name="Text 25"/>
          <p:cNvSpPr txBox="1"/>
          <p:nvPr/>
        </p:nvSpPr>
        <p:spPr>
          <a:xfrm>
            <a:off x="5486400" y="3520440"/>
            <a:ext cx="2286000" cy="548640"/>
          </a:xfrm>
          <a:prstGeom prst="rect">
            <a:avLst/>
          </a:prstGeom>
          <a:noFill/>
          <a:ln/>
        </p:spPr>
        <p:txBody>
          <a:bodyPr wrap="square" lIns="0" tIns="0" rIns="0" bIns="0" rtlCol="0" anchor="ctr"/>
          <a:lstStyle/>
          <a:p>
            <a:pPr indent="0" marL="0">
              <a:buNone/>
            </a:pPr>
            <a:r>
              <a:rPr lang="en-US" sz="1400" dirty="0">
                <a:solidFill>
                  <a:schemeClr val="tx2"/>
                </a:solidFill>
              </a:rPr>
              <a:t>16 bits, bias 127</a:t>
            </a:r>
            <a:endParaRPr lang="en-US" sz="1400" dirty="0"/>
          </a:p>
        </p:txBody>
      </p:sp>
      <p:sp>
        <p:nvSpPr>
          <p:cNvPr id="29" name="Text 26"/>
          <p:cNvSpPr txBox="1"/>
          <p:nvPr/>
        </p:nvSpPr>
        <p:spPr>
          <a:xfrm>
            <a:off x="1371600" y="4251960"/>
            <a:ext cx="10241280" cy="365760"/>
          </a:xfrm>
          <a:prstGeom prst="rect">
            <a:avLst/>
          </a:prstGeom>
          <a:noFill/>
          <a:ln/>
        </p:spPr>
        <p:txBody>
          <a:bodyPr wrap="square" lIns="0" tIns="0" rIns="0" bIns="0" rtlCol="0" anchor="t"/>
          <a:lstStyle/>
          <a:p>
            <a:pPr indent="0" marL="0">
              <a:buNone/>
            </a:pPr>
            <a:r>
              <a:rPr lang="en-US" sz="1500" dirty="0">
                <a:solidFill>
                  <a:schemeClr val="tx2"/>
                </a:solidFill>
              </a:rPr>
              <a:t>Exponent bits set the range; mantissa bits set the precision.</a:t>
            </a:r>
            <a:endParaRPr lang="en-US" sz="1500" dirty="0"/>
          </a:p>
        </p:txBody>
      </p:sp>
      <p:sp>
        <p:nvSpPr>
          <p:cNvPr id="30" name="worked example"/>
          <p:cNvSpPr/>
          <p:nvPr/>
        </p:nvSpPr>
        <p:spPr>
          <a:xfrm>
            <a:off x="548640" y="4754880"/>
            <a:ext cx="11064240" cy="1417320"/>
          </a:xfrm>
          <a:prstGeom prst="roundRect">
            <a:avLst>
              <a:gd name="adj" fmla="val 7742"/>
            </a:avLst>
          </a:prstGeom>
          <a:solidFill>
            <a:schemeClr val="bg2"/>
          </a:solidFill>
          <a:ln w="12700">
            <a:solidFill>
              <a:schemeClr val="bg2"/>
            </a:solidFill>
            <a:prstDash val="solid"/>
          </a:ln>
        </p:spPr>
      </p:sp>
      <p:sp>
        <p:nvSpPr>
          <p:cNvPr id="31" name="Text 28"/>
          <p:cNvSpPr txBox="1"/>
          <p:nvPr/>
        </p:nvSpPr>
        <p:spPr>
          <a:xfrm>
            <a:off x="777240" y="4800600"/>
            <a:ext cx="10607040" cy="1325880"/>
          </a:xfrm>
          <a:prstGeom prst="rect">
            <a:avLst/>
          </a:prstGeom>
          <a:noFill/>
          <a:ln/>
        </p:spPr>
        <p:txBody>
          <a:bodyPr wrap="square" lIns="0" tIns="0" rIns="0" bIns="0" rtlCol="0" anchor="ctr"/>
          <a:lstStyle/>
          <a:p>
            <a:pPr indent="0" marL="0">
              <a:buNone/>
            </a:pPr>
            <a:r>
              <a:rPr lang="en-US" sz="1500" b="1" dirty="0">
                <a:solidFill>
                  <a:schemeClr val="tx1"/>
                </a:solidFill>
              </a:rPr>
              <a:t>Worked example: −6.25.  </a:t>
            </a:r>
            <a:r>
              <a:rPr lang="en-US" sz="1500" dirty="0">
                <a:solidFill>
                  <a:schemeClr val="tx1"/>
                </a:solidFill>
              </a:rPr>
              <a:t>6.25 = 110.01₂ = 1.1001₂ × 2²</a:t>
            </a:r>
            <a:endParaRPr lang="en-US" sz="1500" dirty="0"/>
          </a:p>
          <a:p>
            <a:pPr indent="0" marL="0">
              <a:buNone/>
            </a:pPr>
            <a:r>
              <a:rPr lang="en-US" sz="1400" dirty="0">
                <a:solidFill>
                  <a:schemeClr val="tx1"/>
                </a:solidFill>
                <a:latin typeface="Courier New" pitchFamily="34" charset="0"/>
                <a:ea typeface="Courier New" pitchFamily="34" charset="-122"/>
                <a:cs typeface="Courier New" pitchFamily="34" charset="-120"/>
              </a:rPr>
              <a:t>fp32  1 | 10000001 | 1001000…0     </a:t>
            </a:r>
            <a:r>
              <a:rPr lang="en-US" sz="1400" dirty="0">
                <a:solidFill>
                  <a:schemeClr val="tx1"/>
                </a:solidFill>
                <a:latin typeface="Courier New" pitchFamily="34" charset="0"/>
                <a:ea typeface="Courier New" pitchFamily="34" charset="-122"/>
                <a:cs typeface="Courier New" pitchFamily="34" charset="-120"/>
              </a:rPr>
              <a:t>fp16  1 | 10001 | 1001000000     </a:t>
            </a:r>
            <a:r>
              <a:rPr lang="en-US" sz="1400" dirty="0">
                <a:solidFill>
                  <a:schemeClr val="tx1"/>
                </a:solidFill>
                <a:latin typeface="Courier New" pitchFamily="34" charset="0"/>
                <a:ea typeface="Courier New" pitchFamily="34" charset="-122"/>
                <a:cs typeface="Courier New" pitchFamily="34" charset="-120"/>
              </a:rPr>
              <a:t>bf16  1 | 10000001 | 1001000</a:t>
            </a:r>
            <a:endParaRPr lang="en-US" sz="1500" dirty="0"/>
          </a:p>
          <a:p>
            <a:pPr indent="0" marL="0">
              <a:buNone/>
            </a:pPr>
            <a:r>
              <a:rPr lang="en-US" sz="1500" dirty="0">
                <a:solidFill>
                  <a:schemeClr val="tx2"/>
                </a:solidFill>
              </a:rPr>
              <a:t>bf16 = the top 16 bits of fp32. All three store −6.25 exactly.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Supplement: range vs. precision</a:t>
            </a:r>
            <a:endParaRPr lang="en-US" sz="3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645920"/>
                <a:gridCol w="2377440"/>
                <a:gridCol w="2468880"/>
                <a:gridCol w="2377440"/>
                <a:gridCol w="2194560"/>
              </a:tblGrid>
              <a:tr h="457200">
                <a:tc>
                  <a:txBody>
                    <a:bodyPr/>
                    <a:lstStyle/>
                    <a:p>
                      <a:pPr algn="ctr" indent="0" marL="0">
                        <a:buNone/>
                      </a:pPr>
                      <a:r>
                        <a:rPr lang="en-US" sz="1500" b="1" dirty="0">
                          <a:solidFill>
                            <a:schemeClr val="bg1"/>
                          </a:solidFill>
                        </a:rPr>
                        <a:t>Format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Largest</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Smallest normal</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Gap above 1.0</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Decimal digits</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57200">
                <a:tc>
                  <a:txBody>
                    <a:bodyPr/>
                    <a:lstStyle/>
                    <a:p>
                      <a:pPr algn="ctr" indent="0" marL="0">
                        <a:buNone/>
                      </a:pPr>
                      <a:r>
                        <a:rPr lang="en-US" sz="1500" b="1" dirty="0">
                          <a:solidFill>
                            <a:schemeClr val="tx1"/>
                          </a:solidFill>
                        </a:rPr>
                        <a:t>fp32</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3.4 × 10³⁸</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1.2 × 10⁻³⁸</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1.2 × 10⁻⁷</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7.2</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algn="ctr" indent="0" marL="0">
                        <a:buNone/>
                      </a:pPr>
                      <a:r>
                        <a:rPr lang="en-US" sz="1500" b="1" dirty="0">
                          <a:solidFill>
                            <a:schemeClr val="tx1"/>
                          </a:solidFill>
                        </a:rPr>
                        <a:t>fp16</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accent3"/>
                          </a:solidFill>
                        </a:rPr>
                        <a:t>65,504</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3"/>
                          </a:solidFill>
                        </a:rPr>
                        <a:t>6.1 × 10⁻⁵</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accent1"/>
                          </a:solidFill>
                        </a:rPr>
                        <a:t>9.8 × 10⁻⁴</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3.3</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57200">
                <a:tc>
                  <a:txBody>
                    <a:bodyPr/>
                    <a:lstStyle/>
                    <a:p>
                      <a:pPr algn="ctr" indent="0" marL="0">
                        <a:buNone/>
                      </a:pPr>
                      <a:r>
                        <a:rPr lang="en-US" sz="1500" b="1" dirty="0">
                          <a:solidFill>
                            <a:schemeClr val="tx1"/>
                          </a:solidFill>
                        </a:rPr>
                        <a:t>bf16</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1"/>
                          </a:solidFill>
                        </a:rPr>
                        <a:t>3.4 × 10³⁸</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accent1"/>
                          </a:solidFill>
                        </a:rPr>
                        <a:t>1.2 × 10⁻³⁸</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b="1" dirty="0">
                          <a:solidFill>
                            <a:schemeClr val="accent3"/>
                          </a:solidFill>
                        </a:rPr>
                        <a:t>7.8 × 10⁻³</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2.4</a:t>
                      </a:r>
                      <a:endParaRPr lang="en-US" sz="15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fp16: 5 exponent, 10 mantissa bits"/>
          <p:cNvSpPr/>
          <p:nvPr/>
        </p:nvSpPr>
        <p:spPr>
          <a:xfrm>
            <a:off x="548640" y="3337560"/>
            <a:ext cx="5440680" cy="1828800"/>
          </a:xfrm>
          <a:prstGeom prst="roundRect">
            <a:avLst>
              <a:gd name="adj" fmla="val 6000"/>
            </a:avLst>
          </a:prstGeom>
          <a:solidFill>
            <a:schemeClr val="bg2"/>
          </a:solidFill>
          <a:ln w="12700">
            <a:solidFill>
              <a:schemeClr val="bg2"/>
            </a:solidFill>
            <a:prstDash val="solid"/>
          </a:ln>
        </p:spPr>
      </p:sp>
      <p:sp>
        <p:nvSpPr>
          <p:cNvPr id="6" name="Text 2"/>
          <p:cNvSpPr txBox="1"/>
          <p:nvPr/>
        </p:nvSpPr>
        <p:spPr>
          <a:xfrm>
            <a:off x="822960" y="3429000"/>
            <a:ext cx="4937760" cy="411480"/>
          </a:xfrm>
          <a:prstGeom prst="rect">
            <a:avLst/>
          </a:prstGeom>
          <a:noFill/>
          <a:ln/>
        </p:spPr>
        <p:txBody>
          <a:bodyPr wrap="square" lIns="0" tIns="0" rIns="0" bIns="0" rtlCol="0" anchor="t"/>
          <a:lstStyle/>
          <a:p>
            <a:pPr indent="0" marL="0">
              <a:buNone/>
            </a:pPr>
            <a:r>
              <a:rPr lang="en-US" sz="1700" b="1" dirty="0">
                <a:solidFill>
                  <a:schemeClr val="accent4"/>
                </a:solidFill>
              </a:rPr>
              <a:t>fp16: 5 exponent, 10 mantissa bits</a:t>
            </a:r>
            <a:endParaRPr lang="en-US" sz="1700" dirty="0"/>
          </a:p>
        </p:txBody>
      </p:sp>
      <p:sp>
        <p:nvSpPr>
          <p:cNvPr id="7" name="Text 3"/>
          <p:cNvSpPr txBox="1"/>
          <p:nvPr/>
        </p:nvSpPr>
        <p:spPr>
          <a:xfrm>
            <a:off x="822960" y="3886200"/>
            <a:ext cx="4937760" cy="12344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Finer precision: gap 2⁻¹⁰ above 1.0</a:t>
            </a:r>
            <a:endParaRPr lang="en-US" sz="1400" dirty="0"/>
          </a:p>
          <a:p>
            <a:pPr marL="228600" indent="-228600">
              <a:spcAft>
                <a:spcPts val="800"/>
              </a:spcAft>
              <a:buSzPct val="100000"/>
              <a:buChar char="•"/>
            </a:pPr>
            <a:r>
              <a:rPr lang="en-US" sz="1400" dirty="0">
                <a:solidFill>
                  <a:schemeClr val="tx1"/>
                </a:solidFill>
              </a:rPr>
              <a:t>Narrow range: values above 65,504 overflow to inf</a:t>
            </a:r>
            <a:endParaRPr lang="en-US" sz="1400" dirty="0"/>
          </a:p>
          <a:p>
            <a:pPr marL="228600" indent="-228600">
              <a:spcAft>
                <a:spcPts val="800"/>
              </a:spcAft>
              <a:buSzPct val="100000"/>
              <a:buChar char="•"/>
            </a:pPr>
            <a:r>
              <a:rPr lang="en-US" sz="1400" dirty="0">
                <a:solidFill>
                  <a:schemeClr val="tx1"/>
                </a:solidFill>
              </a:rPr>
              <a:t>Tiny gradients underflow to 0</a:t>
            </a:r>
            <a:endParaRPr lang="en-US" sz="1400" dirty="0"/>
          </a:p>
        </p:txBody>
      </p:sp>
      <p:sp>
        <p:nvSpPr>
          <p:cNvPr id="8" name="bf16: 8 exponent, 7 mantissa bits"/>
          <p:cNvSpPr/>
          <p:nvPr/>
        </p:nvSpPr>
        <p:spPr>
          <a:xfrm>
            <a:off x="6172200" y="3337560"/>
            <a:ext cx="5440680" cy="1828800"/>
          </a:xfrm>
          <a:prstGeom prst="roundRect">
            <a:avLst>
              <a:gd name="adj" fmla="val 6000"/>
            </a:avLst>
          </a:prstGeom>
          <a:solidFill>
            <a:schemeClr val="bg2"/>
          </a:solidFill>
          <a:ln w="12700">
            <a:solidFill>
              <a:schemeClr val="bg2"/>
            </a:solidFill>
            <a:prstDash val="solid"/>
          </a:ln>
        </p:spPr>
      </p:sp>
      <p:sp>
        <p:nvSpPr>
          <p:cNvPr id="9" name="Text 5"/>
          <p:cNvSpPr txBox="1"/>
          <p:nvPr/>
        </p:nvSpPr>
        <p:spPr>
          <a:xfrm>
            <a:off x="6446520" y="3429000"/>
            <a:ext cx="4937760" cy="411480"/>
          </a:xfrm>
          <a:prstGeom prst="rect">
            <a:avLst/>
          </a:prstGeom>
          <a:noFill/>
          <a:ln/>
        </p:spPr>
        <p:txBody>
          <a:bodyPr wrap="square" lIns="0" tIns="0" rIns="0" bIns="0" rtlCol="0" anchor="t"/>
          <a:lstStyle/>
          <a:p>
            <a:pPr indent="0" marL="0">
              <a:buNone/>
            </a:pPr>
            <a:r>
              <a:rPr lang="en-US" sz="1700" b="1" dirty="0">
                <a:solidFill>
                  <a:schemeClr val="accent1"/>
                </a:solidFill>
              </a:rPr>
              <a:t>bf16: 8 exponent, 7 mantissa bits</a:t>
            </a:r>
            <a:endParaRPr lang="en-US" sz="1700" dirty="0"/>
          </a:p>
        </p:txBody>
      </p:sp>
      <p:sp>
        <p:nvSpPr>
          <p:cNvPr id="10" name="Text 6"/>
          <p:cNvSpPr txBox="1"/>
          <p:nvPr/>
        </p:nvSpPr>
        <p:spPr>
          <a:xfrm>
            <a:off x="6446520" y="3886200"/>
            <a:ext cx="4937760" cy="12344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fp32's full range: no overflow or underflow surprises</a:t>
            </a:r>
            <a:endParaRPr lang="en-US" sz="1400" dirty="0"/>
          </a:p>
          <a:p>
            <a:pPr marL="228600" indent="-228600">
              <a:spcAft>
                <a:spcPts val="800"/>
              </a:spcAft>
              <a:buSzPct val="100000"/>
              <a:buChar char="•"/>
            </a:pPr>
            <a:r>
              <a:rPr lang="en-US" sz="1400" dirty="0">
                <a:solidFill>
                  <a:schemeClr val="tx1"/>
                </a:solidFill>
              </a:rPr>
              <a:t>Coarse precision: gap 2⁻⁷ ≈ 0.008 above 1.0</a:t>
            </a:r>
            <a:endParaRPr lang="en-US" sz="1400" dirty="0"/>
          </a:p>
          <a:p>
            <a:pPr marL="228600" indent="-228600">
              <a:spcAft>
                <a:spcPts val="800"/>
              </a:spcAft>
              <a:buSzPct val="100000"/>
              <a:buChar char="•"/>
            </a:pPr>
            <a:r>
              <a:rPr lang="en-US" sz="1400" dirty="0">
                <a:solidFill>
                  <a:schemeClr val="tx1"/>
                </a:solidFill>
              </a:rPr>
              <a:t>Converting from fp32 only rounds the mantissa</a:t>
            </a:r>
            <a:endParaRPr lang="en-US" sz="1400" dirty="0"/>
          </a:p>
        </p:txBody>
      </p:sp>
      <p:sp>
        <p:nvSpPr>
          <p:cNvPr id="11" name="weights"/>
          <p:cNvSpPr/>
          <p:nvPr/>
        </p:nvSpPr>
        <p:spPr>
          <a:xfrm>
            <a:off x="548640" y="5349240"/>
            <a:ext cx="11064240" cy="822960"/>
          </a:xfrm>
          <a:prstGeom prst="roundRect">
            <a:avLst>
              <a:gd name="adj" fmla="val 13333"/>
            </a:avLst>
          </a:prstGeom>
          <a:solidFill>
            <a:schemeClr val="accent5"/>
          </a:solidFill>
          <a:ln w="12700">
            <a:solidFill>
              <a:schemeClr val="accent5"/>
            </a:solidFill>
            <a:prstDash val="solid"/>
          </a:ln>
        </p:spPr>
      </p:sp>
      <p:sp>
        <p:nvSpPr>
          <p:cNvPr id="12" name="Text 8"/>
          <p:cNvSpPr txBox="1"/>
          <p:nvPr/>
        </p:nvSpPr>
        <p:spPr>
          <a:xfrm>
            <a:off x="777240" y="5349240"/>
            <a:ext cx="10607040" cy="822960"/>
          </a:xfrm>
          <a:prstGeom prst="rect">
            <a:avLst/>
          </a:prstGeom>
          <a:noFill/>
          <a:ln/>
        </p:spPr>
        <p:txBody>
          <a:bodyPr wrap="square" lIns="0" tIns="0" rIns="0" bIns="0" rtlCol="0" anchor="ctr"/>
          <a:lstStyle/>
          <a:p>
            <a:pPr indent="0" marL="0">
              <a:buNone/>
            </a:pPr>
            <a:r>
              <a:rPr lang="en-US" sz="1500" b="1" dirty="0">
                <a:solidFill>
                  <a:schemeClr val="tx1"/>
                </a:solidFill>
              </a:rPr>
              <a:t>Storing weights in 16-bit is usually fine: </a:t>
            </a:r>
            <a:r>
              <a:rPr lang="en-US" sz="1500" dirty="0">
                <a:solidFill>
                  <a:schemeClr val="tx1"/>
                </a:solidFill>
              </a:rPr>
              <a:t>median relative error 1.7 × 10⁻⁴ (fp16) and 1.4 × 10⁻³ (bf16) per weight, and errors largely cancel in a layer's output.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Supplement: three ways 16-bit training breaks</a:t>
            </a:r>
            <a:endParaRPr lang="en-US" sz="3200" dirty="0"/>
          </a:p>
        </p:txBody>
      </p:sp>
      <p:sp>
        <p:nvSpPr>
          <p:cNvPr id="4" name="Lost updates"/>
          <p:cNvSpPr/>
          <p:nvPr/>
        </p:nvSpPr>
        <p:spPr>
          <a:xfrm>
            <a:off x="548640" y="1280160"/>
            <a:ext cx="3474720" cy="4892040"/>
          </a:xfrm>
          <a:prstGeom prst="roundRect">
            <a:avLst>
              <a:gd name="adj" fmla="val 3158"/>
            </a:avLst>
          </a:prstGeom>
          <a:solidFill>
            <a:schemeClr val="bg2"/>
          </a:solidFill>
          <a:ln w="12700">
            <a:solidFill>
              <a:schemeClr val="bg2"/>
            </a:solidFill>
            <a:prstDash val="solid"/>
          </a:ln>
        </p:spPr>
      </p:sp>
      <p:sp>
        <p:nvSpPr>
          <p:cNvPr id="5" name="Shape 2"/>
          <p:cNvSpPr/>
          <p:nvPr/>
        </p:nvSpPr>
        <p:spPr>
          <a:xfrm>
            <a:off x="777240" y="1463040"/>
            <a:ext cx="457200" cy="457200"/>
          </a:xfrm>
          <a:prstGeom prst="ellipse">
            <a:avLst/>
          </a:prstGeom>
          <a:solidFill>
            <a:schemeClr val="accent3"/>
          </a:solidFill>
          <a:ln w="12700">
            <a:solidFill>
              <a:schemeClr val="accent3"/>
            </a:solidFill>
            <a:prstDash val="solid"/>
          </a:ln>
        </p:spPr>
      </p:sp>
      <p:sp>
        <p:nvSpPr>
          <p:cNvPr id="6" name="Text 3"/>
          <p:cNvSpPr txBox="1"/>
          <p:nvPr/>
        </p:nvSpPr>
        <p:spPr>
          <a:xfrm>
            <a:off x="777240" y="1463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371600" y="1463040"/>
            <a:ext cx="246888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Lost updates</a:t>
            </a:r>
            <a:endParaRPr lang="en-US" sz="2000" dirty="0"/>
          </a:p>
        </p:txBody>
      </p:sp>
      <p:sp>
        <p:nvSpPr>
          <p:cNvPr id="8" name="Text 5"/>
          <p:cNvSpPr txBox="1"/>
          <p:nvPr/>
        </p:nvSpPr>
        <p:spPr>
          <a:xfrm>
            <a:off x="777240" y="2057400"/>
            <a:ext cx="3017520" cy="411480"/>
          </a:xfrm>
          <a:prstGeom prst="rect">
            <a:avLst/>
          </a:prstGeom>
          <a:noFill/>
          <a:ln/>
        </p:spPr>
        <p:txBody>
          <a:bodyPr wrap="square" lIns="0" tIns="0" rIns="0" bIns="0" rtlCol="0" anchor="t"/>
          <a:lstStyle/>
          <a:p>
            <a:pPr indent="0" marL="0">
              <a:buNone/>
            </a:pPr>
            <a:r>
              <a:rPr lang="en-US" sz="1400" i="1" dirty="0">
                <a:solidFill>
                  <a:schemeClr val="tx2"/>
                </a:solidFill>
              </a:rPr>
              <a:t>1.0 + 0.0001, 1,000 times</a:t>
            </a:r>
            <a:endParaRPr lang="en-US" sz="1400" dirty="0"/>
          </a:p>
        </p:txBody>
      </p:sp>
      <p:sp>
        <p:nvSpPr>
          <p:cNvPr id="9" name="Text 6"/>
          <p:cNvSpPr txBox="1"/>
          <p:nvPr/>
        </p:nvSpPr>
        <p:spPr>
          <a:xfrm>
            <a:off x="777240" y="2560320"/>
            <a:ext cx="1554480" cy="548640"/>
          </a:xfrm>
          <a:prstGeom prst="rect">
            <a:avLst/>
          </a:prstGeom>
          <a:noFill/>
          <a:ln/>
        </p:spPr>
        <p:txBody>
          <a:bodyPr wrap="square" lIns="0" tIns="0" rIns="0" bIns="0" rtlCol="0" anchor="ctr"/>
          <a:lstStyle/>
          <a:p>
            <a:pPr indent="0" marL="0">
              <a:buNone/>
            </a:pPr>
            <a:r>
              <a:rPr lang="en-US" sz="1400" dirty="0">
                <a:solidFill>
                  <a:schemeClr val="tx1"/>
                </a:solidFill>
              </a:rPr>
              <a:t>fp32</a:t>
            </a:r>
            <a:endParaRPr lang="en-US" sz="1400" dirty="0"/>
          </a:p>
        </p:txBody>
      </p:sp>
      <p:sp>
        <p:nvSpPr>
          <p:cNvPr id="10" name="Text 7"/>
          <p:cNvSpPr txBox="1"/>
          <p:nvPr/>
        </p:nvSpPr>
        <p:spPr>
          <a:xfrm>
            <a:off x="2286000" y="2560320"/>
            <a:ext cx="1554480" cy="548640"/>
          </a:xfrm>
          <a:prstGeom prst="rect">
            <a:avLst/>
          </a:prstGeom>
          <a:noFill/>
          <a:ln/>
        </p:spPr>
        <p:txBody>
          <a:bodyPr wrap="square" lIns="0" tIns="0" rIns="0" bIns="0" rtlCol="0" anchor="ctr"/>
          <a:lstStyle/>
          <a:p>
            <a:pPr algn="r" indent="0" marL="0">
              <a:buNone/>
            </a:pPr>
            <a:r>
              <a:rPr lang="en-US" sz="1800" b="1" dirty="0">
                <a:solidFill>
                  <a:schemeClr val="accent1"/>
                </a:solidFill>
                <a:latin typeface="Courier New" pitchFamily="34" charset="0"/>
                <a:ea typeface="Courier New" pitchFamily="34" charset="-122"/>
                <a:cs typeface="Courier New" pitchFamily="34" charset="-120"/>
              </a:rPr>
              <a:t>1.100017</a:t>
            </a:r>
            <a:endParaRPr lang="en-US" sz="1800" dirty="0"/>
          </a:p>
        </p:txBody>
      </p:sp>
      <p:sp>
        <p:nvSpPr>
          <p:cNvPr id="11" name="Text 8"/>
          <p:cNvSpPr txBox="1"/>
          <p:nvPr/>
        </p:nvSpPr>
        <p:spPr>
          <a:xfrm>
            <a:off x="777240" y="3246120"/>
            <a:ext cx="1554480" cy="548640"/>
          </a:xfrm>
          <a:prstGeom prst="rect">
            <a:avLst/>
          </a:prstGeom>
          <a:noFill/>
          <a:ln/>
        </p:spPr>
        <p:txBody>
          <a:bodyPr wrap="square" lIns="0" tIns="0" rIns="0" bIns="0" rtlCol="0" anchor="ctr"/>
          <a:lstStyle/>
          <a:p>
            <a:pPr indent="0" marL="0">
              <a:buNone/>
            </a:pPr>
            <a:r>
              <a:rPr lang="en-US" sz="1400" dirty="0">
                <a:solidFill>
                  <a:schemeClr val="tx1"/>
                </a:solidFill>
              </a:rPr>
              <a:t>fp16 / bf16</a:t>
            </a:r>
            <a:endParaRPr lang="en-US" sz="1400" dirty="0"/>
          </a:p>
        </p:txBody>
      </p:sp>
      <p:sp>
        <p:nvSpPr>
          <p:cNvPr id="12" name="Text 9"/>
          <p:cNvSpPr txBox="1"/>
          <p:nvPr/>
        </p:nvSpPr>
        <p:spPr>
          <a:xfrm>
            <a:off x="2286000" y="3246120"/>
            <a:ext cx="1554480" cy="548640"/>
          </a:xfrm>
          <a:prstGeom prst="rect">
            <a:avLst/>
          </a:prstGeom>
          <a:noFill/>
          <a:ln/>
        </p:spPr>
        <p:txBody>
          <a:bodyPr wrap="square" lIns="0" tIns="0" rIns="0" bIns="0" rtlCol="0" anchor="ctr"/>
          <a:lstStyle/>
          <a:p>
            <a:pPr algn="r" indent="0" marL="0">
              <a:buNone/>
            </a:pPr>
            <a:r>
              <a:rPr lang="en-US" sz="1800" b="1" dirty="0">
                <a:solidFill>
                  <a:schemeClr val="accent3"/>
                </a:solidFill>
                <a:latin typeface="Courier New" pitchFamily="34" charset="0"/>
                <a:ea typeface="Courier New" pitchFamily="34" charset="-122"/>
                <a:cs typeface="Courier New" pitchFamily="34" charset="-120"/>
              </a:rPr>
              <a:t>1.000000</a:t>
            </a:r>
            <a:endParaRPr lang="en-US" sz="1800" dirty="0"/>
          </a:p>
        </p:txBody>
      </p:sp>
      <p:sp>
        <p:nvSpPr>
          <p:cNvPr id="13" name="Text 10"/>
          <p:cNvSpPr txBox="1"/>
          <p:nvPr/>
        </p:nvSpPr>
        <p:spPr>
          <a:xfrm>
            <a:off x="777240" y="3977640"/>
            <a:ext cx="3017520" cy="914400"/>
          </a:xfrm>
          <a:prstGeom prst="rect">
            <a:avLst/>
          </a:prstGeom>
          <a:noFill/>
          <a:ln/>
        </p:spPr>
        <p:txBody>
          <a:bodyPr wrap="square" lIns="0" tIns="0" rIns="0" bIns="0" rtlCol="0" anchor="t"/>
          <a:lstStyle/>
          <a:p>
            <a:pPr indent="0" marL="0">
              <a:buNone/>
            </a:pPr>
            <a:r>
              <a:rPr lang="en-US" sz="1400" dirty="0">
                <a:solidFill>
                  <a:schemeClr val="tx1"/>
                </a:solidFill>
              </a:rPr>
              <a:t>fp16 and bf16 round 1.0001 back to 1.0 at every step.</a:t>
            </a:r>
            <a:endParaRPr lang="en-US" sz="1400" dirty="0"/>
          </a:p>
        </p:txBody>
      </p:sp>
      <p:sp>
        <p:nvSpPr>
          <p:cNvPr id="14" name="Lost updates fix"/>
          <p:cNvSpPr/>
          <p:nvPr/>
        </p:nvSpPr>
        <p:spPr>
          <a:xfrm>
            <a:off x="685800" y="5029200"/>
            <a:ext cx="3200400" cy="1005840"/>
          </a:xfrm>
          <a:prstGeom prst="roundRect">
            <a:avLst>
              <a:gd name="adj" fmla="val 10909"/>
            </a:avLst>
          </a:prstGeom>
          <a:solidFill>
            <a:schemeClr val="bg1"/>
          </a:solidFill>
          <a:ln w="12700">
            <a:solidFill>
              <a:schemeClr val="bg1"/>
            </a:solidFill>
            <a:prstDash val="solid"/>
          </a:ln>
        </p:spPr>
      </p:sp>
      <p:sp>
        <p:nvSpPr>
          <p:cNvPr id="15" name="Text 12"/>
          <p:cNvSpPr txBox="1"/>
          <p:nvPr/>
        </p:nvSpPr>
        <p:spPr>
          <a:xfrm>
            <a:off x="822960" y="5029200"/>
            <a:ext cx="2926080" cy="1005840"/>
          </a:xfrm>
          <a:prstGeom prst="rect">
            <a:avLst/>
          </a:prstGeom>
          <a:noFill/>
          <a:ln/>
        </p:spPr>
        <p:txBody>
          <a:bodyPr wrap="square" lIns="0" tIns="0" rIns="0" bIns="0" rtlCol="0" anchor="ctr"/>
          <a:lstStyle/>
          <a:p>
            <a:pPr indent="0" marL="0">
              <a:buNone/>
            </a:pPr>
            <a:r>
              <a:rPr lang="en-US" sz="1400" b="1" dirty="0">
                <a:solidFill>
                  <a:schemeClr val="accent1"/>
                </a:solidFill>
              </a:rPr>
              <a:t>Fix: fp32 master copy of the weights</a:t>
            </a:r>
            <a:endParaRPr lang="en-US" sz="1400" dirty="0"/>
          </a:p>
        </p:txBody>
      </p:sp>
      <p:sp>
        <p:nvSpPr>
          <p:cNvPr id="16" name="Overflow"/>
          <p:cNvSpPr/>
          <p:nvPr/>
        </p:nvSpPr>
        <p:spPr>
          <a:xfrm>
            <a:off x="4297680" y="1280160"/>
            <a:ext cx="3474720" cy="4892040"/>
          </a:xfrm>
          <a:prstGeom prst="roundRect">
            <a:avLst>
              <a:gd name="adj" fmla="val 3158"/>
            </a:avLst>
          </a:prstGeom>
          <a:solidFill>
            <a:schemeClr val="bg2"/>
          </a:solidFill>
          <a:ln w="12700">
            <a:solidFill>
              <a:schemeClr val="bg2"/>
            </a:solidFill>
            <a:prstDash val="solid"/>
          </a:ln>
        </p:spPr>
      </p:sp>
      <p:sp>
        <p:nvSpPr>
          <p:cNvPr id="17" name="Shape 14"/>
          <p:cNvSpPr/>
          <p:nvPr/>
        </p:nvSpPr>
        <p:spPr>
          <a:xfrm>
            <a:off x="4526280" y="1463040"/>
            <a:ext cx="457200" cy="457200"/>
          </a:xfrm>
          <a:prstGeom prst="ellipse">
            <a:avLst/>
          </a:prstGeom>
          <a:solidFill>
            <a:schemeClr val="accent3"/>
          </a:solidFill>
          <a:ln w="12700">
            <a:solidFill>
              <a:schemeClr val="accent3"/>
            </a:solidFill>
            <a:prstDash val="solid"/>
          </a:ln>
        </p:spPr>
      </p:sp>
      <p:sp>
        <p:nvSpPr>
          <p:cNvPr id="18" name="Text 15"/>
          <p:cNvSpPr txBox="1"/>
          <p:nvPr/>
        </p:nvSpPr>
        <p:spPr>
          <a:xfrm>
            <a:off x="4526280" y="1463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9" name="Text 16"/>
          <p:cNvSpPr txBox="1"/>
          <p:nvPr/>
        </p:nvSpPr>
        <p:spPr>
          <a:xfrm>
            <a:off x="5120640" y="1463040"/>
            <a:ext cx="246888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Overflow</a:t>
            </a:r>
            <a:endParaRPr lang="en-US" sz="2000" dirty="0"/>
          </a:p>
        </p:txBody>
      </p:sp>
      <p:sp>
        <p:nvSpPr>
          <p:cNvPr id="20" name="Text 17"/>
          <p:cNvSpPr txBox="1"/>
          <p:nvPr/>
        </p:nvSpPr>
        <p:spPr>
          <a:xfrm>
            <a:off x="4526280" y="2057400"/>
            <a:ext cx="3017520" cy="411480"/>
          </a:xfrm>
          <a:prstGeom prst="rect">
            <a:avLst/>
          </a:prstGeom>
          <a:noFill/>
          <a:ln/>
        </p:spPr>
        <p:txBody>
          <a:bodyPr wrap="square" lIns="0" tIns="0" rIns="0" bIns="0" rtlCol="0" anchor="t"/>
          <a:lstStyle/>
          <a:p>
            <a:pPr indent="0" marL="0">
              <a:buNone/>
            </a:pPr>
            <a:r>
              <a:rPr lang="en-US" sz="1400" i="1" dirty="0">
                <a:solidFill>
                  <a:schemeClr val="tx2"/>
                </a:solidFill>
              </a:rPr>
              <a:t>softmax of logits up to 12</a:t>
            </a:r>
            <a:endParaRPr lang="en-US" sz="1400" dirty="0"/>
          </a:p>
        </p:txBody>
      </p:sp>
      <p:sp>
        <p:nvSpPr>
          <p:cNvPr id="21" name="Text 18"/>
          <p:cNvSpPr txBox="1"/>
          <p:nvPr/>
        </p:nvSpPr>
        <p:spPr>
          <a:xfrm>
            <a:off x="4526280" y="2560320"/>
            <a:ext cx="1554480" cy="548640"/>
          </a:xfrm>
          <a:prstGeom prst="rect">
            <a:avLst/>
          </a:prstGeom>
          <a:noFill/>
          <a:ln/>
        </p:spPr>
        <p:txBody>
          <a:bodyPr wrap="square" lIns="0" tIns="0" rIns="0" bIns="0" rtlCol="0" anchor="ctr"/>
          <a:lstStyle/>
          <a:p>
            <a:pPr indent="0" marL="0">
              <a:buNone/>
            </a:pPr>
            <a:r>
              <a:rPr lang="en-US" sz="1400" dirty="0">
                <a:solidFill>
                  <a:schemeClr val="tx1"/>
                </a:solidFill>
              </a:rPr>
              <a:t>fp16 e¹²</a:t>
            </a:r>
            <a:endParaRPr lang="en-US" sz="1400" dirty="0"/>
          </a:p>
        </p:txBody>
      </p:sp>
      <p:sp>
        <p:nvSpPr>
          <p:cNvPr id="22" name="Text 19"/>
          <p:cNvSpPr txBox="1"/>
          <p:nvPr/>
        </p:nvSpPr>
        <p:spPr>
          <a:xfrm>
            <a:off x="6035040" y="2560320"/>
            <a:ext cx="1554480" cy="548640"/>
          </a:xfrm>
          <a:prstGeom prst="rect">
            <a:avLst/>
          </a:prstGeom>
          <a:noFill/>
          <a:ln/>
        </p:spPr>
        <p:txBody>
          <a:bodyPr wrap="square" lIns="0" tIns="0" rIns="0" bIns="0" rtlCol="0" anchor="ctr"/>
          <a:lstStyle/>
          <a:p>
            <a:pPr algn="r" indent="0" marL="0">
              <a:buNone/>
            </a:pPr>
            <a:r>
              <a:rPr lang="en-US" sz="1800" b="1" dirty="0">
                <a:solidFill>
                  <a:schemeClr val="accent3"/>
                </a:solidFill>
                <a:latin typeface="Courier New" pitchFamily="34" charset="0"/>
                <a:ea typeface="Courier New" pitchFamily="34" charset="-122"/>
                <a:cs typeface="Courier New" pitchFamily="34" charset="-120"/>
              </a:rPr>
              <a:t>inf → NaN</a:t>
            </a:r>
            <a:endParaRPr lang="en-US" sz="1800" dirty="0"/>
          </a:p>
        </p:txBody>
      </p:sp>
      <p:sp>
        <p:nvSpPr>
          <p:cNvPr id="23" name="Text 20"/>
          <p:cNvSpPr txBox="1"/>
          <p:nvPr/>
        </p:nvSpPr>
        <p:spPr>
          <a:xfrm>
            <a:off x="4526280" y="3246120"/>
            <a:ext cx="1554480" cy="548640"/>
          </a:xfrm>
          <a:prstGeom prst="rect">
            <a:avLst/>
          </a:prstGeom>
          <a:noFill/>
          <a:ln/>
        </p:spPr>
        <p:txBody>
          <a:bodyPr wrap="square" lIns="0" tIns="0" rIns="0" bIns="0" rtlCol="0" anchor="ctr"/>
          <a:lstStyle/>
          <a:p>
            <a:pPr indent="0" marL="0">
              <a:buNone/>
            </a:pPr>
            <a:r>
              <a:rPr lang="en-US" sz="1400" dirty="0">
                <a:solidFill>
                  <a:schemeClr val="tx1"/>
                </a:solidFill>
              </a:rPr>
              <a:t>bf16 e¹²</a:t>
            </a:r>
            <a:endParaRPr lang="en-US" sz="1400" dirty="0"/>
          </a:p>
        </p:txBody>
      </p:sp>
      <p:sp>
        <p:nvSpPr>
          <p:cNvPr id="24" name="Text 21"/>
          <p:cNvSpPr txBox="1"/>
          <p:nvPr/>
        </p:nvSpPr>
        <p:spPr>
          <a:xfrm>
            <a:off x="6035040" y="3246120"/>
            <a:ext cx="1554480" cy="548640"/>
          </a:xfrm>
          <a:prstGeom prst="rect">
            <a:avLst/>
          </a:prstGeom>
          <a:noFill/>
          <a:ln/>
        </p:spPr>
        <p:txBody>
          <a:bodyPr wrap="square" lIns="0" tIns="0" rIns="0" bIns="0" rtlCol="0" anchor="ctr"/>
          <a:lstStyle/>
          <a:p>
            <a:pPr algn="r" indent="0" marL="0">
              <a:buNone/>
            </a:pPr>
            <a:r>
              <a:rPr lang="en-US" sz="1800" b="1" dirty="0">
                <a:solidFill>
                  <a:schemeClr val="accent1"/>
                </a:solidFill>
                <a:latin typeface="Courier New" pitchFamily="34" charset="0"/>
                <a:ea typeface="Courier New" pitchFamily="34" charset="-122"/>
                <a:cs typeface="Courier New" pitchFamily="34" charset="-120"/>
              </a:rPr>
              <a:t>162,816</a:t>
            </a:r>
            <a:endParaRPr lang="en-US" sz="1800" dirty="0"/>
          </a:p>
        </p:txBody>
      </p:sp>
      <p:sp>
        <p:nvSpPr>
          <p:cNvPr id="25" name="Text 22"/>
          <p:cNvSpPr txBox="1"/>
          <p:nvPr/>
        </p:nvSpPr>
        <p:spPr>
          <a:xfrm>
            <a:off x="4526280" y="3977640"/>
            <a:ext cx="3017520" cy="914400"/>
          </a:xfrm>
          <a:prstGeom prst="rect">
            <a:avLst/>
          </a:prstGeom>
          <a:noFill/>
          <a:ln/>
        </p:spPr>
        <p:txBody>
          <a:bodyPr wrap="square" lIns="0" tIns="0" rIns="0" bIns="0" rtlCol="0" anchor="t"/>
          <a:lstStyle/>
          <a:p>
            <a:pPr indent="0" marL="0">
              <a:buNone/>
            </a:pPr>
            <a:r>
              <a:rPr lang="en-US" sz="1400" dirty="0">
                <a:solidFill>
                  <a:schemeClr val="tx1"/>
                </a:solidFill>
              </a:rPr>
              <a:t>e¹² ≈ 162,755 exceeds fp16's maximum of 65,504.</a:t>
            </a:r>
            <a:endParaRPr lang="en-US" sz="1400" dirty="0"/>
          </a:p>
        </p:txBody>
      </p:sp>
      <p:sp>
        <p:nvSpPr>
          <p:cNvPr id="26" name="Overflow fix"/>
          <p:cNvSpPr/>
          <p:nvPr/>
        </p:nvSpPr>
        <p:spPr>
          <a:xfrm>
            <a:off x="4434840" y="5029200"/>
            <a:ext cx="3200400" cy="1005840"/>
          </a:xfrm>
          <a:prstGeom prst="roundRect">
            <a:avLst>
              <a:gd name="adj" fmla="val 10909"/>
            </a:avLst>
          </a:prstGeom>
          <a:solidFill>
            <a:schemeClr val="bg1"/>
          </a:solidFill>
          <a:ln w="12700">
            <a:solidFill>
              <a:schemeClr val="bg1"/>
            </a:solidFill>
            <a:prstDash val="solid"/>
          </a:ln>
        </p:spPr>
      </p:sp>
      <p:sp>
        <p:nvSpPr>
          <p:cNvPr id="27" name="Text 24"/>
          <p:cNvSpPr txBox="1"/>
          <p:nvPr/>
        </p:nvSpPr>
        <p:spPr>
          <a:xfrm>
            <a:off x="4572000" y="5029200"/>
            <a:ext cx="2926080" cy="1005840"/>
          </a:xfrm>
          <a:prstGeom prst="rect">
            <a:avLst/>
          </a:prstGeom>
          <a:noFill/>
          <a:ln/>
        </p:spPr>
        <p:txBody>
          <a:bodyPr wrap="square" lIns="0" tIns="0" rIns="0" bIns="0" rtlCol="0" anchor="ctr"/>
          <a:lstStyle/>
          <a:p>
            <a:pPr indent="0" marL="0">
              <a:buNone/>
            </a:pPr>
            <a:r>
              <a:rPr lang="en-US" sz="1400" b="1" dirty="0">
                <a:solidFill>
                  <a:schemeClr val="accent1"/>
                </a:solidFill>
              </a:rPr>
              <a:t>Fix: subtract the max; risky ops in fp32; or bf16</a:t>
            </a:r>
            <a:endParaRPr lang="en-US" sz="1400" dirty="0"/>
          </a:p>
        </p:txBody>
      </p:sp>
      <p:sp>
        <p:nvSpPr>
          <p:cNvPr id="28" name="Underflow"/>
          <p:cNvSpPr/>
          <p:nvPr/>
        </p:nvSpPr>
        <p:spPr>
          <a:xfrm>
            <a:off x="8046720" y="1280160"/>
            <a:ext cx="3474720" cy="4892040"/>
          </a:xfrm>
          <a:prstGeom prst="roundRect">
            <a:avLst>
              <a:gd name="adj" fmla="val 3158"/>
            </a:avLst>
          </a:prstGeom>
          <a:solidFill>
            <a:schemeClr val="bg2"/>
          </a:solidFill>
          <a:ln w="12700">
            <a:solidFill>
              <a:schemeClr val="bg2"/>
            </a:solidFill>
            <a:prstDash val="solid"/>
          </a:ln>
        </p:spPr>
      </p:sp>
      <p:sp>
        <p:nvSpPr>
          <p:cNvPr id="29" name="Shape 26"/>
          <p:cNvSpPr/>
          <p:nvPr/>
        </p:nvSpPr>
        <p:spPr>
          <a:xfrm>
            <a:off x="8275320" y="1463040"/>
            <a:ext cx="457200" cy="457200"/>
          </a:xfrm>
          <a:prstGeom prst="ellipse">
            <a:avLst/>
          </a:prstGeom>
          <a:solidFill>
            <a:schemeClr val="accent3"/>
          </a:solidFill>
          <a:ln w="12700">
            <a:solidFill>
              <a:schemeClr val="accent3"/>
            </a:solidFill>
            <a:prstDash val="solid"/>
          </a:ln>
        </p:spPr>
      </p:sp>
      <p:sp>
        <p:nvSpPr>
          <p:cNvPr id="30" name="Text 27"/>
          <p:cNvSpPr txBox="1"/>
          <p:nvPr/>
        </p:nvSpPr>
        <p:spPr>
          <a:xfrm>
            <a:off x="8275320" y="1463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1" name="Text 28"/>
          <p:cNvSpPr txBox="1"/>
          <p:nvPr/>
        </p:nvSpPr>
        <p:spPr>
          <a:xfrm>
            <a:off x="8869680" y="1463040"/>
            <a:ext cx="246888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Underflow</a:t>
            </a:r>
            <a:endParaRPr lang="en-US" sz="2000" dirty="0"/>
          </a:p>
        </p:txBody>
      </p:sp>
      <p:sp>
        <p:nvSpPr>
          <p:cNvPr id="32" name="Text 29"/>
          <p:cNvSpPr txBox="1"/>
          <p:nvPr/>
        </p:nvSpPr>
        <p:spPr>
          <a:xfrm>
            <a:off x="8275320" y="2057400"/>
            <a:ext cx="3017520" cy="411480"/>
          </a:xfrm>
          <a:prstGeom prst="rect">
            <a:avLst/>
          </a:prstGeom>
          <a:noFill/>
          <a:ln/>
        </p:spPr>
        <p:txBody>
          <a:bodyPr wrap="square" lIns="0" tIns="0" rIns="0" bIns="0" rtlCol="0" anchor="t"/>
          <a:lstStyle/>
          <a:p>
            <a:pPr indent="0" marL="0">
              <a:buNone/>
            </a:pPr>
            <a:r>
              <a:rPr lang="en-US" sz="1400" i="1" dirty="0">
                <a:solidFill>
                  <a:schemeClr val="tx2"/>
                </a:solidFill>
              </a:rPr>
              <a:t>gradients from 10⁻¹⁰ to 10⁻³</a:t>
            </a:r>
            <a:endParaRPr lang="en-US" sz="1400" dirty="0"/>
          </a:p>
        </p:txBody>
      </p:sp>
      <p:sp>
        <p:nvSpPr>
          <p:cNvPr id="33" name="Text 30"/>
          <p:cNvSpPr txBox="1"/>
          <p:nvPr/>
        </p:nvSpPr>
        <p:spPr>
          <a:xfrm>
            <a:off x="8275320" y="2560320"/>
            <a:ext cx="1554480" cy="548640"/>
          </a:xfrm>
          <a:prstGeom prst="rect">
            <a:avLst/>
          </a:prstGeom>
          <a:noFill/>
          <a:ln/>
        </p:spPr>
        <p:txBody>
          <a:bodyPr wrap="square" lIns="0" tIns="0" rIns="0" bIns="0" rtlCol="0" anchor="ctr"/>
          <a:lstStyle/>
          <a:p>
            <a:pPr indent="0" marL="0">
              <a:buNone/>
            </a:pPr>
            <a:r>
              <a:rPr lang="en-US" sz="1400" dirty="0">
                <a:solidFill>
                  <a:schemeClr val="tx1"/>
                </a:solidFill>
              </a:rPr>
              <a:t>fp16</a:t>
            </a:r>
            <a:endParaRPr lang="en-US" sz="1400" dirty="0"/>
          </a:p>
        </p:txBody>
      </p:sp>
      <p:sp>
        <p:nvSpPr>
          <p:cNvPr id="34" name="Text 31"/>
          <p:cNvSpPr txBox="1"/>
          <p:nvPr/>
        </p:nvSpPr>
        <p:spPr>
          <a:xfrm>
            <a:off x="9784080" y="2560320"/>
            <a:ext cx="1554480" cy="548640"/>
          </a:xfrm>
          <a:prstGeom prst="rect">
            <a:avLst/>
          </a:prstGeom>
          <a:noFill/>
          <a:ln/>
        </p:spPr>
        <p:txBody>
          <a:bodyPr wrap="square" lIns="0" tIns="0" rIns="0" bIns="0" rtlCol="0" anchor="ctr"/>
          <a:lstStyle/>
          <a:p>
            <a:pPr algn="r" indent="0" marL="0">
              <a:buNone/>
            </a:pPr>
            <a:r>
              <a:rPr lang="en-US" sz="1800" b="1" dirty="0">
                <a:solidFill>
                  <a:schemeClr val="accent3"/>
                </a:solidFill>
                <a:latin typeface="Courier New" pitchFamily="34" charset="0"/>
                <a:ea typeface="Courier New" pitchFamily="34" charset="-122"/>
                <a:cs typeface="Courier New" pitchFamily="34" charset="-120"/>
              </a:rPr>
              <a:t>35.1% → 0</a:t>
            </a:r>
            <a:endParaRPr lang="en-US" sz="1800" dirty="0"/>
          </a:p>
        </p:txBody>
      </p:sp>
      <p:sp>
        <p:nvSpPr>
          <p:cNvPr id="35" name="Text 32"/>
          <p:cNvSpPr txBox="1"/>
          <p:nvPr/>
        </p:nvSpPr>
        <p:spPr>
          <a:xfrm>
            <a:off x="8275320" y="3246120"/>
            <a:ext cx="1554480" cy="548640"/>
          </a:xfrm>
          <a:prstGeom prst="rect">
            <a:avLst/>
          </a:prstGeom>
          <a:noFill/>
          <a:ln/>
        </p:spPr>
        <p:txBody>
          <a:bodyPr wrap="square" lIns="0" tIns="0" rIns="0" bIns="0" rtlCol="0" anchor="ctr"/>
          <a:lstStyle/>
          <a:p>
            <a:pPr indent="0" marL="0">
              <a:buNone/>
            </a:pPr>
            <a:r>
              <a:rPr lang="en-US" sz="1400" dirty="0">
                <a:solidFill>
                  <a:schemeClr val="tx1"/>
                </a:solidFill>
              </a:rPr>
              <a:t>fp16, loss × 2¹⁶</a:t>
            </a:r>
            <a:endParaRPr lang="en-US" sz="1400" dirty="0"/>
          </a:p>
        </p:txBody>
      </p:sp>
      <p:sp>
        <p:nvSpPr>
          <p:cNvPr id="36" name="Text 33"/>
          <p:cNvSpPr txBox="1"/>
          <p:nvPr/>
        </p:nvSpPr>
        <p:spPr>
          <a:xfrm>
            <a:off x="9784080" y="3246120"/>
            <a:ext cx="1554480" cy="548640"/>
          </a:xfrm>
          <a:prstGeom prst="rect">
            <a:avLst/>
          </a:prstGeom>
          <a:noFill/>
          <a:ln/>
        </p:spPr>
        <p:txBody>
          <a:bodyPr wrap="square" lIns="0" tIns="0" rIns="0" bIns="0" rtlCol="0" anchor="ctr"/>
          <a:lstStyle/>
          <a:p>
            <a:pPr algn="r" indent="0" marL="0">
              <a:buNone/>
            </a:pPr>
            <a:r>
              <a:rPr lang="en-US" sz="1800" b="1" dirty="0">
                <a:solidFill>
                  <a:schemeClr val="accent1"/>
                </a:solidFill>
                <a:latin typeface="Courier New" pitchFamily="34" charset="0"/>
                <a:ea typeface="Courier New" pitchFamily="34" charset="-122"/>
                <a:cs typeface="Courier New" pitchFamily="34" charset="-120"/>
              </a:rPr>
              <a:t>0.0% → 0</a:t>
            </a:r>
            <a:endParaRPr lang="en-US" sz="1800" dirty="0"/>
          </a:p>
        </p:txBody>
      </p:sp>
      <p:sp>
        <p:nvSpPr>
          <p:cNvPr id="37" name="Text 34"/>
          <p:cNvSpPr txBox="1"/>
          <p:nvPr/>
        </p:nvSpPr>
        <p:spPr>
          <a:xfrm>
            <a:off x="8275320" y="3977640"/>
            <a:ext cx="3017520" cy="914400"/>
          </a:xfrm>
          <a:prstGeom prst="rect">
            <a:avLst/>
          </a:prstGeom>
          <a:noFill/>
          <a:ln/>
        </p:spPr>
        <p:txBody>
          <a:bodyPr wrap="square" lIns="0" tIns="0" rIns="0" bIns="0" rtlCol="0" anchor="t"/>
          <a:lstStyle/>
          <a:p>
            <a:pPr indent="0" marL="0">
              <a:buNone/>
            </a:pPr>
            <a:r>
              <a:rPr lang="en-US" sz="1400" dirty="0">
                <a:solidFill>
                  <a:schemeClr val="tx1"/>
                </a:solidFill>
              </a:rPr>
              <a:t>Below about 6 × 10⁻⁸, fp16 stores exactly zero.</a:t>
            </a:r>
            <a:endParaRPr lang="en-US" sz="1400" dirty="0"/>
          </a:p>
        </p:txBody>
      </p:sp>
      <p:sp>
        <p:nvSpPr>
          <p:cNvPr id="38" name="Underflow fix"/>
          <p:cNvSpPr/>
          <p:nvPr/>
        </p:nvSpPr>
        <p:spPr>
          <a:xfrm>
            <a:off x="8183880" y="5029200"/>
            <a:ext cx="3200400" cy="1005840"/>
          </a:xfrm>
          <a:prstGeom prst="roundRect">
            <a:avLst>
              <a:gd name="adj" fmla="val 10909"/>
            </a:avLst>
          </a:prstGeom>
          <a:solidFill>
            <a:schemeClr val="bg1"/>
          </a:solidFill>
          <a:ln w="12700">
            <a:solidFill>
              <a:schemeClr val="bg1"/>
            </a:solidFill>
            <a:prstDash val="solid"/>
          </a:ln>
        </p:spPr>
      </p:sp>
      <p:sp>
        <p:nvSpPr>
          <p:cNvPr id="39" name="Text 36"/>
          <p:cNvSpPr txBox="1"/>
          <p:nvPr/>
        </p:nvSpPr>
        <p:spPr>
          <a:xfrm>
            <a:off x="8321040" y="5029200"/>
            <a:ext cx="2926080" cy="1005840"/>
          </a:xfrm>
          <a:prstGeom prst="rect">
            <a:avLst/>
          </a:prstGeom>
          <a:noFill/>
          <a:ln/>
        </p:spPr>
        <p:txBody>
          <a:bodyPr wrap="square" lIns="0" tIns="0" rIns="0" bIns="0" rtlCol="0" anchor="ctr"/>
          <a:lstStyle/>
          <a:p>
            <a:pPr indent="0" marL="0">
              <a:buNone/>
            </a:pPr>
            <a:r>
              <a:rPr lang="en-US" sz="1400" b="1" dirty="0">
                <a:solidFill>
                  <a:schemeClr val="accent1"/>
                </a:solidFill>
              </a:rPr>
              <a:t>Fix: loss scaling (GradScaler), or bf16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Supplement: mixed precision and GPUs</a:t>
            </a:r>
            <a:endParaRPr lang="en-US" sz="3200" dirty="0"/>
          </a:p>
        </p:txBody>
      </p:sp>
      <p:sp>
        <p:nvSpPr>
          <p:cNvPr id="4" name="Shape 1"/>
          <p:cNvSpPr/>
          <p:nvPr/>
        </p:nvSpPr>
        <p:spPr>
          <a:xfrm>
            <a:off x="548640" y="1325880"/>
            <a:ext cx="2194560" cy="868680"/>
          </a:xfrm>
          <a:prstGeom prst="roundRect">
            <a:avLst>
              <a:gd name="adj" fmla="val 10526"/>
            </a:avLst>
          </a:prstGeom>
          <a:solidFill>
            <a:schemeClr val="bg2"/>
          </a:solidFill>
          <a:ln w="15875">
            <a:solidFill>
              <a:schemeClr val="tx2"/>
            </a:solidFill>
            <a:prstDash val="solid"/>
          </a:ln>
        </p:spPr>
      </p:sp>
      <p:sp>
        <p:nvSpPr>
          <p:cNvPr id="5" name="Text 2"/>
          <p:cNvSpPr txBox="1"/>
          <p:nvPr/>
        </p:nvSpPr>
        <p:spPr>
          <a:xfrm>
            <a:off x="548640" y="1325880"/>
            <a:ext cx="2194560" cy="868680"/>
          </a:xfrm>
          <a:prstGeom prst="rect">
            <a:avLst/>
          </a:prstGeom>
          <a:noFill/>
          <a:ln/>
        </p:spPr>
        <p:txBody>
          <a:bodyPr wrap="square" lIns="0" tIns="0" rIns="0" bIns="0" rtlCol="0" anchor="ctr"/>
          <a:lstStyle/>
          <a:p>
            <a:pPr algn="ctr" indent="0" marL="0">
              <a:buNone/>
            </a:pPr>
            <a:r>
              <a:rPr lang="en-US" sz="1400" dirty="0">
                <a:solidFill>
                  <a:schemeClr val="tx1"/>
                </a:solidFill>
              </a:rPr>
              <a:t>fp32 master weights</a:t>
            </a:r>
            <a:endParaRPr lang="en-US" sz="1400" dirty="0"/>
          </a:p>
        </p:txBody>
      </p:sp>
      <p:sp>
        <p:nvSpPr>
          <p:cNvPr id="6" name="Shape 3"/>
          <p:cNvSpPr/>
          <p:nvPr/>
        </p:nvSpPr>
        <p:spPr>
          <a:xfrm>
            <a:off x="3291840" y="1325880"/>
            <a:ext cx="2194560" cy="868680"/>
          </a:xfrm>
          <a:prstGeom prst="roundRect">
            <a:avLst>
              <a:gd name="adj" fmla="val 10526"/>
            </a:avLst>
          </a:prstGeom>
          <a:solidFill>
            <a:schemeClr val="accent6"/>
          </a:solidFill>
          <a:ln w="15875">
            <a:solidFill>
              <a:schemeClr val="accent4"/>
            </a:solidFill>
            <a:prstDash val="solid"/>
          </a:ln>
        </p:spPr>
      </p:sp>
      <p:sp>
        <p:nvSpPr>
          <p:cNvPr id="7" name="Text 4"/>
          <p:cNvSpPr txBox="1"/>
          <p:nvPr/>
        </p:nvSpPr>
        <p:spPr>
          <a:xfrm>
            <a:off x="3291840" y="1325880"/>
            <a:ext cx="2194560" cy="868680"/>
          </a:xfrm>
          <a:prstGeom prst="rect">
            <a:avLst/>
          </a:prstGeom>
          <a:noFill/>
          <a:ln/>
        </p:spPr>
        <p:txBody>
          <a:bodyPr wrap="square" lIns="0" tIns="0" rIns="0" bIns="0" rtlCol="0" anchor="ctr"/>
          <a:lstStyle/>
          <a:p>
            <a:pPr algn="ctr" indent="0" marL="0">
              <a:buNone/>
            </a:pPr>
            <a:r>
              <a:rPr lang="en-US" sz="1400" dirty="0">
                <a:solidFill>
                  <a:schemeClr val="tx1"/>
                </a:solidFill>
              </a:rPr>
              <a:t>16-bit copy of weights</a:t>
            </a:r>
            <a:endParaRPr lang="en-US" sz="1400" dirty="0"/>
          </a:p>
        </p:txBody>
      </p:sp>
      <p:sp>
        <p:nvSpPr>
          <p:cNvPr id="8" name="Shape 5"/>
          <p:cNvSpPr/>
          <p:nvPr/>
        </p:nvSpPr>
        <p:spPr>
          <a:xfrm>
            <a:off x="6035040" y="1325880"/>
            <a:ext cx="2743200" cy="868680"/>
          </a:xfrm>
          <a:prstGeom prst="roundRect">
            <a:avLst>
              <a:gd name="adj" fmla="val 10526"/>
            </a:avLst>
          </a:prstGeom>
          <a:solidFill>
            <a:schemeClr val="accent6"/>
          </a:solidFill>
          <a:ln w="15875">
            <a:solidFill>
              <a:schemeClr val="accent4"/>
            </a:solidFill>
            <a:prstDash val="solid"/>
          </a:ln>
        </p:spPr>
      </p:sp>
      <p:sp>
        <p:nvSpPr>
          <p:cNvPr id="9" name="Text 6"/>
          <p:cNvSpPr txBox="1"/>
          <p:nvPr/>
        </p:nvSpPr>
        <p:spPr>
          <a:xfrm>
            <a:off x="6035040" y="1325880"/>
            <a:ext cx="2743200" cy="868680"/>
          </a:xfrm>
          <a:prstGeom prst="rect">
            <a:avLst/>
          </a:prstGeom>
          <a:noFill/>
          <a:ln/>
        </p:spPr>
        <p:txBody>
          <a:bodyPr wrap="square" lIns="0" tIns="0" rIns="0" bIns="0" rtlCol="0" anchor="ctr"/>
          <a:lstStyle/>
          <a:p>
            <a:pPr algn="ctr" indent="0" marL="0">
              <a:buNone/>
            </a:pPr>
            <a:r>
              <a:rPr lang="en-US" sz="1400" dirty="0">
                <a:solidFill>
                  <a:schemeClr val="tx1"/>
                </a:solidFill>
              </a:rPr>
              <a:t>forward + backward in 16-bit (loss × scale for fp16)</a:t>
            </a:r>
            <a:endParaRPr lang="en-US" sz="1400" dirty="0"/>
          </a:p>
        </p:txBody>
      </p:sp>
      <p:sp>
        <p:nvSpPr>
          <p:cNvPr id="10" name="Shape 7"/>
          <p:cNvSpPr/>
          <p:nvPr/>
        </p:nvSpPr>
        <p:spPr>
          <a:xfrm>
            <a:off x="9326880" y="1325880"/>
            <a:ext cx="2286000" cy="868680"/>
          </a:xfrm>
          <a:prstGeom prst="roundRect">
            <a:avLst>
              <a:gd name="adj" fmla="val 10526"/>
            </a:avLst>
          </a:prstGeom>
          <a:solidFill>
            <a:schemeClr val="accent6"/>
          </a:solidFill>
          <a:ln w="15875">
            <a:solidFill>
              <a:schemeClr val="accent4"/>
            </a:solidFill>
            <a:prstDash val="solid"/>
          </a:ln>
        </p:spPr>
      </p:sp>
      <p:sp>
        <p:nvSpPr>
          <p:cNvPr id="11" name="Text 8"/>
          <p:cNvSpPr txBox="1"/>
          <p:nvPr/>
        </p:nvSpPr>
        <p:spPr>
          <a:xfrm>
            <a:off x="9326880" y="1325880"/>
            <a:ext cx="2286000" cy="868680"/>
          </a:xfrm>
          <a:prstGeom prst="rect">
            <a:avLst/>
          </a:prstGeom>
          <a:noFill/>
          <a:ln/>
        </p:spPr>
        <p:txBody>
          <a:bodyPr wrap="square" lIns="0" tIns="0" rIns="0" bIns="0" rtlCol="0" anchor="ctr"/>
          <a:lstStyle/>
          <a:p>
            <a:pPr algn="ctr" indent="0" marL="0">
              <a:buNone/>
            </a:pPr>
            <a:r>
              <a:rPr lang="en-US" sz="1400" dirty="0">
                <a:solidFill>
                  <a:schemeClr val="tx1"/>
                </a:solidFill>
              </a:rPr>
              <a:t>16-bit gradients</a:t>
            </a:r>
            <a:endParaRPr lang="en-US" sz="1400" dirty="0"/>
          </a:p>
        </p:txBody>
      </p:sp>
      <p:sp>
        <p:nvSpPr>
          <p:cNvPr id="12" name="Shape 9"/>
          <p:cNvSpPr/>
          <p:nvPr/>
        </p:nvSpPr>
        <p:spPr>
          <a:xfrm>
            <a:off x="9326880" y="2743200"/>
            <a:ext cx="2286000" cy="868680"/>
          </a:xfrm>
          <a:prstGeom prst="roundRect">
            <a:avLst>
              <a:gd name="adj" fmla="val 10526"/>
            </a:avLst>
          </a:prstGeom>
          <a:solidFill>
            <a:schemeClr val="bg2"/>
          </a:solidFill>
          <a:ln w="15875">
            <a:solidFill>
              <a:schemeClr val="tx2"/>
            </a:solidFill>
            <a:prstDash val="solid"/>
          </a:ln>
        </p:spPr>
      </p:sp>
      <p:sp>
        <p:nvSpPr>
          <p:cNvPr id="13" name="Text 10"/>
          <p:cNvSpPr txBox="1"/>
          <p:nvPr/>
        </p:nvSpPr>
        <p:spPr>
          <a:xfrm>
            <a:off x="9326880" y="2743200"/>
            <a:ext cx="2286000" cy="868680"/>
          </a:xfrm>
          <a:prstGeom prst="rect">
            <a:avLst/>
          </a:prstGeom>
          <a:noFill/>
          <a:ln/>
        </p:spPr>
        <p:txBody>
          <a:bodyPr wrap="square" lIns="0" tIns="0" rIns="0" bIns="0" rtlCol="0" anchor="ctr"/>
          <a:lstStyle/>
          <a:p>
            <a:pPr algn="ctr" indent="0" marL="0">
              <a:buNone/>
            </a:pPr>
            <a:r>
              <a:rPr lang="en-US" sz="1400" dirty="0">
                <a:solidFill>
                  <a:schemeClr val="tx1"/>
                </a:solidFill>
              </a:rPr>
              <a:t>fp32 gradients (÷ scale)</a:t>
            </a:r>
            <a:endParaRPr lang="en-US" sz="1400" dirty="0"/>
          </a:p>
        </p:txBody>
      </p:sp>
      <p:sp>
        <p:nvSpPr>
          <p:cNvPr id="14" name="Shape 11"/>
          <p:cNvSpPr/>
          <p:nvPr/>
        </p:nvSpPr>
        <p:spPr>
          <a:xfrm>
            <a:off x="5120640" y="2743200"/>
            <a:ext cx="3291840" cy="868680"/>
          </a:xfrm>
          <a:prstGeom prst="roundRect">
            <a:avLst>
              <a:gd name="adj" fmla="val 10526"/>
            </a:avLst>
          </a:prstGeom>
          <a:solidFill>
            <a:schemeClr val="bg2"/>
          </a:solidFill>
          <a:ln w="15875">
            <a:solidFill>
              <a:schemeClr val="tx2"/>
            </a:solidFill>
            <a:prstDash val="solid"/>
          </a:ln>
        </p:spPr>
      </p:sp>
      <p:sp>
        <p:nvSpPr>
          <p:cNvPr id="15" name="Text 12"/>
          <p:cNvSpPr txBox="1"/>
          <p:nvPr/>
        </p:nvSpPr>
        <p:spPr>
          <a:xfrm>
            <a:off x="5120640" y="2743200"/>
            <a:ext cx="3291840" cy="868680"/>
          </a:xfrm>
          <a:prstGeom prst="rect">
            <a:avLst/>
          </a:prstGeom>
          <a:noFill/>
          <a:ln/>
        </p:spPr>
        <p:txBody>
          <a:bodyPr wrap="square" lIns="0" tIns="0" rIns="0" bIns="0" rtlCol="0" anchor="ctr"/>
          <a:lstStyle/>
          <a:p>
            <a:pPr algn="ctr" indent="0" marL="0">
              <a:buNone/>
            </a:pPr>
            <a:r>
              <a:rPr lang="en-US" sz="1400" dirty="0">
                <a:solidFill>
                  <a:schemeClr val="tx1"/>
                </a:solidFill>
              </a:rPr>
              <a:t>optimizer step in fp32 (Adam moments in fp32)</a:t>
            </a:r>
            <a:endParaRPr lang="en-US" sz="1400" dirty="0"/>
          </a:p>
        </p:txBody>
      </p:sp>
      <p:sp>
        <p:nvSpPr>
          <p:cNvPr id="16" name="Shape 13"/>
          <p:cNvSpPr/>
          <p:nvPr/>
        </p:nvSpPr>
        <p:spPr>
          <a:xfrm>
            <a:off x="2743200" y="1755648"/>
            <a:ext cx="548640" cy="0"/>
          </a:xfrm>
          <a:prstGeom prst="line">
            <a:avLst/>
          </a:prstGeom>
          <a:noFill/>
          <a:ln w="22225">
            <a:solidFill>
              <a:schemeClr val="tx2"/>
            </a:solidFill>
            <a:prstDash val="solid"/>
            <a:tailEnd type="triangle"/>
          </a:ln>
        </p:spPr>
      </p:sp>
      <p:sp>
        <p:nvSpPr>
          <p:cNvPr id="17" name="Shape 14"/>
          <p:cNvSpPr/>
          <p:nvPr/>
        </p:nvSpPr>
        <p:spPr>
          <a:xfrm>
            <a:off x="5486400" y="1755648"/>
            <a:ext cx="548640" cy="0"/>
          </a:xfrm>
          <a:prstGeom prst="line">
            <a:avLst/>
          </a:prstGeom>
          <a:noFill/>
          <a:ln w="22225">
            <a:solidFill>
              <a:schemeClr val="tx2"/>
            </a:solidFill>
            <a:prstDash val="solid"/>
            <a:tailEnd type="triangle"/>
          </a:ln>
        </p:spPr>
      </p:sp>
      <p:sp>
        <p:nvSpPr>
          <p:cNvPr id="18" name="Shape 15"/>
          <p:cNvSpPr/>
          <p:nvPr/>
        </p:nvSpPr>
        <p:spPr>
          <a:xfrm>
            <a:off x="8778240" y="1755648"/>
            <a:ext cx="548640" cy="0"/>
          </a:xfrm>
          <a:prstGeom prst="line">
            <a:avLst/>
          </a:prstGeom>
          <a:noFill/>
          <a:ln w="22225">
            <a:solidFill>
              <a:schemeClr val="tx2"/>
            </a:solidFill>
            <a:prstDash val="solid"/>
            <a:tailEnd type="triangle"/>
          </a:ln>
        </p:spPr>
      </p:sp>
      <p:sp>
        <p:nvSpPr>
          <p:cNvPr id="19" name="Shape 16"/>
          <p:cNvSpPr/>
          <p:nvPr/>
        </p:nvSpPr>
        <p:spPr>
          <a:xfrm>
            <a:off x="10469880" y="2194560"/>
            <a:ext cx="0" cy="548640"/>
          </a:xfrm>
          <a:prstGeom prst="line">
            <a:avLst/>
          </a:prstGeom>
          <a:noFill/>
          <a:ln w="22225">
            <a:solidFill>
              <a:schemeClr val="tx2"/>
            </a:solidFill>
            <a:prstDash val="solid"/>
            <a:tailEnd type="triangle"/>
          </a:ln>
        </p:spPr>
      </p:sp>
      <p:sp>
        <p:nvSpPr>
          <p:cNvPr id="20" name="Shape 17"/>
          <p:cNvSpPr/>
          <p:nvPr/>
        </p:nvSpPr>
        <p:spPr>
          <a:xfrm>
            <a:off x="9326880" y="3172968"/>
            <a:ext cx="-914400" cy="0"/>
          </a:xfrm>
          <a:prstGeom prst="line">
            <a:avLst/>
          </a:prstGeom>
          <a:noFill/>
          <a:ln w="22225">
            <a:solidFill>
              <a:schemeClr val="tx2"/>
            </a:solidFill>
            <a:prstDash val="solid"/>
            <a:tailEnd type="triangle"/>
          </a:ln>
        </p:spPr>
      </p:sp>
      <p:sp>
        <p:nvSpPr>
          <p:cNvPr id="21" name="Shape 18"/>
          <p:cNvSpPr/>
          <p:nvPr/>
        </p:nvSpPr>
        <p:spPr>
          <a:xfrm>
            <a:off x="5120640" y="3172968"/>
            <a:ext cx="-3474720" cy="-978408"/>
          </a:xfrm>
          <a:prstGeom prst="line">
            <a:avLst/>
          </a:prstGeom>
          <a:noFill/>
          <a:ln w="22225">
            <a:solidFill>
              <a:schemeClr val="tx2"/>
            </a:solidFill>
            <a:prstDash val="solid"/>
            <a:tailEnd type="triangle"/>
          </a:ln>
        </p:spPr>
      </p:sp>
      <p:sp>
        <p:nvSpPr>
          <p:cNvPr id="22" name="Text 19"/>
          <p:cNvSpPr txBox="1"/>
          <p:nvPr/>
        </p:nvSpPr>
        <p:spPr>
          <a:xfrm>
            <a:off x="2468880" y="2743200"/>
            <a:ext cx="1645920" cy="320040"/>
          </a:xfrm>
          <a:prstGeom prst="rect">
            <a:avLst/>
          </a:prstGeom>
          <a:noFill/>
          <a:ln/>
        </p:spPr>
        <p:txBody>
          <a:bodyPr wrap="square" lIns="0" tIns="0" rIns="0" bIns="0" rtlCol="0" anchor="t"/>
          <a:lstStyle/>
          <a:p>
            <a:pPr indent="0" marL="0">
              <a:buNone/>
            </a:pPr>
            <a:r>
              <a:rPr lang="en-US" sz="1200" dirty="0">
                <a:solidFill>
                  <a:schemeClr val="tx2"/>
                </a:solidFill>
              </a:rPr>
              <a:t>update master</a:t>
            </a:r>
            <a:endParaRPr lang="en-US" sz="1200" dirty="0"/>
          </a:p>
        </p:txBody>
      </p:sp>
      <p:sp>
        <p:nvSpPr>
          <p:cNvPr id="23" name="Text 20"/>
          <p:cNvSpPr txBox="1"/>
          <p:nvPr/>
        </p:nvSpPr>
        <p:spPr>
          <a:xfrm>
            <a:off x="548640" y="3291840"/>
            <a:ext cx="4389120" cy="320040"/>
          </a:xfrm>
          <a:prstGeom prst="rect">
            <a:avLst/>
          </a:prstGeom>
          <a:noFill/>
          <a:ln/>
        </p:spPr>
        <p:txBody>
          <a:bodyPr wrap="square" lIns="0" tIns="0" rIns="0" bIns="0" rtlCol="0" anchor="t"/>
          <a:lstStyle/>
          <a:p>
            <a:pPr indent="0" marL="0">
              <a:buNone/>
            </a:pPr>
            <a:r>
              <a:rPr lang="en-US" sz="1300" dirty="0">
                <a:solidFill>
                  <a:schemeClr val="tx2"/>
                </a:solidFill>
              </a:rPr>
              <a:t>grey = fp32</a:t>
            </a:r>
            <a:r>
              <a:rPr lang="en-US" sz="1300" dirty="0">
                <a:solidFill>
                  <a:schemeClr val="tx1"/>
                </a:solidFill>
              </a:rPr>
              <a:t>   ·   </a:t>
            </a:r>
            <a:r>
              <a:rPr lang="en-US" sz="1300" dirty="0">
                <a:solidFill>
                  <a:schemeClr val="accent4"/>
                </a:solidFill>
              </a:rPr>
              <a:t>orange = 16-bit (fp16 or bf16)</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6949440" cy="914400"/>
        </p:xfrm>
        <a:graphic>
          <a:graphicData uri="http://schemas.openxmlformats.org/drawingml/2006/table">
            <a:tbl>
              <a:tblPr/>
              <a:tblGrid>
                <a:gridCol w="1737360"/>
                <a:gridCol w="2651760"/>
                <a:gridCol w="1188720"/>
                <a:gridCol w="1371600"/>
              </a:tblGrid>
              <a:tr h="438912">
                <a:tc>
                  <a:txBody>
                    <a:bodyPr/>
                    <a:lstStyle/>
                    <a:p>
                      <a:pPr indent="0" marL="0">
                        <a:buNone/>
                      </a:pPr>
                      <a:r>
                        <a:rPr lang="en-US" sz="1400" b="1" dirty="0">
                          <a:solidFill>
                            <a:schemeClr val="bg1"/>
                          </a:solidFill>
                        </a:rPr>
                        <a:t>GPU (architecture)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Examples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fp16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bf16</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38912">
                <a:tc>
                  <a:txBody>
                    <a:bodyPr/>
                    <a:lstStyle/>
                    <a:p>
                      <a:pPr indent="0" marL="0">
                        <a:buNone/>
                      </a:pPr>
                      <a:r>
                        <a:rPr lang="en-US" sz="1400" dirty="0">
                          <a:solidFill>
                            <a:schemeClr val="tx1"/>
                          </a:solidFill>
                        </a:rPr>
                        <a:t>Pascal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P100 (Kaggle)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 tensor cores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38912">
                <a:tc>
                  <a:txBody>
                    <a:bodyPr/>
                    <a:lstStyle/>
                    <a:p>
                      <a:pPr indent="0" marL="0">
                        <a:buNone/>
                      </a:pPr>
                      <a:r>
                        <a:rPr lang="en-US" sz="1400" dirty="0">
                          <a:solidFill>
                            <a:schemeClr val="tx1"/>
                          </a:solidFill>
                        </a:rPr>
                        <a:t>Volta, Turing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V100, T4 (Kaggle, Colab)</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fast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3"/>
                          </a:solidFill>
                        </a:rPr>
                        <a:t>no native support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38912">
                <a:tc>
                  <a:txBody>
                    <a:bodyPr/>
                    <a:lstStyle/>
                    <a:p>
                      <a:pPr indent="0" marL="0">
                        <a:buNone/>
                      </a:pPr>
                      <a:r>
                        <a:rPr lang="en-US" sz="1400" dirty="0">
                          <a:solidFill>
                            <a:schemeClr val="tx1"/>
                          </a:solidFill>
                        </a:rPr>
                        <a:t>Ampere and newer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A100, L4, RTX 30xx/40xx, H100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fast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rPr>
                        <a:t>fast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25" name="in code"/>
          <p:cNvSpPr/>
          <p:nvPr/>
        </p:nvSpPr>
        <p:spPr>
          <a:xfrm>
            <a:off x="7772400" y="3931920"/>
            <a:ext cx="3840480" cy="2240280"/>
          </a:xfrm>
          <a:prstGeom prst="roundRect">
            <a:avLst>
              <a:gd name="adj" fmla="val 4898"/>
            </a:avLst>
          </a:prstGeom>
          <a:solidFill>
            <a:schemeClr val="tx1"/>
          </a:solidFill>
          <a:ln w="12700">
            <a:solidFill>
              <a:schemeClr val="tx1"/>
            </a:solidFill>
            <a:prstDash val="solid"/>
          </a:ln>
        </p:spPr>
      </p:sp>
      <p:sp>
        <p:nvSpPr>
          <p:cNvPr id="26" name="Text 22"/>
          <p:cNvSpPr txBox="1"/>
          <p:nvPr/>
        </p:nvSpPr>
        <p:spPr>
          <a:xfrm>
            <a:off x="8001000" y="4023360"/>
            <a:ext cx="3474720" cy="2057400"/>
          </a:xfrm>
          <a:prstGeom prst="rect">
            <a:avLst/>
          </a:prstGeom>
          <a:noFill/>
          <a:ln/>
        </p:spPr>
        <p:txBody>
          <a:bodyPr wrap="square" lIns="0" tIns="0" rIns="0" bIns="0" rtlCol="0" anchor="ctr"/>
          <a:lstStyle/>
          <a:p>
            <a:pPr indent="0" marL="0">
              <a:buNone/>
            </a:pPr>
            <a:r>
              <a:rPr lang="en-US" sz="1500" b="1" dirty="0">
                <a:solidFill>
                  <a:schemeClr val="accent2"/>
                </a:solidFill>
              </a:rPr>
              <a:t>Hugging Face Trainer</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fp16=True</a:t>
            </a:r>
            <a:r>
              <a:rPr lang="en-US" sz="1500" dirty="0">
                <a:solidFill>
                  <a:srgbClr val="C9CFDA"/>
                </a:solidFill>
              </a:rPr>
              <a:t>   on a T4</a:t>
            </a:r>
            <a:endParaRPr lang="en-US" sz="1500" dirty="0"/>
          </a:p>
          <a:p>
            <a:pPr indent="0" marL="0">
              <a:buNone/>
            </a:pPr>
            <a:r>
              <a:rPr lang="en-US" sz="1500" dirty="0">
                <a:solidFill>
                  <a:schemeClr val="bg1"/>
                </a:solidFill>
                <a:latin typeface="Courier New" pitchFamily="34" charset="0"/>
                <a:ea typeface="Courier New" pitchFamily="34" charset="-122"/>
                <a:cs typeface="Courier New" pitchFamily="34" charset="-120"/>
              </a:rPr>
              <a:t>bf16=True</a:t>
            </a:r>
            <a:r>
              <a:rPr lang="en-US" sz="1500" dirty="0">
                <a:solidFill>
                  <a:srgbClr val="C9CFDA"/>
                </a:solidFill>
              </a:rPr>
              <a:t>   on Ampere or newer</a:t>
            </a:r>
            <a:endParaRPr lang="en-US" sz="1500" dirty="0"/>
          </a:p>
          <a:p>
            <a:pPr indent="0" marL="0">
              <a:buNone/>
            </a:pPr>
            <a:r>
              <a:rPr lang="en-US" sz="1500" dirty="0">
                <a:solidFill>
                  <a:schemeClr val="tx1"/>
                </a:solidFill>
              </a:rPr>
              <a:t> </a:t>
            </a:r>
            <a:endParaRPr lang="en-US" sz="1500" dirty="0"/>
          </a:p>
          <a:p>
            <a:pPr indent="0" marL="0">
              <a:buNone/>
            </a:pPr>
            <a:r>
              <a:rPr lang="en-US" sz="1500" dirty="0">
                <a:solidFill>
                  <a:srgbClr val="C9CFDA"/>
                </a:solidFill>
              </a:rPr>
              <a:t>bf16 needs no loss scaling.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Supplement: what this means for LoRA and QLoRA</a:t>
            </a:r>
            <a:endParaRPr lang="en-US" sz="3200" dirty="0"/>
          </a:p>
        </p:txBody>
      </p:sp>
      <p:sp>
        <p:nvSpPr>
          <p:cNvPr id="4" name="frozen Frozen base W₀"/>
          <p:cNvSpPr/>
          <p:nvPr/>
        </p:nvSpPr>
        <p:spPr>
          <a:xfrm>
            <a:off x="548640" y="1280160"/>
            <a:ext cx="2377440" cy="1188720"/>
          </a:xfrm>
          <a:prstGeom prst="rect">
            <a:avLst/>
          </a:prstGeom>
          <a:solidFill>
            <a:schemeClr val="bg2"/>
          </a:solidFill>
          <a:ln w="15875">
            <a:solidFill>
              <a:schemeClr val="tx2"/>
            </a:solidFill>
            <a:prstDash val="solid"/>
          </a:ln>
        </p:spPr>
      </p:sp>
      <p:sp>
        <p:nvSpPr>
          <p:cNvPr id="5" name="Text 2"/>
          <p:cNvSpPr txBox="1"/>
          <p:nvPr/>
        </p:nvSpPr>
        <p:spPr>
          <a:xfrm>
            <a:off x="548640" y="1280160"/>
            <a:ext cx="2377440" cy="1188720"/>
          </a:xfrm>
          <a:prstGeom prst="rect">
            <a:avLst/>
          </a:prstGeom>
          <a:noFill/>
          <a:ln/>
        </p:spPr>
        <p:txBody>
          <a:bodyPr wrap="square" lIns="0" tIns="0" rIns="0" bIns="0" rtlCol="0" anchor="ctr"/>
          <a:lstStyle/>
          <a:p>
            <a:pPr algn="ctr" indent="0" marL="0">
              <a:buNone/>
            </a:pPr>
            <a:r>
              <a:rPr lang="en-US" sz="1700" dirty="0">
                <a:solidFill>
                  <a:schemeClr val="tx1"/>
                </a:solidFill>
              </a:rPr>
              <a:t>Frozen base W₀</a:t>
            </a:r>
            <a:endParaRPr lang="en-US" sz="1700" dirty="0"/>
          </a:p>
        </p:txBody>
      </p:sp>
      <p:sp>
        <p:nvSpPr>
          <p:cNvPr id="6" name="Text 3"/>
          <p:cNvSpPr txBox="1"/>
          <p:nvPr/>
        </p:nvSpPr>
        <p:spPr>
          <a:xfrm>
            <a:off x="3108960" y="1280160"/>
            <a:ext cx="3200400" cy="1188720"/>
          </a:xfrm>
          <a:prstGeom prst="rect">
            <a:avLst/>
          </a:prstGeom>
          <a:noFill/>
          <a:ln/>
        </p:spPr>
        <p:txBody>
          <a:bodyPr wrap="square" lIns="0" tIns="0" rIns="0" bIns="0" rtlCol="0" anchor="ctr"/>
          <a:lstStyle/>
          <a:p>
            <a:pPr indent="0" marL="0">
              <a:buNone/>
            </a:pPr>
            <a:r>
              <a:rPr lang="en-US" sz="1500" dirty="0">
                <a:solidFill>
                  <a:schemeClr val="tx1"/>
                </a:solidFill>
              </a:rPr>
              <a:t>16-bit, no master copy: 2 bytes per parameter. It is never updated, so no update can be lost.</a:t>
            </a:r>
            <a:endParaRPr lang="en-US" sz="1500" dirty="0"/>
          </a:p>
        </p:txBody>
      </p:sp>
      <p:sp>
        <p:nvSpPr>
          <p:cNvPr id="7" name="trainable Adapters A, B"/>
          <p:cNvSpPr/>
          <p:nvPr/>
        </p:nvSpPr>
        <p:spPr>
          <a:xfrm>
            <a:off x="548640" y="2651760"/>
            <a:ext cx="2377440" cy="1188720"/>
          </a:xfrm>
          <a:prstGeom prst="rect">
            <a:avLst/>
          </a:prstGeom>
          <a:solidFill>
            <a:schemeClr val="accent6"/>
          </a:solidFill>
          <a:ln w="15875">
            <a:solidFill>
              <a:schemeClr val="accent4"/>
            </a:solidFill>
            <a:prstDash val="solid"/>
          </a:ln>
        </p:spPr>
      </p:sp>
      <p:sp>
        <p:nvSpPr>
          <p:cNvPr id="8" name="Text 5"/>
          <p:cNvSpPr txBox="1"/>
          <p:nvPr/>
        </p:nvSpPr>
        <p:spPr>
          <a:xfrm>
            <a:off x="548640" y="2651760"/>
            <a:ext cx="2377440" cy="1188720"/>
          </a:xfrm>
          <a:prstGeom prst="rect">
            <a:avLst/>
          </a:prstGeom>
          <a:noFill/>
          <a:ln/>
        </p:spPr>
        <p:txBody>
          <a:bodyPr wrap="square" lIns="0" tIns="0" rIns="0" bIns="0" rtlCol="0" anchor="ctr"/>
          <a:lstStyle/>
          <a:p>
            <a:pPr algn="ctr" indent="0" marL="0">
              <a:buNone/>
            </a:pPr>
            <a:r>
              <a:rPr lang="en-US" sz="1700" dirty="0">
                <a:solidFill>
                  <a:schemeClr val="tx1"/>
                </a:solidFill>
              </a:rPr>
              <a:t>Adapters A, B</a:t>
            </a:r>
            <a:endParaRPr lang="en-US" sz="1700" dirty="0"/>
          </a:p>
        </p:txBody>
      </p:sp>
      <p:sp>
        <p:nvSpPr>
          <p:cNvPr id="9" name="Text 6"/>
          <p:cNvSpPr txBox="1"/>
          <p:nvPr/>
        </p:nvSpPr>
        <p:spPr>
          <a:xfrm>
            <a:off x="3108960" y="2651760"/>
            <a:ext cx="3200400" cy="1188720"/>
          </a:xfrm>
          <a:prstGeom prst="rect">
            <a:avLst/>
          </a:prstGeom>
          <a:noFill/>
          <a:ln/>
        </p:spPr>
        <p:txBody>
          <a:bodyPr wrap="square" lIns="0" tIns="0" rIns="0" bIns="0" rtlCol="0" anchor="ctr"/>
          <a:lstStyle/>
          <a:p>
            <a:pPr indent="0" marL="0">
              <a:buNone/>
            </a:pPr>
            <a:r>
              <a:rPr lang="en-US" sz="1500" dirty="0">
                <a:solidFill>
                  <a:schemeClr val="tx1"/>
                </a:solidFill>
              </a:rPr>
              <a:t>fp32: 16 bytes per parameter. Their tiny updates would round away in 16-bit. peft does this by default.</a:t>
            </a:r>
            <a:endParaRPr lang="en-US" sz="1500" dirty="0"/>
          </a:p>
        </p:txBody>
      </p:sp>
      <p:sp>
        <p:nvSpPr>
          <p:cNvPr id="10" name="lora vs full"/>
          <p:cNvSpPr/>
          <p:nvPr/>
        </p:nvSpPr>
        <p:spPr>
          <a:xfrm>
            <a:off x="548640" y="4114800"/>
            <a:ext cx="5760720" cy="2057400"/>
          </a:xfrm>
          <a:prstGeom prst="roundRect">
            <a:avLst>
              <a:gd name="adj" fmla="val 5333"/>
            </a:avLst>
          </a:prstGeom>
          <a:solidFill>
            <a:schemeClr val="bg2"/>
          </a:solidFill>
          <a:ln w="12700">
            <a:solidFill>
              <a:schemeClr val="bg2"/>
            </a:solidFill>
            <a:prstDash val="solid"/>
          </a:ln>
        </p:spPr>
      </p:sp>
      <p:sp>
        <p:nvSpPr>
          <p:cNvPr id="11" name="Text 8"/>
          <p:cNvSpPr txBox="1"/>
          <p:nvPr/>
        </p:nvSpPr>
        <p:spPr>
          <a:xfrm>
            <a:off x="777240" y="4206240"/>
            <a:ext cx="5303520" cy="365760"/>
          </a:xfrm>
          <a:prstGeom prst="rect">
            <a:avLst/>
          </a:prstGeom>
          <a:noFill/>
          <a:ln/>
        </p:spPr>
        <p:txBody>
          <a:bodyPr wrap="square" lIns="0" tIns="0" rIns="0" bIns="0" rtlCol="0" anchor="t"/>
          <a:lstStyle/>
          <a:p>
            <a:pPr indent="0" marL="0">
              <a:buNone/>
            </a:pPr>
            <a:r>
              <a:rPr lang="en-US" sz="1500" b="1" dirty="0">
                <a:solidFill>
                  <a:schemeClr val="tx1"/>
                </a:solidFill>
              </a:rPr>
              <a:t>Qwen2.5-1.5B: weights + gradients + optimizer state</a:t>
            </a:r>
            <a:endParaRPr lang="en-US" sz="1500" dirty="0"/>
          </a:p>
        </p:txBody>
      </p:sp>
      <p:sp>
        <p:nvSpPr>
          <p:cNvPr id="12" name="Text 9"/>
          <p:cNvSpPr txBox="1"/>
          <p:nvPr/>
        </p:nvSpPr>
        <p:spPr>
          <a:xfrm>
            <a:off x="777240" y="4617720"/>
            <a:ext cx="5303520" cy="1463040"/>
          </a:xfrm>
          <a:prstGeom prst="rect">
            <a:avLst/>
          </a:prstGeom>
          <a:noFill/>
          <a:ln/>
        </p:spPr>
        <p:txBody>
          <a:bodyPr wrap="square" lIns="0" tIns="0" rIns="0" bIns="0" rtlCol="0" anchor="ctr"/>
          <a:lstStyle/>
          <a:p>
            <a:pPr indent="0" marL="0">
              <a:buNone/>
            </a:pPr>
            <a:r>
              <a:rPr lang="en-US" sz="1500" b="1" dirty="0">
                <a:solidFill>
                  <a:schemeClr val="accent3"/>
                </a:solidFill>
              </a:rPr>
              <a:t>Full fine-tuning  </a:t>
            </a:r>
            <a:r>
              <a:rPr lang="en-US" sz="1500" dirty="0">
                <a:solidFill>
                  <a:schemeClr val="tx1"/>
                </a:solidFill>
              </a:rPr>
              <a:t>16 B × all parameters ≈ 24.7 GB</a:t>
            </a:r>
            <a:endParaRPr lang="en-US" sz="1500" dirty="0"/>
          </a:p>
          <a:p>
            <a:pPr indent="0" marL="0">
              <a:buNone/>
            </a:pPr>
            <a:r>
              <a:rPr lang="en-US" sz="1500" b="1" dirty="0">
                <a:solidFill>
                  <a:schemeClr val="accent4"/>
                </a:solidFill>
              </a:rPr>
              <a:t>LoRA  </a:t>
            </a:r>
            <a:r>
              <a:rPr lang="en-US" sz="1500" dirty="0">
                <a:solidFill>
                  <a:schemeClr val="tx1"/>
                </a:solidFill>
              </a:rPr>
              <a:t>2 B × base + 16 B × adapter ≈ 3.1 GB + a few MB</a:t>
            </a:r>
            <a:endParaRPr lang="en-US" sz="1500" dirty="0"/>
          </a:p>
          <a:p>
            <a:pPr indent="0" marL="0">
              <a:buNone/>
            </a:pPr>
            <a:r>
              <a:rPr lang="en-US" sz="1500" dirty="0">
                <a:solidFill>
                  <a:schemeClr val="tx2"/>
                </a:solidFill>
              </a:rPr>
              <a:t>Activations come on top of both.</a:t>
            </a:r>
            <a:endParaRPr lang="en-US" sz="1500" dirty="0"/>
          </a:p>
        </p:txBody>
      </p:sp>
      <p:sp>
        <p:nvSpPr>
          <p:cNvPr id="13" name="Gradients still pass through the 16-bit base"/>
          <p:cNvSpPr/>
          <p:nvPr/>
        </p:nvSpPr>
        <p:spPr>
          <a:xfrm>
            <a:off x="6583680" y="1280160"/>
            <a:ext cx="5029200" cy="1481328"/>
          </a:xfrm>
          <a:prstGeom prst="roundRect">
            <a:avLst>
              <a:gd name="adj" fmla="val 7407"/>
            </a:avLst>
          </a:prstGeom>
          <a:solidFill>
            <a:schemeClr val="bg2"/>
          </a:solidFill>
          <a:ln w="12700">
            <a:solidFill>
              <a:schemeClr val="bg2"/>
            </a:solidFill>
            <a:prstDash val="solid"/>
          </a:ln>
        </p:spPr>
      </p:sp>
      <p:sp>
        <p:nvSpPr>
          <p:cNvPr id="14" name="Text 11"/>
          <p:cNvSpPr txBox="1"/>
          <p:nvPr/>
        </p:nvSpPr>
        <p:spPr>
          <a:xfrm>
            <a:off x="6812280" y="1280160"/>
            <a:ext cx="4572000" cy="1481328"/>
          </a:xfrm>
          <a:prstGeom prst="rect">
            <a:avLst/>
          </a:prstGeom>
          <a:noFill/>
          <a:ln/>
        </p:spPr>
        <p:txBody>
          <a:bodyPr wrap="square" lIns="0" tIns="0" rIns="0" bIns="0" rtlCol="0" anchor="ctr"/>
          <a:lstStyle/>
          <a:p>
            <a:pPr indent="0" marL="0">
              <a:buNone/>
            </a:pPr>
            <a:r>
              <a:rPr lang="en-US" sz="1500" b="1" dirty="0">
                <a:solidFill>
                  <a:schemeClr val="tx1"/>
                </a:solidFill>
              </a:rPr>
              <a:t>Gradients still pass through the 16-bit base</a:t>
            </a:r>
            <a:endParaRPr lang="en-US" sz="1500" dirty="0"/>
          </a:p>
          <a:p>
            <a:pPr indent="0" marL="0">
              <a:buNone/>
            </a:pPr>
            <a:r>
              <a:rPr lang="en-US" sz="1500" dirty="0">
                <a:solidFill>
                  <a:schemeClr val="tx1"/>
                </a:solidFill>
              </a:rPr>
              <a:t>fp16=True (loss scaling) on a T4; bf16=True on Ampere or newer.</a:t>
            </a:r>
            <a:endParaRPr lang="en-US" sz="1500" dirty="0"/>
          </a:p>
        </p:txBody>
      </p:sp>
      <p:sp>
        <p:nvSpPr>
          <p:cNvPr id="15" name="Merging rounds the update"/>
          <p:cNvSpPr/>
          <p:nvPr/>
        </p:nvSpPr>
        <p:spPr>
          <a:xfrm>
            <a:off x="6583680" y="2944368"/>
            <a:ext cx="5029200" cy="1481328"/>
          </a:xfrm>
          <a:prstGeom prst="roundRect">
            <a:avLst>
              <a:gd name="adj" fmla="val 7407"/>
            </a:avLst>
          </a:prstGeom>
          <a:solidFill>
            <a:schemeClr val="accent5"/>
          </a:solidFill>
          <a:ln w="12700">
            <a:solidFill>
              <a:schemeClr val="accent5"/>
            </a:solidFill>
            <a:prstDash val="solid"/>
          </a:ln>
        </p:spPr>
      </p:sp>
      <p:sp>
        <p:nvSpPr>
          <p:cNvPr id="16" name="Text 13"/>
          <p:cNvSpPr txBox="1"/>
          <p:nvPr/>
        </p:nvSpPr>
        <p:spPr>
          <a:xfrm>
            <a:off x="6812280" y="2944368"/>
            <a:ext cx="4572000" cy="1481328"/>
          </a:xfrm>
          <a:prstGeom prst="rect">
            <a:avLst/>
          </a:prstGeom>
          <a:noFill/>
          <a:ln/>
        </p:spPr>
        <p:txBody>
          <a:bodyPr wrap="square" lIns="0" tIns="0" rIns="0" bIns="0" rtlCol="0" anchor="ctr"/>
          <a:lstStyle/>
          <a:p>
            <a:pPr indent="0" marL="0">
              <a:buNone/>
            </a:pPr>
            <a:r>
              <a:rPr lang="en-US" sz="1500" b="1" dirty="0">
                <a:solidFill>
                  <a:schemeClr val="tx1"/>
                </a:solidFill>
              </a:rPr>
              <a:t>Merging rounds the update</a:t>
            </a:r>
            <a:endParaRPr lang="en-US" sz="1500" dirty="0"/>
          </a:p>
          <a:p>
            <a:pPr indent="0" marL="0">
              <a:buNone/>
            </a:pPr>
            <a:r>
              <a:rPr lang="en-US" sz="1500" dirty="0">
                <a:solidFill>
                  <a:schemeClr val="tx1"/>
                </a:solidFill>
              </a:rPr>
              <a:t>W₀ + (α/r)BA is stored back in 16-bit; compare a few outputs after merging.</a:t>
            </a:r>
            <a:endParaRPr lang="en-US" sz="1500" dirty="0"/>
          </a:p>
        </p:txBody>
      </p:sp>
      <p:sp>
        <p:nvSpPr>
          <p:cNvPr id="17" name="QLoRA: storage vs. compute dtype"/>
          <p:cNvSpPr/>
          <p:nvPr/>
        </p:nvSpPr>
        <p:spPr>
          <a:xfrm>
            <a:off x="6583680" y="4608576"/>
            <a:ext cx="5029200" cy="1481328"/>
          </a:xfrm>
          <a:prstGeom prst="roundRect">
            <a:avLst>
              <a:gd name="adj" fmla="val 7407"/>
            </a:avLst>
          </a:prstGeom>
          <a:solidFill>
            <a:schemeClr val="bg2"/>
          </a:solidFill>
          <a:ln w="12700">
            <a:solidFill>
              <a:schemeClr val="bg2"/>
            </a:solidFill>
            <a:prstDash val="solid"/>
          </a:ln>
        </p:spPr>
      </p:sp>
      <p:sp>
        <p:nvSpPr>
          <p:cNvPr id="18" name="Text 15"/>
          <p:cNvSpPr txBox="1"/>
          <p:nvPr/>
        </p:nvSpPr>
        <p:spPr>
          <a:xfrm>
            <a:off x="6812280" y="4608576"/>
            <a:ext cx="4572000" cy="1481328"/>
          </a:xfrm>
          <a:prstGeom prst="rect">
            <a:avLst/>
          </a:prstGeom>
          <a:noFill/>
          <a:ln/>
        </p:spPr>
        <p:txBody>
          <a:bodyPr wrap="square" lIns="0" tIns="0" rIns="0" bIns="0" rtlCol="0" anchor="ctr"/>
          <a:lstStyle/>
          <a:p>
            <a:pPr indent="0" marL="0">
              <a:buNone/>
            </a:pPr>
            <a:r>
              <a:rPr lang="en-US" sz="1500" b="1" dirty="0">
                <a:solidFill>
                  <a:schemeClr val="tx1"/>
                </a:solidFill>
              </a:rPr>
              <a:t>QLoRA: storage vs. compute dtype</a:t>
            </a:r>
            <a:endParaRPr lang="en-US" sz="1500" dirty="0"/>
          </a:p>
          <a:p>
            <a:pPr indent="0" marL="0">
              <a:buNone/>
            </a:pPr>
            <a:r>
              <a:rPr lang="en-US" sz="1500" dirty="0">
                <a:solidFill>
                  <a:schemeClr val="tx1"/>
                </a:solidFill>
              </a:rPr>
              <a:t>W₀ is stored in 4-bit NF4 but multiplied in 16-bit (bnb_4bit_compute_dtype): float16 on a T4.</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PEFT and LoRA">
      <a:dk1>
        <a:srgbClr val="1C2433"/>
      </a:dk1>
      <a:lt1>
        <a:srgbClr val="FFFFFF"/>
      </a:lt1>
      <a:dk2>
        <a:srgbClr val="5A6478"/>
      </a:dk2>
      <a:lt2>
        <a:srgbClr val="EEF1F6"/>
      </a:lt2>
      <a:accent1>
        <a:srgbClr val="16737A"/>
      </a:accent1>
      <a:accent2>
        <a:srgbClr val="E0A526"/>
      </a:accent2>
      <a:accent3>
        <a:srgbClr val="C8443F"/>
      </a:accent3>
      <a:accent4>
        <a:srgbClr val="D9701E"/>
      </a:accent4>
      <a:accent5>
        <a:srgbClr val="FCF3DC"/>
      </a:accent5>
      <a:accent6>
        <a:srgbClr val="FBE4D3"/>
      </a:accent6>
      <a:hlink>
        <a:srgbClr val="16737A"/>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Parameter-Efficient Fine-Tuning (PEFT) and LoRA</dc:title>
  <dc:subject>PptxGenJS Presentation</dc:subject>
  <dc:creator>Generative AI (ABAI3009L), Bennett University</dc:creator>
  <cp:lastModifiedBy>Generative AI (ABAI3009L), Bennett University</cp:lastModifiedBy>
  <cp:revision>1</cp:revision>
  <dcterms:created xsi:type="dcterms:W3CDTF">2026-10-17T12:29:28Z</dcterms:created>
  <dcterms:modified xsi:type="dcterms:W3CDTF">2026-10-17T12:29:28Z</dcterms:modified>
</cp:coreProperties>
</file>