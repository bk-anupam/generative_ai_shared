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2.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6AF7D7B-92C2-7A59-82B6-625390609EBD}">
          <p14:sldIdLst>
            <p14:sldId id="256"/>
            <p14:sldId id="257"/>
            <p14:sldId id="258"/>
            <p14:sldId id="259"/>
            <p14:sldId id="260"/>
          </p14:sldIdLst>
        </p14:section>
        <p14:section name="Preparing data" id="{8BF4DC24-0172-F150-EE9E-648F4E2119D5}">
          <p14:sldIdLst>
            <p14:sldId id="261"/>
            <p14:sldId id="262"/>
            <p14:sldId id="263"/>
            <p14:sldId id="264"/>
            <p14:sldId id="265"/>
          </p14:sldIdLst>
        </p14:section>
        <p14:section name="What it costs" id="{AA5C8F00-0CEB-BD81-0396-5BEAE766FF7A}">
          <p14:sldIdLst>
            <p14:sldId id="266"/>
          </p14:sldIdLst>
        </p14:section>
        <p14:section name="Training" id="{EA051626-F4CA-085B-9492-99A97027A2A6}">
          <p14:sldIdLst>
            <p14:sldId id="268"/>
            <p14:sldId id="269"/>
            <p14:sldId id="270"/>
            <p14:sldId id="271"/>
            <p14:sldId id="272"/>
            <p14:sldId id="273"/>
            <p14:sldId id="274"/>
          </p14:sldIdLst>
        </p14:section>
        <p14:section name="What goes wrong" id="{D541F284-7D31-9428-5B01-39C074B59BFF}">
          <p14:sldIdLst>
            <p14:sldId id="275"/>
          </p14:sldIdLst>
        </p14:section>
        <p14:section name="Evaluation" id="{6BAEF5E1-533E-B75E-757B-9481BB59A3E9}">
          <p14:sldIdLst>
            <p14:sldId id="276"/>
            <p14:sldId id="277"/>
          </p14:sldIdLst>
        </p14:section>
        <p14:section name="Wrap-up" id="{C29EB937-D6D5-E672-2148-994F68832B93}">
          <p14:sldIdLst>
            <p14:sldId id="278"/>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7" d="100"/>
          <a:sy n="117" d="100"/>
        </p:scale>
        <p:origin x="317"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1"/>
  <c:style val="2"/>
  <c:chart>
    <c:title>
      <c:tx>
        <c:rich>
          <a:bodyPr/>
          <a:lstStyle/>
          <a:p>
            <a:pPr>
              <a:defRPr sz="1400" b="0" i="0" u="none" strike="noStrike">
                <a:solidFill>
                  <a:srgbClr val="1F2A44"/>
                </a:solidFill>
                <a:latin typeface="+mn-lt"/>
              </a:defRPr>
            </a:pPr>
            <a:r>
              <a:rPr lang="en-IN" sz="1400" b="0" i="0" u="none" strike="noStrike">
                <a:solidFill>
                  <a:srgbClr val="1F2A44"/>
                </a:solidFill>
                <a:latin typeface="+mn-lt"/>
              </a:rPr>
              <a:t>Training state, GiB (fp32, no activations)</a:t>
            </a:r>
          </a:p>
        </c:rich>
      </c:tx>
      <c:layout/>
      <c:overlay val="0"/>
    </c:title>
    <c:autoTitleDeleted val="0"/>
    <c:plotArea>
      <c:layout/>
      <c:barChart>
        <c:barDir val="col"/>
        <c:grouping val="stacked"/>
        <c:varyColors val="0"/>
        <c:ser>
          <c:idx val="0"/>
          <c:order val="0"/>
          <c:tx>
            <c:strRef>
              <c:f>Sheet1!$B$1</c:f>
              <c:strCache>
                <c:ptCount val="1"/>
                <c:pt idx="0">
                  <c:v>Weights</c:v>
                </c:pt>
              </c:strCache>
            </c:strRef>
          </c:tx>
          <c:spPr>
            <a:solidFill>
              <a:srgbClr val="2B6CB0"/>
            </a:solidFill>
            <a:effectLst/>
          </c:spPr>
          <c:invertIfNegative val="0"/>
          <c:cat>
            <c:strRef>
              <c:f>Sheet1!$A$2:$A$5</c:f>
              <c:strCache>
                <c:ptCount val="4"/>
                <c:pt idx="0">
                  <c:v>small 124M</c:v>
                </c:pt>
                <c:pt idx="1">
                  <c:v>medium 355M</c:v>
                </c:pt>
                <c:pt idx="2">
                  <c:v>large 774M</c:v>
                </c:pt>
                <c:pt idx="3">
                  <c:v>xl 1.56B</c:v>
                </c:pt>
              </c:strCache>
            </c:strRef>
          </c:cat>
          <c:val>
            <c:numRef>
              <c:f>Sheet1!$B$2:$B$5</c:f>
              <c:numCache>
                <c:formatCode>General</c:formatCode>
                <c:ptCount val="4"/>
                <c:pt idx="0">
                  <c:v>0.46</c:v>
                </c:pt>
                <c:pt idx="1">
                  <c:v>1.32</c:v>
                </c:pt>
                <c:pt idx="2">
                  <c:v>2.88</c:v>
                </c:pt>
                <c:pt idx="3">
                  <c:v>5.8</c:v>
                </c:pt>
              </c:numCache>
            </c:numRef>
          </c:val>
        </c:ser>
        <c:ser>
          <c:idx val="1"/>
          <c:order val="1"/>
          <c:tx>
            <c:strRef>
              <c:f>Sheet1!$C$1</c:f>
              <c:strCache>
                <c:ptCount val="1"/>
                <c:pt idx="0">
                  <c:v>Gradients</c:v>
                </c:pt>
              </c:strCache>
            </c:strRef>
          </c:tx>
          <c:spPr>
            <a:solidFill>
              <a:srgbClr val="D69E2E"/>
            </a:solidFill>
            <a:effectLst/>
          </c:spPr>
          <c:invertIfNegative val="0"/>
          <c:cat>
            <c:strRef>
              <c:f>Sheet1!$A$2:$A$5</c:f>
              <c:strCache>
                <c:ptCount val="4"/>
                <c:pt idx="0">
                  <c:v>small 124M</c:v>
                </c:pt>
                <c:pt idx="1">
                  <c:v>medium 355M</c:v>
                </c:pt>
                <c:pt idx="2">
                  <c:v>large 774M</c:v>
                </c:pt>
                <c:pt idx="3">
                  <c:v>xl 1.56B</c:v>
                </c:pt>
              </c:strCache>
            </c:strRef>
          </c:cat>
          <c:val>
            <c:numRef>
              <c:f>Sheet1!$C$2:$C$5</c:f>
              <c:numCache>
                <c:formatCode>General</c:formatCode>
                <c:ptCount val="4"/>
                <c:pt idx="0">
                  <c:v>0.46</c:v>
                </c:pt>
                <c:pt idx="1">
                  <c:v>1.32</c:v>
                </c:pt>
                <c:pt idx="2">
                  <c:v>2.88</c:v>
                </c:pt>
                <c:pt idx="3">
                  <c:v>5.8</c:v>
                </c:pt>
              </c:numCache>
            </c:numRef>
          </c:val>
        </c:ser>
        <c:ser>
          <c:idx val="2"/>
          <c:order val="2"/>
          <c:tx>
            <c:strRef>
              <c:f>Sheet1!$D$1</c:f>
              <c:strCache>
                <c:ptCount val="1"/>
                <c:pt idx="0">
                  <c:v>Adam moments</c:v>
                </c:pt>
              </c:strCache>
            </c:strRef>
          </c:tx>
          <c:spPr>
            <a:solidFill>
              <a:srgbClr val="2F855A"/>
            </a:solidFill>
            <a:effectLst/>
          </c:spPr>
          <c:invertIfNegative val="0"/>
          <c:cat>
            <c:strRef>
              <c:f>Sheet1!$A$2:$A$5</c:f>
              <c:strCache>
                <c:ptCount val="4"/>
                <c:pt idx="0">
                  <c:v>small 124M</c:v>
                </c:pt>
                <c:pt idx="1">
                  <c:v>medium 355M</c:v>
                </c:pt>
                <c:pt idx="2">
                  <c:v>large 774M</c:v>
                </c:pt>
                <c:pt idx="3">
                  <c:v>xl 1.56B</c:v>
                </c:pt>
              </c:strCache>
            </c:strRef>
          </c:cat>
          <c:val>
            <c:numRef>
              <c:f>Sheet1!$D$2:$D$5</c:f>
              <c:numCache>
                <c:formatCode>General</c:formatCode>
                <c:ptCount val="4"/>
                <c:pt idx="0">
                  <c:v>0.93</c:v>
                </c:pt>
                <c:pt idx="1">
                  <c:v>2.64</c:v>
                </c:pt>
                <c:pt idx="2">
                  <c:v>5.77</c:v>
                </c:pt>
                <c:pt idx="3">
                  <c:v>11.61</c:v>
                </c:pt>
              </c:numCache>
            </c:numRef>
          </c:val>
        </c:ser>
        <c:dLbls>
          <c:showLegendKey val="0"/>
          <c:showVal val="0"/>
          <c:showCatName val="0"/>
          <c:showSerName val="0"/>
          <c:showPercent val="0"/>
          <c:showBubbleSize val="0"/>
        </c:dLbls>
        <c:gapWidth val="50"/>
        <c:overlap val="100"/>
        <c:axId val="378821360"/>
        <c:axId val="378824104"/>
      </c:barChart>
      <c:catAx>
        <c:axId val="378821360"/>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A6478"/>
                </a:solidFill>
                <a:latin typeface="+mn-lt"/>
              </a:defRPr>
            </a:pPr>
            <a:endParaRPr lang="en-US"/>
          </a:p>
        </c:txPr>
        <c:crossAx val="378824104"/>
        <c:crosses val="autoZero"/>
        <c:auto val="1"/>
        <c:lblAlgn val="ctr"/>
        <c:lblOffset val="100"/>
        <c:noMultiLvlLbl val="1"/>
      </c:catAx>
      <c:valAx>
        <c:axId val="378824104"/>
        <c:scaling>
          <c:orientation val="minMax"/>
        </c:scaling>
        <c:delete val="0"/>
        <c:axPos val="l"/>
        <c:majorGridlines>
          <c:spPr>
            <a:ln w="6350" cap="flat">
              <a:solidFill>
                <a:srgbClr val="D9DEE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A6478"/>
                </a:solidFill>
                <a:latin typeface="+mn-lt"/>
              </a:defRPr>
            </a:pPr>
            <a:endParaRPr lang="en-US"/>
          </a:p>
        </c:txPr>
        <c:crossAx val="378821360"/>
        <c:crosses val="autoZero"/>
        <c:crossBetween val="between"/>
      </c:valAx>
      <c:spPr>
        <a:noFill/>
        <a:ln>
          <a:noFill/>
        </a:ln>
        <a:effectLst/>
      </c:spPr>
    </c:plotArea>
    <c:legend>
      <c:legendPos val="b"/>
      <c:layout/>
      <c:overlay val="0"/>
      <c:txPr>
        <a:bodyPr/>
        <a:lstStyle/>
        <a:p>
          <a:pPr>
            <a:defRPr sz="1200">
              <a:solidFill>
                <a:srgbClr val="1F2A44"/>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1"/>
  <c:style val="2"/>
  <c:chart>
    <c:title>
      <c:tx>
        <c:rich>
          <a:bodyPr/>
          <a:lstStyle/>
          <a:p>
            <a:pPr>
              <a:defRPr sz="1400" b="0" i="0" u="none" strike="noStrike">
                <a:solidFill>
                  <a:srgbClr val="1F2A44"/>
                </a:solidFill>
                <a:latin typeface="+mn-lt"/>
              </a:defRPr>
            </a:pPr>
            <a:r>
              <a:rPr lang="en-IN" sz="1400" b="0" i="0" u="none" strike="noStrike">
                <a:solidFill>
                  <a:srgbClr val="1F2A44"/>
                </a:solidFill>
                <a:latin typeface="+mn-lt"/>
              </a:rPr>
              <a:t>Learning rate / peak (800 steps, 10% warmup)</a:t>
            </a:r>
          </a:p>
        </c:rich>
      </c:tx>
      <c:layout/>
      <c:overlay val="0"/>
    </c:title>
    <c:autoTitleDeleted val="0"/>
    <c:plotArea>
      <c:layout/>
      <c:lineChart>
        <c:grouping val="standard"/>
        <c:varyColors val="0"/>
        <c:ser>
          <c:idx val="0"/>
          <c:order val="0"/>
          <c:tx>
            <c:strRef>
              <c:f>Sheet1!$B$1</c:f>
              <c:strCache>
                <c:ptCount val="1"/>
                <c:pt idx="0">
                  <c:v>LR / peak</c:v>
                </c:pt>
              </c:strCache>
            </c:strRef>
          </c:tx>
          <c:spPr>
            <a:ln w="38100" cap="flat">
              <a:solidFill>
                <a:srgbClr val="2B6CB0"/>
              </a:solidFill>
              <a:prstDash val="solid"/>
              <a:round/>
            </a:ln>
            <a:effectLst/>
          </c:spPr>
          <c:marker>
            <c:symbol val="none"/>
          </c:marker>
          <c:cat>
            <c:strRef>
              <c:f>Sheet1!$A$2:$A$82</c:f>
              <c:strCache>
                <c:ptCount val="81"/>
                <c:pt idx="0">
                  <c:v>0</c:v>
                </c:pt>
                <c:pt idx="20">
                  <c:v>200</c:v>
                </c:pt>
                <c:pt idx="40">
                  <c:v>400</c:v>
                </c:pt>
                <c:pt idx="60">
                  <c:v>600</c:v>
                </c:pt>
                <c:pt idx="80">
                  <c:v>800</c:v>
                </c:pt>
              </c:strCache>
            </c:strRef>
          </c:cat>
          <c:val>
            <c:numRef>
              <c:f>Sheet1!$B$2:$B$82</c:f>
              <c:numCache>
                <c:formatCode>General</c:formatCode>
                <c:ptCount val="81"/>
                <c:pt idx="0">
                  <c:v>1.2999999999999999E-2</c:v>
                </c:pt>
                <c:pt idx="1">
                  <c:v>0.13800000000000001</c:v>
                </c:pt>
                <c:pt idx="2">
                  <c:v>0.26300000000000001</c:v>
                </c:pt>
                <c:pt idx="3">
                  <c:v>0.38800000000000001</c:v>
                </c:pt>
                <c:pt idx="4">
                  <c:v>0.51200000000000001</c:v>
                </c:pt>
                <c:pt idx="5">
                  <c:v>0.63700000000000001</c:v>
                </c:pt>
                <c:pt idx="6">
                  <c:v>0.76200000000000001</c:v>
                </c:pt>
                <c:pt idx="7">
                  <c:v>0.88700000000000001</c:v>
                </c:pt>
                <c:pt idx="8">
                  <c:v>1</c:v>
                </c:pt>
                <c:pt idx="9">
                  <c:v>0.98599999999999999</c:v>
                </c:pt>
                <c:pt idx="10">
                  <c:v>0.97199999999999998</c:v>
                </c:pt>
                <c:pt idx="11">
                  <c:v>0.95799999999999996</c:v>
                </c:pt>
                <c:pt idx="12">
                  <c:v>0.94399999999999995</c:v>
                </c:pt>
                <c:pt idx="13">
                  <c:v>0.93100000000000005</c:v>
                </c:pt>
                <c:pt idx="14">
                  <c:v>0.91700000000000004</c:v>
                </c:pt>
                <c:pt idx="15">
                  <c:v>0.90300000000000002</c:v>
                </c:pt>
                <c:pt idx="16">
                  <c:v>0.88900000000000001</c:v>
                </c:pt>
                <c:pt idx="17">
                  <c:v>0.875</c:v>
                </c:pt>
                <c:pt idx="18">
                  <c:v>0.86099999999999999</c:v>
                </c:pt>
                <c:pt idx="19">
                  <c:v>0.84699999999999998</c:v>
                </c:pt>
                <c:pt idx="20">
                  <c:v>0.83299999999999996</c:v>
                </c:pt>
                <c:pt idx="21">
                  <c:v>0.81899999999999995</c:v>
                </c:pt>
                <c:pt idx="22">
                  <c:v>0.80600000000000005</c:v>
                </c:pt>
                <c:pt idx="23">
                  <c:v>0.79200000000000004</c:v>
                </c:pt>
                <c:pt idx="24">
                  <c:v>0.77800000000000002</c:v>
                </c:pt>
                <c:pt idx="25">
                  <c:v>0.76400000000000001</c:v>
                </c:pt>
                <c:pt idx="26">
                  <c:v>0.75</c:v>
                </c:pt>
                <c:pt idx="27">
                  <c:v>0.73599999999999999</c:v>
                </c:pt>
                <c:pt idx="28">
                  <c:v>0.72199999999999998</c:v>
                </c:pt>
                <c:pt idx="29">
                  <c:v>0.70799999999999996</c:v>
                </c:pt>
                <c:pt idx="30">
                  <c:v>0.69399999999999995</c:v>
                </c:pt>
                <c:pt idx="31">
                  <c:v>0.68100000000000005</c:v>
                </c:pt>
                <c:pt idx="32">
                  <c:v>0.66700000000000004</c:v>
                </c:pt>
                <c:pt idx="33">
                  <c:v>0.65300000000000002</c:v>
                </c:pt>
                <c:pt idx="34">
                  <c:v>0.63900000000000001</c:v>
                </c:pt>
                <c:pt idx="35">
                  <c:v>0.625</c:v>
                </c:pt>
                <c:pt idx="36">
                  <c:v>0.61099999999999999</c:v>
                </c:pt>
                <c:pt idx="37">
                  <c:v>0.59699999999999998</c:v>
                </c:pt>
                <c:pt idx="38">
                  <c:v>0.58299999999999996</c:v>
                </c:pt>
                <c:pt idx="39">
                  <c:v>0.56899999999999995</c:v>
                </c:pt>
                <c:pt idx="40">
                  <c:v>0.55600000000000005</c:v>
                </c:pt>
                <c:pt idx="41">
                  <c:v>0.54200000000000004</c:v>
                </c:pt>
                <c:pt idx="42">
                  <c:v>0.52800000000000002</c:v>
                </c:pt>
                <c:pt idx="43">
                  <c:v>0.51400000000000001</c:v>
                </c:pt>
                <c:pt idx="44">
                  <c:v>0.5</c:v>
                </c:pt>
                <c:pt idx="45">
                  <c:v>0.48599999999999999</c:v>
                </c:pt>
                <c:pt idx="46">
                  <c:v>0.47199999999999998</c:v>
                </c:pt>
                <c:pt idx="47">
                  <c:v>0.45800000000000002</c:v>
                </c:pt>
                <c:pt idx="48">
                  <c:v>0.44400000000000001</c:v>
                </c:pt>
                <c:pt idx="49">
                  <c:v>0.43099999999999999</c:v>
                </c:pt>
                <c:pt idx="50">
                  <c:v>0.41699999999999998</c:v>
                </c:pt>
                <c:pt idx="51">
                  <c:v>0.40300000000000002</c:v>
                </c:pt>
                <c:pt idx="52">
                  <c:v>0.38900000000000001</c:v>
                </c:pt>
                <c:pt idx="53">
                  <c:v>0.375</c:v>
                </c:pt>
                <c:pt idx="54">
                  <c:v>0.36099999999999999</c:v>
                </c:pt>
                <c:pt idx="55">
                  <c:v>0.34699999999999998</c:v>
                </c:pt>
                <c:pt idx="56">
                  <c:v>0.33300000000000002</c:v>
                </c:pt>
                <c:pt idx="57">
                  <c:v>0.31900000000000001</c:v>
                </c:pt>
                <c:pt idx="58">
                  <c:v>0.30599999999999999</c:v>
                </c:pt>
                <c:pt idx="59">
                  <c:v>0.29199999999999998</c:v>
                </c:pt>
                <c:pt idx="60">
                  <c:v>0.27800000000000002</c:v>
                </c:pt>
                <c:pt idx="61">
                  <c:v>0.26400000000000001</c:v>
                </c:pt>
                <c:pt idx="62">
                  <c:v>0.25</c:v>
                </c:pt>
                <c:pt idx="63">
                  <c:v>0.23599999999999999</c:v>
                </c:pt>
                <c:pt idx="64">
                  <c:v>0.222</c:v>
                </c:pt>
                <c:pt idx="65">
                  <c:v>0.20799999999999999</c:v>
                </c:pt>
                <c:pt idx="66">
                  <c:v>0.19400000000000001</c:v>
                </c:pt>
                <c:pt idx="67">
                  <c:v>0.18099999999999999</c:v>
                </c:pt>
                <c:pt idx="68">
                  <c:v>0.16700000000000001</c:v>
                </c:pt>
                <c:pt idx="69">
                  <c:v>0.153</c:v>
                </c:pt>
                <c:pt idx="70">
                  <c:v>0.13900000000000001</c:v>
                </c:pt>
                <c:pt idx="71">
                  <c:v>0.125</c:v>
                </c:pt>
                <c:pt idx="72">
                  <c:v>0.111</c:v>
                </c:pt>
                <c:pt idx="73">
                  <c:v>9.7000000000000003E-2</c:v>
                </c:pt>
                <c:pt idx="74">
                  <c:v>8.3000000000000004E-2</c:v>
                </c:pt>
                <c:pt idx="75">
                  <c:v>6.9000000000000006E-2</c:v>
                </c:pt>
                <c:pt idx="76">
                  <c:v>5.6000000000000001E-2</c:v>
                </c:pt>
                <c:pt idx="77">
                  <c:v>4.2000000000000003E-2</c:v>
                </c:pt>
                <c:pt idx="78">
                  <c:v>2.8000000000000001E-2</c:v>
                </c:pt>
                <c:pt idx="79">
                  <c:v>1.4E-2</c:v>
                </c:pt>
                <c:pt idx="80">
                  <c:v>1E-3</c:v>
                </c:pt>
              </c:numCache>
            </c:numRef>
          </c:val>
          <c:smooth val="0"/>
        </c:ser>
        <c:dLbls>
          <c:showLegendKey val="0"/>
          <c:showVal val="0"/>
          <c:showCatName val="0"/>
          <c:showSerName val="0"/>
          <c:showPercent val="0"/>
          <c:showBubbleSize val="0"/>
        </c:dLbls>
        <c:smooth val="0"/>
        <c:axId val="378827240"/>
        <c:axId val="378821752"/>
      </c:lineChart>
      <c:catAx>
        <c:axId val="378827240"/>
        <c:scaling>
          <c:orientation val="minMax"/>
        </c:scaling>
        <c:delete val="0"/>
        <c:axPos val="b"/>
        <c:title>
          <c:tx>
            <c:rich>
              <a:bodyPr/>
              <a:lstStyle/>
              <a:p>
                <a:pPr>
                  <a:defRPr sz="1200" b="0" i="0" u="none" strike="noStrike">
                    <a:solidFill>
                      <a:srgbClr val="5A6478"/>
                    </a:solidFill>
                    <a:latin typeface="Arial"/>
                  </a:defRPr>
                </a:pPr>
                <a:r>
                  <a:rPr lang="en-IN" sz="1200" b="0" i="0" u="none" strike="noStrike">
                    <a:solidFill>
                      <a:srgbClr val="5A6478"/>
                    </a:solidFill>
                    <a:latin typeface="Arial"/>
                  </a:rPr>
                  <a:t>optimizer step</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A6478"/>
                </a:solidFill>
                <a:latin typeface="+mn-lt"/>
              </a:defRPr>
            </a:pPr>
            <a:endParaRPr lang="en-US"/>
          </a:p>
        </c:txPr>
        <c:crossAx val="378821752"/>
        <c:crosses val="autoZero"/>
        <c:auto val="1"/>
        <c:lblAlgn val="ctr"/>
        <c:lblOffset val="100"/>
        <c:noMultiLvlLbl val="1"/>
      </c:catAx>
      <c:valAx>
        <c:axId val="378821752"/>
        <c:scaling>
          <c:orientation val="minMax"/>
          <c:max val="1"/>
          <c:min val="0"/>
        </c:scaling>
        <c:delete val="0"/>
        <c:axPos val="l"/>
        <c:majorGridlines>
          <c:spPr>
            <a:ln w="6350" cap="flat">
              <a:solidFill>
                <a:srgbClr val="D9DEE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A6478"/>
                </a:solidFill>
                <a:latin typeface="+mn-lt"/>
              </a:defRPr>
            </a:pPr>
            <a:endParaRPr lang="en-US"/>
          </a:p>
        </c:txPr>
        <c:crossAx val="378827240"/>
        <c:crosses val="autoZero"/>
        <c:crossBetween val="between"/>
        <c:majorUnit val="0.25"/>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264453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companion notebook in a second window before starting and run it once top to bottom (about a minute on a CPU), so the live demos have outputs ready. Turmeric 'LIVE DEMO' tags mark the points to switch to the notebook.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the six parts of the lecture. Emphasise the scope: this is full fine-tuning, every weight trainable. PEFT and LoRA come in a separate lecture, so students first see what plain fine-tuning does and what it costs.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Concrete problem first. Ask GPT-2 for 'Recipe: masala dosa' and it continues the text, but not reliably in the format we need. The three approaches differ in what they change: the input, the context, or the weights. Stress that they are not rivals: a fine-tuned model can still be prompted and given retrieved context.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loss is identical to pretraining: average negative log-likelihood of each real next token. Everything around it differs. The key row is the starting weights: fine-tuning starts from the pretrained checkpoint, so the new data only has to teach what is specific (format, style, domain vocabulary). End on plasticity vs. stability: this trade-off returns in the learning-rate experiment.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figure left to right. The top row prepares data; the bottom row is one training step repeated many times; the last box is how we decide whether anything improved. Box 1 is the only thing that separates fine-tuning from training from scratch.</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GPT-2 needs a GPU for comfortable experiments, so the notebook reproduces the same pattern at small scale. The pretraining text already contains the food words, so like GPT-2 the toy model knows the vocabulary but has never seen the recipe format. Be explicit that the data is synthetic and the model is not the Hugging Face GPT-2: results illustrate mechanisms only.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Training needs two aligned (B, T) tensors. −100 is PyTorch cross-entropy's default ignore_index: those positions add nothing to the loss and are not counted in the average. Padding must be ignored. Then the shift: our code shifts explicitly; Hugging Face GPT2LMHeadModel shifts internally, so shifting yourself as well trains the model to predict two tokens ahead without any error message. Show notebook cell 12 output: pads appear as dots, the real &lt;eos&gt; keeps its label.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confusion: students think only the answer is predicted. In training the whole record goes through in one forward pass and the model predicts at every position. Teacher forcing feeds the true previous tokens, so every guess can be scored at once. At generation time the model also computes logits at prompt positions; we just throw away all but the last.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choice is not what the model predicts but which predictions are scored. Run notebook cell 10: the same 9 made-up probabilities give a loss of 1.254 over every token and 1.011 over the four answer tokens, and F.cross_entropy with ignore_index reproduces both. Note the answer-only mean has a denominator of 4, not 9: ignored positions are not counted. This notebook uses every token.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batch is rectangular, so short documents are padded on the right. The trap: real GPT-2 has no pad token, so people reuse &lt;|endoftext|&gt; as padding, then mask labels by token identity, which erases the genuine end-of-text label. Preview of the never-stopping model later. Packing is the alternative used for large-scale training.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parameter receives a gradient and is updated, including the embeddings (about 32% of GPT-2 small; the token table is shared with the output layer). Gradient = dL/dθ for each parameter: one fp32 number, 4 bytes. Adam keeps two more running averages. These are planning estimates for plain fp32 training, not measurements, and they exclude activations. Mixed precision keeps an fp32 master copy of the weights, so it saves activation memory more than parameter-state memory.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loop is the same as in the GPT-2 notebook; fine-tuning only adds decisions about how gently to update. Point at the code in notebook cell 22. The toy model uses dropout 0.1, so train() and eval() really differ: evaluate() switches to eval mode and back. Sanity check from cell 18: the untrained loss is 4.355, close to ln V = 4.344, i.e. every token about equally likely.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learning rate matters most. 5e-5 is the Hugging Face Trainer default: a starting point, not an answer; choose by validation loss. Warmup protects against noisy early Adam estimates. Weight decay in AdamW is decoupled from the gradient (Loshchilov and Hutter, 2019). Stop by validation loss, not training loss.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equation with the plot. With S = 800 total steps and 10% warmup, the LR rises linearly to the peak over the first 80 steps, then falls linearly to zero at the end. This is the schedule used for every run in the notebook (cell 20).</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(cell 24): 'pretrain' the toy model on generic sentences only, 400 steps at LR 3e-3. Step 2 (cell 26): copy the weights and fine-tune all parameters on 120 recipes, 800 steps at LR 1e-3. Red falls steeply: the model learned the format on records it never saw. Blue rises: catastrophic forgetting. In this tiny model forgetting is much stronger than it would be for GPT-2, but the direction is the same. The grey line is noisy because each point is one small batch.</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Greedy decoding, so there is no randomness: these are the saved outputs of notebook cell 28. Loss is necessary but not sufficient, so always look at generations. Point out the third row: forgetting is visible in the text, not only in the loss. Two greedy examples cannot tell us how often the content is right; that is the job of the evaluation section.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peak learning rates, same base model, same batch order (cell 31). One run per setting on a toy model: read trends, not exact numbers. From 1e-3 upward the recipe loss has flattened while generic loss keeps climbing: the extra learning rate buys nothing and costs a lot. Which setting is right depends on whether the model must still work as a general model. Note we chose by validation loss, not training loss.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ways to limit forgetting, each with a cost. Freezing layers is partial fine-tuning, a precursor of PEFT, covered next. Regularizing toward the pretrained weights: Kirkpatrick et al. (2017), elastic weight consolidation. For small datasets: training loss keeps falling while validation loss turns up; the gap is the sign of overfitting. Keep the best checkpoint or stop early.</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Very common real bug. GPT-2 has no pad token, so people set pad_token = eos_token and then mask labels by token identity, which masks every end-of-text token, including the genuine ones. Run cell 34: the same fine-tuning with &lt;eos&gt; labels masked; sample 40 completions at temperature 1 and count how many stop within 30 new tokens. Expected pattern (see the notebook's reading notes): the correct model stops in nearly every sample; the buggy one runs to the token limit. Report the numbers your run prints. The loss curve does not reveal this bug.</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measurement answers one question and leaves others open. Perplexity is not comparable across tokenizers or datasets. BLEU and ROUGE measure surface overlap and depend on tokenization and reference quality; they do not establish factuality or usefulness. The single most important control: compare with the base model under identical prompts and decoding settings, and record those settings.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the toy recipes have a known structure, we can write down what a correct output is and measure it over 60 samples per model (cell 37, reusing the Section 7 sweep models). Report the percentages your run prints, and remind students that with 60 samples and one seed they move by several points: compare only large differences. The lessons on the right are the notebook's observed patterns. 'Copied' is the toy version of memorization of private or copyrighted training data.</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points, each tied to something students saw: memorization (the copied category), bias, fluency vs. truth (format-valid but content-invalid), and the gap between a teaching prototype and a product.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Selected from the notebook's Section 11 (questions 2, 3, 4, 5, 7, 9). Good for pair discussion. Expected answers belong in instructor material, not on the slide.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lecture runs the same kind of loop through the Hugging Face Trainer on a real pretrained model.</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10698480" cy="128016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
        <p:nvSpPr>
          <p:cNvPr id="3" name="Text 0"/>
          <p:cNvSpPr>
            <a:spLocks noGrp="1"/>
          </p:cNvSpPr>
          <p:nvPr>
            <p:ph type="body" idx="101" hasCustomPrompt="1"/>
          </p:nvPr>
        </p:nvSpPr>
        <p:spPr>
          <a:xfrm>
            <a:off x="731520" y="3246120"/>
            <a:ext cx="10698480" cy="731520"/>
          </a:xfrm>
          <a:prstGeom prst="rect">
            <a:avLst/>
          </a:prstGeom>
          <a:noFill/>
          <a:ln/>
        </p:spPr>
        <p:txBody>
          <a:bodyPr wrap="square" rtlCol="0"/>
          <a:lstStyle>
            <a:lvl1pPr marL="0" indent="0">
              <a:buNone/>
              <a:defRPr lang="en-US" sz="2400" dirty="0">
                <a:solidFill>
                  <a:schemeClr val="accent2"/>
                </a:solidFill>
              </a:defRPr>
            </a:lvl1pPr>
          </a:lstStyle>
          <a:p>
            <a:pPr marL="0" indent="0">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777240"/>
          </a:xfrm>
          <a:prstGeom prst="rect">
            <a:avLst/>
          </a:prstGeom>
          <a:noFill/>
          <a:ln/>
        </p:spPr>
        <p:txBody>
          <a:bodyPr wrap="square" rtlCol="0"/>
          <a:lstStyle>
            <a:lvl1pPr marL="0" indent="0" algn="l">
              <a:buNone/>
              <a:defRPr lang="en-US" sz="3200" b="1" dirty="0">
                <a:solidFill>
                  <a:schemeClr val="tx1"/>
                </a:solidFill>
              </a:defRPr>
            </a:lvl1pPr>
          </a:lstStyle>
          <a:p>
            <a:pPr marL="0" indent="0" algn="l">
              <a:buNone/>
            </a:pPr>
            <a:endParaRPr lang="en-US" sz="32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chemeClr val="tx2"/>
                </a:solidFill>
              </a:rPr>
              <a:t>Fine-tuning GPT-2 · Generative AI, Module 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10698480" cy="1280160"/>
          </a:xfrm>
          <a:prstGeom prst="rect">
            <a:avLst/>
          </a:prstGeom>
          <a:noFill/>
          <a:ln/>
        </p:spPr>
        <p:txBody>
          <a:bodyPr wrap="square" lIns="0" tIns="0" rIns="0" bIns="0" rtlCol="0" anchor="b"/>
          <a:lstStyle/>
          <a:p>
            <a:pPr marL="0" indent="0" algn="l">
              <a:buNone/>
            </a:pPr>
            <a:r>
              <a:rPr lang="en-US" sz="4400" b="1" dirty="0">
                <a:solidFill>
                  <a:schemeClr val="bg1"/>
                </a:solidFill>
              </a:rPr>
              <a:t>Fine-tuning GPT-2</a:t>
            </a:r>
            <a:endParaRPr lang="en-US" sz="4400" dirty="0"/>
          </a:p>
        </p:txBody>
      </p:sp>
      <p:sp>
        <p:nvSpPr>
          <p:cNvPr id="3" name="Text 0"/>
          <p:cNvSpPr>
            <a:spLocks noGrp="1"/>
          </p:cNvSpPr>
          <p:nvPr>
            <p:ph type="body" idx="101" hasCustomPrompt="1"/>
          </p:nvPr>
        </p:nvSpPr>
        <p:spPr>
          <a:xfrm>
            <a:off x="731520" y="3246120"/>
            <a:ext cx="10698480" cy="731520"/>
          </a:xfrm>
          <a:prstGeom prst="rect">
            <a:avLst/>
          </a:prstGeom>
          <a:noFill/>
          <a:ln/>
        </p:spPr>
        <p:txBody>
          <a:bodyPr wrap="square" lIns="0" tIns="0" rIns="0" bIns="0" rtlCol="0" anchor="t"/>
          <a:lstStyle/>
          <a:p>
            <a:pPr marL="0" indent="0">
              <a:buNone/>
            </a:pPr>
            <a:r>
              <a:rPr lang="en-US" sz="2400" dirty="0">
                <a:solidFill>
                  <a:schemeClr val="accent2"/>
                </a:solidFill>
              </a:rPr>
              <a:t>Adapting a pretrained causal language model</a:t>
            </a:r>
            <a:endParaRPr lang="en-US" sz="2400" dirty="0"/>
          </a:p>
        </p:txBody>
      </p:sp>
      <p:sp>
        <p:nvSpPr>
          <p:cNvPr id="4" name="Text 2"/>
          <p:cNvSpPr txBox="1"/>
          <p:nvPr/>
        </p:nvSpPr>
        <p:spPr>
          <a:xfrm>
            <a:off x="731520" y="5120640"/>
            <a:ext cx="10698480" cy="365760"/>
          </a:xfrm>
          <a:prstGeom prst="rect">
            <a:avLst/>
          </a:prstGeom>
          <a:noFill/>
          <a:ln/>
        </p:spPr>
        <p:txBody>
          <a:bodyPr wrap="square" lIns="0" tIns="0" rIns="0" bIns="0" rtlCol="0" anchor="t"/>
          <a:lstStyle/>
          <a:p>
            <a:pPr marL="0" indent="0">
              <a:buNone/>
            </a:pPr>
            <a:r>
              <a:rPr lang="en-US" sz="1600" dirty="0">
                <a:solidFill>
                  <a:schemeClr val="bg1"/>
                </a:solidFill>
              </a:rPr>
              <a:t>Generative AI (ABAI3009L) · Module 3: Training and Fine-tuning LLMs</a:t>
            </a:r>
            <a:endParaRPr lang="en-US" sz="1600" dirty="0"/>
          </a:p>
        </p:txBody>
      </p:sp>
      <p:sp>
        <p:nvSpPr>
          <p:cNvPr id="5" name="Text 3"/>
          <p:cNvSpPr txBox="1"/>
          <p:nvPr/>
        </p:nvSpPr>
        <p:spPr>
          <a:xfrm>
            <a:off x="731520" y="5532120"/>
            <a:ext cx="10698480" cy="365760"/>
          </a:xfrm>
          <a:prstGeom prst="rect">
            <a:avLst/>
          </a:prstGeom>
          <a:noFill/>
          <a:ln/>
        </p:spPr>
        <p:txBody>
          <a:bodyPr wrap="square" lIns="0" tIns="0" rIns="0" bIns="0" rtlCol="0" anchor="t"/>
          <a:lstStyle/>
          <a:p>
            <a:pPr marL="0" indent="0">
              <a:buNone/>
            </a:pPr>
            <a:r>
              <a:rPr lang="en-US" sz="1400" dirty="0">
                <a:solidFill>
                  <a:srgbClr val="C9CFDA"/>
                </a:solidFill>
              </a:rPr>
              <a:t>Companion notebook: module3/lectures/fine_tuning/gpt2_fine_tuning.ipynb</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777240"/>
          </a:xfrm>
          <a:prstGeom prst="rect">
            <a:avLst/>
          </a:prstGeom>
          <a:noFill/>
          <a:ln/>
        </p:spPr>
        <p:txBody>
          <a:bodyPr wrap="square" lIns="0" tIns="0" rIns="0" bIns="0" rtlCol="0" anchor="ctr"/>
          <a:lstStyle/>
          <a:p>
            <a:pPr marL="0" indent="0" algn="l">
              <a:buNone/>
            </a:pPr>
            <a:r>
              <a:rPr lang="en-US" sz="3200" b="1" dirty="0">
                <a:solidFill>
                  <a:schemeClr val="tx1"/>
                </a:solidFill>
              </a:rPr>
              <a:t>What you will learn</a:t>
            </a:r>
            <a:endParaRPr lang="en-US" sz="3200" dirty="0"/>
          </a:p>
        </p:txBody>
      </p:sp>
      <p:sp>
        <p:nvSpPr>
          <p:cNvPr id="4" name="objective 1"/>
          <p:cNvSpPr/>
          <p:nvPr/>
        </p:nvSpPr>
        <p:spPr>
          <a:xfrm>
            <a:off x="548640" y="1325880"/>
            <a:ext cx="3474720" cy="2194560"/>
          </a:xfrm>
          <a:prstGeom prst="roundRect">
            <a:avLst>
              <a:gd name="adj" fmla="val 5000"/>
            </a:avLst>
          </a:prstGeom>
          <a:solidFill>
            <a:schemeClr val="bg2"/>
          </a:solidFill>
          <a:ln w="12700">
            <a:solidFill>
              <a:schemeClr val="bg2"/>
            </a:solidFill>
            <a:prstDash val="solid"/>
          </a:ln>
        </p:spPr>
      </p:sp>
      <p:sp>
        <p:nvSpPr>
          <p:cNvPr id="5" name="Shape 2"/>
          <p:cNvSpPr/>
          <p:nvPr/>
        </p:nvSpPr>
        <p:spPr>
          <a:xfrm>
            <a:off x="822960" y="1600200"/>
            <a:ext cx="548640" cy="548640"/>
          </a:xfrm>
          <a:prstGeom prst="ellipse">
            <a:avLst/>
          </a:prstGeom>
          <a:solidFill>
            <a:schemeClr val="accent1"/>
          </a:solidFill>
          <a:ln w="12700">
            <a:solidFill>
              <a:schemeClr val="accent1"/>
            </a:solidFill>
            <a:prstDash val="solid"/>
          </a:ln>
        </p:spPr>
      </p:sp>
      <p:sp>
        <p:nvSpPr>
          <p:cNvPr id="6" name="Text 3"/>
          <p:cNvSpPr txBox="1"/>
          <p:nvPr/>
        </p:nvSpPr>
        <p:spPr>
          <a:xfrm>
            <a:off x="822960" y="1600200"/>
            <a:ext cx="548640" cy="548640"/>
          </a:xfrm>
          <a:prstGeom prst="rect">
            <a:avLst/>
          </a:prstGeom>
          <a:noFill/>
          <a:ln/>
        </p:spPr>
        <p:txBody>
          <a:bodyPr wrap="square" lIns="0" tIns="0" rIns="0" bIns="0" rtlCol="0" anchor="ctr"/>
          <a:lstStyle/>
          <a:p>
            <a:pPr marL="0" indent="0" algn="ctr">
              <a:buNone/>
            </a:pPr>
            <a:r>
              <a:rPr lang="en-US" sz="2000" b="1" dirty="0">
                <a:solidFill>
                  <a:schemeClr val="bg1"/>
                </a:solidFill>
              </a:rPr>
              <a:t>1</a:t>
            </a:r>
            <a:endParaRPr lang="en-US" sz="2000" dirty="0"/>
          </a:p>
        </p:txBody>
      </p:sp>
      <p:sp>
        <p:nvSpPr>
          <p:cNvPr id="7" name="Text 4"/>
          <p:cNvSpPr txBox="1"/>
          <p:nvPr/>
        </p:nvSpPr>
        <p:spPr>
          <a:xfrm>
            <a:off x="1508760" y="1600200"/>
            <a:ext cx="2331720" cy="548640"/>
          </a:xfrm>
          <a:prstGeom prst="rect">
            <a:avLst/>
          </a:prstGeom>
          <a:noFill/>
          <a:ln/>
        </p:spPr>
        <p:txBody>
          <a:bodyPr wrap="square" lIns="0" tIns="0" rIns="0" bIns="0" rtlCol="0" anchor="ctr"/>
          <a:lstStyle/>
          <a:p>
            <a:pPr marL="0" indent="0">
              <a:buNone/>
            </a:pPr>
            <a:r>
              <a:rPr lang="en-US" sz="1800" b="1" dirty="0">
                <a:solidFill>
                  <a:schemeClr val="tx1"/>
                </a:solidFill>
              </a:rPr>
              <a:t>What fine-tuning is</a:t>
            </a:r>
            <a:endParaRPr lang="en-US" sz="1800" dirty="0"/>
          </a:p>
        </p:txBody>
      </p:sp>
      <p:sp>
        <p:nvSpPr>
          <p:cNvPr id="8" name="Text 5"/>
          <p:cNvSpPr txBox="1"/>
          <p:nvPr/>
        </p:nvSpPr>
        <p:spPr>
          <a:xfrm>
            <a:off x="822960" y="2286000"/>
            <a:ext cx="2971800" cy="1097280"/>
          </a:xfrm>
          <a:prstGeom prst="rect">
            <a:avLst/>
          </a:prstGeom>
          <a:noFill/>
          <a:ln/>
        </p:spPr>
        <p:txBody>
          <a:bodyPr wrap="square" lIns="0" tIns="0" rIns="0" bIns="0" rtlCol="0" anchor="t"/>
          <a:lstStyle/>
          <a:p>
            <a:pPr marL="0" indent="0">
              <a:buNone/>
            </a:pPr>
            <a:r>
              <a:rPr lang="en-US" sz="1500" dirty="0">
                <a:solidFill>
                  <a:schemeClr val="tx2"/>
                </a:solidFill>
              </a:rPr>
              <a:t>The pretraining objective, started from pretrained weights; how it differs from prompting and retrieval</a:t>
            </a:r>
            <a:endParaRPr lang="en-US" sz="1500" dirty="0"/>
          </a:p>
        </p:txBody>
      </p:sp>
      <p:sp>
        <p:nvSpPr>
          <p:cNvPr id="9" name="objective 2"/>
          <p:cNvSpPr/>
          <p:nvPr/>
        </p:nvSpPr>
        <p:spPr>
          <a:xfrm>
            <a:off x="4297680" y="1325880"/>
            <a:ext cx="3474720" cy="2194560"/>
          </a:xfrm>
          <a:prstGeom prst="roundRect">
            <a:avLst>
              <a:gd name="adj" fmla="val 5000"/>
            </a:avLst>
          </a:prstGeom>
          <a:solidFill>
            <a:schemeClr val="bg2"/>
          </a:solidFill>
          <a:ln w="12700">
            <a:solidFill>
              <a:schemeClr val="bg2"/>
            </a:solidFill>
            <a:prstDash val="solid"/>
          </a:ln>
        </p:spPr>
      </p:sp>
      <p:sp>
        <p:nvSpPr>
          <p:cNvPr id="10" name="Shape 7"/>
          <p:cNvSpPr/>
          <p:nvPr/>
        </p:nvSpPr>
        <p:spPr>
          <a:xfrm>
            <a:off x="4572000" y="1600200"/>
            <a:ext cx="548640" cy="548640"/>
          </a:xfrm>
          <a:prstGeom prst="ellipse">
            <a:avLst/>
          </a:prstGeom>
          <a:solidFill>
            <a:schemeClr val="accent3"/>
          </a:solidFill>
          <a:ln w="12700">
            <a:solidFill>
              <a:schemeClr val="accent3"/>
            </a:solidFill>
            <a:prstDash val="solid"/>
          </a:ln>
        </p:spPr>
      </p:sp>
      <p:sp>
        <p:nvSpPr>
          <p:cNvPr id="11" name="Text 8"/>
          <p:cNvSpPr txBox="1"/>
          <p:nvPr/>
        </p:nvSpPr>
        <p:spPr>
          <a:xfrm>
            <a:off x="4572000" y="1600200"/>
            <a:ext cx="548640" cy="548640"/>
          </a:xfrm>
          <a:prstGeom prst="rect">
            <a:avLst/>
          </a:prstGeom>
          <a:noFill/>
          <a:ln/>
        </p:spPr>
        <p:txBody>
          <a:bodyPr wrap="square" lIns="0" tIns="0" rIns="0" bIns="0" rtlCol="0" anchor="ctr"/>
          <a:lstStyle/>
          <a:p>
            <a:pPr marL="0" indent="0" algn="ctr">
              <a:buNone/>
            </a:pPr>
            <a:r>
              <a:rPr lang="en-US" sz="2000" b="1" dirty="0">
                <a:solidFill>
                  <a:schemeClr val="bg1"/>
                </a:solidFill>
              </a:rPr>
              <a:t>2</a:t>
            </a:r>
            <a:endParaRPr lang="en-US" sz="2000" dirty="0"/>
          </a:p>
        </p:txBody>
      </p:sp>
      <p:sp>
        <p:nvSpPr>
          <p:cNvPr id="12" name="Text 9"/>
          <p:cNvSpPr txBox="1"/>
          <p:nvPr/>
        </p:nvSpPr>
        <p:spPr>
          <a:xfrm>
            <a:off x="5257800" y="1600200"/>
            <a:ext cx="2331720" cy="548640"/>
          </a:xfrm>
          <a:prstGeom prst="rect">
            <a:avLst/>
          </a:prstGeom>
          <a:noFill/>
          <a:ln/>
        </p:spPr>
        <p:txBody>
          <a:bodyPr wrap="square" lIns="0" tIns="0" rIns="0" bIns="0" rtlCol="0" anchor="ctr"/>
          <a:lstStyle/>
          <a:p>
            <a:pPr marL="0" indent="0">
              <a:buNone/>
            </a:pPr>
            <a:r>
              <a:rPr lang="en-US" sz="1800" b="1" dirty="0">
                <a:solidFill>
                  <a:schemeClr val="tx1"/>
                </a:solidFill>
              </a:rPr>
              <a:t>Preparing data</a:t>
            </a:r>
            <a:endParaRPr lang="en-US" sz="1800" dirty="0"/>
          </a:p>
        </p:txBody>
      </p:sp>
      <p:sp>
        <p:nvSpPr>
          <p:cNvPr id="13" name="Text 10"/>
          <p:cNvSpPr txBox="1"/>
          <p:nvPr/>
        </p:nvSpPr>
        <p:spPr>
          <a:xfrm>
            <a:off x="4572000" y="2286000"/>
            <a:ext cx="2971800" cy="1097280"/>
          </a:xfrm>
          <a:prstGeom prst="rect">
            <a:avLst/>
          </a:prstGeom>
          <a:noFill/>
          <a:ln/>
        </p:spPr>
        <p:txBody>
          <a:bodyPr wrap="square" lIns="0" tIns="0" rIns="0" bIns="0" rtlCol="0" anchor="t"/>
          <a:lstStyle/>
          <a:p>
            <a:pPr marL="0" indent="0">
              <a:buNone/>
            </a:pPr>
            <a:r>
              <a:rPr lang="en-US" sz="1500" dirty="0">
                <a:solidFill>
                  <a:schemeClr val="tx2"/>
                </a:solidFill>
              </a:rPr>
              <a:t>Text → tokens → labels; which positions give a loss; why the end-of-text token matters</a:t>
            </a:r>
            <a:endParaRPr lang="en-US" sz="1500" dirty="0"/>
          </a:p>
        </p:txBody>
      </p:sp>
      <p:sp>
        <p:nvSpPr>
          <p:cNvPr id="14" name="objective 3"/>
          <p:cNvSpPr/>
          <p:nvPr/>
        </p:nvSpPr>
        <p:spPr>
          <a:xfrm>
            <a:off x="8046720" y="1325880"/>
            <a:ext cx="3474720" cy="2194560"/>
          </a:xfrm>
          <a:prstGeom prst="roundRect">
            <a:avLst>
              <a:gd name="adj" fmla="val 5000"/>
            </a:avLst>
          </a:prstGeom>
          <a:solidFill>
            <a:schemeClr val="bg2"/>
          </a:solidFill>
          <a:ln w="12700">
            <a:solidFill>
              <a:schemeClr val="bg2"/>
            </a:solidFill>
            <a:prstDash val="solid"/>
          </a:ln>
        </p:spPr>
      </p:sp>
      <p:sp>
        <p:nvSpPr>
          <p:cNvPr id="15" name="Shape 12"/>
          <p:cNvSpPr/>
          <p:nvPr/>
        </p:nvSpPr>
        <p:spPr>
          <a:xfrm>
            <a:off x="8321040" y="1600200"/>
            <a:ext cx="548640" cy="548640"/>
          </a:xfrm>
          <a:prstGeom prst="ellipse">
            <a:avLst/>
          </a:prstGeom>
          <a:solidFill>
            <a:schemeClr val="accent1"/>
          </a:solidFill>
          <a:ln w="12700">
            <a:solidFill>
              <a:schemeClr val="accent1"/>
            </a:solidFill>
            <a:prstDash val="solid"/>
          </a:ln>
        </p:spPr>
      </p:sp>
      <p:sp>
        <p:nvSpPr>
          <p:cNvPr id="16" name="Text 13"/>
          <p:cNvSpPr txBox="1"/>
          <p:nvPr/>
        </p:nvSpPr>
        <p:spPr>
          <a:xfrm>
            <a:off x="8321040" y="1600200"/>
            <a:ext cx="548640" cy="548640"/>
          </a:xfrm>
          <a:prstGeom prst="rect">
            <a:avLst/>
          </a:prstGeom>
          <a:noFill/>
          <a:ln/>
        </p:spPr>
        <p:txBody>
          <a:bodyPr wrap="square" lIns="0" tIns="0" rIns="0" bIns="0" rtlCol="0" anchor="ctr"/>
          <a:lstStyle/>
          <a:p>
            <a:pPr marL="0" indent="0" algn="ctr">
              <a:buNone/>
            </a:pPr>
            <a:r>
              <a:rPr lang="en-US" sz="2000" b="1" dirty="0">
                <a:solidFill>
                  <a:schemeClr val="bg1"/>
                </a:solidFill>
              </a:rPr>
              <a:t>3</a:t>
            </a:r>
            <a:endParaRPr lang="en-US" sz="2000" dirty="0"/>
          </a:p>
        </p:txBody>
      </p:sp>
      <p:sp>
        <p:nvSpPr>
          <p:cNvPr id="17" name="Text 14"/>
          <p:cNvSpPr txBox="1"/>
          <p:nvPr/>
        </p:nvSpPr>
        <p:spPr>
          <a:xfrm>
            <a:off x="9006840" y="1600200"/>
            <a:ext cx="2331720" cy="548640"/>
          </a:xfrm>
          <a:prstGeom prst="rect">
            <a:avLst/>
          </a:prstGeom>
          <a:noFill/>
          <a:ln/>
        </p:spPr>
        <p:txBody>
          <a:bodyPr wrap="square" lIns="0" tIns="0" rIns="0" bIns="0" rtlCol="0" anchor="ctr"/>
          <a:lstStyle/>
          <a:p>
            <a:pPr marL="0" indent="0">
              <a:buNone/>
            </a:pPr>
            <a:r>
              <a:rPr lang="en-US" sz="1800" b="1" dirty="0">
                <a:solidFill>
                  <a:schemeClr val="tx1"/>
                </a:solidFill>
              </a:rPr>
              <a:t>What it costs</a:t>
            </a:r>
            <a:endParaRPr lang="en-US" sz="1800" dirty="0"/>
          </a:p>
        </p:txBody>
      </p:sp>
      <p:sp>
        <p:nvSpPr>
          <p:cNvPr id="18" name="Text 15"/>
          <p:cNvSpPr txBox="1"/>
          <p:nvPr/>
        </p:nvSpPr>
        <p:spPr>
          <a:xfrm>
            <a:off x="8321040" y="2286000"/>
            <a:ext cx="2971800" cy="1097280"/>
          </a:xfrm>
          <a:prstGeom prst="rect">
            <a:avLst/>
          </a:prstGeom>
          <a:noFill/>
          <a:ln/>
        </p:spPr>
        <p:txBody>
          <a:bodyPr wrap="square" lIns="0" tIns="0" rIns="0" bIns="0" rtlCol="0" anchor="t"/>
          <a:lstStyle/>
          <a:p>
            <a:pPr marL="0" indent="0">
              <a:buNone/>
            </a:pPr>
            <a:r>
              <a:rPr lang="en-US" sz="1500" dirty="0">
                <a:solidFill>
                  <a:schemeClr val="tx2"/>
                </a:solidFill>
              </a:rPr>
              <a:t>Every parameter is updated: about 16 bytes per parameter, plus activations</a:t>
            </a:r>
            <a:endParaRPr lang="en-US" sz="1500" dirty="0"/>
          </a:p>
        </p:txBody>
      </p:sp>
      <p:sp>
        <p:nvSpPr>
          <p:cNvPr id="19" name="objective 4"/>
          <p:cNvSpPr/>
          <p:nvPr/>
        </p:nvSpPr>
        <p:spPr>
          <a:xfrm>
            <a:off x="548640" y="3749040"/>
            <a:ext cx="3474720" cy="2194560"/>
          </a:xfrm>
          <a:prstGeom prst="roundRect">
            <a:avLst>
              <a:gd name="adj" fmla="val 5000"/>
            </a:avLst>
          </a:prstGeom>
          <a:solidFill>
            <a:schemeClr val="bg2"/>
          </a:solidFill>
          <a:ln w="12700">
            <a:solidFill>
              <a:schemeClr val="bg2"/>
            </a:solidFill>
            <a:prstDash val="solid"/>
          </a:ln>
        </p:spPr>
      </p:sp>
      <p:sp>
        <p:nvSpPr>
          <p:cNvPr id="20" name="Shape 17"/>
          <p:cNvSpPr/>
          <p:nvPr/>
        </p:nvSpPr>
        <p:spPr>
          <a:xfrm>
            <a:off x="822960" y="4023360"/>
            <a:ext cx="548640" cy="548640"/>
          </a:xfrm>
          <a:prstGeom prst="ellipse">
            <a:avLst/>
          </a:prstGeom>
          <a:solidFill>
            <a:schemeClr val="accent3"/>
          </a:solidFill>
          <a:ln w="12700">
            <a:solidFill>
              <a:schemeClr val="accent3"/>
            </a:solidFill>
            <a:prstDash val="solid"/>
          </a:ln>
        </p:spPr>
      </p:sp>
      <p:sp>
        <p:nvSpPr>
          <p:cNvPr id="21" name="Text 18"/>
          <p:cNvSpPr txBox="1"/>
          <p:nvPr/>
        </p:nvSpPr>
        <p:spPr>
          <a:xfrm>
            <a:off x="822960" y="4023360"/>
            <a:ext cx="548640" cy="548640"/>
          </a:xfrm>
          <a:prstGeom prst="rect">
            <a:avLst/>
          </a:prstGeom>
          <a:noFill/>
          <a:ln/>
        </p:spPr>
        <p:txBody>
          <a:bodyPr wrap="square" lIns="0" tIns="0" rIns="0" bIns="0" rtlCol="0" anchor="ctr"/>
          <a:lstStyle/>
          <a:p>
            <a:pPr marL="0" indent="0" algn="ctr">
              <a:buNone/>
            </a:pPr>
            <a:r>
              <a:rPr lang="en-US" sz="2000" b="1" dirty="0">
                <a:solidFill>
                  <a:schemeClr val="bg1"/>
                </a:solidFill>
              </a:rPr>
              <a:t>4</a:t>
            </a:r>
            <a:endParaRPr lang="en-US" sz="2000" dirty="0"/>
          </a:p>
        </p:txBody>
      </p:sp>
      <p:sp>
        <p:nvSpPr>
          <p:cNvPr id="22" name="Text 19"/>
          <p:cNvSpPr txBox="1"/>
          <p:nvPr/>
        </p:nvSpPr>
        <p:spPr>
          <a:xfrm>
            <a:off x="1508760" y="4023360"/>
            <a:ext cx="2331720" cy="548640"/>
          </a:xfrm>
          <a:prstGeom prst="rect">
            <a:avLst/>
          </a:prstGeom>
          <a:noFill/>
          <a:ln/>
        </p:spPr>
        <p:txBody>
          <a:bodyPr wrap="square" lIns="0" tIns="0" rIns="0" bIns="0" rtlCol="0" anchor="ctr"/>
          <a:lstStyle/>
          <a:p>
            <a:pPr marL="0" indent="0">
              <a:buNone/>
            </a:pPr>
            <a:r>
              <a:rPr lang="en-US" sz="1800" b="1" dirty="0">
                <a:solidFill>
                  <a:schemeClr val="tx1"/>
                </a:solidFill>
              </a:rPr>
              <a:t>The training loop</a:t>
            </a:r>
            <a:endParaRPr lang="en-US" sz="1800" dirty="0"/>
          </a:p>
        </p:txBody>
      </p:sp>
      <p:sp>
        <p:nvSpPr>
          <p:cNvPr id="23" name="Text 20"/>
          <p:cNvSpPr txBox="1"/>
          <p:nvPr/>
        </p:nvSpPr>
        <p:spPr>
          <a:xfrm>
            <a:off x="822960" y="4709160"/>
            <a:ext cx="2971800" cy="1097280"/>
          </a:xfrm>
          <a:prstGeom prst="rect">
            <a:avLst/>
          </a:prstGeom>
          <a:noFill/>
          <a:ln/>
        </p:spPr>
        <p:txBody>
          <a:bodyPr wrap="square" lIns="0" tIns="0" rIns="0" bIns="0" rtlCol="0" anchor="t"/>
          <a:lstStyle/>
          <a:p>
            <a:pPr marL="0" indent="0">
              <a:buNone/>
            </a:pPr>
            <a:r>
              <a:rPr lang="en-US" sz="1500" dirty="0">
                <a:solidFill>
                  <a:schemeClr val="tx2"/>
                </a:solidFill>
              </a:rPr>
              <a:t>Learning rate, warmup and decay, gradient clipping, weight decay, train vs. eval mode</a:t>
            </a:r>
            <a:endParaRPr lang="en-US" sz="1500" dirty="0"/>
          </a:p>
        </p:txBody>
      </p:sp>
      <p:sp>
        <p:nvSpPr>
          <p:cNvPr id="24" name="objective 5"/>
          <p:cNvSpPr/>
          <p:nvPr/>
        </p:nvSpPr>
        <p:spPr>
          <a:xfrm>
            <a:off x="4297680" y="3749040"/>
            <a:ext cx="3474720" cy="2194560"/>
          </a:xfrm>
          <a:prstGeom prst="roundRect">
            <a:avLst>
              <a:gd name="adj" fmla="val 5000"/>
            </a:avLst>
          </a:prstGeom>
          <a:solidFill>
            <a:schemeClr val="bg2"/>
          </a:solidFill>
          <a:ln w="12700">
            <a:solidFill>
              <a:schemeClr val="bg2"/>
            </a:solidFill>
            <a:prstDash val="solid"/>
          </a:ln>
        </p:spPr>
      </p:sp>
      <p:sp>
        <p:nvSpPr>
          <p:cNvPr id="25" name="Shape 22"/>
          <p:cNvSpPr/>
          <p:nvPr/>
        </p:nvSpPr>
        <p:spPr>
          <a:xfrm>
            <a:off x="4572000" y="4023360"/>
            <a:ext cx="548640" cy="548640"/>
          </a:xfrm>
          <a:prstGeom prst="ellipse">
            <a:avLst/>
          </a:prstGeom>
          <a:solidFill>
            <a:schemeClr val="accent1"/>
          </a:solidFill>
          <a:ln w="12700">
            <a:solidFill>
              <a:schemeClr val="accent1"/>
            </a:solidFill>
            <a:prstDash val="solid"/>
          </a:ln>
        </p:spPr>
      </p:sp>
      <p:sp>
        <p:nvSpPr>
          <p:cNvPr id="26" name="Text 23"/>
          <p:cNvSpPr txBox="1"/>
          <p:nvPr/>
        </p:nvSpPr>
        <p:spPr>
          <a:xfrm>
            <a:off x="4572000" y="4023360"/>
            <a:ext cx="548640" cy="548640"/>
          </a:xfrm>
          <a:prstGeom prst="rect">
            <a:avLst/>
          </a:prstGeom>
          <a:noFill/>
          <a:ln/>
        </p:spPr>
        <p:txBody>
          <a:bodyPr wrap="square" lIns="0" tIns="0" rIns="0" bIns="0" rtlCol="0" anchor="ctr"/>
          <a:lstStyle/>
          <a:p>
            <a:pPr marL="0" indent="0" algn="ctr">
              <a:buNone/>
            </a:pPr>
            <a:r>
              <a:rPr lang="en-US" sz="2000" b="1" dirty="0">
                <a:solidFill>
                  <a:schemeClr val="bg1"/>
                </a:solidFill>
              </a:rPr>
              <a:t>5</a:t>
            </a:r>
            <a:endParaRPr lang="en-US" sz="2000" dirty="0"/>
          </a:p>
        </p:txBody>
      </p:sp>
      <p:sp>
        <p:nvSpPr>
          <p:cNvPr id="27" name="Text 24"/>
          <p:cNvSpPr txBox="1"/>
          <p:nvPr/>
        </p:nvSpPr>
        <p:spPr>
          <a:xfrm>
            <a:off x="5257800" y="4023360"/>
            <a:ext cx="2331720" cy="548640"/>
          </a:xfrm>
          <a:prstGeom prst="rect">
            <a:avLst/>
          </a:prstGeom>
          <a:noFill/>
          <a:ln/>
        </p:spPr>
        <p:txBody>
          <a:bodyPr wrap="square" lIns="0" tIns="0" rIns="0" bIns="0" rtlCol="0" anchor="ctr"/>
          <a:lstStyle/>
          <a:p>
            <a:pPr marL="0" indent="0">
              <a:buNone/>
            </a:pPr>
            <a:r>
              <a:rPr lang="en-US" sz="1800" b="1" dirty="0">
                <a:solidFill>
                  <a:schemeClr val="tx1"/>
                </a:solidFill>
              </a:rPr>
              <a:t>What goes wrong</a:t>
            </a:r>
            <a:endParaRPr lang="en-US" sz="1800" dirty="0"/>
          </a:p>
        </p:txBody>
      </p:sp>
      <p:sp>
        <p:nvSpPr>
          <p:cNvPr id="28" name="Text 25"/>
          <p:cNvSpPr txBox="1"/>
          <p:nvPr/>
        </p:nvSpPr>
        <p:spPr>
          <a:xfrm>
            <a:off x="4572000" y="4709160"/>
            <a:ext cx="2971800" cy="1097280"/>
          </a:xfrm>
          <a:prstGeom prst="rect">
            <a:avLst/>
          </a:prstGeom>
          <a:noFill/>
          <a:ln/>
        </p:spPr>
        <p:txBody>
          <a:bodyPr wrap="square" lIns="0" tIns="0" rIns="0" bIns="0" rtlCol="0" anchor="t"/>
          <a:lstStyle/>
          <a:p>
            <a:pPr marL="0" indent="0">
              <a:buNone/>
            </a:pPr>
            <a:r>
              <a:rPr lang="en-US" sz="1500" dirty="0">
                <a:solidFill>
                  <a:schemeClr val="tx2"/>
                </a:solidFill>
              </a:rPr>
              <a:t>Catastrophic forgetting, and a model that never stops</a:t>
            </a:r>
            <a:endParaRPr lang="en-US" sz="1500" dirty="0"/>
          </a:p>
        </p:txBody>
      </p:sp>
      <p:sp>
        <p:nvSpPr>
          <p:cNvPr id="29" name="objective 6"/>
          <p:cNvSpPr/>
          <p:nvPr/>
        </p:nvSpPr>
        <p:spPr>
          <a:xfrm>
            <a:off x="8046720" y="3749040"/>
            <a:ext cx="3474720" cy="2194560"/>
          </a:xfrm>
          <a:prstGeom prst="roundRect">
            <a:avLst>
              <a:gd name="adj" fmla="val 5000"/>
            </a:avLst>
          </a:prstGeom>
          <a:solidFill>
            <a:schemeClr val="bg2"/>
          </a:solidFill>
          <a:ln w="12700">
            <a:solidFill>
              <a:schemeClr val="bg2"/>
            </a:solidFill>
            <a:prstDash val="solid"/>
          </a:ln>
        </p:spPr>
      </p:sp>
      <p:sp>
        <p:nvSpPr>
          <p:cNvPr id="30" name="Shape 27"/>
          <p:cNvSpPr/>
          <p:nvPr/>
        </p:nvSpPr>
        <p:spPr>
          <a:xfrm>
            <a:off x="8321040" y="4023360"/>
            <a:ext cx="548640" cy="548640"/>
          </a:xfrm>
          <a:prstGeom prst="ellipse">
            <a:avLst/>
          </a:prstGeom>
          <a:solidFill>
            <a:schemeClr val="accent3"/>
          </a:solidFill>
          <a:ln w="12700">
            <a:solidFill>
              <a:schemeClr val="accent3"/>
            </a:solidFill>
            <a:prstDash val="solid"/>
          </a:ln>
        </p:spPr>
      </p:sp>
      <p:sp>
        <p:nvSpPr>
          <p:cNvPr id="31" name="Text 28"/>
          <p:cNvSpPr txBox="1"/>
          <p:nvPr/>
        </p:nvSpPr>
        <p:spPr>
          <a:xfrm>
            <a:off x="8321040" y="4023360"/>
            <a:ext cx="548640" cy="548640"/>
          </a:xfrm>
          <a:prstGeom prst="rect">
            <a:avLst/>
          </a:prstGeom>
          <a:noFill/>
          <a:ln/>
        </p:spPr>
        <p:txBody>
          <a:bodyPr wrap="square" lIns="0" tIns="0" rIns="0" bIns="0" rtlCol="0" anchor="ctr"/>
          <a:lstStyle/>
          <a:p>
            <a:pPr marL="0" indent="0" algn="ctr">
              <a:buNone/>
            </a:pPr>
            <a:r>
              <a:rPr lang="en-US" sz="2000" b="1" dirty="0">
                <a:solidFill>
                  <a:schemeClr val="bg1"/>
                </a:solidFill>
              </a:rPr>
              <a:t>6</a:t>
            </a:r>
            <a:endParaRPr lang="en-US" sz="2000" dirty="0"/>
          </a:p>
        </p:txBody>
      </p:sp>
      <p:sp>
        <p:nvSpPr>
          <p:cNvPr id="32" name="Text 29"/>
          <p:cNvSpPr txBox="1"/>
          <p:nvPr/>
        </p:nvSpPr>
        <p:spPr>
          <a:xfrm>
            <a:off x="9006840" y="4023360"/>
            <a:ext cx="2331720" cy="548640"/>
          </a:xfrm>
          <a:prstGeom prst="rect">
            <a:avLst/>
          </a:prstGeom>
          <a:noFill/>
          <a:ln/>
        </p:spPr>
        <p:txBody>
          <a:bodyPr wrap="square" lIns="0" tIns="0" rIns="0" bIns="0" rtlCol="0" anchor="ctr"/>
          <a:lstStyle/>
          <a:p>
            <a:pPr marL="0" indent="0">
              <a:buNone/>
            </a:pPr>
            <a:r>
              <a:rPr lang="en-US" sz="1800" b="1" dirty="0">
                <a:solidFill>
                  <a:schemeClr val="tx1"/>
                </a:solidFill>
              </a:rPr>
              <a:t>Evaluation</a:t>
            </a:r>
            <a:endParaRPr lang="en-US" sz="1800" dirty="0"/>
          </a:p>
        </p:txBody>
      </p:sp>
      <p:sp>
        <p:nvSpPr>
          <p:cNvPr id="33" name="Text 30"/>
          <p:cNvSpPr txBox="1"/>
          <p:nvPr/>
        </p:nvSpPr>
        <p:spPr>
          <a:xfrm>
            <a:off x="8321040" y="4709160"/>
            <a:ext cx="2971800" cy="1097280"/>
          </a:xfrm>
          <a:prstGeom prst="rect">
            <a:avLst/>
          </a:prstGeom>
          <a:noFill/>
          <a:ln/>
        </p:spPr>
        <p:txBody>
          <a:bodyPr wrap="square" lIns="0" tIns="0" rIns="0" bIns="0" rtlCol="0" anchor="t"/>
          <a:lstStyle/>
          <a:p>
            <a:pPr marL="0" indent="0">
              <a:buNone/>
            </a:pPr>
            <a:r>
              <a:rPr lang="en-US" sz="1500" dirty="0">
                <a:solidFill>
                  <a:schemeClr val="tx2"/>
                </a:solidFill>
              </a:rPr>
              <a:t>Validation loss, fixed-setting generation, base vs. tuned, and why loss is not enough</a:t>
            </a:r>
            <a:endParaRPr lang="en-US" sz="1500" dirty="0"/>
          </a:p>
        </p:txBody>
      </p:sp>
      <p:sp>
        <p:nvSpPr>
          <p:cNvPr id="3"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777240"/>
          </a:xfrm>
          <a:prstGeom prst="rect">
            <a:avLst/>
          </a:prstGeom>
          <a:noFill/>
          <a:ln/>
        </p:spPr>
        <p:txBody>
          <a:bodyPr wrap="square" lIns="0" tIns="0" rIns="0" bIns="0" rtlCol="0" anchor="ctr"/>
          <a:lstStyle/>
          <a:p>
            <a:pPr marL="0" indent="0" algn="l">
              <a:buNone/>
            </a:pPr>
            <a:r>
              <a:rPr lang="en-US" sz="3200" b="1" dirty="0">
                <a:solidFill>
                  <a:schemeClr val="tx1"/>
                </a:solidFill>
              </a:rPr>
              <a:t>Three ways to get a recipe out of GPT-2</a:t>
            </a:r>
            <a:endParaRPr lang="en-US" sz="3200" dirty="0"/>
          </a:p>
        </p:txBody>
      </p:sp>
      <p:sp>
        <p:nvSpPr>
          <p:cNvPr id="4" name="problem"/>
          <p:cNvSpPr/>
          <p:nvPr/>
        </p:nvSpPr>
        <p:spPr>
          <a:xfrm>
            <a:off x="548640" y="1234440"/>
            <a:ext cx="11064240" cy="914400"/>
          </a:xfrm>
          <a:prstGeom prst="roundRect">
            <a:avLst>
              <a:gd name="adj" fmla="val 12000"/>
            </a:avLst>
          </a:prstGeom>
          <a:solidFill>
            <a:schemeClr val="accent5"/>
          </a:solidFill>
          <a:ln w="12700">
            <a:solidFill>
              <a:schemeClr val="accent5"/>
            </a:solidFill>
            <a:prstDash val="solid"/>
          </a:ln>
        </p:spPr>
      </p:sp>
      <p:sp>
        <p:nvSpPr>
          <p:cNvPr id="5" name="Text 2"/>
          <p:cNvSpPr txBox="1"/>
          <p:nvPr/>
        </p:nvSpPr>
        <p:spPr>
          <a:xfrm>
            <a:off x="822960" y="1234440"/>
            <a:ext cx="10607040" cy="914400"/>
          </a:xfrm>
          <a:prstGeom prst="rect">
            <a:avLst/>
          </a:prstGeom>
          <a:noFill/>
          <a:ln/>
        </p:spPr>
        <p:txBody>
          <a:bodyPr wrap="square" lIns="0" tIns="0" rIns="0" bIns="0" rtlCol="0" anchor="ctr"/>
          <a:lstStyle/>
          <a:p>
            <a:pPr marL="0" indent="0">
              <a:buNone/>
            </a:pPr>
            <a:r>
              <a:rPr lang="en-US" sz="1700" b="1" dirty="0">
                <a:solidFill>
                  <a:schemeClr val="tx1"/>
                </a:solidFill>
              </a:rPr>
              <a:t>The goal: </a:t>
            </a:r>
            <a:r>
              <a:rPr lang="en-US" sz="1700" dirty="0">
                <a:solidFill>
                  <a:schemeClr val="tx1"/>
                </a:solidFill>
              </a:rPr>
              <a:t>given </a:t>
            </a:r>
            <a:r>
              <a:rPr lang="en-US" sz="1700" dirty="0">
                <a:solidFill>
                  <a:schemeClr val="tx1"/>
                </a:solidFill>
                <a:latin typeface="Courier New" pitchFamily="34" charset="0"/>
                <a:ea typeface="Courier New" pitchFamily="34" charset="-122"/>
                <a:cs typeface="Courier New" pitchFamily="34" charset="-120"/>
              </a:rPr>
              <a:t>recipe : dosa ;</a:t>
            </a:r>
            <a:r>
              <a:rPr lang="en-US" sz="1700" dirty="0">
                <a:solidFill>
                  <a:schemeClr val="tx1"/>
                </a:solidFill>
              </a:rPr>
              <a:t>, write the ingredients, then the steps, then </a:t>
            </a:r>
            <a:r>
              <a:rPr lang="en-US" sz="1700" b="1" dirty="0">
                <a:solidFill>
                  <a:schemeClr val="tx1"/>
                </a:solidFill>
              </a:rPr>
              <a:t>stop</a:t>
            </a:r>
            <a:r>
              <a:rPr lang="en-US" sz="1700" dirty="0">
                <a:solidFill>
                  <a:schemeClr val="tx1"/>
                </a:solidFill>
              </a:rPr>
              <a:t>. GPT-2 can continue almost any text, but not reliably in this format.</a:t>
            </a:r>
            <a:endParaRPr lang="en-US" sz="1700" dirty="0"/>
          </a:p>
        </p:txBody>
      </p:sp>
      <p:sp>
        <p:nvSpPr>
          <p:cNvPr id="6" name="Prompting"/>
          <p:cNvSpPr/>
          <p:nvPr/>
        </p:nvSpPr>
        <p:spPr>
          <a:xfrm>
            <a:off x="548640" y="2423160"/>
            <a:ext cx="3474720" cy="3429000"/>
          </a:xfrm>
          <a:prstGeom prst="roundRect">
            <a:avLst>
              <a:gd name="adj" fmla="val 3200"/>
            </a:avLst>
          </a:prstGeom>
          <a:solidFill>
            <a:schemeClr val="bg2"/>
          </a:solidFill>
          <a:ln w="12700">
            <a:solidFill>
              <a:schemeClr val="bg2"/>
            </a:solidFill>
            <a:prstDash val="solid"/>
          </a:ln>
        </p:spPr>
      </p:sp>
      <p:sp>
        <p:nvSpPr>
          <p:cNvPr id="7" name="Text 4"/>
          <p:cNvSpPr txBox="1"/>
          <p:nvPr/>
        </p:nvSpPr>
        <p:spPr>
          <a:xfrm>
            <a:off x="822960" y="2651760"/>
            <a:ext cx="2926080" cy="457200"/>
          </a:xfrm>
          <a:prstGeom prst="rect">
            <a:avLst/>
          </a:prstGeom>
          <a:noFill/>
          <a:ln/>
        </p:spPr>
        <p:txBody>
          <a:bodyPr wrap="square" lIns="0" tIns="0" rIns="0" bIns="0" rtlCol="0" anchor="t"/>
          <a:lstStyle/>
          <a:p>
            <a:pPr marL="0" indent="0">
              <a:buNone/>
            </a:pPr>
            <a:r>
              <a:rPr lang="en-US" sz="2200" b="1" dirty="0">
                <a:solidFill>
                  <a:schemeClr val="tx1"/>
                </a:solidFill>
                <a:latin typeface="Cambria" pitchFamily="34" charset="0"/>
                <a:ea typeface="Cambria" pitchFamily="34" charset="-122"/>
                <a:cs typeface="Cambria" pitchFamily="34" charset="-120"/>
              </a:rPr>
              <a:t>Prompting</a:t>
            </a:r>
            <a:endParaRPr lang="en-US" sz="2200" dirty="0"/>
          </a:p>
        </p:txBody>
      </p:sp>
      <p:sp>
        <p:nvSpPr>
          <p:cNvPr id="8" name="Text 5"/>
          <p:cNvSpPr txBox="1"/>
          <p:nvPr/>
        </p:nvSpPr>
        <p:spPr>
          <a:xfrm>
            <a:off x="822960" y="3246120"/>
            <a:ext cx="2926080" cy="777240"/>
          </a:xfrm>
          <a:prstGeom prst="rect">
            <a:avLst/>
          </a:prstGeom>
          <a:noFill/>
          <a:ln/>
        </p:spPr>
        <p:txBody>
          <a:bodyPr wrap="square" lIns="0" tIns="0" rIns="0" bIns="0" rtlCol="0" anchor="t"/>
          <a:lstStyle/>
          <a:p>
            <a:pPr marL="0" indent="0">
              <a:buNone/>
            </a:pPr>
            <a:r>
              <a:rPr lang="en-US" sz="1600" b="1" dirty="0">
                <a:solidFill>
                  <a:schemeClr val="tx1"/>
                </a:solidFill>
              </a:rPr>
              <a:t>Changes: </a:t>
            </a:r>
            <a:r>
              <a:rPr lang="en-US" sz="1600" dirty="0">
                <a:solidFill>
                  <a:schemeClr val="tx1"/>
                </a:solidFill>
              </a:rPr>
              <a:t>The input only</a:t>
            </a:r>
            <a:endParaRPr lang="en-US" sz="1600" dirty="0"/>
          </a:p>
          <a:p>
            <a:pPr marL="0" indent="0">
              <a:buNone/>
            </a:pPr>
            <a:r>
              <a:rPr lang="en-US" sz="1600" b="1" dirty="0">
                <a:solidFill>
                  <a:schemeClr val="tx1"/>
                </a:solidFill>
              </a:rPr>
              <a:t>Training: </a:t>
            </a:r>
            <a:r>
              <a:rPr lang="en-US" sz="1600" dirty="0">
                <a:solidFill>
                  <a:schemeClr val="tx1"/>
                </a:solidFill>
              </a:rPr>
              <a:t>No</a:t>
            </a:r>
            <a:endParaRPr lang="en-US" sz="1600" dirty="0"/>
          </a:p>
        </p:txBody>
      </p:sp>
      <p:sp>
        <p:nvSpPr>
          <p:cNvPr id="9" name="Text 6"/>
          <p:cNvSpPr txBox="1"/>
          <p:nvPr/>
        </p:nvSpPr>
        <p:spPr>
          <a:xfrm>
            <a:off x="822960" y="4114800"/>
            <a:ext cx="2926080" cy="1554480"/>
          </a:xfrm>
          <a:prstGeom prst="rect">
            <a:avLst/>
          </a:prstGeom>
          <a:noFill/>
          <a:ln/>
        </p:spPr>
        <p:txBody>
          <a:bodyPr wrap="square" lIns="0" tIns="0" rIns="0" bIns="0" rtlCol="0" anchor="t"/>
          <a:lstStyle/>
          <a:p>
            <a:pPr marL="0" indent="0">
              <a:buNone/>
            </a:pPr>
            <a:r>
              <a:rPr lang="en-US" sz="1500" b="1" dirty="0">
                <a:solidFill>
                  <a:schemeClr val="tx1"/>
                </a:solidFill>
              </a:rPr>
              <a:t>Weakness for GPT-2: </a:t>
            </a:r>
            <a:endParaRPr lang="en-US" sz="1500" dirty="0"/>
          </a:p>
          <a:p>
            <a:pPr marL="0" indent="0">
              <a:buNone/>
            </a:pPr>
            <a:r>
              <a:rPr lang="en-US" sz="1500" dirty="0">
                <a:solidFill>
                  <a:schemeClr val="tx1"/>
                </a:solidFill>
              </a:rPr>
              <a:t>GPT-2 was trained to continue text, not to follow instructions; few-shot formatting is fragile</a:t>
            </a:r>
            <a:endParaRPr lang="en-US" sz="1500" dirty="0"/>
          </a:p>
        </p:txBody>
      </p:sp>
      <p:sp>
        <p:nvSpPr>
          <p:cNvPr id="10" name="Retrieval"/>
          <p:cNvSpPr/>
          <p:nvPr/>
        </p:nvSpPr>
        <p:spPr>
          <a:xfrm>
            <a:off x="4297680" y="2423160"/>
            <a:ext cx="3474720" cy="3429000"/>
          </a:xfrm>
          <a:prstGeom prst="roundRect">
            <a:avLst>
              <a:gd name="adj" fmla="val 3200"/>
            </a:avLst>
          </a:prstGeom>
          <a:solidFill>
            <a:schemeClr val="bg2"/>
          </a:solidFill>
          <a:ln w="12700">
            <a:solidFill>
              <a:schemeClr val="bg2"/>
            </a:solidFill>
            <a:prstDash val="solid"/>
          </a:ln>
        </p:spPr>
      </p:sp>
      <p:sp>
        <p:nvSpPr>
          <p:cNvPr id="11" name="Text 8"/>
          <p:cNvSpPr txBox="1"/>
          <p:nvPr/>
        </p:nvSpPr>
        <p:spPr>
          <a:xfrm>
            <a:off x="4572000" y="2651760"/>
            <a:ext cx="2926080" cy="457200"/>
          </a:xfrm>
          <a:prstGeom prst="rect">
            <a:avLst/>
          </a:prstGeom>
          <a:noFill/>
          <a:ln/>
        </p:spPr>
        <p:txBody>
          <a:bodyPr wrap="square" lIns="0" tIns="0" rIns="0" bIns="0" rtlCol="0" anchor="t"/>
          <a:lstStyle/>
          <a:p>
            <a:pPr marL="0" indent="0">
              <a:buNone/>
            </a:pPr>
            <a:r>
              <a:rPr lang="en-US" sz="2200" b="1" dirty="0">
                <a:solidFill>
                  <a:schemeClr val="tx1"/>
                </a:solidFill>
                <a:latin typeface="Cambria" pitchFamily="34" charset="0"/>
                <a:ea typeface="Cambria" pitchFamily="34" charset="-122"/>
                <a:cs typeface="Cambria" pitchFamily="34" charset="-120"/>
              </a:rPr>
              <a:t>Retrieval</a:t>
            </a:r>
            <a:endParaRPr lang="en-US" sz="2200" dirty="0"/>
          </a:p>
        </p:txBody>
      </p:sp>
      <p:sp>
        <p:nvSpPr>
          <p:cNvPr id="12" name="Text 9"/>
          <p:cNvSpPr txBox="1"/>
          <p:nvPr/>
        </p:nvSpPr>
        <p:spPr>
          <a:xfrm>
            <a:off x="4572000" y="3246120"/>
            <a:ext cx="2926080" cy="777240"/>
          </a:xfrm>
          <a:prstGeom prst="rect">
            <a:avLst/>
          </a:prstGeom>
          <a:noFill/>
          <a:ln/>
        </p:spPr>
        <p:txBody>
          <a:bodyPr wrap="square" lIns="0" tIns="0" rIns="0" bIns="0" rtlCol="0" anchor="t"/>
          <a:lstStyle/>
          <a:p>
            <a:pPr marL="0" indent="0">
              <a:buNone/>
            </a:pPr>
            <a:r>
              <a:rPr lang="en-US" sz="1600" b="1" dirty="0">
                <a:solidFill>
                  <a:schemeClr val="tx1"/>
                </a:solidFill>
              </a:rPr>
              <a:t>Changes: </a:t>
            </a:r>
            <a:r>
              <a:rPr lang="en-US" sz="1600" dirty="0">
                <a:solidFill>
                  <a:schemeClr val="tx1"/>
                </a:solidFill>
              </a:rPr>
              <a:t>The context, not the weights</a:t>
            </a:r>
            <a:endParaRPr lang="en-US" sz="1600" dirty="0"/>
          </a:p>
          <a:p>
            <a:pPr marL="0" indent="0">
              <a:buNone/>
            </a:pPr>
            <a:r>
              <a:rPr lang="en-US" sz="1600" b="1" dirty="0">
                <a:solidFill>
                  <a:schemeClr val="tx1"/>
                </a:solidFill>
              </a:rPr>
              <a:t>Training: </a:t>
            </a:r>
            <a:r>
              <a:rPr lang="en-US" sz="1600" dirty="0">
                <a:solidFill>
                  <a:schemeClr val="tx1"/>
                </a:solidFill>
              </a:rPr>
              <a:t>No</a:t>
            </a:r>
            <a:endParaRPr lang="en-US" sz="1600" dirty="0"/>
          </a:p>
        </p:txBody>
      </p:sp>
      <p:sp>
        <p:nvSpPr>
          <p:cNvPr id="13" name="Text 10"/>
          <p:cNvSpPr txBox="1"/>
          <p:nvPr/>
        </p:nvSpPr>
        <p:spPr>
          <a:xfrm>
            <a:off x="4572000" y="4114800"/>
            <a:ext cx="2926080" cy="1554480"/>
          </a:xfrm>
          <a:prstGeom prst="rect">
            <a:avLst/>
          </a:prstGeom>
          <a:noFill/>
          <a:ln/>
        </p:spPr>
        <p:txBody>
          <a:bodyPr wrap="square" lIns="0" tIns="0" rIns="0" bIns="0" rtlCol="0" anchor="t"/>
          <a:lstStyle/>
          <a:p>
            <a:pPr marL="0" indent="0">
              <a:buNone/>
            </a:pPr>
            <a:r>
              <a:rPr lang="en-US" sz="1500" b="1" dirty="0">
                <a:solidFill>
                  <a:schemeClr val="tx1"/>
                </a:solidFill>
              </a:rPr>
              <a:t>Weakness for GPT-2: </a:t>
            </a:r>
            <a:endParaRPr lang="en-US" sz="1500" dirty="0"/>
          </a:p>
          <a:p>
            <a:pPr marL="0" indent="0">
              <a:buNone/>
            </a:pPr>
            <a:r>
              <a:rPr lang="en-US" sz="1500" dirty="0">
                <a:solidFill>
                  <a:schemeClr val="tx1"/>
                </a:solidFill>
              </a:rPr>
              <a:t>Supplies facts, but does not teach an output style or format</a:t>
            </a:r>
            <a:endParaRPr lang="en-US" sz="1500" dirty="0"/>
          </a:p>
        </p:txBody>
      </p:sp>
      <p:sp>
        <p:nvSpPr>
          <p:cNvPr id="14" name="Full fine-tuning"/>
          <p:cNvSpPr/>
          <p:nvPr/>
        </p:nvSpPr>
        <p:spPr>
          <a:xfrm>
            <a:off x="8046720" y="2423160"/>
            <a:ext cx="3474720" cy="3429000"/>
          </a:xfrm>
          <a:prstGeom prst="roundRect">
            <a:avLst>
              <a:gd name="adj" fmla="val 3200"/>
            </a:avLst>
          </a:prstGeom>
          <a:solidFill>
            <a:schemeClr val="accent6"/>
          </a:solidFill>
          <a:ln w="12700">
            <a:solidFill>
              <a:schemeClr val="accent6"/>
            </a:solidFill>
            <a:prstDash val="solid"/>
          </a:ln>
        </p:spPr>
      </p:sp>
      <p:sp>
        <p:nvSpPr>
          <p:cNvPr id="15" name="Text 12"/>
          <p:cNvSpPr txBox="1"/>
          <p:nvPr/>
        </p:nvSpPr>
        <p:spPr>
          <a:xfrm>
            <a:off x="8321040" y="2651760"/>
            <a:ext cx="2926080" cy="457200"/>
          </a:xfrm>
          <a:prstGeom prst="rect">
            <a:avLst/>
          </a:prstGeom>
          <a:noFill/>
          <a:ln/>
        </p:spPr>
        <p:txBody>
          <a:bodyPr wrap="square" lIns="0" tIns="0" rIns="0" bIns="0" rtlCol="0" anchor="t"/>
          <a:lstStyle/>
          <a:p>
            <a:pPr marL="0" indent="0">
              <a:buNone/>
            </a:pPr>
            <a:r>
              <a:rPr lang="en-US" sz="2200" b="1" dirty="0">
                <a:solidFill>
                  <a:schemeClr val="accent1"/>
                </a:solidFill>
                <a:latin typeface="Cambria" pitchFamily="34" charset="0"/>
                <a:ea typeface="Cambria" pitchFamily="34" charset="-122"/>
                <a:cs typeface="Cambria" pitchFamily="34" charset="-120"/>
              </a:rPr>
              <a:t>Full fine-tuning</a:t>
            </a:r>
            <a:endParaRPr lang="en-US" sz="2200" dirty="0"/>
          </a:p>
        </p:txBody>
      </p:sp>
      <p:sp>
        <p:nvSpPr>
          <p:cNvPr id="16" name="Text 13"/>
          <p:cNvSpPr txBox="1"/>
          <p:nvPr/>
        </p:nvSpPr>
        <p:spPr>
          <a:xfrm>
            <a:off x="8321040" y="3246120"/>
            <a:ext cx="2926080" cy="777240"/>
          </a:xfrm>
          <a:prstGeom prst="rect">
            <a:avLst/>
          </a:prstGeom>
          <a:noFill/>
          <a:ln/>
        </p:spPr>
        <p:txBody>
          <a:bodyPr wrap="square" lIns="0" tIns="0" rIns="0" bIns="0" rtlCol="0" anchor="t"/>
          <a:lstStyle/>
          <a:p>
            <a:pPr marL="0" indent="0">
              <a:buNone/>
            </a:pPr>
            <a:r>
              <a:rPr lang="en-US" sz="1600" b="1" dirty="0">
                <a:solidFill>
                  <a:schemeClr val="tx1"/>
                </a:solidFill>
              </a:rPr>
              <a:t>Changes: </a:t>
            </a:r>
            <a:r>
              <a:rPr lang="en-US" sz="1600" dirty="0">
                <a:solidFill>
                  <a:schemeClr val="tx1"/>
                </a:solidFill>
              </a:rPr>
              <a:t>All weights</a:t>
            </a:r>
            <a:endParaRPr lang="en-US" sz="1600" dirty="0"/>
          </a:p>
          <a:p>
            <a:pPr marL="0" indent="0">
              <a:buNone/>
            </a:pPr>
            <a:r>
              <a:rPr lang="en-US" sz="1600" b="1" dirty="0">
                <a:solidFill>
                  <a:schemeClr val="tx1"/>
                </a:solidFill>
              </a:rPr>
              <a:t>Training: </a:t>
            </a:r>
            <a:r>
              <a:rPr lang="en-US" sz="1600" dirty="0">
                <a:solidFill>
                  <a:schemeClr val="tx1"/>
                </a:solidFill>
              </a:rPr>
              <a:t>Yes</a:t>
            </a:r>
            <a:endParaRPr lang="en-US" sz="1600" dirty="0"/>
          </a:p>
        </p:txBody>
      </p:sp>
      <p:sp>
        <p:nvSpPr>
          <p:cNvPr id="17" name="Text 14"/>
          <p:cNvSpPr txBox="1"/>
          <p:nvPr/>
        </p:nvSpPr>
        <p:spPr>
          <a:xfrm>
            <a:off x="8321040" y="4114800"/>
            <a:ext cx="2926080" cy="1554480"/>
          </a:xfrm>
          <a:prstGeom prst="rect">
            <a:avLst/>
          </a:prstGeom>
          <a:noFill/>
          <a:ln/>
        </p:spPr>
        <p:txBody>
          <a:bodyPr wrap="square" lIns="0" tIns="0" rIns="0" bIns="0" rtlCol="0" anchor="t"/>
          <a:lstStyle/>
          <a:p>
            <a:pPr marL="0" indent="0">
              <a:buNone/>
            </a:pPr>
            <a:r>
              <a:rPr lang="en-US" sz="1500" b="1" dirty="0">
                <a:solidFill>
                  <a:schemeClr val="tx1"/>
                </a:solidFill>
              </a:rPr>
              <a:t>Weakness for GPT-2: </a:t>
            </a:r>
            <a:endParaRPr lang="en-US" sz="1500" dirty="0"/>
          </a:p>
          <a:p>
            <a:pPr marL="0" indent="0">
              <a:buNone/>
            </a:pPr>
            <a:r>
              <a:rPr lang="en-US" sz="1500" dirty="0">
                <a:solidFill>
                  <a:schemeClr val="tx1"/>
                </a:solidFill>
              </a:rPr>
              <a:t>Needs data, compute, and care to avoid forgetting</a:t>
            </a:r>
            <a:endParaRPr lang="en-US" sz="1500" dirty="0"/>
          </a:p>
        </p:txBody>
      </p:sp>
      <p:sp>
        <p:nvSpPr>
          <p:cNvPr id="18" name="Text 15"/>
          <p:cNvSpPr txBox="1"/>
          <p:nvPr/>
        </p:nvSpPr>
        <p:spPr>
          <a:xfrm>
            <a:off x="548640" y="5943600"/>
            <a:ext cx="11064240" cy="365760"/>
          </a:xfrm>
          <a:prstGeom prst="rect">
            <a:avLst/>
          </a:prstGeom>
          <a:noFill/>
          <a:ln/>
        </p:spPr>
        <p:txBody>
          <a:bodyPr wrap="square" lIns="0" tIns="0" rIns="0" bIns="0" rtlCol="0" anchor="t"/>
          <a:lstStyle/>
          <a:p>
            <a:pPr marL="0" indent="0">
              <a:buNone/>
            </a:pPr>
            <a:r>
              <a:rPr lang="en-US" sz="1500" i="1" dirty="0">
                <a:solidFill>
                  <a:schemeClr val="tx2"/>
                </a:solidFill>
              </a:rPr>
              <a:t>These are not rivals: a fine-tuned model can still be prompted, and can still be given retrieved context.</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777240"/>
          </a:xfrm>
          <a:prstGeom prst="rect">
            <a:avLst/>
          </a:prstGeom>
          <a:noFill/>
          <a:ln/>
        </p:spPr>
        <p:txBody>
          <a:bodyPr wrap="square" lIns="0" tIns="0" rIns="0" bIns="0" rtlCol="0" anchor="ctr"/>
          <a:lstStyle/>
          <a:p>
            <a:pPr marL="0" indent="0" algn="l">
              <a:buNone/>
            </a:pPr>
            <a:r>
              <a:rPr lang="en-US" sz="3200" b="1" dirty="0">
                <a:solidFill>
                  <a:schemeClr val="tx1"/>
                </a:solidFill>
              </a:rPr>
              <a:t>Same objective, different starting point</a:t>
            </a:r>
            <a:endParaRPr lang="en-US" sz="3200" dirty="0"/>
          </a:p>
        </p:txBody>
      </p:sp>
      <p:sp>
        <p:nvSpPr>
          <p:cNvPr id="4" name="objective"/>
          <p:cNvSpPr/>
          <p:nvPr/>
        </p:nvSpPr>
        <p:spPr>
          <a:xfrm>
            <a:off x="548640" y="1234440"/>
            <a:ext cx="11064240" cy="960120"/>
          </a:xfrm>
          <a:prstGeom prst="roundRect">
            <a:avLst>
              <a:gd name="adj" fmla="val 11429"/>
            </a:avLst>
          </a:prstGeom>
          <a:solidFill>
            <a:schemeClr val="bg2"/>
          </a:solidFill>
          <a:ln w="12700">
            <a:solidFill>
              <a:schemeClr val="bg2"/>
            </a:solidFill>
            <a:prstDash val="solid"/>
          </a:ln>
        </p:spPr>
      </p:sp>
      <p:sp>
        <p:nvSpPr>
          <p:cNvPr id="5" name="Text 2"/>
          <p:cNvSpPr txBox="1"/>
          <p:nvPr/>
        </p:nvSpPr>
        <p:spPr>
          <a:xfrm>
            <a:off x="822960" y="1280160"/>
            <a:ext cx="5669280" cy="868680"/>
          </a:xfrm>
          <a:prstGeom prst="rect">
            <a:avLst/>
          </a:prstGeom>
          <a:noFill/>
          <a:ln/>
        </p:spPr>
        <p:txBody>
          <a:bodyPr wrap="square" lIns="0" tIns="0" rIns="0" bIns="0" rtlCol="0" anchor="ctr"/>
          <a:lstStyle/>
          <a:p>
            <a:pPr marL="0" indent="0">
              <a:buNone/>
            </a:pPr>
            <a:r>
              <a:rPr lang="en-US" sz="2600" dirty="0">
                <a:solidFill>
                  <a:schemeClr val="tx1"/>
                </a:solidFill>
                <a:latin typeface="Cambria" pitchFamily="34" charset="0"/>
                <a:ea typeface="Cambria" pitchFamily="34" charset="-122"/>
                <a:cs typeface="Cambria" pitchFamily="34" charset="-120"/>
              </a:rPr>
              <a:t>L(θ) = − (1/N) Σ</a:t>
            </a:r>
            <a:r>
              <a:rPr lang="en-US" sz="2600" baseline="-40000" dirty="0">
                <a:solidFill>
                  <a:schemeClr val="tx1"/>
                </a:solidFill>
                <a:latin typeface="Cambria" pitchFamily="34" charset="0"/>
                <a:ea typeface="Cambria" pitchFamily="34" charset="-122"/>
                <a:cs typeface="Cambria" pitchFamily="34" charset="-120"/>
              </a:rPr>
              <a:t>t</a:t>
            </a:r>
            <a:r>
              <a:rPr lang="en-US" sz="2600" dirty="0">
                <a:solidFill>
                  <a:schemeClr val="tx1"/>
                </a:solidFill>
                <a:latin typeface="Cambria" pitchFamily="34" charset="0"/>
                <a:ea typeface="Cambria" pitchFamily="34" charset="-122"/>
                <a:cs typeface="Cambria" pitchFamily="34" charset="-120"/>
              </a:rPr>
              <a:t>  log P</a:t>
            </a:r>
            <a:r>
              <a:rPr lang="en-US" sz="2600" baseline="-40000" dirty="0">
                <a:solidFill>
                  <a:schemeClr val="tx1"/>
                </a:solidFill>
                <a:latin typeface="Cambria" pitchFamily="34" charset="0"/>
                <a:ea typeface="Cambria" pitchFamily="34" charset="-122"/>
                <a:cs typeface="Cambria" pitchFamily="34" charset="-120"/>
              </a:rPr>
              <a:t>θ</a:t>
            </a:r>
            <a:r>
              <a:rPr lang="en-US" sz="2600" dirty="0">
                <a:solidFill>
                  <a:schemeClr val="tx1"/>
                </a:solidFill>
                <a:latin typeface="Cambria" pitchFamily="34" charset="0"/>
                <a:ea typeface="Cambria" pitchFamily="34" charset="-122"/>
                <a:cs typeface="Cambria" pitchFamily="34" charset="-120"/>
              </a:rPr>
              <a:t>( x</a:t>
            </a:r>
            <a:r>
              <a:rPr lang="en-US" sz="2600" baseline="-40000" dirty="0">
                <a:solidFill>
                  <a:schemeClr val="tx1"/>
                </a:solidFill>
                <a:latin typeface="Cambria" pitchFamily="34" charset="0"/>
                <a:ea typeface="Cambria" pitchFamily="34" charset="-122"/>
                <a:cs typeface="Cambria" pitchFamily="34" charset="-120"/>
              </a:rPr>
              <a:t>t</a:t>
            </a:r>
            <a:r>
              <a:rPr lang="en-US" sz="2600" dirty="0">
                <a:solidFill>
                  <a:schemeClr val="tx1"/>
                </a:solidFill>
                <a:latin typeface="Cambria" pitchFamily="34" charset="0"/>
                <a:ea typeface="Cambria" pitchFamily="34" charset="-122"/>
                <a:cs typeface="Cambria" pitchFamily="34" charset="-120"/>
              </a:rPr>
              <a:t>  |  x</a:t>
            </a:r>
            <a:r>
              <a:rPr lang="en-US" sz="2600" baseline="-40000" dirty="0">
                <a:solidFill>
                  <a:schemeClr val="tx1"/>
                </a:solidFill>
                <a:latin typeface="Cambria" pitchFamily="34" charset="0"/>
                <a:ea typeface="Cambria" pitchFamily="34" charset="-122"/>
                <a:cs typeface="Cambria" pitchFamily="34" charset="-120"/>
              </a:rPr>
              <a:t>&lt;t</a:t>
            </a:r>
            <a:r>
              <a:rPr lang="en-US" sz="2600" dirty="0">
                <a:solidFill>
                  <a:schemeClr val="tx1"/>
                </a:solidFill>
                <a:latin typeface="Cambria" pitchFamily="34" charset="0"/>
                <a:ea typeface="Cambria" pitchFamily="34" charset="-122"/>
                <a:cs typeface="Cambria" pitchFamily="34" charset="-120"/>
              </a:rPr>
              <a:t> )</a:t>
            </a:r>
            <a:endParaRPr lang="en-US" sz="2600" dirty="0"/>
          </a:p>
        </p:txBody>
      </p:sp>
      <p:sp>
        <p:nvSpPr>
          <p:cNvPr id="6" name="Text 3"/>
          <p:cNvSpPr txBox="1"/>
          <p:nvPr/>
        </p:nvSpPr>
        <p:spPr>
          <a:xfrm>
            <a:off x="6583680" y="1280160"/>
            <a:ext cx="4846320" cy="868680"/>
          </a:xfrm>
          <a:prstGeom prst="rect">
            <a:avLst/>
          </a:prstGeom>
          <a:noFill/>
          <a:ln/>
        </p:spPr>
        <p:txBody>
          <a:bodyPr wrap="square" lIns="0" tIns="0" rIns="0" bIns="0" rtlCol="0" anchor="ctr"/>
          <a:lstStyle/>
          <a:p>
            <a:pPr marL="0" indent="0">
              <a:buNone/>
            </a:pPr>
            <a:r>
              <a:rPr lang="en-US" sz="1500" dirty="0">
                <a:solidFill>
                  <a:schemeClr val="tx2"/>
                </a:solidFill>
              </a:rPr>
              <a:t>Average negative log-likelihood of each real next token. Identical in pretraining and fine-tuning.</a:t>
            </a:r>
            <a:endParaRPr lang="en-US" sz="15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2423160"/>
          <a:ext cx="7132320" cy="2880360"/>
        </p:xfrm>
        <a:graphic>
          <a:graphicData uri="http://schemas.openxmlformats.org/drawingml/2006/table">
            <a:tbl>
              <a:tblPr/>
              <a:tblGrid>
                <a:gridCol w="1737360"/>
                <a:gridCol w="2468880"/>
                <a:gridCol w="2926080"/>
              </a:tblGrid>
              <a:tr h="457200">
                <a:tc>
                  <a:txBody>
                    <a:bodyPr/>
                    <a:lstStyle/>
                    <a:p>
                      <a:pPr marL="0" indent="0">
                        <a:buNone/>
                      </a:pP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marL="0" indent="0">
                        <a:buNone/>
                      </a:pPr>
                      <a:r>
                        <a:rPr lang="en-US" sz="1400" b="1" dirty="0">
                          <a:solidFill>
                            <a:schemeClr val="bg1"/>
                          </a:solidFill>
                        </a:rPr>
                        <a:t>Pretraining</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marL="0" indent="0">
                        <a:buNone/>
                      </a:pPr>
                      <a:r>
                        <a:rPr lang="en-US" sz="1400" b="1" dirty="0">
                          <a:solidFill>
                            <a:schemeClr val="bg1"/>
                          </a:solidFill>
                        </a:rPr>
                        <a:t>Fine-tuning</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r>
              <a:tr h="457200">
                <a:tc>
                  <a:txBody>
                    <a:bodyPr/>
                    <a:lstStyle/>
                    <a:p>
                      <a:pPr marL="0" indent="0">
                        <a:buNone/>
                      </a:pPr>
                      <a:r>
                        <a:rPr lang="en-US" sz="1400" b="1" dirty="0">
                          <a:solidFill>
                            <a:schemeClr val="tx1"/>
                          </a:solidFill>
                        </a:rPr>
                        <a:t>Initial weights θ₀</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Random</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marL="0" indent="0">
                        <a:buNone/>
                      </a:pPr>
                      <a:r>
                        <a:rPr lang="en-US" sz="1400" b="1" dirty="0">
                          <a:solidFill>
                            <a:schemeClr val="accent1"/>
                          </a:solidFill>
                        </a:rPr>
                        <a:t>Pretrained checkpoint</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457200">
                <a:tc>
                  <a:txBody>
                    <a:bodyPr/>
                    <a:lstStyle/>
                    <a:p>
                      <a:pPr marL="0" indent="0">
                        <a:buNone/>
                      </a:pPr>
                      <a:r>
                        <a:rPr lang="en-US" sz="1400" b="1" dirty="0">
                          <a:solidFill>
                            <a:schemeClr val="tx1"/>
                          </a:solidFill>
                        </a:rPr>
                        <a:t>Data</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Huge and broad (GPT-2: WebText)</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Small, narrow, chosen for the task</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r h="457200">
                <a:tc>
                  <a:txBody>
                    <a:bodyPr/>
                    <a:lstStyle/>
                    <a:p>
                      <a:pPr marL="0" indent="0">
                        <a:buNone/>
                      </a:pPr>
                      <a:r>
                        <a:rPr lang="en-US" sz="1400" b="1" dirty="0">
                          <a:solidFill>
                            <a:schemeClr val="tx1"/>
                          </a:solidFill>
                        </a:rPr>
                        <a:t>Learning rate</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Large enough to learn from scratch</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marL="0" indent="0">
                        <a:buNone/>
                      </a:pPr>
                      <a:r>
                        <a:rPr lang="en-US" sz="1400" b="1" dirty="0">
                          <a:solidFill>
                            <a:schemeClr val="accent1"/>
                          </a:solidFill>
                        </a:rPr>
                        <a:t>Small: adjust the weights, don't erase them</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457200">
                <a:tc>
                  <a:txBody>
                    <a:bodyPr/>
                    <a:lstStyle/>
                    <a:p>
                      <a:pPr marL="0" indent="0">
                        <a:buNone/>
                      </a:pPr>
                      <a:r>
                        <a:rPr lang="en-US" sz="1400" b="1" dirty="0">
                          <a:solidFill>
                            <a:schemeClr val="tx1"/>
                          </a:solidFill>
                        </a:rPr>
                        <a:t>Length</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Very long</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Minutes to hours; a few epochs</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r h="457200">
                <a:tc>
                  <a:txBody>
                    <a:bodyPr/>
                    <a:lstStyle/>
                    <a:p>
                      <a:pPr marL="0" indent="0">
                        <a:buNone/>
                      </a:pPr>
                      <a:r>
                        <a:rPr lang="en-US" sz="1400" b="1" dirty="0">
                          <a:solidFill>
                            <a:schemeClr val="tx1"/>
                          </a:solidFill>
                        </a:rPr>
                        <a:t>Result</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General language ability</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The same ability, shifted toward the target data</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bl>
          </a:graphicData>
        </a:graphic>
      </p:graphicFrame>
      <p:sp>
        <p:nvSpPr>
          <p:cNvPr id="8" name="plasticity vs stability"/>
          <p:cNvSpPr/>
          <p:nvPr/>
        </p:nvSpPr>
        <p:spPr>
          <a:xfrm>
            <a:off x="8001000" y="2423160"/>
            <a:ext cx="3611880" cy="3566160"/>
          </a:xfrm>
          <a:prstGeom prst="roundRect">
            <a:avLst>
              <a:gd name="adj" fmla="val 3077"/>
            </a:avLst>
          </a:prstGeom>
          <a:solidFill>
            <a:schemeClr val="accent5"/>
          </a:solidFill>
          <a:ln w="12700">
            <a:solidFill>
              <a:schemeClr val="accent5"/>
            </a:solidFill>
            <a:prstDash val="solid"/>
          </a:ln>
        </p:spPr>
      </p:sp>
      <p:sp>
        <p:nvSpPr>
          <p:cNvPr id="9" name="Text 5"/>
          <p:cNvSpPr txBox="1"/>
          <p:nvPr/>
        </p:nvSpPr>
        <p:spPr>
          <a:xfrm>
            <a:off x="8275320" y="2606040"/>
            <a:ext cx="3108960" cy="457200"/>
          </a:xfrm>
          <a:prstGeom prst="rect">
            <a:avLst/>
          </a:prstGeom>
          <a:noFill/>
          <a:ln/>
        </p:spPr>
        <p:txBody>
          <a:bodyPr wrap="square" lIns="0" tIns="0" rIns="0" bIns="0" rtlCol="0" anchor="t"/>
          <a:lstStyle/>
          <a:p>
            <a:pPr marL="0" indent="0">
              <a:buNone/>
            </a:pPr>
            <a:r>
              <a:rPr lang="en-US" sz="2000" b="1" dirty="0">
                <a:solidFill>
                  <a:schemeClr val="tx1"/>
                </a:solidFill>
                <a:latin typeface="Cambria" pitchFamily="34" charset="0"/>
                <a:ea typeface="Cambria" pitchFamily="34" charset="-122"/>
                <a:cs typeface="Cambria" pitchFamily="34" charset="-120"/>
              </a:rPr>
              <a:t>Plasticity vs. stability</a:t>
            </a:r>
            <a:endParaRPr lang="en-US" sz="2000" dirty="0"/>
          </a:p>
        </p:txBody>
      </p:sp>
      <p:sp>
        <p:nvSpPr>
          <p:cNvPr id="10" name="Text 6"/>
          <p:cNvSpPr txBox="1"/>
          <p:nvPr/>
        </p:nvSpPr>
        <p:spPr>
          <a:xfrm>
            <a:off x="8275320" y="3154680"/>
            <a:ext cx="3108960" cy="2651760"/>
          </a:xfrm>
          <a:prstGeom prst="rect">
            <a:avLst/>
          </a:prstGeom>
          <a:noFill/>
          <a:ln/>
        </p:spPr>
        <p:txBody>
          <a:bodyPr wrap="square" lIns="0" tIns="0" rIns="0" bIns="0" rtlCol="0" anchor="t"/>
          <a:lstStyle/>
          <a:p>
            <a:pPr marL="228600" indent="-228600">
              <a:spcAft>
                <a:spcPts val="800"/>
              </a:spcAft>
              <a:buSzPct val="100000"/>
              <a:buChar char="•"/>
            </a:pPr>
            <a:r>
              <a:rPr lang="en-US" sz="1600" b="1" dirty="0">
                <a:solidFill>
                  <a:schemeClr val="tx1"/>
                </a:solidFill>
              </a:rPr>
              <a:t>Too little change: </a:t>
            </a:r>
            <a:r>
              <a:rPr lang="en-US" sz="1600" dirty="0">
                <a:solidFill>
                  <a:schemeClr val="tx1"/>
                </a:solidFill>
              </a:rPr>
              <a:t>nothing new is learned</a:t>
            </a:r>
            <a:endParaRPr lang="en-US" sz="1600" dirty="0"/>
          </a:p>
          <a:p>
            <a:pPr marL="228600" indent="-228600">
              <a:spcAft>
                <a:spcPts val="800"/>
              </a:spcAft>
              <a:buSzPct val="100000"/>
              <a:buChar char="•"/>
            </a:pPr>
            <a:r>
              <a:rPr lang="en-US" sz="1600" b="1" dirty="0">
                <a:solidFill>
                  <a:schemeClr val="tx1"/>
                </a:solidFill>
              </a:rPr>
              <a:t>Too much change: </a:t>
            </a:r>
            <a:r>
              <a:rPr lang="en-US" sz="1600" dirty="0">
                <a:solidFill>
                  <a:schemeClr val="tx1"/>
                </a:solidFill>
              </a:rPr>
              <a:t>good at the new data, but the general ability we started from is lost</a:t>
            </a:r>
            <a:endParaRPr lang="en-US" sz="1600" dirty="0"/>
          </a:p>
          <a:p>
            <a:pPr marL="228600" indent="-228600">
              <a:spcAft>
                <a:spcPts val="800"/>
              </a:spcAft>
              <a:buSzPct val="100000"/>
              <a:buChar char="•"/>
            </a:pPr>
            <a:r>
              <a:rPr lang="en-US" sz="1600" dirty="0">
                <a:solidFill>
                  <a:schemeClr val="tx1"/>
                </a:solidFill>
              </a:rPr>
              <a:t>This trade-off runs through the whole lecture</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777240"/>
          </a:xfrm>
          <a:prstGeom prst="rect">
            <a:avLst/>
          </a:prstGeom>
          <a:noFill/>
          <a:ln/>
        </p:spPr>
        <p:txBody>
          <a:bodyPr wrap="square" lIns="0" tIns="0" rIns="0" bIns="0" rtlCol="0" anchor="ctr"/>
          <a:lstStyle/>
          <a:p>
            <a:pPr marL="0" indent="0" algn="l">
              <a:buNone/>
            </a:pPr>
            <a:r>
              <a:rPr lang="en-US" sz="3200" b="1" dirty="0">
                <a:solidFill>
                  <a:schemeClr val="tx1"/>
                </a:solidFill>
              </a:rPr>
              <a:t>The fine-tuning pipeline</a:t>
            </a:r>
            <a:endParaRPr lang="en-US" sz="3200" dirty="0"/>
          </a:p>
        </p:txBody>
      </p:sp>
      <p:pic>
        <p:nvPicPr>
          <p:cNvPr id="4" name="Image 0" descr="Fine-tuning pipeline: checkpoint, format, tokenize and split, batch; forward, loss, backward and clip, AdamW step; evaluate against the base model."/>
          <p:cNvPicPr>
            <a:picLocks noChangeAspect="1"/>
          </p:cNvPicPr>
          <p:nvPr/>
        </p:nvPicPr>
        <p:blipFill>
          <a:blip r:embed="rId3"/>
          <a:stretch>
            <a:fillRect/>
          </a:stretch>
        </p:blipFill>
        <p:spPr>
          <a:xfrm>
            <a:off x="883768" y="1188720"/>
            <a:ext cx="10424160" cy="4354887"/>
          </a:xfrm>
          <a:prstGeom prst="rect">
            <a:avLst/>
          </a:prstGeom>
        </p:spPr>
      </p:pic>
      <p:sp>
        <p:nvSpPr>
          <p:cNvPr id="5" name="Text 1"/>
          <p:cNvSpPr txBox="1"/>
          <p:nvPr/>
        </p:nvSpPr>
        <p:spPr>
          <a:xfrm>
            <a:off x="548640" y="5715000"/>
            <a:ext cx="11064240" cy="411480"/>
          </a:xfrm>
          <a:prstGeom prst="rect">
            <a:avLst/>
          </a:prstGeom>
          <a:noFill/>
          <a:ln/>
        </p:spPr>
        <p:txBody>
          <a:bodyPr wrap="square" lIns="0" tIns="0" rIns="0" bIns="0" rtlCol="0" anchor="t"/>
          <a:lstStyle/>
          <a:p>
            <a:pPr marL="0" indent="0" algn="ctr">
              <a:buNone/>
            </a:pPr>
            <a:r>
              <a:rPr lang="en-US" sz="1500" b="1" dirty="0">
                <a:solidFill>
                  <a:schemeClr val="tx2"/>
                </a:solidFill>
              </a:rPr>
              <a:t>Top row: </a:t>
            </a:r>
            <a:r>
              <a:rPr lang="en-US" sz="1500" dirty="0">
                <a:solidFill>
                  <a:schemeClr val="tx2"/>
                </a:solidFill>
              </a:rPr>
              <a:t>data preparation.   </a:t>
            </a:r>
            <a:r>
              <a:rPr lang="en-US" sz="1500" b="1" dirty="0">
                <a:solidFill>
                  <a:schemeClr val="tx2"/>
                </a:solidFill>
              </a:rPr>
              <a:t>Bottom row: </a:t>
            </a:r>
            <a:r>
              <a:rPr lang="en-US" sz="1500" dirty="0">
                <a:solidFill>
                  <a:schemeClr val="tx2"/>
                </a:solidFill>
              </a:rPr>
              <a:t>one training step, repeated.   </a:t>
            </a:r>
            <a:r>
              <a:rPr lang="en-US" sz="1500" b="1" dirty="0">
                <a:solidFill>
                  <a:schemeClr val="tx2"/>
                </a:solidFill>
              </a:rPr>
              <a:t>Box 9: </a:t>
            </a:r>
            <a:r>
              <a:rPr lang="en-US" sz="1500" dirty="0">
                <a:solidFill>
                  <a:schemeClr val="tx2"/>
                </a:solidFill>
              </a:rPr>
              <a:t>evaluation against the base model.</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777240"/>
          </a:xfrm>
          <a:prstGeom prst="rect">
            <a:avLst/>
          </a:prstGeom>
          <a:noFill/>
          <a:ln/>
        </p:spPr>
        <p:txBody>
          <a:bodyPr wrap="square" lIns="0" tIns="0" rIns="0" bIns="0" rtlCol="0" anchor="ctr"/>
          <a:lstStyle/>
          <a:p>
            <a:pPr marL="0" indent="0" algn="l">
              <a:buNone/>
            </a:pPr>
            <a:r>
              <a:rPr lang="en-US" sz="3200" b="1" dirty="0">
                <a:solidFill>
                  <a:schemeClr val="tx1"/>
                </a:solidFill>
              </a:rPr>
              <a:t>A toy world we can train in seconds</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6309360" cy="2834640"/>
        </p:xfrm>
        <a:graphic>
          <a:graphicData uri="http://schemas.openxmlformats.org/drawingml/2006/table">
            <a:tbl>
              <a:tblPr/>
              <a:tblGrid>
                <a:gridCol w="2651760"/>
                <a:gridCol w="3657600"/>
              </a:tblGrid>
              <a:tr h="566928">
                <a:tc>
                  <a:txBody>
                    <a:bodyPr/>
                    <a:lstStyle/>
                    <a:p>
                      <a:pPr marL="0" indent="0">
                        <a:buNone/>
                      </a:pPr>
                      <a:r>
                        <a:rPr lang="en-US" sz="1400" b="1" dirty="0">
                          <a:solidFill>
                            <a:schemeClr val="bg1"/>
                          </a:solidFill>
                        </a:rPr>
                        <a:t>Real setting</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marL="0" indent="0">
                        <a:buNone/>
                      </a:pPr>
                      <a:r>
                        <a:rPr lang="en-US" sz="1400" b="1" dirty="0">
                          <a:solidFill>
                            <a:schemeClr val="bg1"/>
                          </a:solidFill>
                        </a:rPr>
                        <a:t>Toy stand-in</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r>
              <a:tr h="566928">
                <a:tc>
                  <a:txBody>
                    <a:bodyPr/>
                    <a:lstStyle/>
                    <a:p>
                      <a:pPr marL="0" indent="0">
                        <a:buNone/>
                      </a:pPr>
                      <a:r>
                        <a:rPr lang="en-US" sz="1400" dirty="0">
                          <a:solidFill>
                            <a:schemeClr val="tx1"/>
                          </a:solidFill>
                        </a:rPr>
                        <a:t>GPT-2 pretrained on web text</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Tiny GPT-style model pretrained on simple generic sentences</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566928">
                <a:tc>
                  <a:txBody>
                    <a:bodyPr/>
                    <a:lstStyle/>
                    <a:p>
                      <a:pPr marL="0" indent="0">
                        <a:buNone/>
                      </a:pPr>
                      <a:r>
                        <a:rPr lang="en-US" sz="1400" dirty="0">
                          <a:solidFill>
                            <a:schemeClr val="tx1"/>
                          </a:solidFill>
                        </a:rPr>
                        <a:t>A task corpus (recipes)</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Synthetic recipe records</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r h="566928">
                <a:tc>
                  <a:txBody>
                    <a:bodyPr/>
                    <a:lstStyle/>
                    <a:p>
                      <a:pPr marL="0" indent="0">
                        <a:buNone/>
                      </a:pPr>
                      <a:r>
                        <a:rPr lang="en-US" sz="1400" dirty="0">
                          <a:solidFill>
                            <a:schemeClr val="tx1"/>
                          </a:solidFill>
                        </a:rPr>
                        <a:t>Fine-tuning on recipes</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Continued training on 120 recipe records</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566928">
                <a:tc>
                  <a:txBody>
                    <a:bodyPr/>
                    <a:lstStyle/>
                    <a:p>
                      <a:pPr marL="0" indent="0">
                        <a:buNone/>
                      </a:pPr>
                      <a:r>
                        <a:rPr lang="en-US" sz="1400" dirty="0">
                          <a:solidFill>
                            <a:schemeClr val="tx1"/>
                          </a:solidFill>
                        </a:rPr>
                        <a:t>Forgetting general ability</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Rising loss on held-out generic sentences</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bl>
          </a:graphicData>
        </a:graphic>
      </p:graphicFrame>
      <p:sp>
        <p:nvSpPr>
          <p:cNvPr id="5" name="example record"/>
          <p:cNvSpPr/>
          <p:nvPr/>
        </p:nvSpPr>
        <p:spPr>
          <a:xfrm>
            <a:off x="548640" y="4297680"/>
            <a:ext cx="6309360" cy="1783080"/>
          </a:xfrm>
          <a:prstGeom prst="roundRect">
            <a:avLst>
              <a:gd name="adj" fmla="val 6154"/>
            </a:avLst>
          </a:prstGeom>
          <a:solidFill>
            <a:schemeClr val="bg2"/>
          </a:solidFill>
          <a:ln w="12700">
            <a:solidFill>
              <a:schemeClr val="bg2"/>
            </a:solidFill>
            <a:prstDash val="solid"/>
          </a:ln>
        </p:spPr>
      </p:sp>
      <p:sp>
        <p:nvSpPr>
          <p:cNvPr id="6" name="Text 2"/>
          <p:cNvSpPr txBox="1"/>
          <p:nvPr/>
        </p:nvSpPr>
        <p:spPr>
          <a:xfrm>
            <a:off x="777240" y="4434840"/>
            <a:ext cx="5897880" cy="1554480"/>
          </a:xfrm>
          <a:prstGeom prst="rect">
            <a:avLst/>
          </a:prstGeom>
          <a:noFill/>
          <a:ln/>
        </p:spPr>
        <p:txBody>
          <a:bodyPr wrap="square" lIns="0" tIns="0" rIns="0" bIns="0" rtlCol="0" anchor="t"/>
          <a:lstStyle/>
          <a:p>
            <a:pPr marL="0" indent="0">
              <a:spcAft>
                <a:spcPts val="300"/>
              </a:spcAft>
              <a:buNone/>
            </a:pPr>
            <a:r>
              <a:rPr lang="en-US" sz="1500" b="1" dirty="0">
                <a:solidFill>
                  <a:schemeClr val="tx1"/>
                </a:solidFill>
              </a:rPr>
              <a:t>Generic sentence</a:t>
            </a:r>
            <a:endParaRPr lang="en-US" sz="1500" dirty="0"/>
          </a:p>
          <a:p>
            <a:pPr marL="0" indent="0">
              <a:spcAft>
                <a:spcPts val="300"/>
              </a:spcAft>
              <a:buNone/>
            </a:pPr>
            <a:r>
              <a:rPr lang="en-US" sz="1500" dirty="0">
                <a:solidFill>
                  <a:schemeClr val="tx1"/>
                </a:solidFill>
                <a:latin typeface="Courier New" pitchFamily="34" charset="0"/>
                <a:ea typeface="Courier New" pitchFamily="34" charset="-122"/>
                <a:cs typeface="Courier New" pitchFamily="34" charset="-120"/>
              </a:rPr>
              <a:t>the cat sat on the mat .</a:t>
            </a:r>
            <a:endParaRPr lang="en-US" sz="1500" dirty="0"/>
          </a:p>
          <a:p>
            <a:pPr marL="0" indent="0">
              <a:spcAft>
                <a:spcPts val="300"/>
              </a:spcAft>
              <a:buNone/>
            </a:pPr>
            <a:r>
              <a:rPr lang="en-US" sz="1500" b="1" dirty="0">
                <a:solidFill>
                  <a:schemeClr val="tx1"/>
                </a:solidFill>
              </a:rPr>
              <a:t>Recipe record</a:t>
            </a:r>
            <a:endParaRPr lang="en-US" sz="1500" dirty="0"/>
          </a:p>
          <a:p>
            <a:pPr marL="0" indent="0">
              <a:spcAft>
                <a:spcPts val="300"/>
              </a:spcAft>
              <a:buNone/>
            </a:pPr>
            <a:r>
              <a:rPr lang="en-US" sz="1500" dirty="0">
                <a:solidFill>
                  <a:schemeClr val="tx1"/>
                </a:solidFill>
                <a:latin typeface="Courier New" pitchFamily="34" charset="0"/>
                <a:ea typeface="Courier New" pitchFamily="34" charset="-122"/>
                <a:cs typeface="Courier New" pitchFamily="34" charset="-120"/>
              </a:rPr>
              <a:t>recipe : dosa ; ingredients : rice , salt , oil ; steps : soak , grind , fry</a:t>
            </a:r>
            <a:endParaRPr lang="en-US" sz="1500" dirty="0"/>
          </a:p>
        </p:txBody>
      </p:sp>
      <p:sp>
        <p:nvSpPr>
          <p:cNvPr id="3" name="Text 3"/>
          <p:cNvSpPr txBox="1"/>
          <p:nvPr/>
        </p:nvSpPr>
        <p:spPr>
          <a:xfrm>
            <a:off x="7315200" y="1280160"/>
            <a:ext cx="4297680" cy="731520"/>
          </a:xfrm>
          <a:prstGeom prst="rect">
            <a:avLst/>
          </a:prstGeom>
          <a:noFill/>
          <a:ln/>
        </p:spPr>
        <p:txBody>
          <a:bodyPr wrap="square" lIns="0" tIns="0" rIns="0" bIns="0" rtlCol="0" anchor="t"/>
          <a:lstStyle/>
          <a:p>
            <a:pPr marL="0" indent="0">
              <a:buNone/>
            </a:pPr>
            <a:r>
              <a:rPr lang="en-US" sz="4000" b="1" dirty="0">
                <a:solidFill>
                  <a:schemeClr val="accent1"/>
                </a:solidFill>
                <a:latin typeface="Cambria" pitchFamily="34" charset="0"/>
                <a:ea typeface="Cambria" pitchFamily="34" charset="-122"/>
                <a:cs typeface="Cambria" pitchFamily="34" charset="-120"/>
              </a:rPr>
              <a:t>108,096</a:t>
            </a:r>
            <a:endParaRPr lang="en-US" sz="4000" dirty="0"/>
          </a:p>
        </p:txBody>
      </p:sp>
      <p:sp>
        <p:nvSpPr>
          <p:cNvPr id="8" name="Text 4"/>
          <p:cNvSpPr txBox="1"/>
          <p:nvPr/>
        </p:nvSpPr>
        <p:spPr>
          <a:xfrm>
            <a:off x="7315200" y="2011680"/>
            <a:ext cx="4297680" cy="685800"/>
          </a:xfrm>
          <a:prstGeom prst="rect">
            <a:avLst/>
          </a:prstGeom>
          <a:noFill/>
          <a:ln/>
        </p:spPr>
        <p:txBody>
          <a:bodyPr wrap="square" lIns="0" tIns="0" rIns="0" bIns="0" rtlCol="0" anchor="t"/>
          <a:lstStyle/>
          <a:p>
            <a:pPr marL="0" indent="0">
              <a:buNone/>
            </a:pPr>
            <a:r>
              <a:rPr lang="en-US" sz="1500" dirty="0">
                <a:solidFill>
                  <a:schemeClr val="tx2"/>
                </a:solidFill>
              </a:rPr>
              <a:t>parameters in the toy model (GPT-2 small: 124 M)</a:t>
            </a:r>
            <a:endParaRPr lang="en-US" sz="1500" dirty="0"/>
          </a:p>
        </p:txBody>
      </p:sp>
      <p:sp>
        <p:nvSpPr>
          <p:cNvPr id="9" name="Text 5"/>
          <p:cNvSpPr txBox="1"/>
          <p:nvPr/>
        </p:nvSpPr>
        <p:spPr>
          <a:xfrm>
            <a:off x="7315200" y="2880360"/>
            <a:ext cx="4297680" cy="731520"/>
          </a:xfrm>
          <a:prstGeom prst="rect">
            <a:avLst/>
          </a:prstGeom>
          <a:noFill/>
          <a:ln/>
        </p:spPr>
        <p:txBody>
          <a:bodyPr wrap="square" lIns="0" tIns="0" rIns="0" bIns="0" rtlCol="0" anchor="t"/>
          <a:lstStyle/>
          <a:p>
            <a:pPr marL="0" indent="0">
              <a:buNone/>
            </a:pPr>
            <a:r>
              <a:rPr lang="en-US" sz="4000" b="1" dirty="0">
                <a:solidFill>
                  <a:schemeClr val="accent3"/>
                </a:solidFill>
                <a:latin typeface="Cambria" pitchFamily="34" charset="0"/>
                <a:ea typeface="Cambria" pitchFamily="34" charset="-122"/>
                <a:cs typeface="Cambria" pitchFamily="34" charset="-120"/>
              </a:rPr>
              <a:t>240</a:t>
            </a:r>
            <a:endParaRPr lang="en-US" sz="4000" dirty="0"/>
          </a:p>
        </p:txBody>
      </p:sp>
      <p:sp>
        <p:nvSpPr>
          <p:cNvPr id="10" name="Text 6"/>
          <p:cNvSpPr txBox="1"/>
          <p:nvPr/>
        </p:nvSpPr>
        <p:spPr>
          <a:xfrm>
            <a:off x="7315200" y="3611880"/>
            <a:ext cx="4297680" cy="685800"/>
          </a:xfrm>
          <a:prstGeom prst="rect">
            <a:avLst/>
          </a:prstGeom>
          <a:noFill/>
          <a:ln/>
        </p:spPr>
        <p:txBody>
          <a:bodyPr wrap="square" lIns="0" tIns="0" rIns="0" bIns="0" rtlCol="0" anchor="t"/>
          <a:lstStyle/>
          <a:p>
            <a:pPr marL="0" indent="0">
              <a:buNone/>
            </a:pPr>
            <a:r>
              <a:rPr lang="en-US" sz="1500" dirty="0">
                <a:solidFill>
                  <a:schemeClr val="tx2"/>
                </a:solidFill>
              </a:rPr>
              <a:t>possible recipes: 6 dishes × 10 ingredient sets × 4 step sets</a:t>
            </a:r>
            <a:endParaRPr lang="en-US" sz="1500" dirty="0"/>
          </a:p>
        </p:txBody>
      </p:sp>
      <p:sp>
        <p:nvSpPr>
          <p:cNvPr id="11" name="Text 7"/>
          <p:cNvSpPr txBox="1"/>
          <p:nvPr/>
        </p:nvSpPr>
        <p:spPr>
          <a:xfrm>
            <a:off x="7315200" y="4480560"/>
            <a:ext cx="4297680" cy="731520"/>
          </a:xfrm>
          <a:prstGeom prst="rect">
            <a:avLst/>
          </a:prstGeom>
          <a:noFill/>
          <a:ln/>
        </p:spPr>
        <p:txBody>
          <a:bodyPr wrap="square" lIns="0" tIns="0" rIns="0" bIns="0" rtlCol="0" anchor="t"/>
          <a:lstStyle/>
          <a:p>
            <a:pPr marL="0" indent="0">
              <a:buNone/>
            </a:pPr>
            <a:r>
              <a:rPr lang="en-US" sz="4000" b="1" dirty="0">
                <a:solidFill>
                  <a:schemeClr val="accent1"/>
                </a:solidFill>
                <a:latin typeface="Cambria" pitchFamily="34" charset="0"/>
                <a:ea typeface="Cambria" pitchFamily="34" charset="-122"/>
                <a:cs typeface="Cambria" pitchFamily="34" charset="-120"/>
              </a:rPr>
              <a:t>120 / 40</a:t>
            </a:r>
            <a:endParaRPr lang="en-US" sz="4000" dirty="0"/>
          </a:p>
        </p:txBody>
      </p:sp>
      <p:sp>
        <p:nvSpPr>
          <p:cNvPr id="12" name="Text 8"/>
          <p:cNvSpPr txBox="1"/>
          <p:nvPr/>
        </p:nvSpPr>
        <p:spPr>
          <a:xfrm>
            <a:off x="7315200" y="5212080"/>
            <a:ext cx="4297680" cy="685800"/>
          </a:xfrm>
          <a:prstGeom prst="rect">
            <a:avLst/>
          </a:prstGeom>
          <a:noFill/>
          <a:ln/>
        </p:spPr>
        <p:txBody>
          <a:bodyPr wrap="square" lIns="0" tIns="0" rIns="0" bIns="0" rtlCol="0" anchor="t"/>
          <a:lstStyle/>
          <a:p>
            <a:pPr marL="0" indent="0">
              <a:buNone/>
            </a:pPr>
            <a:r>
              <a:rPr lang="en-US" sz="1500" dirty="0">
                <a:solidFill>
                  <a:schemeClr val="tx2"/>
                </a:solidFill>
              </a:rPr>
              <a:t>training / validation records, split before training</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777240"/>
          </a:xfrm>
          <a:prstGeom prst="rect">
            <a:avLst/>
          </a:prstGeom>
          <a:noFill/>
          <a:ln/>
        </p:spPr>
        <p:txBody>
          <a:bodyPr wrap="square" lIns="0" tIns="0" rIns="0" bIns="0" rtlCol="0" anchor="ctr"/>
          <a:lstStyle/>
          <a:p>
            <a:pPr marL="0" indent="0" algn="l">
              <a:buNone/>
            </a:pPr>
            <a:r>
              <a:rPr lang="en-US" sz="3200" b="1" dirty="0">
                <a:solidFill>
                  <a:schemeClr val="tx1"/>
                </a:solidFill>
              </a:rPr>
              <a:t>Inputs, labels and the ignored value −100</a:t>
            </a:r>
            <a:endParaRPr lang="en-US" sz="3200" dirty="0"/>
          </a:p>
        </p:txBody>
      </p:sp>
      <p:sp>
        <p:nvSpPr>
          <p:cNvPr id="4" name="demo tag"/>
          <p:cNvSpPr/>
          <p:nvPr/>
        </p:nvSpPr>
        <p:spPr>
          <a:xfrm>
            <a:off x="8732520" y="411480"/>
            <a:ext cx="2880360" cy="457200"/>
          </a:xfrm>
          <a:prstGeom prst="roundRect">
            <a:avLst>
              <a:gd name="adj" fmla="val 50000"/>
            </a:avLst>
          </a:prstGeom>
          <a:solidFill>
            <a:schemeClr val="accent2"/>
          </a:solidFill>
          <a:ln w="12700">
            <a:solidFill>
              <a:schemeClr val="accent2"/>
            </a:solidFill>
            <a:prstDash val="solid"/>
          </a:ln>
        </p:spPr>
      </p:sp>
      <p:sp>
        <p:nvSpPr>
          <p:cNvPr id="5" name="Text 2"/>
          <p:cNvSpPr txBox="1"/>
          <p:nvPr/>
        </p:nvSpPr>
        <p:spPr>
          <a:xfrm>
            <a:off x="8732520" y="411480"/>
            <a:ext cx="2880360" cy="457200"/>
          </a:xfrm>
          <a:prstGeom prst="rect">
            <a:avLst/>
          </a:prstGeom>
          <a:noFill/>
          <a:ln/>
        </p:spPr>
        <p:txBody>
          <a:bodyPr wrap="square" lIns="0" tIns="0" rIns="0" bIns="0" rtlCol="0" anchor="ctr"/>
          <a:lstStyle/>
          <a:p>
            <a:pPr marL="0" indent="0" algn="ctr">
              <a:buNone/>
            </a:pPr>
            <a:r>
              <a:rPr lang="en-US" sz="1400" b="1" dirty="0">
                <a:solidFill>
                  <a:schemeClr val="tx1"/>
                </a:solidFill>
              </a:rPr>
              <a:t>LIVE DEMO  </a:t>
            </a:r>
            <a:r>
              <a:rPr lang="en-US" sz="1400" dirty="0">
                <a:solidFill>
                  <a:schemeClr val="tx1"/>
                </a:solidFill>
              </a:rPr>
              <a:t>cell 12</a:t>
            </a:r>
            <a:endParaRPr lang="en-US" sz="1400" dirty="0"/>
          </a:p>
        </p:txBody>
      </p:sp>
      <p:sp>
        <p:nvSpPr>
          <p:cNvPr id="6" name="Text 3"/>
          <p:cNvSpPr txBox="1"/>
          <p:nvPr/>
        </p:nvSpPr>
        <p:spPr>
          <a:xfrm>
            <a:off x="548640" y="1280160"/>
            <a:ext cx="11064240" cy="365760"/>
          </a:xfrm>
          <a:prstGeom prst="rect">
            <a:avLst/>
          </a:prstGeom>
          <a:noFill/>
          <a:ln/>
        </p:spPr>
        <p:txBody>
          <a:bodyPr wrap="square" lIns="0" tIns="0" rIns="0" bIns="0" rtlCol="0" anchor="t"/>
          <a:lstStyle/>
          <a:p>
            <a:pPr marL="0" indent="0">
              <a:buNone/>
            </a:pPr>
            <a:r>
              <a:rPr lang="en-US" sz="1600" b="1" dirty="0">
                <a:solidFill>
                  <a:schemeClr val="tx1"/>
                </a:solidFill>
              </a:rPr>
              <a:t>input_ids  </a:t>
            </a:r>
            <a:r>
              <a:rPr lang="en-US" sz="1600" dirty="0">
                <a:solidFill>
                  <a:schemeClr val="tx1"/>
                </a:solidFill>
              </a:rPr>
              <a:t>token IDs, right-padded to the longest sequence in the batch</a:t>
            </a:r>
            <a:endParaRPr lang="en-US" sz="1600" dirty="0"/>
          </a:p>
        </p:txBody>
      </p:sp>
      <p:sp>
        <p:nvSpPr>
          <p:cNvPr id="7" name="Text 4"/>
          <p:cNvSpPr txBox="1"/>
          <p:nvPr/>
        </p:nvSpPr>
        <p:spPr>
          <a:xfrm>
            <a:off x="548640" y="1691640"/>
            <a:ext cx="11064240" cy="365760"/>
          </a:xfrm>
          <a:prstGeom prst="rect">
            <a:avLst/>
          </a:prstGeom>
          <a:noFill/>
          <a:ln/>
        </p:spPr>
        <p:txBody>
          <a:bodyPr wrap="square" lIns="0" tIns="0" rIns="0" bIns="0" rtlCol="0" anchor="t"/>
          <a:lstStyle/>
          <a:p>
            <a:pPr marL="0" indent="0">
              <a:buNone/>
            </a:pPr>
            <a:r>
              <a:rPr lang="en-US" sz="1600" b="1" dirty="0">
                <a:solidFill>
                  <a:schemeClr val="tx1"/>
                </a:solidFill>
              </a:rPr>
              <a:t>labels  </a:t>
            </a:r>
            <a:r>
              <a:rPr lang="en-US" sz="1600" dirty="0">
                <a:solidFill>
                  <a:schemeClr val="tx1"/>
                </a:solidFill>
              </a:rPr>
              <a:t>the targets we want a loss on, and </a:t>
            </a:r>
            <a:r>
              <a:rPr lang="en-US" sz="1600" b="1" dirty="0">
                <a:solidFill>
                  <a:schemeClr val="accent1"/>
                </a:solidFill>
              </a:rPr>
              <a:t>−100</a:t>
            </a:r>
            <a:r>
              <a:rPr lang="en-US" sz="1600" dirty="0">
                <a:solidFill>
                  <a:schemeClr val="tx1"/>
                </a:solidFill>
              </a:rPr>
              <a:t> wherever there is no loss</a:t>
            </a:r>
            <a:endParaRPr lang="en-US" sz="1600" dirty="0"/>
          </a:p>
        </p:txBody>
      </p:sp>
      <p:sp>
        <p:nvSpPr>
          <p:cNvPr id="8" name="Text 5"/>
          <p:cNvSpPr txBox="1"/>
          <p:nvPr/>
        </p:nvSpPr>
        <p:spPr>
          <a:xfrm>
            <a:off x="548640" y="2423160"/>
            <a:ext cx="1188720" cy="457200"/>
          </a:xfrm>
          <a:prstGeom prst="rect">
            <a:avLst/>
          </a:prstGeom>
          <a:noFill/>
          <a:ln/>
        </p:spPr>
        <p:txBody>
          <a:bodyPr wrap="square" lIns="0" tIns="0" rIns="0" bIns="0" rtlCol="0" anchor="ctr"/>
          <a:lstStyle/>
          <a:p>
            <a:pPr marL="0" indent="0">
              <a:buNone/>
            </a:pPr>
            <a:r>
              <a:rPr lang="en-US" sz="1400" dirty="0">
                <a:solidFill>
                  <a:schemeClr val="tx2"/>
                </a:solidFill>
                <a:latin typeface="Courier New" pitchFamily="34" charset="0"/>
                <a:ea typeface="Courier New" pitchFamily="34" charset="-122"/>
                <a:cs typeface="Courier New" pitchFamily="34" charset="-120"/>
              </a:rPr>
              <a:t>input_ids</a:t>
            </a:r>
            <a:endParaRPr lang="en-US" sz="1400" dirty="0"/>
          </a:p>
        </p:txBody>
      </p:sp>
      <p:sp>
        <p:nvSpPr>
          <p:cNvPr id="9" name="Text 6"/>
          <p:cNvSpPr txBox="1"/>
          <p:nvPr/>
        </p:nvSpPr>
        <p:spPr>
          <a:xfrm>
            <a:off x="548640" y="2953512"/>
            <a:ext cx="1188720" cy="320040"/>
          </a:xfrm>
          <a:prstGeom prst="rect">
            <a:avLst/>
          </a:prstGeom>
          <a:noFill/>
          <a:ln/>
        </p:spPr>
        <p:txBody>
          <a:bodyPr wrap="square" lIns="0" tIns="0" rIns="0" bIns="0" rtlCol="0" anchor="t"/>
          <a:lstStyle/>
          <a:p>
            <a:pPr marL="0" indent="0">
              <a:buNone/>
            </a:pPr>
            <a:r>
              <a:rPr lang="en-US" sz="1400" dirty="0">
                <a:solidFill>
                  <a:schemeClr val="tx2"/>
                </a:solidFill>
                <a:latin typeface="Courier New" pitchFamily="34" charset="0"/>
                <a:ea typeface="Courier New" pitchFamily="34" charset="-122"/>
                <a:cs typeface="Courier New" pitchFamily="34" charset="-120"/>
              </a:rPr>
              <a:t>labels</a:t>
            </a:r>
            <a:endParaRPr lang="en-US" sz="1400" dirty="0"/>
          </a:p>
        </p:txBody>
      </p:sp>
      <p:sp>
        <p:nvSpPr>
          <p:cNvPr id="10" name="Shape 7"/>
          <p:cNvSpPr/>
          <p:nvPr/>
        </p:nvSpPr>
        <p:spPr>
          <a:xfrm>
            <a:off x="1783080" y="2423160"/>
            <a:ext cx="914400" cy="457200"/>
          </a:xfrm>
          <a:prstGeom prst="roundRect">
            <a:avLst>
              <a:gd name="adj" fmla="val 16000"/>
            </a:avLst>
          </a:prstGeom>
          <a:solidFill>
            <a:schemeClr val="bg2"/>
          </a:solidFill>
          <a:ln w="12700">
            <a:solidFill>
              <a:schemeClr val="bg2"/>
            </a:solidFill>
            <a:prstDash val="solid"/>
          </a:ln>
        </p:spPr>
      </p:sp>
      <p:sp>
        <p:nvSpPr>
          <p:cNvPr id="11" name="Text 8"/>
          <p:cNvSpPr txBox="1"/>
          <p:nvPr/>
        </p:nvSpPr>
        <p:spPr>
          <a:xfrm>
            <a:off x="1783080" y="2423160"/>
            <a:ext cx="914400" cy="457200"/>
          </a:xfrm>
          <a:prstGeom prst="rect">
            <a:avLst/>
          </a:prstGeom>
          <a:noFill/>
          <a:ln/>
        </p:spPr>
        <p:txBody>
          <a:bodyPr wrap="square" lIns="0" tIns="0" rIns="0" bIns="0" rtlCol="0" anchor="ctr"/>
          <a:lstStyle/>
          <a:p>
            <a:pPr marL="0" indent="0" algn="ctr">
              <a:buNone/>
            </a:pPr>
            <a:r>
              <a:rPr lang="en-US" sz="1400" dirty="0">
                <a:solidFill>
                  <a:schemeClr val="tx1"/>
                </a:solidFill>
                <a:latin typeface="Courier New" pitchFamily="34" charset="0"/>
                <a:ea typeface="Courier New" pitchFamily="34" charset="-122"/>
                <a:cs typeface="Courier New" pitchFamily="34" charset="-120"/>
              </a:rPr>
              <a:t>the</a:t>
            </a:r>
            <a:endParaRPr lang="en-US" sz="1400" dirty="0"/>
          </a:p>
        </p:txBody>
      </p:sp>
      <p:sp>
        <p:nvSpPr>
          <p:cNvPr id="12" name="Text 9"/>
          <p:cNvSpPr txBox="1"/>
          <p:nvPr/>
        </p:nvSpPr>
        <p:spPr>
          <a:xfrm>
            <a:off x="1783080" y="2953512"/>
            <a:ext cx="914400" cy="320040"/>
          </a:xfrm>
          <a:prstGeom prst="rect">
            <a:avLst/>
          </a:prstGeom>
          <a:noFill/>
          <a:ln/>
        </p:spPr>
        <p:txBody>
          <a:bodyPr wrap="square" lIns="0" tIns="0" rIns="0" bIns="0" rtlCol="0" anchor="t"/>
          <a:lstStyle/>
          <a:p>
            <a:pPr marL="0" indent="0" algn="ctr">
              <a:buNone/>
            </a:pPr>
            <a:r>
              <a:rPr lang="en-US" sz="1300" dirty="0">
                <a:solidFill>
                  <a:schemeClr val="tx2"/>
                </a:solidFill>
                <a:latin typeface="Courier New" pitchFamily="34" charset="0"/>
                <a:ea typeface="Courier New" pitchFamily="34" charset="-122"/>
                <a:cs typeface="Courier New" pitchFamily="34" charset="-120"/>
              </a:rPr>
              <a:t>the</a:t>
            </a:r>
            <a:endParaRPr lang="en-US" sz="1300" dirty="0"/>
          </a:p>
        </p:txBody>
      </p:sp>
      <p:sp>
        <p:nvSpPr>
          <p:cNvPr id="13" name="Shape 10"/>
          <p:cNvSpPr/>
          <p:nvPr/>
        </p:nvSpPr>
        <p:spPr>
          <a:xfrm>
            <a:off x="2770632" y="2423160"/>
            <a:ext cx="914400" cy="457200"/>
          </a:xfrm>
          <a:prstGeom prst="roundRect">
            <a:avLst>
              <a:gd name="adj" fmla="val 16000"/>
            </a:avLst>
          </a:prstGeom>
          <a:solidFill>
            <a:schemeClr val="bg2"/>
          </a:solidFill>
          <a:ln w="12700">
            <a:solidFill>
              <a:schemeClr val="bg2"/>
            </a:solidFill>
            <a:prstDash val="solid"/>
          </a:ln>
        </p:spPr>
      </p:sp>
      <p:sp>
        <p:nvSpPr>
          <p:cNvPr id="14" name="Text 11"/>
          <p:cNvSpPr txBox="1"/>
          <p:nvPr/>
        </p:nvSpPr>
        <p:spPr>
          <a:xfrm>
            <a:off x="2770632" y="2423160"/>
            <a:ext cx="914400" cy="457200"/>
          </a:xfrm>
          <a:prstGeom prst="rect">
            <a:avLst/>
          </a:prstGeom>
          <a:noFill/>
          <a:ln/>
        </p:spPr>
        <p:txBody>
          <a:bodyPr wrap="square" lIns="0" tIns="0" rIns="0" bIns="0" rtlCol="0" anchor="ctr"/>
          <a:lstStyle/>
          <a:p>
            <a:pPr marL="0" indent="0" algn="ctr">
              <a:buNone/>
            </a:pPr>
            <a:r>
              <a:rPr lang="en-US" sz="1400" dirty="0">
                <a:solidFill>
                  <a:schemeClr val="tx1"/>
                </a:solidFill>
                <a:latin typeface="Courier New" pitchFamily="34" charset="0"/>
                <a:ea typeface="Courier New" pitchFamily="34" charset="-122"/>
                <a:cs typeface="Courier New" pitchFamily="34" charset="-120"/>
              </a:rPr>
              <a:t>cat</a:t>
            </a:r>
            <a:endParaRPr lang="en-US" sz="1400" dirty="0"/>
          </a:p>
        </p:txBody>
      </p:sp>
      <p:sp>
        <p:nvSpPr>
          <p:cNvPr id="15" name="Text 12"/>
          <p:cNvSpPr txBox="1"/>
          <p:nvPr/>
        </p:nvSpPr>
        <p:spPr>
          <a:xfrm>
            <a:off x="2770632" y="2953512"/>
            <a:ext cx="914400" cy="320040"/>
          </a:xfrm>
          <a:prstGeom prst="rect">
            <a:avLst/>
          </a:prstGeom>
          <a:noFill/>
          <a:ln/>
        </p:spPr>
        <p:txBody>
          <a:bodyPr wrap="square" lIns="0" tIns="0" rIns="0" bIns="0" rtlCol="0" anchor="t"/>
          <a:lstStyle/>
          <a:p>
            <a:pPr marL="0" indent="0" algn="ctr">
              <a:buNone/>
            </a:pPr>
            <a:r>
              <a:rPr lang="en-US" sz="1300" dirty="0">
                <a:solidFill>
                  <a:schemeClr val="tx2"/>
                </a:solidFill>
                <a:latin typeface="Courier New" pitchFamily="34" charset="0"/>
                <a:ea typeface="Courier New" pitchFamily="34" charset="-122"/>
                <a:cs typeface="Courier New" pitchFamily="34" charset="-120"/>
              </a:rPr>
              <a:t>cat</a:t>
            </a:r>
            <a:endParaRPr lang="en-US" sz="1300" dirty="0"/>
          </a:p>
        </p:txBody>
      </p:sp>
      <p:sp>
        <p:nvSpPr>
          <p:cNvPr id="16" name="Shape 13"/>
          <p:cNvSpPr/>
          <p:nvPr/>
        </p:nvSpPr>
        <p:spPr>
          <a:xfrm>
            <a:off x="3758184" y="2423160"/>
            <a:ext cx="914400" cy="457200"/>
          </a:xfrm>
          <a:prstGeom prst="roundRect">
            <a:avLst>
              <a:gd name="adj" fmla="val 16000"/>
            </a:avLst>
          </a:prstGeom>
          <a:solidFill>
            <a:schemeClr val="bg2"/>
          </a:solidFill>
          <a:ln w="12700">
            <a:solidFill>
              <a:schemeClr val="bg2"/>
            </a:solidFill>
            <a:prstDash val="solid"/>
          </a:ln>
        </p:spPr>
      </p:sp>
      <p:sp>
        <p:nvSpPr>
          <p:cNvPr id="17" name="Text 14"/>
          <p:cNvSpPr txBox="1"/>
          <p:nvPr/>
        </p:nvSpPr>
        <p:spPr>
          <a:xfrm>
            <a:off x="3758184" y="2423160"/>
            <a:ext cx="914400" cy="457200"/>
          </a:xfrm>
          <a:prstGeom prst="rect">
            <a:avLst/>
          </a:prstGeom>
          <a:noFill/>
          <a:ln/>
        </p:spPr>
        <p:txBody>
          <a:bodyPr wrap="square" lIns="0" tIns="0" rIns="0" bIns="0" rtlCol="0" anchor="ctr"/>
          <a:lstStyle/>
          <a:p>
            <a:pPr marL="0" indent="0" algn="ctr">
              <a:buNone/>
            </a:pPr>
            <a:r>
              <a:rPr lang="en-US" sz="1400" dirty="0">
                <a:solidFill>
                  <a:schemeClr val="tx1"/>
                </a:solidFill>
                <a:latin typeface="Courier New" pitchFamily="34" charset="0"/>
                <a:ea typeface="Courier New" pitchFamily="34" charset="-122"/>
                <a:cs typeface="Courier New" pitchFamily="34" charset="-120"/>
              </a:rPr>
              <a:t>sat</a:t>
            </a:r>
            <a:endParaRPr lang="en-US" sz="1400" dirty="0"/>
          </a:p>
        </p:txBody>
      </p:sp>
      <p:sp>
        <p:nvSpPr>
          <p:cNvPr id="18" name="Text 15"/>
          <p:cNvSpPr txBox="1"/>
          <p:nvPr/>
        </p:nvSpPr>
        <p:spPr>
          <a:xfrm>
            <a:off x="3758184" y="2953512"/>
            <a:ext cx="914400" cy="320040"/>
          </a:xfrm>
          <a:prstGeom prst="rect">
            <a:avLst/>
          </a:prstGeom>
          <a:noFill/>
          <a:ln/>
        </p:spPr>
        <p:txBody>
          <a:bodyPr wrap="square" lIns="0" tIns="0" rIns="0" bIns="0" rtlCol="0" anchor="t"/>
          <a:lstStyle/>
          <a:p>
            <a:pPr marL="0" indent="0" algn="ctr">
              <a:buNone/>
            </a:pPr>
            <a:r>
              <a:rPr lang="en-US" sz="1300" dirty="0">
                <a:solidFill>
                  <a:schemeClr val="tx2"/>
                </a:solidFill>
                <a:latin typeface="Courier New" pitchFamily="34" charset="0"/>
                <a:ea typeface="Courier New" pitchFamily="34" charset="-122"/>
                <a:cs typeface="Courier New" pitchFamily="34" charset="-120"/>
              </a:rPr>
              <a:t>sat</a:t>
            </a:r>
            <a:endParaRPr lang="en-US" sz="1300" dirty="0"/>
          </a:p>
        </p:txBody>
      </p:sp>
      <p:sp>
        <p:nvSpPr>
          <p:cNvPr id="19" name="Shape 16"/>
          <p:cNvSpPr/>
          <p:nvPr/>
        </p:nvSpPr>
        <p:spPr>
          <a:xfrm>
            <a:off x="4745736" y="2423160"/>
            <a:ext cx="914400" cy="457200"/>
          </a:xfrm>
          <a:prstGeom prst="roundRect">
            <a:avLst>
              <a:gd name="adj" fmla="val 16000"/>
            </a:avLst>
          </a:prstGeom>
          <a:solidFill>
            <a:schemeClr val="bg2"/>
          </a:solidFill>
          <a:ln w="12700">
            <a:solidFill>
              <a:schemeClr val="bg2"/>
            </a:solidFill>
            <a:prstDash val="solid"/>
          </a:ln>
        </p:spPr>
      </p:sp>
      <p:sp>
        <p:nvSpPr>
          <p:cNvPr id="20" name="Text 17"/>
          <p:cNvSpPr txBox="1"/>
          <p:nvPr/>
        </p:nvSpPr>
        <p:spPr>
          <a:xfrm>
            <a:off x="4745736" y="2423160"/>
            <a:ext cx="914400" cy="457200"/>
          </a:xfrm>
          <a:prstGeom prst="rect">
            <a:avLst/>
          </a:prstGeom>
          <a:noFill/>
          <a:ln/>
        </p:spPr>
        <p:txBody>
          <a:bodyPr wrap="square" lIns="0" tIns="0" rIns="0" bIns="0" rtlCol="0" anchor="ctr"/>
          <a:lstStyle/>
          <a:p>
            <a:pPr marL="0" indent="0" algn="ctr">
              <a:buNone/>
            </a:pPr>
            <a:r>
              <a:rPr lang="en-US" sz="1400" dirty="0">
                <a:solidFill>
                  <a:schemeClr val="tx1"/>
                </a:solidFill>
                <a:latin typeface="Courier New" pitchFamily="34" charset="0"/>
                <a:ea typeface="Courier New" pitchFamily="34" charset="-122"/>
                <a:cs typeface="Courier New" pitchFamily="34" charset="-120"/>
              </a:rPr>
              <a:t>on</a:t>
            </a:r>
            <a:endParaRPr lang="en-US" sz="1400" dirty="0"/>
          </a:p>
        </p:txBody>
      </p:sp>
      <p:sp>
        <p:nvSpPr>
          <p:cNvPr id="21" name="Text 18"/>
          <p:cNvSpPr txBox="1"/>
          <p:nvPr/>
        </p:nvSpPr>
        <p:spPr>
          <a:xfrm>
            <a:off x="4745736" y="2953512"/>
            <a:ext cx="914400" cy="320040"/>
          </a:xfrm>
          <a:prstGeom prst="rect">
            <a:avLst/>
          </a:prstGeom>
          <a:noFill/>
          <a:ln/>
        </p:spPr>
        <p:txBody>
          <a:bodyPr wrap="square" lIns="0" tIns="0" rIns="0" bIns="0" rtlCol="0" anchor="t"/>
          <a:lstStyle/>
          <a:p>
            <a:pPr marL="0" indent="0" algn="ctr">
              <a:buNone/>
            </a:pPr>
            <a:r>
              <a:rPr lang="en-US" sz="1300" dirty="0">
                <a:solidFill>
                  <a:schemeClr val="tx2"/>
                </a:solidFill>
                <a:latin typeface="Courier New" pitchFamily="34" charset="0"/>
                <a:ea typeface="Courier New" pitchFamily="34" charset="-122"/>
                <a:cs typeface="Courier New" pitchFamily="34" charset="-120"/>
              </a:rPr>
              <a:t>on</a:t>
            </a:r>
            <a:endParaRPr lang="en-US" sz="1300" dirty="0"/>
          </a:p>
        </p:txBody>
      </p:sp>
      <p:sp>
        <p:nvSpPr>
          <p:cNvPr id="22" name="Shape 19"/>
          <p:cNvSpPr/>
          <p:nvPr/>
        </p:nvSpPr>
        <p:spPr>
          <a:xfrm>
            <a:off x="5733288" y="2423160"/>
            <a:ext cx="914400" cy="457200"/>
          </a:xfrm>
          <a:prstGeom prst="roundRect">
            <a:avLst>
              <a:gd name="adj" fmla="val 16000"/>
            </a:avLst>
          </a:prstGeom>
          <a:solidFill>
            <a:schemeClr val="bg2"/>
          </a:solidFill>
          <a:ln w="12700">
            <a:solidFill>
              <a:schemeClr val="bg2"/>
            </a:solidFill>
            <a:prstDash val="solid"/>
          </a:ln>
        </p:spPr>
      </p:sp>
      <p:sp>
        <p:nvSpPr>
          <p:cNvPr id="23" name="Text 20"/>
          <p:cNvSpPr txBox="1"/>
          <p:nvPr/>
        </p:nvSpPr>
        <p:spPr>
          <a:xfrm>
            <a:off x="5733288" y="2423160"/>
            <a:ext cx="914400" cy="457200"/>
          </a:xfrm>
          <a:prstGeom prst="rect">
            <a:avLst/>
          </a:prstGeom>
          <a:noFill/>
          <a:ln/>
        </p:spPr>
        <p:txBody>
          <a:bodyPr wrap="square" lIns="0" tIns="0" rIns="0" bIns="0" rtlCol="0" anchor="ctr"/>
          <a:lstStyle/>
          <a:p>
            <a:pPr marL="0" indent="0" algn="ctr">
              <a:buNone/>
            </a:pPr>
            <a:r>
              <a:rPr lang="en-US" sz="1400" dirty="0">
                <a:solidFill>
                  <a:schemeClr val="tx1"/>
                </a:solidFill>
                <a:latin typeface="Courier New" pitchFamily="34" charset="0"/>
                <a:ea typeface="Courier New" pitchFamily="34" charset="-122"/>
                <a:cs typeface="Courier New" pitchFamily="34" charset="-120"/>
              </a:rPr>
              <a:t>the</a:t>
            </a:r>
            <a:endParaRPr lang="en-US" sz="1400" dirty="0"/>
          </a:p>
        </p:txBody>
      </p:sp>
      <p:sp>
        <p:nvSpPr>
          <p:cNvPr id="24" name="Text 21"/>
          <p:cNvSpPr txBox="1"/>
          <p:nvPr/>
        </p:nvSpPr>
        <p:spPr>
          <a:xfrm>
            <a:off x="5733288" y="2953512"/>
            <a:ext cx="914400" cy="320040"/>
          </a:xfrm>
          <a:prstGeom prst="rect">
            <a:avLst/>
          </a:prstGeom>
          <a:noFill/>
          <a:ln/>
        </p:spPr>
        <p:txBody>
          <a:bodyPr wrap="square" lIns="0" tIns="0" rIns="0" bIns="0" rtlCol="0" anchor="t"/>
          <a:lstStyle/>
          <a:p>
            <a:pPr marL="0" indent="0" algn="ctr">
              <a:buNone/>
            </a:pPr>
            <a:r>
              <a:rPr lang="en-US" sz="1300" dirty="0">
                <a:solidFill>
                  <a:schemeClr val="tx2"/>
                </a:solidFill>
                <a:latin typeface="Courier New" pitchFamily="34" charset="0"/>
                <a:ea typeface="Courier New" pitchFamily="34" charset="-122"/>
                <a:cs typeface="Courier New" pitchFamily="34" charset="-120"/>
              </a:rPr>
              <a:t>the</a:t>
            </a:r>
            <a:endParaRPr lang="en-US" sz="1300" dirty="0"/>
          </a:p>
        </p:txBody>
      </p:sp>
      <p:sp>
        <p:nvSpPr>
          <p:cNvPr id="25" name="Shape 22"/>
          <p:cNvSpPr/>
          <p:nvPr/>
        </p:nvSpPr>
        <p:spPr>
          <a:xfrm>
            <a:off x="6720840" y="2423160"/>
            <a:ext cx="914400" cy="457200"/>
          </a:xfrm>
          <a:prstGeom prst="roundRect">
            <a:avLst>
              <a:gd name="adj" fmla="val 16000"/>
            </a:avLst>
          </a:prstGeom>
          <a:solidFill>
            <a:schemeClr val="bg2"/>
          </a:solidFill>
          <a:ln w="12700">
            <a:solidFill>
              <a:schemeClr val="bg2"/>
            </a:solidFill>
            <a:prstDash val="solid"/>
          </a:ln>
        </p:spPr>
      </p:sp>
      <p:sp>
        <p:nvSpPr>
          <p:cNvPr id="26" name="Text 23"/>
          <p:cNvSpPr txBox="1"/>
          <p:nvPr/>
        </p:nvSpPr>
        <p:spPr>
          <a:xfrm>
            <a:off x="6720840" y="2423160"/>
            <a:ext cx="914400" cy="457200"/>
          </a:xfrm>
          <a:prstGeom prst="rect">
            <a:avLst/>
          </a:prstGeom>
          <a:noFill/>
          <a:ln/>
        </p:spPr>
        <p:txBody>
          <a:bodyPr wrap="square" lIns="0" tIns="0" rIns="0" bIns="0" rtlCol="0" anchor="ctr"/>
          <a:lstStyle/>
          <a:p>
            <a:pPr marL="0" indent="0" algn="ctr">
              <a:buNone/>
            </a:pPr>
            <a:r>
              <a:rPr lang="en-US" sz="1400" dirty="0">
                <a:solidFill>
                  <a:schemeClr val="tx1"/>
                </a:solidFill>
                <a:latin typeface="Courier New" pitchFamily="34" charset="0"/>
                <a:ea typeface="Courier New" pitchFamily="34" charset="-122"/>
                <a:cs typeface="Courier New" pitchFamily="34" charset="-120"/>
              </a:rPr>
              <a:t>mat</a:t>
            </a:r>
            <a:endParaRPr lang="en-US" sz="1400" dirty="0"/>
          </a:p>
        </p:txBody>
      </p:sp>
      <p:sp>
        <p:nvSpPr>
          <p:cNvPr id="27" name="Text 24"/>
          <p:cNvSpPr txBox="1"/>
          <p:nvPr/>
        </p:nvSpPr>
        <p:spPr>
          <a:xfrm>
            <a:off x="6720840" y="2953512"/>
            <a:ext cx="914400" cy="320040"/>
          </a:xfrm>
          <a:prstGeom prst="rect">
            <a:avLst/>
          </a:prstGeom>
          <a:noFill/>
          <a:ln/>
        </p:spPr>
        <p:txBody>
          <a:bodyPr wrap="square" lIns="0" tIns="0" rIns="0" bIns="0" rtlCol="0" anchor="t"/>
          <a:lstStyle/>
          <a:p>
            <a:pPr marL="0" indent="0" algn="ctr">
              <a:buNone/>
            </a:pPr>
            <a:r>
              <a:rPr lang="en-US" sz="1300" dirty="0">
                <a:solidFill>
                  <a:schemeClr val="tx2"/>
                </a:solidFill>
                <a:latin typeface="Courier New" pitchFamily="34" charset="0"/>
                <a:ea typeface="Courier New" pitchFamily="34" charset="-122"/>
                <a:cs typeface="Courier New" pitchFamily="34" charset="-120"/>
              </a:rPr>
              <a:t>mat</a:t>
            </a:r>
            <a:endParaRPr lang="en-US" sz="1300" dirty="0"/>
          </a:p>
        </p:txBody>
      </p:sp>
      <p:sp>
        <p:nvSpPr>
          <p:cNvPr id="28" name="Shape 25"/>
          <p:cNvSpPr/>
          <p:nvPr/>
        </p:nvSpPr>
        <p:spPr>
          <a:xfrm>
            <a:off x="7708392" y="2423160"/>
            <a:ext cx="914400" cy="457200"/>
          </a:xfrm>
          <a:prstGeom prst="roundRect">
            <a:avLst>
              <a:gd name="adj" fmla="val 16000"/>
            </a:avLst>
          </a:prstGeom>
          <a:solidFill>
            <a:schemeClr val="bg2"/>
          </a:solidFill>
          <a:ln w="12700">
            <a:solidFill>
              <a:schemeClr val="bg2"/>
            </a:solidFill>
            <a:prstDash val="solid"/>
          </a:ln>
        </p:spPr>
      </p:sp>
      <p:sp>
        <p:nvSpPr>
          <p:cNvPr id="29" name="Text 26"/>
          <p:cNvSpPr txBox="1"/>
          <p:nvPr/>
        </p:nvSpPr>
        <p:spPr>
          <a:xfrm>
            <a:off x="7708392" y="2423160"/>
            <a:ext cx="914400" cy="457200"/>
          </a:xfrm>
          <a:prstGeom prst="rect">
            <a:avLst/>
          </a:prstGeom>
          <a:noFill/>
          <a:ln/>
        </p:spPr>
        <p:txBody>
          <a:bodyPr wrap="square" lIns="0" tIns="0" rIns="0" bIns="0" rtlCol="0" anchor="ctr"/>
          <a:lstStyle/>
          <a:p>
            <a:pPr marL="0" indent="0" algn="ctr">
              <a:buNone/>
            </a:pPr>
            <a:r>
              <a:rPr lang="en-US" sz="1400" dirty="0">
                <a:solidFill>
                  <a:schemeClr val="tx1"/>
                </a:solidFill>
                <a:latin typeface="Courier New" pitchFamily="34" charset="0"/>
                <a:ea typeface="Courier New" pitchFamily="34" charset="-122"/>
                <a:cs typeface="Courier New" pitchFamily="34" charset="-120"/>
              </a:rPr>
              <a:t>.</a:t>
            </a:r>
            <a:endParaRPr lang="en-US" sz="1400" dirty="0"/>
          </a:p>
        </p:txBody>
      </p:sp>
      <p:sp>
        <p:nvSpPr>
          <p:cNvPr id="30" name="Text 27"/>
          <p:cNvSpPr txBox="1"/>
          <p:nvPr/>
        </p:nvSpPr>
        <p:spPr>
          <a:xfrm>
            <a:off x="7708392" y="2953512"/>
            <a:ext cx="914400" cy="320040"/>
          </a:xfrm>
          <a:prstGeom prst="rect">
            <a:avLst/>
          </a:prstGeom>
          <a:noFill/>
          <a:ln/>
        </p:spPr>
        <p:txBody>
          <a:bodyPr wrap="square" lIns="0" tIns="0" rIns="0" bIns="0" rtlCol="0" anchor="t"/>
          <a:lstStyle/>
          <a:p>
            <a:pPr marL="0" indent="0" algn="ctr">
              <a:buNone/>
            </a:pPr>
            <a:r>
              <a:rPr lang="en-US" sz="1300" dirty="0">
                <a:solidFill>
                  <a:schemeClr val="tx2"/>
                </a:solidFill>
                <a:latin typeface="Courier New" pitchFamily="34" charset="0"/>
                <a:ea typeface="Courier New" pitchFamily="34" charset="-122"/>
                <a:cs typeface="Courier New" pitchFamily="34" charset="-120"/>
              </a:rPr>
              <a:t>.</a:t>
            </a:r>
            <a:endParaRPr lang="en-US" sz="1300" dirty="0"/>
          </a:p>
        </p:txBody>
      </p:sp>
      <p:sp>
        <p:nvSpPr>
          <p:cNvPr id="31" name="Shape 28"/>
          <p:cNvSpPr/>
          <p:nvPr/>
        </p:nvSpPr>
        <p:spPr>
          <a:xfrm>
            <a:off x="8695944" y="2423160"/>
            <a:ext cx="914400" cy="457200"/>
          </a:xfrm>
          <a:prstGeom prst="roundRect">
            <a:avLst>
              <a:gd name="adj" fmla="val 16000"/>
            </a:avLst>
          </a:prstGeom>
          <a:solidFill>
            <a:schemeClr val="bg2"/>
          </a:solidFill>
          <a:ln w="12700">
            <a:solidFill>
              <a:schemeClr val="bg2"/>
            </a:solidFill>
            <a:prstDash val="solid"/>
          </a:ln>
        </p:spPr>
      </p:sp>
      <p:sp>
        <p:nvSpPr>
          <p:cNvPr id="32" name="Text 29"/>
          <p:cNvSpPr txBox="1"/>
          <p:nvPr/>
        </p:nvSpPr>
        <p:spPr>
          <a:xfrm>
            <a:off x="8695944" y="2423160"/>
            <a:ext cx="914400" cy="457200"/>
          </a:xfrm>
          <a:prstGeom prst="rect">
            <a:avLst/>
          </a:prstGeom>
          <a:noFill/>
          <a:ln/>
        </p:spPr>
        <p:txBody>
          <a:bodyPr wrap="square" lIns="0" tIns="0" rIns="0" bIns="0" rtlCol="0" anchor="ctr"/>
          <a:lstStyle/>
          <a:p>
            <a:pPr marL="0" indent="0" algn="ctr">
              <a:buNone/>
            </a:pPr>
            <a:r>
              <a:rPr lang="en-US" sz="1400" dirty="0">
                <a:solidFill>
                  <a:schemeClr val="tx1"/>
                </a:solidFill>
                <a:latin typeface="Courier New" pitchFamily="34" charset="0"/>
                <a:ea typeface="Courier New" pitchFamily="34" charset="-122"/>
                <a:cs typeface="Courier New" pitchFamily="34" charset="-120"/>
              </a:rPr>
              <a:t>&lt;eos&gt;</a:t>
            </a:r>
            <a:endParaRPr lang="en-US" sz="1400" dirty="0"/>
          </a:p>
        </p:txBody>
      </p:sp>
      <p:sp>
        <p:nvSpPr>
          <p:cNvPr id="33" name="Text 30"/>
          <p:cNvSpPr txBox="1"/>
          <p:nvPr/>
        </p:nvSpPr>
        <p:spPr>
          <a:xfrm>
            <a:off x="8695944" y="2953512"/>
            <a:ext cx="914400" cy="320040"/>
          </a:xfrm>
          <a:prstGeom prst="rect">
            <a:avLst/>
          </a:prstGeom>
          <a:noFill/>
          <a:ln/>
        </p:spPr>
        <p:txBody>
          <a:bodyPr wrap="square" lIns="0" tIns="0" rIns="0" bIns="0" rtlCol="0" anchor="t"/>
          <a:lstStyle/>
          <a:p>
            <a:pPr marL="0" indent="0" algn="ctr">
              <a:buNone/>
            </a:pPr>
            <a:r>
              <a:rPr lang="en-US" sz="1300" dirty="0">
                <a:solidFill>
                  <a:schemeClr val="tx2"/>
                </a:solidFill>
                <a:latin typeface="Courier New" pitchFamily="34" charset="0"/>
                <a:ea typeface="Courier New" pitchFamily="34" charset="-122"/>
                <a:cs typeface="Courier New" pitchFamily="34" charset="-120"/>
              </a:rPr>
              <a:t>&lt;eos&gt;</a:t>
            </a:r>
            <a:endParaRPr lang="en-US" sz="1300" dirty="0"/>
          </a:p>
        </p:txBody>
      </p:sp>
      <p:sp>
        <p:nvSpPr>
          <p:cNvPr id="34" name="Shape 31"/>
          <p:cNvSpPr/>
          <p:nvPr/>
        </p:nvSpPr>
        <p:spPr>
          <a:xfrm>
            <a:off x="9683496" y="2423160"/>
            <a:ext cx="914400" cy="457200"/>
          </a:xfrm>
          <a:prstGeom prst="roundRect">
            <a:avLst>
              <a:gd name="adj" fmla="val 16000"/>
            </a:avLst>
          </a:prstGeom>
          <a:solidFill>
            <a:schemeClr val="bg1"/>
          </a:solidFill>
          <a:ln w="12700">
            <a:solidFill>
              <a:srgbClr val="AAB2C0"/>
            </a:solidFill>
            <a:prstDash val="dash"/>
          </a:ln>
        </p:spPr>
      </p:sp>
      <p:sp>
        <p:nvSpPr>
          <p:cNvPr id="35" name="Text 32"/>
          <p:cNvSpPr txBox="1"/>
          <p:nvPr/>
        </p:nvSpPr>
        <p:spPr>
          <a:xfrm>
            <a:off x="9683496" y="2423160"/>
            <a:ext cx="914400" cy="457200"/>
          </a:xfrm>
          <a:prstGeom prst="rect">
            <a:avLst/>
          </a:prstGeom>
          <a:noFill/>
          <a:ln/>
        </p:spPr>
        <p:txBody>
          <a:bodyPr wrap="square" lIns="0" tIns="0" rIns="0" bIns="0" rtlCol="0" anchor="ctr"/>
          <a:lstStyle/>
          <a:p>
            <a:pPr marL="0" indent="0" algn="ctr">
              <a:buNone/>
            </a:pPr>
            <a:r>
              <a:rPr lang="en-US" sz="1400" dirty="0">
                <a:solidFill>
                  <a:schemeClr val="tx2"/>
                </a:solidFill>
                <a:latin typeface="Courier New" pitchFamily="34" charset="0"/>
                <a:ea typeface="Courier New" pitchFamily="34" charset="-122"/>
                <a:cs typeface="Courier New" pitchFamily="34" charset="-120"/>
              </a:rPr>
              <a:t>&lt;pad&gt;</a:t>
            </a:r>
            <a:endParaRPr lang="en-US" sz="1400" dirty="0"/>
          </a:p>
        </p:txBody>
      </p:sp>
      <p:sp>
        <p:nvSpPr>
          <p:cNvPr id="36" name="Text 33"/>
          <p:cNvSpPr txBox="1"/>
          <p:nvPr/>
        </p:nvSpPr>
        <p:spPr>
          <a:xfrm>
            <a:off x="9683496" y="2953512"/>
            <a:ext cx="914400" cy="320040"/>
          </a:xfrm>
          <a:prstGeom prst="rect">
            <a:avLst/>
          </a:prstGeom>
          <a:noFill/>
          <a:ln/>
        </p:spPr>
        <p:txBody>
          <a:bodyPr wrap="square" lIns="0" tIns="0" rIns="0" bIns="0" rtlCol="0" anchor="t"/>
          <a:lstStyle/>
          <a:p>
            <a:pPr marL="0" indent="0" algn="ctr">
              <a:buNone/>
            </a:pPr>
            <a:r>
              <a:rPr lang="en-US" sz="1300" b="1" dirty="0">
                <a:solidFill>
                  <a:schemeClr val="accent1"/>
                </a:solidFill>
                <a:latin typeface="Courier New" pitchFamily="34" charset="0"/>
                <a:ea typeface="Courier New" pitchFamily="34" charset="-122"/>
                <a:cs typeface="Courier New" pitchFamily="34" charset="-120"/>
              </a:rPr>
              <a:t>−100</a:t>
            </a:r>
            <a:endParaRPr lang="en-US" sz="1300" dirty="0"/>
          </a:p>
        </p:txBody>
      </p:sp>
      <p:sp>
        <p:nvSpPr>
          <p:cNvPr id="37" name="Shape 34"/>
          <p:cNvSpPr/>
          <p:nvPr/>
        </p:nvSpPr>
        <p:spPr>
          <a:xfrm>
            <a:off x="10671048" y="2423160"/>
            <a:ext cx="914400" cy="457200"/>
          </a:xfrm>
          <a:prstGeom prst="roundRect">
            <a:avLst>
              <a:gd name="adj" fmla="val 16000"/>
            </a:avLst>
          </a:prstGeom>
          <a:solidFill>
            <a:schemeClr val="bg1"/>
          </a:solidFill>
          <a:ln w="12700">
            <a:solidFill>
              <a:srgbClr val="AAB2C0"/>
            </a:solidFill>
            <a:prstDash val="dash"/>
          </a:ln>
        </p:spPr>
      </p:sp>
      <p:sp>
        <p:nvSpPr>
          <p:cNvPr id="38" name="Text 35"/>
          <p:cNvSpPr txBox="1"/>
          <p:nvPr/>
        </p:nvSpPr>
        <p:spPr>
          <a:xfrm>
            <a:off x="10671048" y="2423160"/>
            <a:ext cx="914400" cy="457200"/>
          </a:xfrm>
          <a:prstGeom prst="rect">
            <a:avLst/>
          </a:prstGeom>
          <a:noFill/>
          <a:ln/>
        </p:spPr>
        <p:txBody>
          <a:bodyPr wrap="square" lIns="0" tIns="0" rIns="0" bIns="0" rtlCol="0" anchor="ctr"/>
          <a:lstStyle/>
          <a:p>
            <a:pPr marL="0" indent="0" algn="ctr">
              <a:buNone/>
            </a:pPr>
            <a:r>
              <a:rPr lang="en-US" sz="1400" dirty="0">
                <a:solidFill>
                  <a:schemeClr val="tx2"/>
                </a:solidFill>
                <a:latin typeface="Courier New" pitchFamily="34" charset="0"/>
                <a:ea typeface="Courier New" pitchFamily="34" charset="-122"/>
                <a:cs typeface="Courier New" pitchFamily="34" charset="-120"/>
              </a:rPr>
              <a:t>&lt;pad&gt;</a:t>
            </a:r>
            <a:endParaRPr lang="en-US" sz="1400" dirty="0"/>
          </a:p>
        </p:txBody>
      </p:sp>
      <p:sp>
        <p:nvSpPr>
          <p:cNvPr id="39" name="Text 36"/>
          <p:cNvSpPr txBox="1"/>
          <p:nvPr/>
        </p:nvSpPr>
        <p:spPr>
          <a:xfrm>
            <a:off x="10671048" y="2953512"/>
            <a:ext cx="914400" cy="320040"/>
          </a:xfrm>
          <a:prstGeom prst="rect">
            <a:avLst/>
          </a:prstGeom>
          <a:noFill/>
          <a:ln/>
        </p:spPr>
        <p:txBody>
          <a:bodyPr wrap="square" lIns="0" tIns="0" rIns="0" bIns="0" rtlCol="0" anchor="t"/>
          <a:lstStyle/>
          <a:p>
            <a:pPr marL="0" indent="0" algn="ctr">
              <a:buNone/>
            </a:pPr>
            <a:r>
              <a:rPr lang="en-US" sz="1300" b="1" dirty="0">
                <a:solidFill>
                  <a:schemeClr val="accent1"/>
                </a:solidFill>
                <a:latin typeface="Courier New" pitchFamily="34" charset="0"/>
                <a:ea typeface="Courier New" pitchFamily="34" charset="-122"/>
                <a:cs typeface="Courier New" pitchFamily="34" charset="-120"/>
              </a:rPr>
              <a:t>−100</a:t>
            </a:r>
            <a:endParaRPr lang="en-US" sz="1300" dirty="0"/>
          </a:p>
        </p:txBody>
      </p:sp>
      <p:sp>
        <p:nvSpPr>
          <p:cNvPr id="40" name="Text 37"/>
          <p:cNvSpPr txBox="1"/>
          <p:nvPr/>
        </p:nvSpPr>
        <p:spPr>
          <a:xfrm>
            <a:off x="1783080" y="3429000"/>
            <a:ext cx="9784080" cy="320040"/>
          </a:xfrm>
          <a:prstGeom prst="rect">
            <a:avLst/>
          </a:prstGeom>
          <a:noFill/>
          <a:ln/>
        </p:spPr>
        <p:txBody>
          <a:bodyPr wrap="square" lIns="0" tIns="0" rIns="0" bIns="0" rtlCol="0" anchor="t"/>
          <a:lstStyle/>
          <a:p>
            <a:pPr marL="0" indent="0">
              <a:buNone/>
            </a:pPr>
            <a:r>
              <a:rPr lang="en-US" sz="1400" i="1" dirty="0">
                <a:solidFill>
                  <a:schemeClr val="tx2"/>
                </a:solidFill>
              </a:rPr>
              <a:t>A short sentence padded to the batch length. Padding is ignored; the real &lt;eos&gt; keeps its label.</a:t>
            </a:r>
            <a:endParaRPr lang="en-US" sz="1400" dirty="0"/>
          </a:p>
        </p:txBody>
      </p:sp>
      <p:sp>
        <p:nvSpPr>
          <p:cNvPr id="41" name="shift once"/>
          <p:cNvSpPr/>
          <p:nvPr/>
        </p:nvSpPr>
        <p:spPr>
          <a:xfrm>
            <a:off x="548640" y="4023360"/>
            <a:ext cx="5394960" cy="2103120"/>
          </a:xfrm>
          <a:prstGeom prst="roundRect">
            <a:avLst>
              <a:gd name="adj" fmla="val 5217"/>
            </a:avLst>
          </a:prstGeom>
          <a:solidFill>
            <a:schemeClr val="bg2"/>
          </a:solidFill>
          <a:ln w="12700">
            <a:solidFill>
              <a:schemeClr val="bg2"/>
            </a:solidFill>
            <a:prstDash val="solid"/>
          </a:ln>
        </p:spPr>
      </p:sp>
      <p:sp>
        <p:nvSpPr>
          <p:cNvPr id="42" name="Text 39"/>
          <p:cNvSpPr txBox="1"/>
          <p:nvPr/>
        </p:nvSpPr>
        <p:spPr>
          <a:xfrm>
            <a:off x="777240" y="4160520"/>
            <a:ext cx="4937760" cy="1874520"/>
          </a:xfrm>
          <a:prstGeom prst="rect">
            <a:avLst/>
          </a:prstGeom>
          <a:noFill/>
          <a:ln/>
        </p:spPr>
        <p:txBody>
          <a:bodyPr wrap="square" lIns="0" tIns="0" rIns="0" bIns="0" rtlCol="0" anchor="t"/>
          <a:lstStyle/>
          <a:p>
            <a:pPr marL="0" indent="0">
              <a:spcAft>
                <a:spcPts val="400"/>
              </a:spcAft>
              <a:buNone/>
            </a:pPr>
            <a:r>
              <a:rPr lang="en-US" sz="1900" b="1" dirty="0">
                <a:solidFill>
                  <a:schemeClr val="tx1"/>
                </a:solidFill>
              </a:rPr>
              <a:t>Shift exactly once</a:t>
            </a:r>
            <a:endParaRPr lang="en-US" sz="1500" dirty="0"/>
          </a:p>
          <a:p>
            <a:pPr marL="0" indent="0">
              <a:spcAft>
                <a:spcPts val="400"/>
              </a:spcAft>
              <a:buNone/>
            </a:pPr>
            <a:r>
              <a:rPr lang="en-US" sz="1500" dirty="0">
                <a:solidFill>
                  <a:schemeClr val="tx1"/>
                </a:solidFill>
              </a:rPr>
              <a:t>The output at position t predicts token t + 1, so the loss pairs</a:t>
            </a:r>
            <a:endParaRPr lang="en-US" sz="1500" dirty="0"/>
          </a:p>
          <a:p>
            <a:pPr marL="0" indent="0">
              <a:spcAft>
                <a:spcPts val="400"/>
              </a:spcAft>
              <a:buNone/>
            </a:pPr>
            <a:r>
              <a:rPr lang="en-US" sz="1500" dirty="0">
                <a:solidFill>
                  <a:schemeClr val="tx1"/>
                </a:solidFill>
                <a:latin typeface="Courier New" pitchFamily="34" charset="0"/>
                <a:ea typeface="Courier New" pitchFamily="34" charset="-122"/>
                <a:cs typeface="Courier New" pitchFamily="34" charset="-120"/>
              </a:rPr>
              <a:t>logits[:, :-1]  with  labels[:, 1:]</a:t>
            </a:r>
            <a:endParaRPr lang="en-US" sz="1500" dirty="0"/>
          </a:p>
          <a:p>
            <a:pPr marL="0" indent="0">
              <a:spcAft>
                <a:spcPts val="400"/>
              </a:spcAft>
              <a:buNone/>
            </a:pPr>
            <a:r>
              <a:rPr lang="en-US" sz="1500" dirty="0">
                <a:solidFill>
                  <a:schemeClr val="tx1"/>
                </a:solidFill>
              </a:rPr>
              <a:t>The first token is never a target: nothing precedes it.</a:t>
            </a:r>
            <a:endParaRPr lang="en-US" sz="1500" dirty="0"/>
          </a:p>
        </p:txBody>
      </p:sp>
      <p:sp>
        <p:nvSpPr>
          <p:cNvPr id="43" name="two conventions"/>
          <p:cNvSpPr/>
          <p:nvPr/>
        </p:nvSpPr>
        <p:spPr>
          <a:xfrm>
            <a:off x="6217920" y="4023360"/>
            <a:ext cx="5394960" cy="2103120"/>
          </a:xfrm>
          <a:prstGeom prst="roundRect">
            <a:avLst>
              <a:gd name="adj" fmla="val 5217"/>
            </a:avLst>
          </a:prstGeom>
          <a:solidFill>
            <a:schemeClr val="accent6"/>
          </a:solidFill>
          <a:ln w="12700">
            <a:solidFill>
              <a:schemeClr val="accent6"/>
            </a:solidFill>
            <a:prstDash val="solid"/>
          </a:ln>
        </p:spPr>
      </p:sp>
      <p:sp>
        <p:nvSpPr>
          <p:cNvPr id="44" name="Text 41"/>
          <p:cNvSpPr txBox="1"/>
          <p:nvPr/>
        </p:nvSpPr>
        <p:spPr>
          <a:xfrm>
            <a:off x="6446520" y="4160520"/>
            <a:ext cx="4937760" cy="1874520"/>
          </a:xfrm>
          <a:prstGeom prst="rect">
            <a:avLst/>
          </a:prstGeom>
          <a:noFill/>
          <a:ln/>
        </p:spPr>
        <p:txBody>
          <a:bodyPr wrap="square" lIns="0" tIns="0" rIns="0" bIns="0" rtlCol="0" anchor="t"/>
          <a:lstStyle/>
          <a:p>
            <a:pPr marL="0" indent="0">
              <a:spcAft>
                <a:spcPts val="400"/>
              </a:spcAft>
              <a:buNone/>
            </a:pPr>
            <a:r>
              <a:rPr lang="en-US" sz="1900" b="1" dirty="0">
                <a:solidFill>
                  <a:schemeClr val="accent1"/>
                </a:solidFill>
              </a:rPr>
              <a:t>Two conventions — don't mix them</a:t>
            </a:r>
            <a:endParaRPr lang="en-US" sz="1500" dirty="0"/>
          </a:p>
          <a:p>
            <a:pPr marL="0" indent="0">
              <a:spcAft>
                <a:spcPts val="400"/>
              </a:spcAft>
              <a:buNone/>
            </a:pPr>
            <a:r>
              <a:rPr lang="en-US" sz="1500" b="1" dirty="0">
                <a:solidFill>
                  <a:schemeClr val="tx1"/>
                </a:solidFill>
              </a:rPr>
              <a:t>Our toy code: </a:t>
            </a:r>
            <a:r>
              <a:rPr lang="en-US" sz="1500" dirty="0">
                <a:solidFill>
                  <a:schemeClr val="tx1"/>
                </a:solidFill>
              </a:rPr>
              <a:t>shifts explicitly</a:t>
            </a:r>
            <a:endParaRPr lang="en-US" sz="1500" dirty="0"/>
          </a:p>
          <a:p>
            <a:pPr marL="0" indent="0">
              <a:spcAft>
                <a:spcPts val="400"/>
              </a:spcAft>
              <a:buNone/>
            </a:pPr>
            <a:r>
              <a:rPr lang="en-US" sz="1500" b="1" dirty="0">
                <a:solidFill>
                  <a:schemeClr val="tx1"/>
                </a:solidFill>
              </a:rPr>
              <a:t>Hugging Face GPT2LMHeadModel: </a:t>
            </a:r>
            <a:r>
              <a:rPr lang="en-US" sz="1500" dirty="0">
                <a:solidFill>
                  <a:schemeClr val="tx1"/>
                </a:solidFill>
              </a:rPr>
              <a:t>pass </a:t>
            </a:r>
            <a:r>
              <a:rPr lang="en-US" sz="1500" dirty="0">
                <a:solidFill>
                  <a:schemeClr val="tx1"/>
                </a:solidFill>
                <a:latin typeface="Courier New" pitchFamily="34" charset="0"/>
                <a:ea typeface="Courier New" pitchFamily="34" charset="-122"/>
                <a:cs typeface="Courier New" pitchFamily="34" charset="-120"/>
              </a:rPr>
              <a:t>labels=input_ids</a:t>
            </a:r>
            <a:r>
              <a:rPr lang="en-US" sz="1500" dirty="0">
                <a:solidFill>
                  <a:schemeClr val="tx1"/>
                </a:solidFill>
              </a:rPr>
              <a:t> unshifted; the model shifts internally</a:t>
            </a:r>
            <a:endParaRPr lang="en-US" sz="1500" dirty="0"/>
          </a:p>
          <a:p>
            <a:pPr marL="0" indent="0">
              <a:spcAft>
                <a:spcPts val="400"/>
              </a:spcAft>
              <a:buNone/>
            </a:pPr>
            <a:r>
              <a:rPr lang="en-US" sz="1500" dirty="0">
                <a:solidFill>
                  <a:schemeClr val="tx1"/>
                </a:solidFill>
              </a:rPr>
              <a:t>Shifting both ways predicts two tokens ahead and trains a quietly wrong model.</a:t>
            </a:r>
            <a:endParaRPr lang="en-US" sz="1500" dirty="0"/>
          </a:p>
        </p:txBody>
      </p:sp>
      <p:sp>
        <p:nvSpPr>
          <p:cNvPr id="3"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777240"/>
          </a:xfrm>
          <a:prstGeom prst="rect">
            <a:avLst/>
          </a:prstGeom>
          <a:noFill/>
          <a:ln/>
        </p:spPr>
        <p:txBody>
          <a:bodyPr wrap="square" lIns="0" tIns="0" rIns="0" bIns="0" rtlCol="0" anchor="ctr"/>
          <a:lstStyle/>
          <a:p>
            <a:pPr marL="0" indent="0" algn="l">
              <a:buNone/>
            </a:pPr>
            <a:r>
              <a:rPr lang="en-US" sz="3200" b="1" dirty="0">
                <a:solidFill>
                  <a:schemeClr val="tx1"/>
                </a:solidFill>
              </a:rPr>
              <a:t>Every position makes a prediction</a:t>
            </a:r>
            <a:endParaRPr lang="en-US" sz="3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6126480" cy="4297680"/>
        </p:xfrm>
        <a:graphic>
          <a:graphicData uri="http://schemas.openxmlformats.org/drawingml/2006/table">
            <a:tbl>
              <a:tblPr/>
              <a:tblGrid>
                <a:gridCol w="457200"/>
                <a:gridCol w="2377440"/>
                <a:gridCol w="1828800"/>
                <a:gridCol w="1463040"/>
              </a:tblGrid>
              <a:tr h="429768">
                <a:tc>
                  <a:txBody>
                    <a:bodyPr/>
                    <a:lstStyle/>
                    <a:p>
                      <a:pPr marL="0" indent="0">
                        <a:buNone/>
                      </a:pPr>
                      <a:r>
                        <a:rPr lang="en-US" sz="1400" b="1" dirty="0">
                          <a:solidFill>
                            <a:schemeClr val="bg1"/>
                          </a:solidFill>
                        </a:rPr>
                        <a:t>t</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marL="0" indent="0">
                        <a:buNone/>
                      </a:pPr>
                      <a:r>
                        <a:rPr lang="en-US" sz="1400" b="1" dirty="0">
                          <a:solidFill>
                            <a:schemeClr val="bg1"/>
                          </a:solidFill>
                        </a:rPr>
                        <a:t>Model has seen</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marL="0" indent="0">
                        <a:buNone/>
                      </a:pPr>
                      <a:r>
                        <a:rPr lang="en-US" sz="1400" b="1" dirty="0">
                          <a:solidFill>
                            <a:schemeClr val="bg1"/>
                          </a:solidFill>
                        </a:rPr>
                        <a:t>Target (t + 1)</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marL="0" indent="0">
                        <a:buNone/>
                      </a:pPr>
                      <a:r>
                        <a:rPr lang="en-US" sz="1400" b="1" dirty="0">
                          <a:solidFill>
                            <a:schemeClr val="bg1"/>
                          </a:solidFill>
                        </a:rPr>
                        <a:t>Target is in</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r>
              <a:tr h="429768">
                <a:tc>
                  <a:txBody>
                    <a:bodyPr/>
                    <a:lstStyle/>
                    <a:p>
                      <a:pPr marL="0" indent="0">
                        <a:buNone/>
                      </a:pPr>
                      <a:r>
                        <a:rPr lang="en-US" sz="1400" dirty="0">
                          <a:solidFill>
                            <a:schemeClr val="tx1"/>
                          </a:solidFill>
                        </a:rPr>
                        <a:t>0</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Courier New" pitchFamily="34" charset="0"/>
                          <a:ea typeface="Courier New" pitchFamily="34" charset="-122"/>
                          <a:cs typeface="Courier New" pitchFamily="34" charset="-120"/>
                        </a:rPr>
                        <a:t>recipe</a:t>
                      </a:r>
                      <a:endParaRPr lang="en-US" sz="1400" dirty="0">
                        <a:latin typeface="Courier New" charset="0"/>
                        <a:ea typeface="Courier New" charset="0"/>
                        <a:cs typeface="Courier New" charset="0"/>
                      </a:endParaRPr>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marL="0" indent="0">
                        <a:buNone/>
                      </a:pPr>
                      <a:r>
                        <a:rPr lang="en-US" sz="1400" b="1" dirty="0">
                          <a:solidFill>
                            <a:schemeClr val="tx1"/>
                          </a:solidFill>
                          <a:latin typeface="Courier New" pitchFamily="34" charset="0"/>
                          <a:ea typeface="Courier New" pitchFamily="34" charset="-122"/>
                          <a:cs typeface="Courier New" pitchFamily="34" charset="-120"/>
                        </a:rPr>
                        <a:t>:</a:t>
                      </a:r>
                      <a:endParaRPr lang="en-US" sz="1400" dirty="0">
                        <a:latin typeface="Courier New" charset="0"/>
                        <a:ea typeface="Courier New" charset="0"/>
                        <a:cs typeface="Courier New" charset="0"/>
                      </a:endParaRPr>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marL="0" indent="0">
                        <a:buNone/>
                      </a:pPr>
                      <a:r>
                        <a:rPr lang="en-US" sz="1400" dirty="0">
                          <a:solidFill>
                            <a:schemeClr val="tx2"/>
                          </a:solidFill>
                        </a:rPr>
                        <a:t>prompt</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429768">
                <a:tc>
                  <a:txBody>
                    <a:bodyPr/>
                    <a:lstStyle/>
                    <a:p>
                      <a:pPr marL="0" indent="0">
                        <a:buNone/>
                      </a:pPr>
                      <a:r>
                        <a:rPr lang="en-US" sz="1400" dirty="0">
                          <a:solidFill>
                            <a:schemeClr val="tx1"/>
                          </a:solidFill>
                        </a:rPr>
                        <a:t>1</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latin typeface="Courier New" pitchFamily="34" charset="0"/>
                          <a:ea typeface="Courier New" pitchFamily="34" charset="-122"/>
                          <a:cs typeface="Courier New" pitchFamily="34" charset="-120"/>
                        </a:rPr>
                        <a:t>recipe :</a:t>
                      </a:r>
                      <a:endParaRPr lang="en-US" sz="1400" dirty="0">
                        <a:latin typeface="Courier New" charset="0"/>
                        <a:ea typeface="Courier New" charset="0"/>
                        <a:cs typeface="Courier New" charset="0"/>
                      </a:endParaRPr>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marL="0" indent="0">
                        <a:buNone/>
                      </a:pPr>
                      <a:r>
                        <a:rPr lang="en-US" sz="1400" b="1" dirty="0">
                          <a:solidFill>
                            <a:schemeClr val="tx1"/>
                          </a:solidFill>
                          <a:latin typeface="Courier New" pitchFamily="34" charset="0"/>
                          <a:ea typeface="Courier New" pitchFamily="34" charset="-122"/>
                          <a:cs typeface="Courier New" pitchFamily="34" charset="-120"/>
                        </a:rPr>
                        <a:t>dosa</a:t>
                      </a:r>
                      <a:endParaRPr lang="en-US" sz="1400" dirty="0">
                        <a:latin typeface="Courier New" charset="0"/>
                        <a:ea typeface="Courier New" charset="0"/>
                        <a:cs typeface="Courier New" charset="0"/>
                      </a:endParaRPr>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marL="0" indent="0">
                        <a:buNone/>
                      </a:pPr>
                      <a:r>
                        <a:rPr lang="en-US" sz="1400" dirty="0">
                          <a:solidFill>
                            <a:schemeClr val="tx2"/>
                          </a:solidFill>
                        </a:rPr>
                        <a:t>prompt</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r h="429768">
                <a:tc>
                  <a:txBody>
                    <a:bodyPr/>
                    <a:lstStyle/>
                    <a:p>
                      <a:pPr marL="0" indent="0">
                        <a:buNone/>
                      </a:pPr>
                      <a:r>
                        <a:rPr lang="en-US" sz="1400" dirty="0">
                          <a:solidFill>
                            <a:schemeClr val="tx1"/>
                          </a:solidFill>
                        </a:rPr>
                        <a:t>2</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Courier New" pitchFamily="34" charset="0"/>
                          <a:ea typeface="Courier New" pitchFamily="34" charset="-122"/>
                          <a:cs typeface="Courier New" pitchFamily="34" charset="-120"/>
                        </a:rPr>
                        <a:t>recipe : dosa</a:t>
                      </a:r>
                      <a:endParaRPr lang="en-US" sz="1400" dirty="0">
                        <a:latin typeface="Courier New" charset="0"/>
                        <a:ea typeface="Courier New" charset="0"/>
                        <a:cs typeface="Courier New" charset="0"/>
                      </a:endParaRPr>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marL="0" indent="0">
                        <a:buNone/>
                      </a:pPr>
                      <a:r>
                        <a:rPr lang="en-US" sz="1400" b="1" dirty="0">
                          <a:solidFill>
                            <a:schemeClr val="tx1"/>
                          </a:solidFill>
                          <a:latin typeface="Courier New" pitchFamily="34" charset="0"/>
                          <a:ea typeface="Courier New" pitchFamily="34" charset="-122"/>
                          <a:cs typeface="Courier New" pitchFamily="34" charset="-120"/>
                        </a:rPr>
                        <a:t>;</a:t>
                      </a:r>
                      <a:endParaRPr lang="en-US" sz="1400" dirty="0">
                        <a:latin typeface="Courier New" charset="0"/>
                        <a:ea typeface="Courier New" charset="0"/>
                        <a:cs typeface="Courier New" charset="0"/>
                      </a:endParaRPr>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marL="0" indent="0">
                        <a:buNone/>
                      </a:pPr>
                      <a:r>
                        <a:rPr lang="en-US" sz="1400" dirty="0">
                          <a:solidFill>
                            <a:schemeClr val="tx2"/>
                          </a:solidFill>
                        </a:rPr>
                        <a:t>prompt</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429768">
                <a:tc>
                  <a:txBody>
                    <a:bodyPr/>
                    <a:lstStyle/>
                    <a:p>
                      <a:pPr marL="0" indent="0">
                        <a:buNone/>
                      </a:pPr>
                      <a:r>
                        <a:rPr lang="en-US" sz="1400" dirty="0">
                          <a:solidFill>
                            <a:schemeClr val="tx1"/>
                          </a:solidFill>
                        </a:rPr>
                        <a:t>3</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latin typeface="Courier New" pitchFamily="34" charset="0"/>
                          <a:ea typeface="Courier New" pitchFamily="34" charset="-122"/>
                          <a:cs typeface="Courier New" pitchFamily="34" charset="-120"/>
                        </a:rPr>
                        <a:t>… dosa ;</a:t>
                      </a:r>
                      <a:endParaRPr lang="en-US" sz="1400" dirty="0">
                        <a:latin typeface="Courier New" charset="0"/>
                        <a:ea typeface="Courier New" charset="0"/>
                        <a:cs typeface="Courier New" charset="0"/>
                      </a:endParaRPr>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marL="0" indent="0">
                        <a:buNone/>
                      </a:pPr>
                      <a:r>
                        <a:rPr lang="en-US" sz="1400" b="1" dirty="0">
                          <a:solidFill>
                            <a:schemeClr val="tx1"/>
                          </a:solidFill>
                          <a:latin typeface="Courier New" pitchFamily="34" charset="0"/>
                          <a:ea typeface="Courier New" pitchFamily="34" charset="-122"/>
                          <a:cs typeface="Courier New" pitchFamily="34" charset="-120"/>
                        </a:rPr>
                        <a:t>ingredients</a:t>
                      </a:r>
                      <a:endParaRPr lang="en-US" sz="1400" dirty="0">
                        <a:latin typeface="Courier New" charset="0"/>
                        <a:ea typeface="Courier New" charset="0"/>
                        <a:cs typeface="Courier New" charset="0"/>
                      </a:endParaRPr>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marL="0" indent="0">
                        <a:buNone/>
                      </a:pPr>
                      <a:r>
                        <a:rPr lang="en-US" sz="1400" dirty="0">
                          <a:solidFill>
                            <a:schemeClr val="tx2"/>
                          </a:solidFill>
                        </a:rPr>
                        <a:t>prompt</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r h="429768">
                <a:tc>
                  <a:txBody>
                    <a:bodyPr/>
                    <a:lstStyle/>
                    <a:p>
                      <a:pPr marL="0" indent="0">
                        <a:buNone/>
                      </a:pPr>
                      <a:r>
                        <a:rPr lang="en-US" sz="1400" dirty="0">
                          <a:solidFill>
                            <a:schemeClr val="tx1"/>
                          </a:solidFill>
                        </a:rPr>
                        <a:t>4</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Courier New" pitchFamily="34" charset="0"/>
                          <a:ea typeface="Courier New" pitchFamily="34" charset="-122"/>
                          <a:cs typeface="Courier New" pitchFamily="34" charset="-120"/>
                        </a:rPr>
                        <a:t>… ingredients</a:t>
                      </a:r>
                      <a:endParaRPr lang="en-US" sz="1400" dirty="0">
                        <a:latin typeface="Courier New" charset="0"/>
                        <a:ea typeface="Courier New" charset="0"/>
                        <a:cs typeface="Courier New" charset="0"/>
                      </a:endParaRPr>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marL="0" indent="0">
                        <a:buNone/>
                      </a:pPr>
                      <a:r>
                        <a:rPr lang="en-US" sz="1400" b="1" dirty="0">
                          <a:solidFill>
                            <a:schemeClr val="tx1"/>
                          </a:solidFill>
                          <a:latin typeface="Courier New" pitchFamily="34" charset="0"/>
                          <a:ea typeface="Courier New" pitchFamily="34" charset="-122"/>
                          <a:cs typeface="Courier New" pitchFamily="34" charset="-120"/>
                        </a:rPr>
                        <a:t>:</a:t>
                      </a:r>
                      <a:endParaRPr lang="en-US" sz="1400" dirty="0">
                        <a:latin typeface="Courier New" charset="0"/>
                        <a:ea typeface="Courier New" charset="0"/>
                        <a:cs typeface="Courier New" charset="0"/>
                      </a:endParaRPr>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marL="0" indent="0">
                        <a:buNone/>
                      </a:pPr>
                      <a:r>
                        <a:rPr lang="en-US" sz="1400" dirty="0">
                          <a:solidFill>
                            <a:schemeClr val="tx2"/>
                          </a:solidFill>
                        </a:rPr>
                        <a:t>prompt</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429768">
                <a:tc>
                  <a:txBody>
                    <a:bodyPr/>
                    <a:lstStyle/>
                    <a:p>
                      <a:pPr marL="0" indent="0">
                        <a:buNone/>
                      </a:pPr>
                      <a:r>
                        <a:rPr lang="en-US" sz="1400" dirty="0">
                          <a:solidFill>
                            <a:schemeClr val="tx1"/>
                          </a:solidFill>
                        </a:rPr>
                        <a:t>5</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latin typeface="Courier New" pitchFamily="34" charset="0"/>
                          <a:ea typeface="Courier New" pitchFamily="34" charset="-122"/>
                          <a:cs typeface="Courier New" pitchFamily="34" charset="-120"/>
                        </a:rPr>
                        <a:t>… ingredients :</a:t>
                      </a:r>
                      <a:endParaRPr lang="en-US" sz="1400" dirty="0">
                        <a:latin typeface="Courier New" charset="0"/>
                        <a:ea typeface="Courier New" charset="0"/>
                        <a:cs typeface="Courier New" charset="0"/>
                      </a:endParaRPr>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marL="0" indent="0">
                        <a:buNone/>
                      </a:pPr>
                      <a:r>
                        <a:rPr lang="en-US" sz="1400" b="1" dirty="0">
                          <a:solidFill>
                            <a:schemeClr val="tx1"/>
                          </a:solidFill>
                          <a:latin typeface="Courier New" pitchFamily="34" charset="0"/>
                          <a:ea typeface="Courier New" pitchFamily="34" charset="-122"/>
                          <a:cs typeface="Courier New" pitchFamily="34" charset="-120"/>
                        </a:rPr>
                        <a:t>rice</a:t>
                      </a:r>
                      <a:endParaRPr lang="en-US" sz="1400" dirty="0">
                        <a:latin typeface="Courier New" charset="0"/>
                        <a:ea typeface="Courier New" charset="0"/>
                        <a:cs typeface="Courier New" charset="0"/>
                      </a:endParaRPr>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marL="0" indent="0">
                        <a:buNone/>
                      </a:pPr>
                      <a:r>
                        <a:rPr lang="en-US" sz="1400" b="1" dirty="0">
                          <a:solidFill>
                            <a:schemeClr val="accent1"/>
                          </a:solidFill>
                        </a:rPr>
                        <a:t>answer</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r h="429768">
                <a:tc>
                  <a:txBody>
                    <a:bodyPr/>
                    <a:lstStyle/>
                    <a:p>
                      <a:pPr marL="0" indent="0">
                        <a:buNone/>
                      </a:pPr>
                      <a:r>
                        <a:rPr lang="en-US" sz="1400" dirty="0">
                          <a:solidFill>
                            <a:schemeClr val="tx1"/>
                          </a:solidFill>
                        </a:rPr>
                        <a:t>6</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Courier New" pitchFamily="34" charset="0"/>
                          <a:ea typeface="Courier New" pitchFamily="34" charset="-122"/>
                          <a:cs typeface="Courier New" pitchFamily="34" charset="-120"/>
                        </a:rPr>
                        <a:t>… rice</a:t>
                      </a:r>
                      <a:endParaRPr lang="en-US" sz="1400" dirty="0">
                        <a:latin typeface="Courier New" charset="0"/>
                        <a:ea typeface="Courier New" charset="0"/>
                        <a:cs typeface="Courier New" charset="0"/>
                      </a:endParaRPr>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marL="0" indent="0">
                        <a:buNone/>
                      </a:pPr>
                      <a:r>
                        <a:rPr lang="en-US" sz="1400" b="1" dirty="0">
                          <a:solidFill>
                            <a:schemeClr val="tx1"/>
                          </a:solidFill>
                          <a:latin typeface="Courier New" pitchFamily="34" charset="0"/>
                          <a:ea typeface="Courier New" pitchFamily="34" charset="-122"/>
                          <a:cs typeface="Courier New" pitchFamily="34" charset="-120"/>
                        </a:rPr>
                        <a:t>,</a:t>
                      </a:r>
                      <a:endParaRPr lang="en-US" sz="1400" dirty="0">
                        <a:latin typeface="Courier New" charset="0"/>
                        <a:ea typeface="Courier New" charset="0"/>
                        <a:cs typeface="Courier New" charset="0"/>
                      </a:endParaRPr>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marL="0" indent="0">
                        <a:buNone/>
                      </a:pPr>
                      <a:r>
                        <a:rPr lang="en-US" sz="1400" b="1" dirty="0">
                          <a:solidFill>
                            <a:schemeClr val="accent1"/>
                          </a:solidFill>
                        </a:rPr>
                        <a:t>answer</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429768">
                <a:tc>
                  <a:txBody>
                    <a:bodyPr/>
                    <a:lstStyle/>
                    <a:p>
                      <a:pPr marL="0" indent="0">
                        <a:buNone/>
                      </a:pPr>
                      <a:r>
                        <a:rPr lang="en-US" sz="1400" dirty="0">
                          <a:solidFill>
                            <a:schemeClr val="tx1"/>
                          </a:solidFill>
                        </a:rPr>
                        <a:t>7</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latin typeface="Courier New" pitchFamily="34" charset="0"/>
                          <a:ea typeface="Courier New" pitchFamily="34" charset="-122"/>
                          <a:cs typeface="Courier New" pitchFamily="34" charset="-120"/>
                        </a:rPr>
                        <a:t>… rice ,</a:t>
                      </a:r>
                      <a:endParaRPr lang="en-US" sz="1400" dirty="0">
                        <a:latin typeface="Courier New" charset="0"/>
                        <a:ea typeface="Courier New" charset="0"/>
                        <a:cs typeface="Courier New" charset="0"/>
                      </a:endParaRPr>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marL="0" indent="0">
                        <a:buNone/>
                      </a:pPr>
                      <a:r>
                        <a:rPr lang="en-US" sz="1400" b="1" dirty="0">
                          <a:solidFill>
                            <a:schemeClr val="tx1"/>
                          </a:solidFill>
                          <a:latin typeface="Courier New" pitchFamily="34" charset="0"/>
                          <a:ea typeface="Courier New" pitchFamily="34" charset="-122"/>
                          <a:cs typeface="Courier New" pitchFamily="34" charset="-120"/>
                        </a:rPr>
                        <a:t>salt</a:t>
                      </a:r>
                      <a:endParaRPr lang="en-US" sz="1400" dirty="0">
                        <a:latin typeface="Courier New" charset="0"/>
                        <a:ea typeface="Courier New" charset="0"/>
                        <a:cs typeface="Courier New" charset="0"/>
                      </a:endParaRPr>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marL="0" indent="0">
                        <a:buNone/>
                      </a:pPr>
                      <a:r>
                        <a:rPr lang="en-US" sz="1400" b="1" dirty="0">
                          <a:solidFill>
                            <a:schemeClr val="accent1"/>
                          </a:solidFill>
                        </a:rPr>
                        <a:t>answer</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r h="429768">
                <a:tc>
                  <a:txBody>
                    <a:bodyPr/>
                    <a:lstStyle/>
                    <a:p>
                      <a:pPr marL="0" indent="0">
                        <a:buNone/>
                      </a:pPr>
                      <a:r>
                        <a:rPr lang="en-US" sz="1400" dirty="0">
                          <a:solidFill>
                            <a:schemeClr val="tx1"/>
                          </a:solidFill>
                        </a:rPr>
                        <a:t>8</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Courier New" pitchFamily="34" charset="0"/>
                          <a:ea typeface="Courier New" pitchFamily="34" charset="-122"/>
                          <a:cs typeface="Courier New" pitchFamily="34" charset="-120"/>
                        </a:rPr>
                        <a:t>… salt</a:t>
                      </a:r>
                      <a:endParaRPr lang="en-US" sz="1400" dirty="0">
                        <a:latin typeface="Courier New" charset="0"/>
                        <a:ea typeface="Courier New" charset="0"/>
                        <a:cs typeface="Courier New" charset="0"/>
                      </a:endParaRPr>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marL="0" indent="0">
                        <a:buNone/>
                      </a:pPr>
                      <a:r>
                        <a:rPr lang="en-US" sz="1400" b="1" dirty="0">
                          <a:solidFill>
                            <a:schemeClr val="tx1"/>
                          </a:solidFill>
                          <a:latin typeface="Courier New" pitchFamily="34" charset="0"/>
                          <a:ea typeface="Courier New" pitchFamily="34" charset="-122"/>
                          <a:cs typeface="Courier New" pitchFamily="34" charset="-120"/>
                        </a:rPr>
                        <a:t>&lt;eos&gt;</a:t>
                      </a:r>
                      <a:endParaRPr lang="en-US" sz="1400" dirty="0">
                        <a:latin typeface="Courier New" charset="0"/>
                        <a:ea typeface="Courier New" charset="0"/>
                        <a:cs typeface="Courier New" charset="0"/>
                      </a:endParaRPr>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marL="0" indent="0">
                        <a:buNone/>
                      </a:pPr>
                      <a:r>
                        <a:rPr lang="en-US" sz="1400" b="1" dirty="0">
                          <a:solidFill>
                            <a:schemeClr val="accent1"/>
                          </a:solidFill>
                        </a:rPr>
                        <a:t>answer</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bl>
          </a:graphicData>
        </a:graphic>
      </p:graphicFrame>
      <p:sp>
        <p:nvSpPr>
          <p:cNvPr id="5" name="Text 1"/>
          <p:cNvSpPr txBox="1"/>
          <p:nvPr/>
        </p:nvSpPr>
        <p:spPr>
          <a:xfrm>
            <a:off x="7040880" y="1325880"/>
            <a:ext cx="4572000" cy="4846320"/>
          </a:xfrm>
          <a:prstGeom prst="rect">
            <a:avLst/>
          </a:prstGeom>
          <a:noFill/>
          <a:ln/>
        </p:spPr>
        <p:txBody>
          <a:bodyPr wrap="square" lIns="0" tIns="0" rIns="0" bIns="0" rtlCol="0" anchor="t"/>
          <a:lstStyle/>
          <a:p>
            <a:pPr marL="228600" indent="-228600">
              <a:spcAft>
                <a:spcPts val="800"/>
              </a:spcAft>
              <a:buSzPct val="100000"/>
              <a:buChar char="•"/>
            </a:pPr>
            <a:r>
              <a:rPr lang="en-US" sz="1600" b="1" dirty="0">
                <a:solidFill>
                  <a:schemeClr val="tx1"/>
                </a:solidFill>
              </a:rPr>
              <a:t>One forward pass </a:t>
            </a:r>
            <a:r>
              <a:rPr lang="en-US" sz="1600" dirty="0">
                <a:solidFill>
                  <a:schemeClr val="tx1"/>
                </a:solidFill>
              </a:rPr>
              <a:t>over prompt + answer gives logits of shape (B, T, V): one next-token distribution per position</a:t>
            </a:r>
            <a:endParaRPr lang="en-US" sz="1600" dirty="0"/>
          </a:p>
          <a:p>
            <a:pPr marL="228600" indent="-228600">
              <a:spcAft>
                <a:spcPts val="800"/>
              </a:spcAft>
              <a:buSzPct val="100000"/>
              <a:buChar char="•"/>
            </a:pPr>
            <a:r>
              <a:rPr lang="en-US" sz="1600" b="1" dirty="0">
                <a:solidFill>
                  <a:schemeClr val="tx1"/>
                </a:solidFill>
              </a:rPr>
              <a:t>Causal mask: </a:t>
            </a:r>
            <a:r>
              <a:rPr lang="en-US" sz="1600" dirty="0">
                <a:solidFill>
                  <a:schemeClr val="tx1"/>
                </a:solidFill>
              </a:rPr>
              <a:t>the guess at position t uses tokens 0 … t only</a:t>
            </a:r>
            <a:endParaRPr lang="en-US" sz="1600" dirty="0"/>
          </a:p>
          <a:p>
            <a:pPr marL="228600" indent="-228600">
              <a:spcAft>
                <a:spcPts val="800"/>
              </a:spcAft>
              <a:buSzPct val="100000"/>
              <a:buChar char="•"/>
            </a:pPr>
            <a:r>
              <a:rPr lang="en-US" sz="1600" b="1" dirty="0">
                <a:solidFill>
                  <a:schemeClr val="tx1"/>
                </a:solidFill>
              </a:rPr>
              <a:t>Teacher forcing: </a:t>
            </a:r>
            <a:r>
              <a:rPr lang="en-US" sz="1600" dirty="0">
                <a:solidFill>
                  <a:schemeClr val="tx1"/>
                </a:solidFill>
              </a:rPr>
              <a:t>the true previous tokens are fed in, so every guess is scored at once</a:t>
            </a:r>
            <a:endParaRPr lang="en-US" sz="1600" dirty="0"/>
          </a:p>
          <a:p>
            <a:pPr marL="228600" indent="-228600">
              <a:spcAft>
                <a:spcPts val="800"/>
              </a:spcAft>
              <a:buSzPct val="100000"/>
              <a:buChar char="•"/>
            </a:pPr>
            <a:r>
              <a:rPr lang="en-US" sz="1600" b="1" dirty="0">
                <a:solidFill>
                  <a:schemeClr val="tx1"/>
                </a:solidFill>
              </a:rPr>
              <a:t>Each prompt token has two roles: </a:t>
            </a:r>
            <a:r>
              <a:rPr lang="en-US" sz="1600" dirty="0">
                <a:solidFill>
                  <a:schemeClr val="tx1"/>
                </a:solidFill>
              </a:rPr>
              <a:t>context for every later position, and the target for the position just before it</a:t>
            </a:r>
            <a:endParaRPr lang="en-US" sz="1600" dirty="0"/>
          </a:p>
          <a:p>
            <a:pPr marL="228600" indent="-228600">
              <a:spcAft>
                <a:spcPts val="800"/>
              </a:spcAft>
              <a:buSzPct val="100000"/>
              <a:buChar char="•"/>
            </a:pPr>
            <a:r>
              <a:rPr lang="en-US" sz="1600" b="1" dirty="0">
                <a:solidFill>
                  <a:schemeClr val="tx1"/>
                </a:solidFill>
              </a:rPr>
              <a:t>At generation time </a:t>
            </a:r>
            <a:r>
              <a:rPr lang="en-US" sz="1600" dirty="0">
                <a:solidFill>
                  <a:schemeClr val="tx1"/>
                </a:solidFill>
              </a:rPr>
              <a:t>prompt-position logits are computed too, then discarded; only the last one gives the first answer token</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777240"/>
          </a:xfrm>
          <a:prstGeom prst="rect">
            <a:avLst/>
          </a:prstGeom>
          <a:noFill/>
          <a:ln/>
        </p:spPr>
        <p:txBody>
          <a:bodyPr wrap="square" lIns="0" tIns="0" rIns="0" bIns="0" rtlCol="0" anchor="ctr"/>
          <a:lstStyle/>
          <a:p>
            <a:pPr marL="0" indent="0" algn="l">
              <a:buNone/>
            </a:pPr>
            <a:r>
              <a:rPr lang="en-US" sz="3200" b="1" dirty="0">
                <a:solidFill>
                  <a:schemeClr val="tx1"/>
                </a:solidFill>
              </a:rPr>
              <a:t>Which predictions enter the loss?</a:t>
            </a:r>
            <a:endParaRPr lang="en-US" sz="3200" dirty="0"/>
          </a:p>
        </p:txBody>
      </p:sp>
      <p:sp>
        <p:nvSpPr>
          <p:cNvPr id="4" name="demo tag"/>
          <p:cNvSpPr/>
          <p:nvPr/>
        </p:nvSpPr>
        <p:spPr>
          <a:xfrm>
            <a:off x="8732520" y="411480"/>
            <a:ext cx="2880360" cy="457200"/>
          </a:xfrm>
          <a:prstGeom prst="roundRect">
            <a:avLst>
              <a:gd name="adj" fmla="val 50000"/>
            </a:avLst>
          </a:prstGeom>
          <a:solidFill>
            <a:schemeClr val="accent2"/>
          </a:solidFill>
          <a:ln w="12700">
            <a:solidFill>
              <a:schemeClr val="accent2"/>
            </a:solidFill>
            <a:prstDash val="solid"/>
          </a:ln>
        </p:spPr>
      </p:sp>
      <p:sp>
        <p:nvSpPr>
          <p:cNvPr id="5" name="Text 2"/>
          <p:cNvSpPr txBox="1"/>
          <p:nvPr/>
        </p:nvSpPr>
        <p:spPr>
          <a:xfrm>
            <a:off x="8732520" y="411480"/>
            <a:ext cx="2880360" cy="457200"/>
          </a:xfrm>
          <a:prstGeom prst="rect">
            <a:avLst/>
          </a:prstGeom>
          <a:noFill/>
          <a:ln/>
        </p:spPr>
        <p:txBody>
          <a:bodyPr wrap="square" lIns="0" tIns="0" rIns="0" bIns="0" rtlCol="0" anchor="ctr"/>
          <a:lstStyle/>
          <a:p>
            <a:pPr marL="0" indent="0" algn="ctr">
              <a:buNone/>
            </a:pPr>
            <a:r>
              <a:rPr lang="en-US" sz="1400" b="1" dirty="0">
                <a:solidFill>
                  <a:schemeClr val="tx1"/>
                </a:solidFill>
              </a:rPr>
              <a:t>LIVE DEMO  </a:t>
            </a:r>
            <a:r>
              <a:rPr lang="en-US" sz="1400" dirty="0">
                <a:solidFill>
                  <a:schemeClr val="tx1"/>
                </a:solidFill>
              </a:rPr>
              <a:t>cell 10</a:t>
            </a:r>
            <a:endParaRPr lang="en-US" sz="1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3017520"/>
        </p:xfrm>
        <a:graphic>
          <a:graphicData uri="http://schemas.openxmlformats.org/drawingml/2006/table">
            <a:tbl>
              <a:tblPr/>
              <a:tblGrid>
                <a:gridCol w="2194560"/>
                <a:gridCol w="4434840"/>
                <a:gridCol w="4434840"/>
              </a:tblGrid>
              <a:tr h="502920">
                <a:tc>
                  <a:txBody>
                    <a:bodyPr/>
                    <a:lstStyle/>
                    <a:p>
                      <a:pPr marL="0" indent="0">
                        <a:buNone/>
                      </a:pP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marL="0" indent="0">
                        <a:buNone/>
                      </a:pPr>
                      <a:r>
                        <a:rPr lang="en-US" sz="1400" b="1" dirty="0">
                          <a:solidFill>
                            <a:schemeClr val="bg1"/>
                          </a:solidFill>
                        </a:rPr>
                        <a:t>Loss on every token</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marL="0" indent="0">
                        <a:buNone/>
                      </a:pPr>
                      <a:r>
                        <a:rPr lang="en-US" sz="1400" b="1" dirty="0">
                          <a:solidFill>
                            <a:schemeClr val="bg1"/>
                          </a:solidFill>
                        </a:rPr>
                        <a:t>Loss on the answer only</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r>
              <a:tr h="502920">
                <a:tc>
                  <a:txBody>
                    <a:bodyPr/>
                    <a:lstStyle/>
                    <a:p>
                      <a:pPr marL="0" indent="0">
                        <a:buNone/>
                      </a:pPr>
                      <a:r>
                        <a:rPr lang="en-US" sz="1400" b="1" dirty="0">
                          <a:solidFill>
                            <a:schemeClr val="tx1"/>
                          </a:solidFill>
                        </a:rPr>
                        <a:t>Labels</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labels = input_ids (padding still −100)</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Prompt positions also set to −100</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502920">
                <a:tc>
                  <a:txBody>
                    <a:bodyPr/>
                    <a:lstStyle/>
                    <a:p>
                      <a:pPr marL="0" indent="0">
                        <a:buNone/>
                      </a:pPr>
                      <a:r>
                        <a:rPr lang="en-US" sz="1400" b="1" dirty="0">
                          <a:solidFill>
                            <a:schemeClr val="tx1"/>
                          </a:solidFill>
                        </a:rPr>
                        <a:t>Prompt tokens are</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Context and targets</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Context only: computed, never scored</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r h="502920">
                <a:tc>
                  <a:txBody>
                    <a:bodyPr/>
                    <a:lstStyle/>
                    <a:p>
                      <a:pPr marL="0" indent="0">
                        <a:buNone/>
                      </a:pPr>
                      <a:r>
                        <a:rPr lang="en-US" sz="1400" b="1" dirty="0">
                          <a:solidFill>
                            <a:schemeClr val="tx1"/>
                          </a:solidFill>
                        </a:rPr>
                        <a:t>Model learns</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To imitate the prompts too, and produce the answer</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Only to produce the answer, given the prompt</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502920">
                <a:tc>
                  <a:txBody>
                    <a:bodyPr/>
                    <a:lstStyle/>
                    <a:p>
                      <a:pPr marL="0" indent="0">
                        <a:buNone/>
                      </a:pPr>
                      <a:r>
                        <a:rPr lang="en-US" sz="1400" b="1" dirty="0">
                          <a:solidFill>
                            <a:schemeClr val="tx1"/>
                          </a:solidFill>
                        </a:rPr>
                        <a:t>Typical use</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Adapting to a domain's text; simplest</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Instruction or chat data, where users write the prompts</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r h="502920">
                <a:tc>
                  <a:txBody>
                    <a:bodyPr/>
                    <a:lstStyle/>
                    <a:p>
                      <a:pPr marL="0" indent="0">
                        <a:buNone/>
                      </a:pPr>
                      <a:r>
                        <a:rPr lang="en-US" sz="1400" b="1" dirty="0">
                          <a:solidFill>
                            <a:schemeClr val="tx1"/>
                          </a:solidFill>
                        </a:rPr>
                        <a:t>Watch out for</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Hard-to-guess prompt tokens (the dish name) can dominate</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Fewer target tokens, so less training signal</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bl>
          </a:graphicData>
        </a:graphic>
      </p:graphicFrame>
      <p:sp>
        <p:nvSpPr>
          <p:cNvPr id="7" name="worked loss 0"/>
          <p:cNvSpPr/>
          <p:nvPr/>
        </p:nvSpPr>
        <p:spPr>
          <a:xfrm>
            <a:off x="548640" y="4526280"/>
            <a:ext cx="3474720" cy="1600200"/>
          </a:xfrm>
          <a:prstGeom prst="roundRect">
            <a:avLst>
              <a:gd name="adj" fmla="val 6857"/>
            </a:avLst>
          </a:prstGeom>
          <a:solidFill>
            <a:schemeClr val="bg2"/>
          </a:solidFill>
          <a:ln w="12700">
            <a:solidFill>
              <a:schemeClr val="bg2"/>
            </a:solidFill>
            <a:prstDash val="solid"/>
          </a:ln>
        </p:spPr>
      </p:sp>
      <p:sp>
        <p:nvSpPr>
          <p:cNvPr id="8" name="Text 4"/>
          <p:cNvSpPr txBox="1"/>
          <p:nvPr/>
        </p:nvSpPr>
        <p:spPr>
          <a:xfrm>
            <a:off x="822960" y="4617720"/>
            <a:ext cx="2926080" cy="731520"/>
          </a:xfrm>
          <a:prstGeom prst="rect">
            <a:avLst/>
          </a:prstGeom>
          <a:noFill/>
          <a:ln/>
        </p:spPr>
        <p:txBody>
          <a:bodyPr wrap="square" lIns="0" tIns="0" rIns="0" bIns="0" rtlCol="0" anchor="t"/>
          <a:lstStyle/>
          <a:p>
            <a:pPr marL="0" indent="0">
              <a:buNone/>
            </a:pPr>
            <a:r>
              <a:rPr lang="en-US" sz="3600" b="1" dirty="0">
                <a:solidFill>
                  <a:schemeClr val="tx1"/>
                </a:solidFill>
                <a:latin typeface="Cambria" pitchFamily="34" charset="0"/>
                <a:ea typeface="Cambria" pitchFamily="34" charset="-122"/>
                <a:cs typeface="Cambria" pitchFamily="34" charset="-120"/>
              </a:rPr>
              <a:t>1.254</a:t>
            </a:r>
            <a:endParaRPr lang="en-US" sz="3600" dirty="0"/>
          </a:p>
        </p:txBody>
      </p:sp>
      <p:sp>
        <p:nvSpPr>
          <p:cNvPr id="9" name="Text 5"/>
          <p:cNvSpPr txBox="1"/>
          <p:nvPr/>
        </p:nvSpPr>
        <p:spPr>
          <a:xfrm>
            <a:off x="822960" y="5349240"/>
            <a:ext cx="2926080" cy="640080"/>
          </a:xfrm>
          <a:prstGeom prst="rect">
            <a:avLst/>
          </a:prstGeom>
          <a:noFill/>
          <a:ln/>
        </p:spPr>
        <p:txBody>
          <a:bodyPr wrap="square" lIns="0" tIns="0" rIns="0" bIns="0" rtlCol="0" anchor="t"/>
          <a:lstStyle/>
          <a:p>
            <a:pPr marL="0" indent="0">
              <a:buNone/>
            </a:pPr>
            <a:r>
              <a:rPr lang="en-US" sz="1500" dirty="0">
                <a:solidFill>
                  <a:schemeClr val="tx2"/>
                </a:solidFill>
              </a:rPr>
              <a:t>mean −log P over all 9 predictions</a:t>
            </a:r>
            <a:endParaRPr lang="en-US" sz="1500" dirty="0"/>
          </a:p>
        </p:txBody>
      </p:sp>
      <p:sp>
        <p:nvSpPr>
          <p:cNvPr id="3" name="worked loss 1"/>
          <p:cNvSpPr/>
          <p:nvPr/>
        </p:nvSpPr>
        <p:spPr>
          <a:xfrm>
            <a:off x="4297680" y="4526280"/>
            <a:ext cx="3474720" cy="1600200"/>
          </a:xfrm>
          <a:prstGeom prst="roundRect">
            <a:avLst>
              <a:gd name="adj" fmla="val 6857"/>
            </a:avLst>
          </a:prstGeom>
          <a:solidFill>
            <a:schemeClr val="accent6"/>
          </a:solidFill>
          <a:ln w="12700">
            <a:solidFill>
              <a:schemeClr val="accent6"/>
            </a:solidFill>
            <a:prstDash val="solid"/>
          </a:ln>
        </p:spPr>
      </p:sp>
      <p:sp>
        <p:nvSpPr>
          <p:cNvPr id="11" name="Text 7"/>
          <p:cNvSpPr txBox="1"/>
          <p:nvPr/>
        </p:nvSpPr>
        <p:spPr>
          <a:xfrm>
            <a:off x="4572000" y="4617720"/>
            <a:ext cx="2926080" cy="731520"/>
          </a:xfrm>
          <a:prstGeom prst="rect">
            <a:avLst/>
          </a:prstGeom>
          <a:noFill/>
          <a:ln/>
        </p:spPr>
        <p:txBody>
          <a:bodyPr wrap="square" lIns="0" tIns="0" rIns="0" bIns="0" rtlCol="0" anchor="t"/>
          <a:lstStyle/>
          <a:p>
            <a:pPr marL="0" indent="0">
              <a:buNone/>
            </a:pPr>
            <a:r>
              <a:rPr lang="en-US" sz="3600" b="1" dirty="0">
                <a:solidFill>
                  <a:schemeClr val="accent1"/>
                </a:solidFill>
                <a:latin typeface="Cambria" pitchFamily="34" charset="0"/>
                <a:ea typeface="Cambria" pitchFamily="34" charset="-122"/>
                <a:cs typeface="Cambria" pitchFamily="34" charset="-120"/>
              </a:rPr>
              <a:t>1.011</a:t>
            </a:r>
            <a:endParaRPr lang="en-US" sz="3600" dirty="0"/>
          </a:p>
        </p:txBody>
      </p:sp>
      <p:sp>
        <p:nvSpPr>
          <p:cNvPr id="12" name="Text 8"/>
          <p:cNvSpPr txBox="1"/>
          <p:nvPr/>
        </p:nvSpPr>
        <p:spPr>
          <a:xfrm>
            <a:off x="4572000" y="5349240"/>
            <a:ext cx="2926080" cy="640080"/>
          </a:xfrm>
          <a:prstGeom prst="rect">
            <a:avLst/>
          </a:prstGeom>
          <a:noFill/>
          <a:ln/>
        </p:spPr>
        <p:txBody>
          <a:bodyPr wrap="square" lIns="0" tIns="0" rIns="0" bIns="0" rtlCol="0" anchor="t"/>
          <a:lstStyle/>
          <a:p>
            <a:pPr marL="0" indent="0">
              <a:buNone/>
            </a:pPr>
            <a:r>
              <a:rPr lang="en-US" sz="1500" dirty="0">
                <a:solidFill>
                  <a:schemeClr val="tx2"/>
                </a:solidFill>
              </a:rPr>
              <a:t>mean over the 4 answer tokens only</a:t>
            </a:r>
            <a:endParaRPr lang="en-US" sz="1500" dirty="0"/>
          </a:p>
        </p:txBody>
      </p:sp>
      <p:sp>
        <p:nvSpPr>
          <p:cNvPr id="13" name="Text 9"/>
          <p:cNvSpPr txBox="1"/>
          <p:nvPr/>
        </p:nvSpPr>
        <p:spPr>
          <a:xfrm>
            <a:off x="8046720" y="4572000"/>
            <a:ext cx="3566160" cy="1554480"/>
          </a:xfrm>
          <a:prstGeom prst="rect">
            <a:avLst/>
          </a:prstGeom>
          <a:noFill/>
          <a:ln/>
        </p:spPr>
        <p:txBody>
          <a:bodyPr wrap="square" lIns="0" tIns="0" rIns="0" bIns="0" rtlCol="0" anchor="t"/>
          <a:lstStyle/>
          <a:p>
            <a:pPr marL="0" indent="0">
              <a:buNone/>
            </a:pPr>
            <a:r>
              <a:rPr lang="en-US" sz="1400" b="1" dirty="0">
                <a:solidFill>
                  <a:schemeClr val="tx2"/>
                </a:solidFill>
              </a:rPr>
              <a:t>Worked example (cell 10): </a:t>
            </a:r>
            <a:endParaRPr lang="en-US" sz="1400" dirty="0"/>
          </a:p>
          <a:p>
            <a:pPr marL="0" indent="0">
              <a:buNone/>
            </a:pPr>
            <a:r>
              <a:rPr lang="en-US" sz="1400" dirty="0">
                <a:solidFill>
                  <a:schemeClr val="tx2"/>
                </a:solidFill>
              </a:rPr>
              <a:t>illustrative probabilities for the 10-token record on the previous slide. F.cross_entropy(…, ignore_index=−100) gives the same two numbers. This notebook uses every token.</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777240"/>
          </a:xfrm>
          <a:prstGeom prst="rect">
            <a:avLst/>
          </a:prstGeom>
          <a:noFill/>
          <a:ln/>
        </p:spPr>
        <p:txBody>
          <a:bodyPr wrap="square" lIns="0" tIns="0" rIns="0" bIns="0" rtlCol="0" anchor="ctr"/>
          <a:lstStyle/>
          <a:p>
            <a:pPr marL="0" indent="0" algn="l">
              <a:buNone/>
            </a:pPr>
            <a:r>
              <a:rPr lang="en-US" sz="3200" b="1" dirty="0">
                <a:solidFill>
                  <a:schemeClr val="tx1"/>
                </a:solidFill>
              </a:rPr>
              <a:t>Batching, padding and packing</a:t>
            </a:r>
            <a:endParaRPr lang="en-US" sz="3200" dirty="0"/>
          </a:p>
        </p:txBody>
      </p:sp>
      <p:sp>
        <p:nvSpPr>
          <p:cNvPr id="4" name="Text 1"/>
          <p:cNvSpPr txBox="1"/>
          <p:nvPr/>
        </p:nvSpPr>
        <p:spPr>
          <a:xfrm>
            <a:off x="548640" y="1280160"/>
            <a:ext cx="11064240" cy="365760"/>
          </a:xfrm>
          <a:prstGeom prst="rect">
            <a:avLst/>
          </a:prstGeom>
          <a:noFill/>
          <a:ln/>
        </p:spPr>
        <p:txBody>
          <a:bodyPr wrap="square" lIns="0" tIns="0" rIns="0" bIns="0" rtlCol="0" anchor="t"/>
          <a:lstStyle/>
          <a:p>
            <a:pPr marL="0" indent="0">
              <a:buNone/>
            </a:pPr>
            <a:r>
              <a:rPr lang="en-US" sz="1600" b="1" dirty="0">
                <a:solidFill>
                  <a:schemeClr val="tx1"/>
                </a:solidFill>
              </a:rPr>
              <a:t>A batch of two documents, right-padded to the same length</a:t>
            </a:r>
            <a:endParaRPr lang="en-US" sz="1600" dirty="0"/>
          </a:p>
        </p:txBody>
      </p:sp>
      <p:sp>
        <p:nvSpPr>
          <p:cNvPr id="5" name="Text 2"/>
          <p:cNvSpPr txBox="1"/>
          <p:nvPr/>
        </p:nvSpPr>
        <p:spPr>
          <a:xfrm>
            <a:off x="548640" y="1783080"/>
            <a:ext cx="914400" cy="457200"/>
          </a:xfrm>
          <a:prstGeom prst="rect">
            <a:avLst/>
          </a:prstGeom>
          <a:noFill/>
          <a:ln/>
        </p:spPr>
        <p:txBody>
          <a:bodyPr wrap="square" lIns="0" tIns="0" rIns="0" bIns="0" rtlCol="0" anchor="ctr"/>
          <a:lstStyle/>
          <a:p>
            <a:pPr marL="0" indent="0">
              <a:buNone/>
            </a:pPr>
            <a:r>
              <a:rPr lang="en-US" sz="1400" dirty="0">
                <a:solidFill>
                  <a:schemeClr val="tx2"/>
                </a:solidFill>
                <a:latin typeface="Courier New" pitchFamily="34" charset="0"/>
                <a:ea typeface="Courier New" pitchFamily="34" charset="-122"/>
                <a:cs typeface="Courier New" pitchFamily="34" charset="-120"/>
              </a:rPr>
              <a:t>row 0</a:t>
            </a:r>
            <a:endParaRPr lang="en-US" sz="1400" dirty="0"/>
          </a:p>
        </p:txBody>
      </p:sp>
      <p:sp>
        <p:nvSpPr>
          <p:cNvPr id="6" name="Shape 3"/>
          <p:cNvSpPr/>
          <p:nvPr/>
        </p:nvSpPr>
        <p:spPr>
          <a:xfrm>
            <a:off x="1463040" y="1783080"/>
            <a:ext cx="1005840" cy="457200"/>
          </a:xfrm>
          <a:prstGeom prst="roundRect">
            <a:avLst>
              <a:gd name="adj" fmla="val 16000"/>
            </a:avLst>
          </a:prstGeom>
          <a:solidFill>
            <a:schemeClr val="bg2"/>
          </a:solidFill>
          <a:ln w="12700">
            <a:solidFill>
              <a:schemeClr val="bg2"/>
            </a:solidFill>
            <a:prstDash val="solid"/>
          </a:ln>
        </p:spPr>
      </p:sp>
      <p:sp>
        <p:nvSpPr>
          <p:cNvPr id="7" name="Text 4"/>
          <p:cNvSpPr txBox="1"/>
          <p:nvPr/>
        </p:nvSpPr>
        <p:spPr>
          <a:xfrm>
            <a:off x="1463040" y="1783080"/>
            <a:ext cx="1005840" cy="457200"/>
          </a:xfrm>
          <a:prstGeom prst="rect">
            <a:avLst/>
          </a:prstGeom>
          <a:noFill/>
          <a:ln/>
        </p:spPr>
        <p:txBody>
          <a:bodyPr wrap="square" lIns="0" tIns="0" rIns="0" bIns="0" rtlCol="0" anchor="ctr"/>
          <a:lstStyle/>
          <a:p>
            <a:pPr marL="0" indent="0" algn="ctr">
              <a:buNone/>
            </a:pPr>
            <a:r>
              <a:rPr lang="en-US" sz="1400" dirty="0">
                <a:solidFill>
                  <a:schemeClr val="tx1"/>
                </a:solidFill>
                <a:latin typeface="Courier New" pitchFamily="34" charset="0"/>
                <a:ea typeface="Courier New" pitchFamily="34" charset="-122"/>
                <a:cs typeface="Courier New" pitchFamily="34" charset="-120"/>
              </a:rPr>
              <a:t>recipe</a:t>
            </a:r>
            <a:endParaRPr lang="en-US" sz="1400" dirty="0"/>
          </a:p>
        </p:txBody>
      </p:sp>
      <p:sp>
        <p:nvSpPr>
          <p:cNvPr id="8" name="Text 5"/>
          <p:cNvSpPr txBox="1"/>
          <p:nvPr/>
        </p:nvSpPr>
        <p:spPr>
          <a:xfrm>
            <a:off x="1463040" y="2313432"/>
            <a:ext cx="1005840" cy="320040"/>
          </a:xfrm>
          <a:prstGeom prst="rect">
            <a:avLst/>
          </a:prstGeom>
          <a:noFill/>
          <a:ln/>
        </p:spPr>
        <p:txBody>
          <a:bodyPr wrap="square" lIns="0" tIns="0" rIns="0" bIns="0" rtlCol="0" anchor="t"/>
          <a:lstStyle/>
          <a:p>
            <a:pPr marL="0" indent="0" algn="ctr">
              <a:buNone/>
            </a:pPr>
            <a:r>
              <a:rPr lang="en-US" sz="1300" dirty="0">
                <a:solidFill>
                  <a:schemeClr val="tx2"/>
                </a:solidFill>
                <a:latin typeface="Courier New" pitchFamily="34" charset="0"/>
                <a:ea typeface="Courier New" pitchFamily="34" charset="-122"/>
                <a:cs typeface="Courier New" pitchFamily="34" charset="-120"/>
              </a:rPr>
              <a:t>recipe</a:t>
            </a:r>
            <a:endParaRPr lang="en-US" sz="1300" dirty="0"/>
          </a:p>
        </p:txBody>
      </p:sp>
      <p:sp>
        <p:nvSpPr>
          <p:cNvPr id="9" name="Shape 6"/>
          <p:cNvSpPr/>
          <p:nvPr/>
        </p:nvSpPr>
        <p:spPr>
          <a:xfrm>
            <a:off x="2542032" y="1783080"/>
            <a:ext cx="1005840" cy="457200"/>
          </a:xfrm>
          <a:prstGeom prst="roundRect">
            <a:avLst>
              <a:gd name="adj" fmla="val 16000"/>
            </a:avLst>
          </a:prstGeom>
          <a:solidFill>
            <a:schemeClr val="bg2"/>
          </a:solidFill>
          <a:ln w="12700">
            <a:solidFill>
              <a:schemeClr val="bg2"/>
            </a:solidFill>
            <a:prstDash val="solid"/>
          </a:ln>
        </p:spPr>
      </p:sp>
      <p:sp>
        <p:nvSpPr>
          <p:cNvPr id="10" name="Text 7"/>
          <p:cNvSpPr txBox="1"/>
          <p:nvPr/>
        </p:nvSpPr>
        <p:spPr>
          <a:xfrm>
            <a:off x="2542032" y="1783080"/>
            <a:ext cx="1005840" cy="457200"/>
          </a:xfrm>
          <a:prstGeom prst="rect">
            <a:avLst/>
          </a:prstGeom>
          <a:noFill/>
          <a:ln/>
        </p:spPr>
        <p:txBody>
          <a:bodyPr wrap="square" lIns="0" tIns="0" rIns="0" bIns="0" rtlCol="0" anchor="ctr"/>
          <a:lstStyle/>
          <a:p>
            <a:pPr marL="0" indent="0" algn="ctr">
              <a:buNone/>
            </a:pPr>
            <a:r>
              <a:rPr lang="en-US" sz="1400" dirty="0">
                <a:solidFill>
                  <a:schemeClr val="tx1"/>
                </a:solidFill>
                <a:latin typeface="Courier New" pitchFamily="34" charset="0"/>
                <a:ea typeface="Courier New" pitchFamily="34" charset="-122"/>
                <a:cs typeface="Courier New" pitchFamily="34" charset="-120"/>
              </a:rPr>
              <a:t>:</a:t>
            </a:r>
            <a:endParaRPr lang="en-US" sz="1400" dirty="0"/>
          </a:p>
        </p:txBody>
      </p:sp>
      <p:sp>
        <p:nvSpPr>
          <p:cNvPr id="11" name="Text 8"/>
          <p:cNvSpPr txBox="1"/>
          <p:nvPr/>
        </p:nvSpPr>
        <p:spPr>
          <a:xfrm>
            <a:off x="2542032" y="2313432"/>
            <a:ext cx="1005840" cy="320040"/>
          </a:xfrm>
          <a:prstGeom prst="rect">
            <a:avLst/>
          </a:prstGeom>
          <a:noFill/>
          <a:ln/>
        </p:spPr>
        <p:txBody>
          <a:bodyPr wrap="square" lIns="0" tIns="0" rIns="0" bIns="0" rtlCol="0" anchor="t"/>
          <a:lstStyle/>
          <a:p>
            <a:pPr marL="0" indent="0" algn="ctr">
              <a:buNone/>
            </a:pPr>
            <a:r>
              <a:rPr lang="en-US" sz="1300" dirty="0">
                <a:solidFill>
                  <a:schemeClr val="tx2"/>
                </a:solidFill>
                <a:latin typeface="Courier New" pitchFamily="34" charset="0"/>
                <a:ea typeface="Courier New" pitchFamily="34" charset="-122"/>
                <a:cs typeface="Courier New" pitchFamily="34" charset="-120"/>
              </a:rPr>
              <a:t>:</a:t>
            </a:r>
            <a:endParaRPr lang="en-US" sz="1300" dirty="0"/>
          </a:p>
        </p:txBody>
      </p:sp>
      <p:sp>
        <p:nvSpPr>
          <p:cNvPr id="12" name="Shape 9"/>
          <p:cNvSpPr/>
          <p:nvPr/>
        </p:nvSpPr>
        <p:spPr>
          <a:xfrm>
            <a:off x="3621024" y="1783080"/>
            <a:ext cx="1005840" cy="457200"/>
          </a:xfrm>
          <a:prstGeom prst="roundRect">
            <a:avLst>
              <a:gd name="adj" fmla="val 16000"/>
            </a:avLst>
          </a:prstGeom>
          <a:solidFill>
            <a:schemeClr val="bg2"/>
          </a:solidFill>
          <a:ln w="12700">
            <a:solidFill>
              <a:schemeClr val="bg2"/>
            </a:solidFill>
            <a:prstDash val="solid"/>
          </a:ln>
        </p:spPr>
      </p:sp>
      <p:sp>
        <p:nvSpPr>
          <p:cNvPr id="13" name="Text 10"/>
          <p:cNvSpPr txBox="1"/>
          <p:nvPr/>
        </p:nvSpPr>
        <p:spPr>
          <a:xfrm>
            <a:off x="3621024" y="1783080"/>
            <a:ext cx="1005840" cy="457200"/>
          </a:xfrm>
          <a:prstGeom prst="rect">
            <a:avLst/>
          </a:prstGeom>
          <a:noFill/>
          <a:ln/>
        </p:spPr>
        <p:txBody>
          <a:bodyPr wrap="square" lIns="0" tIns="0" rIns="0" bIns="0" rtlCol="0" anchor="ctr"/>
          <a:lstStyle/>
          <a:p>
            <a:pPr marL="0" indent="0" algn="ctr">
              <a:buNone/>
            </a:pPr>
            <a:r>
              <a:rPr lang="en-US" sz="1400" dirty="0">
                <a:solidFill>
                  <a:schemeClr val="tx1"/>
                </a:solidFill>
                <a:latin typeface="Courier New" pitchFamily="34" charset="0"/>
                <a:ea typeface="Courier New" pitchFamily="34" charset="-122"/>
                <a:cs typeface="Courier New" pitchFamily="34" charset="-120"/>
              </a:rPr>
              <a:t>dosa</a:t>
            </a:r>
            <a:endParaRPr lang="en-US" sz="1400" dirty="0"/>
          </a:p>
        </p:txBody>
      </p:sp>
      <p:sp>
        <p:nvSpPr>
          <p:cNvPr id="14" name="Text 11"/>
          <p:cNvSpPr txBox="1"/>
          <p:nvPr/>
        </p:nvSpPr>
        <p:spPr>
          <a:xfrm>
            <a:off x="3621024" y="2313432"/>
            <a:ext cx="1005840" cy="320040"/>
          </a:xfrm>
          <a:prstGeom prst="rect">
            <a:avLst/>
          </a:prstGeom>
          <a:noFill/>
          <a:ln/>
        </p:spPr>
        <p:txBody>
          <a:bodyPr wrap="square" lIns="0" tIns="0" rIns="0" bIns="0" rtlCol="0" anchor="t"/>
          <a:lstStyle/>
          <a:p>
            <a:pPr marL="0" indent="0" algn="ctr">
              <a:buNone/>
            </a:pPr>
            <a:r>
              <a:rPr lang="en-US" sz="1300" dirty="0">
                <a:solidFill>
                  <a:schemeClr val="tx2"/>
                </a:solidFill>
                <a:latin typeface="Courier New" pitchFamily="34" charset="0"/>
                <a:ea typeface="Courier New" pitchFamily="34" charset="-122"/>
                <a:cs typeface="Courier New" pitchFamily="34" charset="-120"/>
              </a:rPr>
              <a:t>dosa</a:t>
            </a:r>
            <a:endParaRPr lang="en-US" sz="1300" dirty="0"/>
          </a:p>
        </p:txBody>
      </p:sp>
      <p:sp>
        <p:nvSpPr>
          <p:cNvPr id="15" name="Shape 12"/>
          <p:cNvSpPr/>
          <p:nvPr/>
        </p:nvSpPr>
        <p:spPr>
          <a:xfrm>
            <a:off x="4700016" y="1783080"/>
            <a:ext cx="1005840" cy="457200"/>
          </a:xfrm>
          <a:prstGeom prst="roundRect">
            <a:avLst>
              <a:gd name="adj" fmla="val 16000"/>
            </a:avLst>
          </a:prstGeom>
          <a:solidFill>
            <a:schemeClr val="bg2"/>
          </a:solidFill>
          <a:ln w="12700">
            <a:solidFill>
              <a:schemeClr val="bg2"/>
            </a:solidFill>
            <a:prstDash val="solid"/>
          </a:ln>
        </p:spPr>
      </p:sp>
      <p:sp>
        <p:nvSpPr>
          <p:cNvPr id="16" name="Text 13"/>
          <p:cNvSpPr txBox="1"/>
          <p:nvPr/>
        </p:nvSpPr>
        <p:spPr>
          <a:xfrm>
            <a:off x="4700016" y="1783080"/>
            <a:ext cx="1005840" cy="457200"/>
          </a:xfrm>
          <a:prstGeom prst="rect">
            <a:avLst/>
          </a:prstGeom>
          <a:noFill/>
          <a:ln/>
        </p:spPr>
        <p:txBody>
          <a:bodyPr wrap="square" lIns="0" tIns="0" rIns="0" bIns="0" rtlCol="0" anchor="ctr"/>
          <a:lstStyle/>
          <a:p>
            <a:pPr marL="0" indent="0" algn="ctr">
              <a:buNone/>
            </a:pPr>
            <a:r>
              <a:rPr lang="en-US" sz="1400" dirty="0">
                <a:solidFill>
                  <a:schemeClr val="tx1"/>
                </a:solidFill>
                <a:latin typeface="Courier New" pitchFamily="34" charset="0"/>
                <a:ea typeface="Courier New" pitchFamily="34" charset="-122"/>
                <a:cs typeface="Courier New" pitchFamily="34" charset="-120"/>
              </a:rPr>
              <a:t>;</a:t>
            </a:r>
            <a:endParaRPr lang="en-US" sz="1400" dirty="0"/>
          </a:p>
        </p:txBody>
      </p:sp>
      <p:sp>
        <p:nvSpPr>
          <p:cNvPr id="17" name="Text 14"/>
          <p:cNvSpPr txBox="1"/>
          <p:nvPr/>
        </p:nvSpPr>
        <p:spPr>
          <a:xfrm>
            <a:off x="4700016" y="2313432"/>
            <a:ext cx="1005840" cy="320040"/>
          </a:xfrm>
          <a:prstGeom prst="rect">
            <a:avLst/>
          </a:prstGeom>
          <a:noFill/>
          <a:ln/>
        </p:spPr>
        <p:txBody>
          <a:bodyPr wrap="square" lIns="0" tIns="0" rIns="0" bIns="0" rtlCol="0" anchor="t"/>
          <a:lstStyle/>
          <a:p>
            <a:pPr marL="0" indent="0" algn="ctr">
              <a:buNone/>
            </a:pPr>
            <a:r>
              <a:rPr lang="en-US" sz="1300" dirty="0">
                <a:solidFill>
                  <a:schemeClr val="tx2"/>
                </a:solidFill>
                <a:latin typeface="Courier New" pitchFamily="34" charset="0"/>
                <a:ea typeface="Courier New" pitchFamily="34" charset="-122"/>
                <a:cs typeface="Courier New" pitchFamily="34" charset="-120"/>
              </a:rPr>
              <a:t>;</a:t>
            </a:r>
            <a:endParaRPr lang="en-US" sz="1300" dirty="0"/>
          </a:p>
        </p:txBody>
      </p:sp>
      <p:sp>
        <p:nvSpPr>
          <p:cNvPr id="18" name="Shape 15"/>
          <p:cNvSpPr/>
          <p:nvPr/>
        </p:nvSpPr>
        <p:spPr>
          <a:xfrm>
            <a:off x="5779008" y="1783080"/>
            <a:ext cx="1005840" cy="457200"/>
          </a:xfrm>
          <a:prstGeom prst="roundRect">
            <a:avLst>
              <a:gd name="adj" fmla="val 16000"/>
            </a:avLst>
          </a:prstGeom>
          <a:solidFill>
            <a:schemeClr val="bg2"/>
          </a:solidFill>
          <a:ln w="12700">
            <a:solidFill>
              <a:schemeClr val="bg2"/>
            </a:solidFill>
            <a:prstDash val="solid"/>
          </a:ln>
        </p:spPr>
      </p:sp>
      <p:sp>
        <p:nvSpPr>
          <p:cNvPr id="19" name="Text 16"/>
          <p:cNvSpPr txBox="1"/>
          <p:nvPr/>
        </p:nvSpPr>
        <p:spPr>
          <a:xfrm>
            <a:off x="5779008" y="1783080"/>
            <a:ext cx="1005840" cy="457200"/>
          </a:xfrm>
          <a:prstGeom prst="rect">
            <a:avLst/>
          </a:prstGeom>
          <a:noFill/>
          <a:ln/>
        </p:spPr>
        <p:txBody>
          <a:bodyPr wrap="square" lIns="0" tIns="0" rIns="0" bIns="0" rtlCol="0" anchor="ctr"/>
          <a:lstStyle/>
          <a:p>
            <a:pPr marL="0" indent="0" algn="ctr">
              <a:buNone/>
            </a:pPr>
            <a:r>
              <a:rPr lang="en-US" sz="1400" dirty="0">
                <a:solidFill>
                  <a:schemeClr val="tx1"/>
                </a:solidFill>
                <a:latin typeface="Courier New" pitchFamily="34" charset="0"/>
                <a:ea typeface="Courier New" pitchFamily="34" charset="-122"/>
                <a:cs typeface="Courier New" pitchFamily="34" charset="-120"/>
              </a:rPr>
              <a:t>…</a:t>
            </a:r>
            <a:endParaRPr lang="en-US" sz="1400" dirty="0"/>
          </a:p>
        </p:txBody>
      </p:sp>
      <p:sp>
        <p:nvSpPr>
          <p:cNvPr id="20" name="Text 17"/>
          <p:cNvSpPr txBox="1"/>
          <p:nvPr/>
        </p:nvSpPr>
        <p:spPr>
          <a:xfrm>
            <a:off x="5779008" y="2313432"/>
            <a:ext cx="1005840" cy="320040"/>
          </a:xfrm>
          <a:prstGeom prst="rect">
            <a:avLst/>
          </a:prstGeom>
          <a:noFill/>
          <a:ln/>
        </p:spPr>
        <p:txBody>
          <a:bodyPr wrap="square" lIns="0" tIns="0" rIns="0" bIns="0" rtlCol="0" anchor="t"/>
          <a:lstStyle/>
          <a:p>
            <a:pPr marL="0" indent="0" algn="ctr">
              <a:buNone/>
            </a:pPr>
            <a:r>
              <a:rPr lang="en-US" sz="1300" dirty="0">
                <a:solidFill>
                  <a:schemeClr val="tx2"/>
                </a:solidFill>
                <a:latin typeface="Courier New" pitchFamily="34" charset="0"/>
                <a:ea typeface="Courier New" pitchFamily="34" charset="-122"/>
                <a:cs typeface="Courier New" pitchFamily="34" charset="-120"/>
              </a:rPr>
              <a:t>…</a:t>
            </a:r>
            <a:endParaRPr lang="en-US" sz="1300" dirty="0"/>
          </a:p>
        </p:txBody>
      </p:sp>
      <p:sp>
        <p:nvSpPr>
          <p:cNvPr id="21" name="Shape 18"/>
          <p:cNvSpPr/>
          <p:nvPr/>
        </p:nvSpPr>
        <p:spPr>
          <a:xfrm>
            <a:off x="6858000" y="1783080"/>
            <a:ext cx="1005840" cy="457200"/>
          </a:xfrm>
          <a:prstGeom prst="roundRect">
            <a:avLst>
              <a:gd name="adj" fmla="val 16000"/>
            </a:avLst>
          </a:prstGeom>
          <a:solidFill>
            <a:schemeClr val="bg2"/>
          </a:solidFill>
          <a:ln w="12700">
            <a:solidFill>
              <a:schemeClr val="bg2"/>
            </a:solidFill>
            <a:prstDash val="solid"/>
          </a:ln>
        </p:spPr>
      </p:sp>
      <p:sp>
        <p:nvSpPr>
          <p:cNvPr id="22" name="Text 19"/>
          <p:cNvSpPr txBox="1"/>
          <p:nvPr/>
        </p:nvSpPr>
        <p:spPr>
          <a:xfrm>
            <a:off x="6858000" y="1783080"/>
            <a:ext cx="1005840" cy="457200"/>
          </a:xfrm>
          <a:prstGeom prst="rect">
            <a:avLst/>
          </a:prstGeom>
          <a:noFill/>
          <a:ln/>
        </p:spPr>
        <p:txBody>
          <a:bodyPr wrap="square" lIns="0" tIns="0" rIns="0" bIns="0" rtlCol="0" anchor="ctr"/>
          <a:lstStyle/>
          <a:p>
            <a:pPr marL="0" indent="0" algn="ctr">
              <a:buNone/>
            </a:pPr>
            <a:r>
              <a:rPr lang="en-US" sz="1400" dirty="0">
                <a:solidFill>
                  <a:schemeClr val="tx1"/>
                </a:solidFill>
                <a:latin typeface="Courier New" pitchFamily="34" charset="0"/>
                <a:ea typeface="Courier New" pitchFamily="34" charset="-122"/>
                <a:cs typeface="Courier New" pitchFamily="34" charset="-120"/>
              </a:rPr>
              <a:t>fry</a:t>
            </a:r>
            <a:endParaRPr lang="en-US" sz="1400" dirty="0"/>
          </a:p>
        </p:txBody>
      </p:sp>
      <p:sp>
        <p:nvSpPr>
          <p:cNvPr id="23" name="Text 20"/>
          <p:cNvSpPr txBox="1"/>
          <p:nvPr/>
        </p:nvSpPr>
        <p:spPr>
          <a:xfrm>
            <a:off x="6858000" y="2313432"/>
            <a:ext cx="1005840" cy="320040"/>
          </a:xfrm>
          <a:prstGeom prst="rect">
            <a:avLst/>
          </a:prstGeom>
          <a:noFill/>
          <a:ln/>
        </p:spPr>
        <p:txBody>
          <a:bodyPr wrap="square" lIns="0" tIns="0" rIns="0" bIns="0" rtlCol="0" anchor="t"/>
          <a:lstStyle/>
          <a:p>
            <a:pPr marL="0" indent="0" algn="ctr">
              <a:buNone/>
            </a:pPr>
            <a:r>
              <a:rPr lang="en-US" sz="1300" dirty="0">
                <a:solidFill>
                  <a:schemeClr val="tx2"/>
                </a:solidFill>
                <a:latin typeface="Courier New" pitchFamily="34" charset="0"/>
                <a:ea typeface="Courier New" pitchFamily="34" charset="-122"/>
                <a:cs typeface="Courier New" pitchFamily="34" charset="-120"/>
              </a:rPr>
              <a:t>fry</a:t>
            </a:r>
            <a:endParaRPr lang="en-US" sz="1300" dirty="0"/>
          </a:p>
        </p:txBody>
      </p:sp>
      <p:sp>
        <p:nvSpPr>
          <p:cNvPr id="24" name="Shape 21"/>
          <p:cNvSpPr/>
          <p:nvPr/>
        </p:nvSpPr>
        <p:spPr>
          <a:xfrm>
            <a:off x="7936992" y="1783080"/>
            <a:ext cx="1005840" cy="457200"/>
          </a:xfrm>
          <a:prstGeom prst="roundRect">
            <a:avLst>
              <a:gd name="adj" fmla="val 16000"/>
            </a:avLst>
          </a:prstGeom>
          <a:solidFill>
            <a:schemeClr val="bg2"/>
          </a:solidFill>
          <a:ln w="12700">
            <a:solidFill>
              <a:schemeClr val="bg2"/>
            </a:solidFill>
            <a:prstDash val="solid"/>
          </a:ln>
        </p:spPr>
      </p:sp>
      <p:sp>
        <p:nvSpPr>
          <p:cNvPr id="25" name="Text 22"/>
          <p:cNvSpPr txBox="1"/>
          <p:nvPr/>
        </p:nvSpPr>
        <p:spPr>
          <a:xfrm>
            <a:off x="7936992" y="1783080"/>
            <a:ext cx="1005840" cy="457200"/>
          </a:xfrm>
          <a:prstGeom prst="rect">
            <a:avLst/>
          </a:prstGeom>
          <a:noFill/>
          <a:ln/>
        </p:spPr>
        <p:txBody>
          <a:bodyPr wrap="square" lIns="0" tIns="0" rIns="0" bIns="0" rtlCol="0" anchor="ctr"/>
          <a:lstStyle/>
          <a:p>
            <a:pPr marL="0" indent="0" algn="ctr">
              <a:buNone/>
            </a:pPr>
            <a:r>
              <a:rPr lang="en-US" sz="1400" dirty="0">
                <a:solidFill>
                  <a:schemeClr val="tx1"/>
                </a:solidFill>
                <a:latin typeface="Courier New" pitchFamily="34" charset="0"/>
                <a:ea typeface="Courier New" pitchFamily="34" charset="-122"/>
                <a:cs typeface="Courier New" pitchFamily="34" charset="-120"/>
              </a:rPr>
              <a:t>&lt;eos&gt;</a:t>
            </a:r>
            <a:endParaRPr lang="en-US" sz="1400" dirty="0"/>
          </a:p>
        </p:txBody>
      </p:sp>
      <p:sp>
        <p:nvSpPr>
          <p:cNvPr id="26" name="Text 23"/>
          <p:cNvSpPr txBox="1"/>
          <p:nvPr/>
        </p:nvSpPr>
        <p:spPr>
          <a:xfrm>
            <a:off x="7936992" y="2313432"/>
            <a:ext cx="1005840" cy="320040"/>
          </a:xfrm>
          <a:prstGeom prst="rect">
            <a:avLst/>
          </a:prstGeom>
          <a:noFill/>
          <a:ln/>
        </p:spPr>
        <p:txBody>
          <a:bodyPr wrap="square" lIns="0" tIns="0" rIns="0" bIns="0" rtlCol="0" anchor="t"/>
          <a:lstStyle/>
          <a:p>
            <a:pPr marL="0" indent="0" algn="ctr">
              <a:buNone/>
            </a:pPr>
            <a:r>
              <a:rPr lang="en-US" sz="1300" dirty="0">
                <a:solidFill>
                  <a:schemeClr val="tx2"/>
                </a:solidFill>
                <a:latin typeface="Courier New" pitchFamily="34" charset="0"/>
                <a:ea typeface="Courier New" pitchFamily="34" charset="-122"/>
                <a:cs typeface="Courier New" pitchFamily="34" charset="-120"/>
              </a:rPr>
              <a:t>&lt;eos&gt;</a:t>
            </a:r>
            <a:endParaRPr lang="en-US" sz="1300" dirty="0"/>
          </a:p>
        </p:txBody>
      </p:sp>
      <p:sp>
        <p:nvSpPr>
          <p:cNvPr id="27" name="Text 24"/>
          <p:cNvSpPr txBox="1"/>
          <p:nvPr/>
        </p:nvSpPr>
        <p:spPr>
          <a:xfrm>
            <a:off x="548640" y="2788920"/>
            <a:ext cx="914400" cy="457200"/>
          </a:xfrm>
          <a:prstGeom prst="rect">
            <a:avLst/>
          </a:prstGeom>
          <a:noFill/>
          <a:ln/>
        </p:spPr>
        <p:txBody>
          <a:bodyPr wrap="square" lIns="0" tIns="0" rIns="0" bIns="0" rtlCol="0" anchor="ctr"/>
          <a:lstStyle/>
          <a:p>
            <a:pPr marL="0" indent="0">
              <a:buNone/>
            </a:pPr>
            <a:r>
              <a:rPr lang="en-US" sz="1400" dirty="0">
                <a:solidFill>
                  <a:schemeClr val="tx2"/>
                </a:solidFill>
                <a:latin typeface="Courier New" pitchFamily="34" charset="0"/>
                <a:ea typeface="Courier New" pitchFamily="34" charset="-122"/>
                <a:cs typeface="Courier New" pitchFamily="34" charset="-120"/>
              </a:rPr>
              <a:t>row 1</a:t>
            </a:r>
            <a:endParaRPr lang="en-US" sz="1400" dirty="0"/>
          </a:p>
        </p:txBody>
      </p:sp>
      <p:sp>
        <p:nvSpPr>
          <p:cNvPr id="28" name="Shape 25"/>
          <p:cNvSpPr/>
          <p:nvPr/>
        </p:nvSpPr>
        <p:spPr>
          <a:xfrm>
            <a:off x="1463040" y="2788920"/>
            <a:ext cx="1005840" cy="457200"/>
          </a:xfrm>
          <a:prstGeom prst="roundRect">
            <a:avLst>
              <a:gd name="adj" fmla="val 16000"/>
            </a:avLst>
          </a:prstGeom>
          <a:solidFill>
            <a:schemeClr val="bg2"/>
          </a:solidFill>
          <a:ln w="12700">
            <a:solidFill>
              <a:schemeClr val="bg2"/>
            </a:solidFill>
            <a:prstDash val="solid"/>
          </a:ln>
        </p:spPr>
      </p:sp>
      <p:sp>
        <p:nvSpPr>
          <p:cNvPr id="29" name="Text 26"/>
          <p:cNvSpPr txBox="1"/>
          <p:nvPr/>
        </p:nvSpPr>
        <p:spPr>
          <a:xfrm>
            <a:off x="1463040" y="2788920"/>
            <a:ext cx="1005840" cy="457200"/>
          </a:xfrm>
          <a:prstGeom prst="rect">
            <a:avLst/>
          </a:prstGeom>
          <a:noFill/>
          <a:ln/>
        </p:spPr>
        <p:txBody>
          <a:bodyPr wrap="square" lIns="0" tIns="0" rIns="0" bIns="0" rtlCol="0" anchor="ctr"/>
          <a:lstStyle/>
          <a:p>
            <a:pPr marL="0" indent="0" algn="ctr">
              <a:buNone/>
            </a:pPr>
            <a:r>
              <a:rPr lang="en-US" sz="1400" dirty="0">
                <a:solidFill>
                  <a:schemeClr val="tx1"/>
                </a:solidFill>
                <a:latin typeface="Courier New" pitchFamily="34" charset="0"/>
                <a:ea typeface="Courier New" pitchFamily="34" charset="-122"/>
                <a:cs typeface="Courier New" pitchFamily="34" charset="-120"/>
              </a:rPr>
              <a:t>the</a:t>
            </a:r>
            <a:endParaRPr lang="en-US" sz="1400" dirty="0"/>
          </a:p>
        </p:txBody>
      </p:sp>
      <p:sp>
        <p:nvSpPr>
          <p:cNvPr id="30" name="Text 27"/>
          <p:cNvSpPr txBox="1"/>
          <p:nvPr/>
        </p:nvSpPr>
        <p:spPr>
          <a:xfrm>
            <a:off x="1463040" y="3319272"/>
            <a:ext cx="1005840" cy="320040"/>
          </a:xfrm>
          <a:prstGeom prst="rect">
            <a:avLst/>
          </a:prstGeom>
          <a:noFill/>
          <a:ln/>
        </p:spPr>
        <p:txBody>
          <a:bodyPr wrap="square" lIns="0" tIns="0" rIns="0" bIns="0" rtlCol="0" anchor="t"/>
          <a:lstStyle/>
          <a:p>
            <a:pPr marL="0" indent="0" algn="ctr">
              <a:buNone/>
            </a:pPr>
            <a:r>
              <a:rPr lang="en-US" sz="1300" dirty="0">
                <a:solidFill>
                  <a:schemeClr val="tx2"/>
                </a:solidFill>
                <a:latin typeface="Courier New" pitchFamily="34" charset="0"/>
                <a:ea typeface="Courier New" pitchFamily="34" charset="-122"/>
                <a:cs typeface="Courier New" pitchFamily="34" charset="-120"/>
              </a:rPr>
              <a:t>the</a:t>
            </a:r>
            <a:endParaRPr lang="en-US" sz="1300" dirty="0"/>
          </a:p>
        </p:txBody>
      </p:sp>
      <p:sp>
        <p:nvSpPr>
          <p:cNvPr id="31" name="Shape 28"/>
          <p:cNvSpPr/>
          <p:nvPr/>
        </p:nvSpPr>
        <p:spPr>
          <a:xfrm>
            <a:off x="2542032" y="2788920"/>
            <a:ext cx="1005840" cy="457200"/>
          </a:xfrm>
          <a:prstGeom prst="roundRect">
            <a:avLst>
              <a:gd name="adj" fmla="val 16000"/>
            </a:avLst>
          </a:prstGeom>
          <a:solidFill>
            <a:schemeClr val="bg2"/>
          </a:solidFill>
          <a:ln w="12700">
            <a:solidFill>
              <a:schemeClr val="bg2"/>
            </a:solidFill>
            <a:prstDash val="solid"/>
          </a:ln>
        </p:spPr>
      </p:sp>
      <p:sp>
        <p:nvSpPr>
          <p:cNvPr id="32" name="Text 29"/>
          <p:cNvSpPr txBox="1"/>
          <p:nvPr/>
        </p:nvSpPr>
        <p:spPr>
          <a:xfrm>
            <a:off x="2542032" y="2788920"/>
            <a:ext cx="1005840" cy="457200"/>
          </a:xfrm>
          <a:prstGeom prst="rect">
            <a:avLst/>
          </a:prstGeom>
          <a:noFill/>
          <a:ln/>
        </p:spPr>
        <p:txBody>
          <a:bodyPr wrap="square" lIns="0" tIns="0" rIns="0" bIns="0" rtlCol="0" anchor="ctr"/>
          <a:lstStyle/>
          <a:p>
            <a:pPr marL="0" indent="0" algn="ctr">
              <a:buNone/>
            </a:pPr>
            <a:r>
              <a:rPr lang="en-US" sz="1400" dirty="0">
                <a:solidFill>
                  <a:schemeClr val="tx1"/>
                </a:solidFill>
                <a:latin typeface="Courier New" pitchFamily="34" charset="0"/>
                <a:ea typeface="Courier New" pitchFamily="34" charset="-122"/>
                <a:cs typeface="Courier New" pitchFamily="34" charset="-120"/>
              </a:rPr>
              <a:t>cat</a:t>
            </a:r>
            <a:endParaRPr lang="en-US" sz="1400" dirty="0"/>
          </a:p>
        </p:txBody>
      </p:sp>
      <p:sp>
        <p:nvSpPr>
          <p:cNvPr id="33" name="Text 30"/>
          <p:cNvSpPr txBox="1"/>
          <p:nvPr/>
        </p:nvSpPr>
        <p:spPr>
          <a:xfrm>
            <a:off x="2542032" y="3319272"/>
            <a:ext cx="1005840" cy="320040"/>
          </a:xfrm>
          <a:prstGeom prst="rect">
            <a:avLst/>
          </a:prstGeom>
          <a:noFill/>
          <a:ln/>
        </p:spPr>
        <p:txBody>
          <a:bodyPr wrap="square" lIns="0" tIns="0" rIns="0" bIns="0" rtlCol="0" anchor="t"/>
          <a:lstStyle/>
          <a:p>
            <a:pPr marL="0" indent="0" algn="ctr">
              <a:buNone/>
            </a:pPr>
            <a:r>
              <a:rPr lang="en-US" sz="1300" dirty="0">
                <a:solidFill>
                  <a:schemeClr val="tx2"/>
                </a:solidFill>
                <a:latin typeface="Courier New" pitchFamily="34" charset="0"/>
                <a:ea typeface="Courier New" pitchFamily="34" charset="-122"/>
                <a:cs typeface="Courier New" pitchFamily="34" charset="-120"/>
              </a:rPr>
              <a:t>cat</a:t>
            </a:r>
            <a:endParaRPr lang="en-US" sz="1300" dirty="0"/>
          </a:p>
        </p:txBody>
      </p:sp>
      <p:sp>
        <p:nvSpPr>
          <p:cNvPr id="34" name="Shape 31"/>
          <p:cNvSpPr/>
          <p:nvPr/>
        </p:nvSpPr>
        <p:spPr>
          <a:xfrm>
            <a:off x="3621024" y="2788920"/>
            <a:ext cx="1005840" cy="457200"/>
          </a:xfrm>
          <a:prstGeom prst="roundRect">
            <a:avLst>
              <a:gd name="adj" fmla="val 16000"/>
            </a:avLst>
          </a:prstGeom>
          <a:solidFill>
            <a:schemeClr val="bg2"/>
          </a:solidFill>
          <a:ln w="12700">
            <a:solidFill>
              <a:schemeClr val="bg2"/>
            </a:solidFill>
            <a:prstDash val="solid"/>
          </a:ln>
        </p:spPr>
      </p:sp>
      <p:sp>
        <p:nvSpPr>
          <p:cNvPr id="35" name="Text 32"/>
          <p:cNvSpPr txBox="1"/>
          <p:nvPr/>
        </p:nvSpPr>
        <p:spPr>
          <a:xfrm>
            <a:off x="3621024" y="2788920"/>
            <a:ext cx="1005840" cy="457200"/>
          </a:xfrm>
          <a:prstGeom prst="rect">
            <a:avLst/>
          </a:prstGeom>
          <a:noFill/>
          <a:ln/>
        </p:spPr>
        <p:txBody>
          <a:bodyPr wrap="square" lIns="0" tIns="0" rIns="0" bIns="0" rtlCol="0" anchor="ctr"/>
          <a:lstStyle/>
          <a:p>
            <a:pPr marL="0" indent="0" algn="ctr">
              <a:buNone/>
            </a:pPr>
            <a:r>
              <a:rPr lang="en-US" sz="1400" dirty="0">
                <a:solidFill>
                  <a:schemeClr val="tx1"/>
                </a:solidFill>
                <a:latin typeface="Courier New" pitchFamily="34" charset="0"/>
                <a:ea typeface="Courier New" pitchFamily="34" charset="-122"/>
                <a:cs typeface="Courier New" pitchFamily="34" charset="-120"/>
              </a:rPr>
              <a:t>…</a:t>
            </a:r>
            <a:endParaRPr lang="en-US" sz="1400" dirty="0"/>
          </a:p>
        </p:txBody>
      </p:sp>
      <p:sp>
        <p:nvSpPr>
          <p:cNvPr id="36" name="Text 33"/>
          <p:cNvSpPr txBox="1"/>
          <p:nvPr/>
        </p:nvSpPr>
        <p:spPr>
          <a:xfrm>
            <a:off x="3621024" y="3319272"/>
            <a:ext cx="1005840" cy="320040"/>
          </a:xfrm>
          <a:prstGeom prst="rect">
            <a:avLst/>
          </a:prstGeom>
          <a:noFill/>
          <a:ln/>
        </p:spPr>
        <p:txBody>
          <a:bodyPr wrap="square" lIns="0" tIns="0" rIns="0" bIns="0" rtlCol="0" anchor="t"/>
          <a:lstStyle/>
          <a:p>
            <a:pPr marL="0" indent="0" algn="ctr">
              <a:buNone/>
            </a:pPr>
            <a:r>
              <a:rPr lang="en-US" sz="1300" dirty="0">
                <a:solidFill>
                  <a:schemeClr val="tx2"/>
                </a:solidFill>
                <a:latin typeface="Courier New" pitchFamily="34" charset="0"/>
                <a:ea typeface="Courier New" pitchFamily="34" charset="-122"/>
                <a:cs typeface="Courier New" pitchFamily="34" charset="-120"/>
              </a:rPr>
              <a:t>…</a:t>
            </a:r>
            <a:endParaRPr lang="en-US" sz="1300" dirty="0"/>
          </a:p>
        </p:txBody>
      </p:sp>
      <p:sp>
        <p:nvSpPr>
          <p:cNvPr id="37" name="Shape 34"/>
          <p:cNvSpPr/>
          <p:nvPr/>
        </p:nvSpPr>
        <p:spPr>
          <a:xfrm>
            <a:off x="4700016" y="2788920"/>
            <a:ext cx="1005840" cy="457200"/>
          </a:xfrm>
          <a:prstGeom prst="roundRect">
            <a:avLst>
              <a:gd name="adj" fmla="val 16000"/>
            </a:avLst>
          </a:prstGeom>
          <a:solidFill>
            <a:schemeClr val="bg2"/>
          </a:solidFill>
          <a:ln w="12700">
            <a:solidFill>
              <a:schemeClr val="bg2"/>
            </a:solidFill>
            <a:prstDash val="solid"/>
          </a:ln>
        </p:spPr>
      </p:sp>
      <p:sp>
        <p:nvSpPr>
          <p:cNvPr id="38" name="Text 35"/>
          <p:cNvSpPr txBox="1"/>
          <p:nvPr/>
        </p:nvSpPr>
        <p:spPr>
          <a:xfrm>
            <a:off x="4700016" y="2788920"/>
            <a:ext cx="1005840" cy="457200"/>
          </a:xfrm>
          <a:prstGeom prst="rect">
            <a:avLst/>
          </a:prstGeom>
          <a:noFill/>
          <a:ln/>
        </p:spPr>
        <p:txBody>
          <a:bodyPr wrap="square" lIns="0" tIns="0" rIns="0" bIns="0" rtlCol="0" anchor="ctr"/>
          <a:lstStyle/>
          <a:p>
            <a:pPr marL="0" indent="0" algn="ctr">
              <a:buNone/>
            </a:pPr>
            <a:r>
              <a:rPr lang="en-US" sz="1400" dirty="0">
                <a:solidFill>
                  <a:schemeClr val="tx1"/>
                </a:solidFill>
                <a:latin typeface="Courier New" pitchFamily="34" charset="0"/>
                <a:ea typeface="Courier New" pitchFamily="34" charset="-122"/>
                <a:cs typeface="Courier New" pitchFamily="34" charset="-120"/>
              </a:rPr>
              <a:t>.</a:t>
            </a:r>
            <a:endParaRPr lang="en-US" sz="1400" dirty="0"/>
          </a:p>
        </p:txBody>
      </p:sp>
      <p:sp>
        <p:nvSpPr>
          <p:cNvPr id="39" name="Text 36"/>
          <p:cNvSpPr txBox="1"/>
          <p:nvPr/>
        </p:nvSpPr>
        <p:spPr>
          <a:xfrm>
            <a:off x="4700016" y="3319272"/>
            <a:ext cx="1005840" cy="320040"/>
          </a:xfrm>
          <a:prstGeom prst="rect">
            <a:avLst/>
          </a:prstGeom>
          <a:noFill/>
          <a:ln/>
        </p:spPr>
        <p:txBody>
          <a:bodyPr wrap="square" lIns="0" tIns="0" rIns="0" bIns="0" rtlCol="0" anchor="t"/>
          <a:lstStyle/>
          <a:p>
            <a:pPr marL="0" indent="0" algn="ctr">
              <a:buNone/>
            </a:pPr>
            <a:r>
              <a:rPr lang="en-US" sz="1300" dirty="0">
                <a:solidFill>
                  <a:schemeClr val="tx2"/>
                </a:solidFill>
                <a:latin typeface="Courier New" pitchFamily="34" charset="0"/>
                <a:ea typeface="Courier New" pitchFamily="34" charset="-122"/>
                <a:cs typeface="Courier New" pitchFamily="34" charset="-120"/>
              </a:rPr>
              <a:t>.</a:t>
            </a:r>
            <a:endParaRPr lang="en-US" sz="1300" dirty="0"/>
          </a:p>
        </p:txBody>
      </p:sp>
      <p:sp>
        <p:nvSpPr>
          <p:cNvPr id="40" name="Shape 37"/>
          <p:cNvSpPr/>
          <p:nvPr/>
        </p:nvSpPr>
        <p:spPr>
          <a:xfrm>
            <a:off x="5779008" y="2788920"/>
            <a:ext cx="1005840" cy="457200"/>
          </a:xfrm>
          <a:prstGeom prst="roundRect">
            <a:avLst>
              <a:gd name="adj" fmla="val 16000"/>
            </a:avLst>
          </a:prstGeom>
          <a:solidFill>
            <a:schemeClr val="bg2"/>
          </a:solidFill>
          <a:ln w="12700">
            <a:solidFill>
              <a:schemeClr val="bg2"/>
            </a:solidFill>
            <a:prstDash val="solid"/>
          </a:ln>
        </p:spPr>
      </p:sp>
      <p:sp>
        <p:nvSpPr>
          <p:cNvPr id="41" name="Text 38"/>
          <p:cNvSpPr txBox="1"/>
          <p:nvPr/>
        </p:nvSpPr>
        <p:spPr>
          <a:xfrm>
            <a:off x="5779008" y="2788920"/>
            <a:ext cx="1005840" cy="457200"/>
          </a:xfrm>
          <a:prstGeom prst="rect">
            <a:avLst/>
          </a:prstGeom>
          <a:noFill/>
          <a:ln/>
        </p:spPr>
        <p:txBody>
          <a:bodyPr wrap="square" lIns="0" tIns="0" rIns="0" bIns="0" rtlCol="0" anchor="ctr"/>
          <a:lstStyle/>
          <a:p>
            <a:pPr marL="0" indent="0" algn="ctr">
              <a:buNone/>
            </a:pPr>
            <a:r>
              <a:rPr lang="en-US" sz="1400" dirty="0">
                <a:solidFill>
                  <a:schemeClr val="tx1"/>
                </a:solidFill>
                <a:latin typeface="Courier New" pitchFamily="34" charset="0"/>
                <a:ea typeface="Courier New" pitchFamily="34" charset="-122"/>
                <a:cs typeface="Courier New" pitchFamily="34" charset="-120"/>
              </a:rPr>
              <a:t>&lt;eos&gt;</a:t>
            </a:r>
            <a:endParaRPr lang="en-US" sz="1400" dirty="0"/>
          </a:p>
        </p:txBody>
      </p:sp>
      <p:sp>
        <p:nvSpPr>
          <p:cNvPr id="42" name="Text 39"/>
          <p:cNvSpPr txBox="1"/>
          <p:nvPr/>
        </p:nvSpPr>
        <p:spPr>
          <a:xfrm>
            <a:off x="5779008" y="3319272"/>
            <a:ext cx="1005840" cy="320040"/>
          </a:xfrm>
          <a:prstGeom prst="rect">
            <a:avLst/>
          </a:prstGeom>
          <a:noFill/>
          <a:ln/>
        </p:spPr>
        <p:txBody>
          <a:bodyPr wrap="square" lIns="0" tIns="0" rIns="0" bIns="0" rtlCol="0" anchor="t"/>
          <a:lstStyle/>
          <a:p>
            <a:pPr marL="0" indent="0" algn="ctr">
              <a:buNone/>
            </a:pPr>
            <a:r>
              <a:rPr lang="en-US" sz="1300" dirty="0">
                <a:solidFill>
                  <a:schemeClr val="tx2"/>
                </a:solidFill>
                <a:latin typeface="Courier New" pitchFamily="34" charset="0"/>
                <a:ea typeface="Courier New" pitchFamily="34" charset="-122"/>
                <a:cs typeface="Courier New" pitchFamily="34" charset="-120"/>
              </a:rPr>
              <a:t>&lt;eos&gt;</a:t>
            </a:r>
            <a:endParaRPr lang="en-US" sz="1300" dirty="0"/>
          </a:p>
        </p:txBody>
      </p:sp>
      <p:sp>
        <p:nvSpPr>
          <p:cNvPr id="43" name="Shape 40"/>
          <p:cNvSpPr/>
          <p:nvPr/>
        </p:nvSpPr>
        <p:spPr>
          <a:xfrm>
            <a:off x="6858000" y="2788920"/>
            <a:ext cx="1005840" cy="457200"/>
          </a:xfrm>
          <a:prstGeom prst="roundRect">
            <a:avLst>
              <a:gd name="adj" fmla="val 16000"/>
            </a:avLst>
          </a:prstGeom>
          <a:solidFill>
            <a:schemeClr val="bg1"/>
          </a:solidFill>
          <a:ln w="12700">
            <a:solidFill>
              <a:srgbClr val="AAB2C0"/>
            </a:solidFill>
            <a:prstDash val="dash"/>
          </a:ln>
        </p:spPr>
      </p:sp>
      <p:sp>
        <p:nvSpPr>
          <p:cNvPr id="44" name="Text 41"/>
          <p:cNvSpPr txBox="1"/>
          <p:nvPr/>
        </p:nvSpPr>
        <p:spPr>
          <a:xfrm>
            <a:off x="6858000" y="2788920"/>
            <a:ext cx="1005840" cy="457200"/>
          </a:xfrm>
          <a:prstGeom prst="rect">
            <a:avLst/>
          </a:prstGeom>
          <a:noFill/>
          <a:ln/>
        </p:spPr>
        <p:txBody>
          <a:bodyPr wrap="square" lIns="0" tIns="0" rIns="0" bIns="0" rtlCol="0" anchor="ctr"/>
          <a:lstStyle/>
          <a:p>
            <a:pPr marL="0" indent="0" algn="ctr">
              <a:buNone/>
            </a:pPr>
            <a:r>
              <a:rPr lang="en-US" sz="1400" dirty="0">
                <a:solidFill>
                  <a:schemeClr val="tx2"/>
                </a:solidFill>
                <a:latin typeface="Courier New" pitchFamily="34" charset="0"/>
                <a:ea typeface="Courier New" pitchFamily="34" charset="-122"/>
                <a:cs typeface="Courier New" pitchFamily="34" charset="-120"/>
              </a:rPr>
              <a:t>&lt;pad&gt;</a:t>
            </a:r>
            <a:endParaRPr lang="en-US" sz="1400" dirty="0"/>
          </a:p>
        </p:txBody>
      </p:sp>
      <p:sp>
        <p:nvSpPr>
          <p:cNvPr id="45" name="Text 42"/>
          <p:cNvSpPr txBox="1"/>
          <p:nvPr/>
        </p:nvSpPr>
        <p:spPr>
          <a:xfrm>
            <a:off x="6858000" y="3319272"/>
            <a:ext cx="1005840" cy="320040"/>
          </a:xfrm>
          <a:prstGeom prst="rect">
            <a:avLst/>
          </a:prstGeom>
          <a:noFill/>
          <a:ln/>
        </p:spPr>
        <p:txBody>
          <a:bodyPr wrap="square" lIns="0" tIns="0" rIns="0" bIns="0" rtlCol="0" anchor="t"/>
          <a:lstStyle/>
          <a:p>
            <a:pPr marL="0" indent="0" algn="ctr">
              <a:buNone/>
            </a:pPr>
            <a:r>
              <a:rPr lang="en-US" sz="1300" b="1" dirty="0">
                <a:solidFill>
                  <a:schemeClr val="accent1"/>
                </a:solidFill>
                <a:latin typeface="Courier New" pitchFamily="34" charset="0"/>
                <a:ea typeface="Courier New" pitchFamily="34" charset="-122"/>
                <a:cs typeface="Courier New" pitchFamily="34" charset="-120"/>
              </a:rPr>
              <a:t>−100</a:t>
            </a:r>
            <a:endParaRPr lang="en-US" sz="1300" dirty="0"/>
          </a:p>
        </p:txBody>
      </p:sp>
      <p:sp>
        <p:nvSpPr>
          <p:cNvPr id="46" name="Shape 43"/>
          <p:cNvSpPr/>
          <p:nvPr/>
        </p:nvSpPr>
        <p:spPr>
          <a:xfrm>
            <a:off x="7936992" y="2788920"/>
            <a:ext cx="1005840" cy="457200"/>
          </a:xfrm>
          <a:prstGeom prst="roundRect">
            <a:avLst>
              <a:gd name="adj" fmla="val 16000"/>
            </a:avLst>
          </a:prstGeom>
          <a:solidFill>
            <a:schemeClr val="bg1"/>
          </a:solidFill>
          <a:ln w="12700">
            <a:solidFill>
              <a:srgbClr val="AAB2C0"/>
            </a:solidFill>
            <a:prstDash val="dash"/>
          </a:ln>
        </p:spPr>
      </p:sp>
      <p:sp>
        <p:nvSpPr>
          <p:cNvPr id="47" name="Text 44"/>
          <p:cNvSpPr txBox="1"/>
          <p:nvPr/>
        </p:nvSpPr>
        <p:spPr>
          <a:xfrm>
            <a:off x="7936992" y="2788920"/>
            <a:ext cx="1005840" cy="457200"/>
          </a:xfrm>
          <a:prstGeom prst="rect">
            <a:avLst/>
          </a:prstGeom>
          <a:noFill/>
          <a:ln/>
        </p:spPr>
        <p:txBody>
          <a:bodyPr wrap="square" lIns="0" tIns="0" rIns="0" bIns="0" rtlCol="0" anchor="ctr"/>
          <a:lstStyle/>
          <a:p>
            <a:pPr marL="0" indent="0" algn="ctr">
              <a:buNone/>
            </a:pPr>
            <a:r>
              <a:rPr lang="en-US" sz="1400" dirty="0">
                <a:solidFill>
                  <a:schemeClr val="tx2"/>
                </a:solidFill>
                <a:latin typeface="Courier New" pitchFamily="34" charset="0"/>
                <a:ea typeface="Courier New" pitchFamily="34" charset="-122"/>
                <a:cs typeface="Courier New" pitchFamily="34" charset="-120"/>
              </a:rPr>
              <a:t>&lt;pad&gt;</a:t>
            </a:r>
            <a:endParaRPr lang="en-US" sz="1400" dirty="0"/>
          </a:p>
        </p:txBody>
      </p:sp>
      <p:sp>
        <p:nvSpPr>
          <p:cNvPr id="48" name="Text 45"/>
          <p:cNvSpPr txBox="1"/>
          <p:nvPr/>
        </p:nvSpPr>
        <p:spPr>
          <a:xfrm>
            <a:off x="7936992" y="3319272"/>
            <a:ext cx="1005840" cy="320040"/>
          </a:xfrm>
          <a:prstGeom prst="rect">
            <a:avLst/>
          </a:prstGeom>
          <a:noFill/>
          <a:ln/>
        </p:spPr>
        <p:txBody>
          <a:bodyPr wrap="square" lIns="0" tIns="0" rIns="0" bIns="0" rtlCol="0" anchor="t"/>
          <a:lstStyle/>
          <a:p>
            <a:pPr marL="0" indent="0" algn="ctr">
              <a:buNone/>
            </a:pPr>
            <a:r>
              <a:rPr lang="en-US" sz="1300" b="1" dirty="0">
                <a:solidFill>
                  <a:schemeClr val="accent1"/>
                </a:solidFill>
                <a:latin typeface="Courier New" pitchFamily="34" charset="0"/>
                <a:ea typeface="Courier New" pitchFamily="34" charset="-122"/>
                <a:cs typeface="Courier New" pitchFamily="34" charset="-120"/>
              </a:rPr>
              <a:t>−100</a:t>
            </a:r>
            <a:endParaRPr lang="en-US" sz="1300" dirty="0"/>
          </a:p>
        </p:txBody>
      </p:sp>
      <p:sp>
        <p:nvSpPr>
          <p:cNvPr id="49" name="Text 46"/>
          <p:cNvSpPr txBox="1"/>
          <p:nvPr/>
        </p:nvSpPr>
        <p:spPr>
          <a:xfrm>
            <a:off x="1463040" y="3639312"/>
            <a:ext cx="10149840" cy="274320"/>
          </a:xfrm>
          <a:prstGeom prst="rect">
            <a:avLst/>
          </a:prstGeom>
          <a:noFill/>
          <a:ln/>
        </p:spPr>
        <p:txBody>
          <a:bodyPr wrap="square" lIns="0" tIns="0" rIns="0" bIns="0" rtlCol="0" anchor="t"/>
          <a:lstStyle/>
          <a:p>
            <a:pPr marL="0" indent="0">
              <a:buNone/>
            </a:pPr>
            <a:r>
              <a:rPr lang="en-US" sz="1300" i="1" dirty="0">
                <a:solidFill>
                  <a:schemeClr val="tx2"/>
                </a:solidFill>
              </a:rPr>
              <a:t>In each row, the top line is input_ids and the bottom line is labels.</a:t>
            </a:r>
            <a:endParaRPr lang="en-US" sz="1300" dirty="0"/>
          </a:p>
        </p:txBody>
      </p:sp>
      <p:sp>
        <p:nvSpPr>
          <p:cNvPr id="50" name="padding trap"/>
          <p:cNvSpPr/>
          <p:nvPr/>
        </p:nvSpPr>
        <p:spPr>
          <a:xfrm>
            <a:off x="548640" y="3977640"/>
            <a:ext cx="5394960" cy="2148840"/>
          </a:xfrm>
          <a:prstGeom prst="roundRect">
            <a:avLst>
              <a:gd name="adj" fmla="val 5106"/>
            </a:avLst>
          </a:prstGeom>
          <a:solidFill>
            <a:schemeClr val="accent6"/>
          </a:solidFill>
          <a:ln w="12700">
            <a:solidFill>
              <a:schemeClr val="accent6"/>
            </a:solidFill>
            <a:prstDash val="solid"/>
          </a:ln>
        </p:spPr>
      </p:sp>
      <p:sp>
        <p:nvSpPr>
          <p:cNvPr id="51" name="Text 48"/>
          <p:cNvSpPr txBox="1"/>
          <p:nvPr/>
        </p:nvSpPr>
        <p:spPr>
          <a:xfrm>
            <a:off x="777240" y="4114800"/>
            <a:ext cx="4937760" cy="1920240"/>
          </a:xfrm>
          <a:prstGeom prst="rect">
            <a:avLst/>
          </a:prstGeom>
          <a:noFill/>
          <a:ln/>
        </p:spPr>
        <p:txBody>
          <a:bodyPr wrap="square" lIns="0" tIns="0" rIns="0" bIns="0" rtlCol="0" anchor="t"/>
          <a:lstStyle/>
          <a:p>
            <a:pPr marL="0" indent="0">
              <a:spcAft>
                <a:spcPts val="400"/>
              </a:spcAft>
              <a:buNone/>
            </a:pPr>
            <a:r>
              <a:rPr lang="en-US" sz="1900" b="1" dirty="0">
                <a:solidFill>
                  <a:schemeClr val="accent1"/>
                </a:solidFill>
              </a:rPr>
              <a:t>The padding trap</a:t>
            </a:r>
            <a:endParaRPr lang="en-US" sz="1500" dirty="0"/>
          </a:p>
          <a:p>
            <a:pPr marL="0" indent="0">
              <a:spcAft>
                <a:spcPts val="400"/>
              </a:spcAft>
              <a:buNone/>
            </a:pPr>
            <a:r>
              <a:rPr lang="en-US" sz="1500" dirty="0">
                <a:solidFill>
                  <a:schemeClr val="tx1"/>
                </a:solidFill>
              </a:rPr>
              <a:t>GPT-2 has no pad token, so the usual practice reuses </a:t>
            </a:r>
            <a:r>
              <a:rPr lang="en-US" sz="1500" dirty="0">
                <a:solidFill>
                  <a:schemeClr val="tx1"/>
                </a:solidFill>
                <a:latin typeface="Courier New" pitchFamily="34" charset="0"/>
                <a:ea typeface="Courier New" pitchFamily="34" charset="-122"/>
                <a:cs typeface="Courier New" pitchFamily="34" charset="-120"/>
              </a:rPr>
              <a:t>&lt;|endoftext|&gt;</a:t>
            </a:r>
            <a:r>
              <a:rPr lang="en-US" sz="1500" dirty="0">
                <a:solidFill>
                  <a:schemeClr val="tx1"/>
                </a:solidFill>
              </a:rPr>
              <a:t> as padding.</a:t>
            </a:r>
            <a:endParaRPr lang="en-US" sz="1500" dirty="0"/>
          </a:p>
          <a:p>
            <a:pPr marL="0" indent="0">
              <a:spcAft>
                <a:spcPts val="400"/>
              </a:spcAft>
              <a:buNone/>
            </a:pPr>
            <a:r>
              <a:rPr lang="en-US" sz="1500" dirty="0">
                <a:solidFill>
                  <a:schemeClr val="tx1"/>
                </a:solidFill>
              </a:rPr>
              <a:t>Mask padding with the </a:t>
            </a:r>
            <a:r>
              <a:rPr lang="en-US" sz="1500" b="1" dirty="0">
                <a:solidFill>
                  <a:schemeClr val="tx1"/>
                </a:solidFill>
              </a:rPr>
              <a:t>attention mask</a:t>
            </a:r>
            <a:r>
              <a:rPr lang="en-US" sz="1500" dirty="0">
                <a:solidFill>
                  <a:schemeClr val="tx1"/>
                </a:solidFill>
              </a:rPr>
              <a:t>, not by token identity, or the genuine end-of-text label is erased too.</a:t>
            </a:r>
            <a:endParaRPr lang="en-US" sz="1500" dirty="0"/>
          </a:p>
        </p:txBody>
      </p:sp>
      <p:sp>
        <p:nvSpPr>
          <p:cNvPr id="52" name="packing"/>
          <p:cNvSpPr/>
          <p:nvPr/>
        </p:nvSpPr>
        <p:spPr>
          <a:xfrm>
            <a:off x="6217920" y="3977640"/>
            <a:ext cx="5394960" cy="2148840"/>
          </a:xfrm>
          <a:prstGeom prst="roundRect">
            <a:avLst>
              <a:gd name="adj" fmla="val 5106"/>
            </a:avLst>
          </a:prstGeom>
          <a:solidFill>
            <a:schemeClr val="bg2"/>
          </a:solidFill>
          <a:ln w="12700">
            <a:solidFill>
              <a:schemeClr val="bg2"/>
            </a:solidFill>
            <a:prstDash val="solid"/>
          </a:ln>
        </p:spPr>
      </p:sp>
      <p:sp>
        <p:nvSpPr>
          <p:cNvPr id="53" name="Text 50"/>
          <p:cNvSpPr txBox="1"/>
          <p:nvPr/>
        </p:nvSpPr>
        <p:spPr>
          <a:xfrm>
            <a:off x="6446520" y="4114800"/>
            <a:ext cx="4937760" cy="1920240"/>
          </a:xfrm>
          <a:prstGeom prst="rect">
            <a:avLst/>
          </a:prstGeom>
          <a:noFill/>
          <a:ln/>
        </p:spPr>
        <p:txBody>
          <a:bodyPr wrap="square" lIns="0" tIns="0" rIns="0" bIns="0" rtlCol="0" anchor="t"/>
          <a:lstStyle/>
          <a:p>
            <a:pPr marL="0" indent="0">
              <a:spcAft>
                <a:spcPts val="400"/>
              </a:spcAft>
              <a:buNone/>
            </a:pPr>
            <a:r>
              <a:rPr lang="en-US" sz="1900" b="1" dirty="0">
                <a:solidFill>
                  <a:schemeClr val="tx1"/>
                </a:solidFill>
              </a:rPr>
              <a:t>Packing: the alternative</a:t>
            </a:r>
            <a:endParaRPr lang="en-US" sz="1500" dirty="0"/>
          </a:p>
          <a:p>
            <a:pPr marL="0" indent="0">
              <a:spcAft>
                <a:spcPts val="400"/>
              </a:spcAft>
              <a:buNone/>
            </a:pPr>
            <a:r>
              <a:rPr lang="en-US" sz="1500" dirty="0">
                <a:solidFill>
                  <a:schemeClr val="tx1"/>
                </a:solidFill>
              </a:rPr>
              <a:t>Concatenate short documents, separated by &lt;eos&gt;, into fixed-length blocks.</a:t>
            </a:r>
            <a:endParaRPr lang="en-US" sz="1500" dirty="0"/>
          </a:p>
          <a:p>
            <a:pPr marL="0" indent="0">
              <a:spcAft>
                <a:spcPts val="400"/>
              </a:spcAft>
              <a:buNone/>
            </a:pPr>
            <a:r>
              <a:rPr lang="en-US" sz="1500" b="1" dirty="0">
                <a:solidFill>
                  <a:schemeClr val="tx1"/>
                </a:solidFill>
              </a:rPr>
              <a:t>+ </a:t>
            </a:r>
            <a:r>
              <a:rPr lang="en-US" sz="1500" dirty="0">
                <a:solidFill>
                  <a:schemeClr val="tx1"/>
                </a:solidFill>
              </a:rPr>
              <a:t>no compute wasted on padding</a:t>
            </a:r>
            <a:endParaRPr lang="en-US" sz="1500" dirty="0"/>
          </a:p>
          <a:p>
            <a:pPr marL="0" indent="0">
              <a:spcAft>
                <a:spcPts val="400"/>
              </a:spcAft>
              <a:buNone/>
            </a:pPr>
            <a:r>
              <a:rPr lang="en-US" sz="1500" b="1" dirty="0">
                <a:solidFill>
                  <a:schemeClr val="tx1"/>
                </a:solidFill>
              </a:rPr>
              <a:t>− </a:t>
            </a:r>
            <a:r>
              <a:rPr lang="en-US" sz="1500" dirty="0">
                <a:solidFill>
                  <a:schemeClr val="tx1"/>
                </a:solidFill>
              </a:rPr>
              <a:t>documents split across blocks; without special masking, a document can attend to an unrelated earlier one</a:t>
            </a:r>
            <a:endParaRPr lang="en-US" sz="1500" dirty="0"/>
          </a:p>
        </p:txBody>
      </p:sp>
      <p:sp>
        <p:nvSpPr>
          <p:cNvPr id="3"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777240"/>
          </a:xfrm>
          <a:prstGeom prst="rect">
            <a:avLst/>
          </a:prstGeom>
          <a:noFill/>
          <a:ln/>
        </p:spPr>
        <p:txBody>
          <a:bodyPr wrap="square" lIns="0" tIns="0" rIns="0" bIns="0" rtlCol="0" anchor="ctr"/>
          <a:lstStyle/>
          <a:p>
            <a:pPr marL="0" indent="0" algn="l">
              <a:buNone/>
            </a:pPr>
            <a:r>
              <a:rPr lang="en-US" sz="3200" b="1" dirty="0">
                <a:solidFill>
                  <a:schemeClr val="tx1"/>
                </a:solidFill>
              </a:rPr>
              <a:t>What “full” fine-tuning costs</a:t>
            </a:r>
            <a:endParaRPr lang="en-US" sz="3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5486400" cy="2834640"/>
        </p:xfrm>
        <a:graphic>
          <a:graphicData uri="http://schemas.openxmlformats.org/drawingml/2006/table">
            <a:tbl>
              <a:tblPr/>
              <a:tblGrid>
                <a:gridCol w="2194560"/>
                <a:gridCol w="2377440"/>
                <a:gridCol w="914400"/>
              </a:tblGrid>
              <a:tr h="457200">
                <a:tc>
                  <a:txBody>
                    <a:bodyPr/>
                    <a:lstStyle/>
                    <a:p>
                      <a:pPr marL="0" indent="0">
                        <a:buNone/>
                      </a:pPr>
                      <a:r>
                        <a:rPr lang="en-US" sz="1400" b="1" dirty="0">
                          <a:solidFill>
                            <a:schemeClr val="bg1"/>
                          </a:solidFill>
                        </a:rPr>
                        <a:t>Stored per parameter</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marL="0" indent="0">
                        <a:buNone/>
                      </a:pPr>
                      <a:r>
                        <a:rPr lang="en-US" sz="1400" b="1" dirty="0">
                          <a:solidFill>
                            <a:schemeClr val="bg1"/>
                          </a:solidFill>
                        </a:rPr>
                        <a:t>Why</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marL="0" indent="0">
                        <a:buNone/>
                      </a:pPr>
                      <a:r>
                        <a:rPr lang="en-US" sz="1400" b="1" dirty="0">
                          <a:solidFill>
                            <a:schemeClr val="bg1"/>
                          </a:solidFill>
                        </a:rPr>
                        <a:t>fp32 bytes</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r>
              <a:tr h="457200">
                <a:tc>
                  <a:txBody>
                    <a:bodyPr/>
                    <a:lstStyle/>
                    <a:p>
                      <a:pPr marL="0" indent="0">
                        <a:buNone/>
                      </a:pPr>
                      <a:r>
                        <a:rPr lang="en-US" sz="1400" b="1" dirty="0">
                          <a:solidFill>
                            <a:schemeClr val="tx1"/>
                          </a:solidFill>
                        </a:rPr>
                        <a:t>Weight θ</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The model</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4</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457200">
                <a:tc>
                  <a:txBody>
                    <a:bodyPr/>
                    <a:lstStyle/>
                    <a:p>
                      <a:pPr marL="0" indent="0">
                        <a:buNone/>
                      </a:pPr>
                      <a:r>
                        <a:rPr lang="en-US" sz="1400" b="1" dirty="0">
                          <a:solidFill>
                            <a:schemeClr val="tx1"/>
                          </a:solidFill>
                        </a:rPr>
                        <a:t>Gradient ∂L/∂θ</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Output of the backward pass</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4</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r h="457200">
                <a:tc>
                  <a:txBody>
                    <a:bodyPr/>
                    <a:lstStyle/>
                    <a:p>
                      <a:pPr marL="0" indent="0">
                        <a:buNone/>
                      </a:pPr>
                      <a:r>
                        <a:rPr lang="en-US" sz="1400" b="1" dirty="0">
                          <a:solidFill>
                            <a:schemeClr val="tx1"/>
                          </a:solidFill>
                        </a:rPr>
                        <a:t>Adam first moment m</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Running mean of gradients</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4</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457200">
                <a:tc>
                  <a:txBody>
                    <a:bodyPr/>
                    <a:lstStyle/>
                    <a:p>
                      <a:pPr marL="0" indent="0">
                        <a:buNone/>
                      </a:pPr>
                      <a:r>
                        <a:rPr lang="en-US" sz="1400" b="1" dirty="0">
                          <a:solidFill>
                            <a:schemeClr val="tx1"/>
                          </a:solidFill>
                        </a:rPr>
                        <a:t>Adam second moment v</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Running mean of squared gradients</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4</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r h="457200">
                <a:tc>
                  <a:txBody>
                    <a:bodyPr/>
                    <a:lstStyle/>
                    <a:p>
                      <a:pPr marL="0" indent="0">
                        <a:buNone/>
                      </a:pPr>
                      <a:r>
                        <a:rPr lang="en-US" sz="1400" b="1" dirty="0">
                          <a:solidFill>
                            <a:schemeClr val="tx1"/>
                          </a:solidFill>
                        </a:rPr>
                        <a:t>Total</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marL="0" indent="0">
                        <a:buNone/>
                      </a:pPr>
                      <a:r>
                        <a:rPr lang="en-US" sz="1400" b="1" dirty="0">
                          <a:solidFill>
                            <a:schemeClr val="tx1"/>
                          </a:solidFill>
                        </a:rPr>
                        <a:t>≈ 4× the weights</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marL="0" indent="0">
                        <a:buNone/>
                      </a:pPr>
                      <a:r>
                        <a:rPr lang="en-US" sz="1400" b="1" dirty="0">
                          <a:solidFill>
                            <a:schemeClr val="accent1"/>
                          </a:solidFill>
                        </a:rPr>
                        <a:t>16</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bl>
          </a:graphicData>
        </a:graphic>
      </p:graphicFrame>
      <p:graphicFrame>
        <p:nvGraphicFramePr>
          <p:cNvPr id="5" name="Chart 0"/>
          <p:cNvGraphicFramePr/>
          <p:nvPr/>
        </p:nvGraphicFramePr>
        <p:xfrm>
          <a:off x="6309360" y="1188720"/>
          <a:ext cx="5303520" cy="365760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1"/>
          <p:cNvSpPr txBox="1"/>
          <p:nvPr/>
        </p:nvSpPr>
        <p:spPr>
          <a:xfrm>
            <a:off x="548640" y="4206240"/>
            <a:ext cx="2651760" cy="731520"/>
          </a:xfrm>
          <a:prstGeom prst="rect">
            <a:avLst/>
          </a:prstGeom>
          <a:noFill/>
          <a:ln/>
        </p:spPr>
        <p:txBody>
          <a:bodyPr wrap="square" lIns="0" tIns="0" rIns="0" bIns="0" rtlCol="0" anchor="t"/>
          <a:lstStyle/>
          <a:p>
            <a:pPr marL="0" indent="0">
              <a:buNone/>
            </a:pPr>
            <a:r>
              <a:rPr lang="en-US" sz="3600" b="1" dirty="0">
                <a:solidFill>
                  <a:schemeClr val="accent3"/>
                </a:solidFill>
                <a:latin typeface="Cambria" pitchFamily="34" charset="0"/>
                <a:ea typeface="Cambria" pitchFamily="34" charset="-122"/>
                <a:cs typeface="Cambria" pitchFamily="34" charset="-120"/>
              </a:rPr>
              <a:t>1.9 GiB</a:t>
            </a:r>
            <a:endParaRPr lang="en-US" sz="3600" dirty="0"/>
          </a:p>
        </p:txBody>
      </p:sp>
      <p:sp>
        <p:nvSpPr>
          <p:cNvPr id="7" name="Text 2"/>
          <p:cNvSpPr txBox="1"/>
          <p:nvPr/>
        </p:nvSpPr>
        <p:spPr>
          <a:xfrm>
            <a:off x="548640" y="4937760"/>
            <a:ext cx="2651760" cy="640080"/>
          </a:xfrm>
          <a:prstGeom prst="rect">
            <a:avLst/>
          </a:prstGeom>
          <a:noFill/>
          <a:ln/>
        </p:spPr>
        <p:txBody>
          <a:bodyPr wrap="square" lIns="0" tIns="0" rIns="0" bIns="0" rtlCol="0" anchor="t"/>
          <a:lstStyle/>
          <a:p>
            <a:pPr marL="0" indent="0">
              <a:buNone/>
            </a:pPr>
            <a:r>
              <a:rPr lang="en-US" sz="1500" dirty="0">
                <a:solidFill>
                  <a:schemeClr val="tx2"/>
                </a:solidFill>
              </a:rPr>
              <a:t>GPT-2 small: fits a free GPU</a:t>
            </a:r>
            <a:endParaRPr lang="en-US" sz="1500" dirty="0"/>
          </a:p>
        </p:txBody>
      </p:sp>
      <p:sp>
        <p:nvSpPr>
          <p:cNvPr id="8" name="Text 3"/>
          <p:cNvSpPr txBox="1"/>
          <p:nvPr/>
        </p:nvSpPr>
        <p:spPr>
          <a:xfrm>
            <a:off x="3383280" y="4206240"/>
            <a:ext cx="2651760" cy="731520"/>
          </a:xfrm>
          <a:prstGeom prst="rect">
            <a:avLst/>
          </a:prstGeom>
          <a:noFill/>
          <a:ln/>
        </p:spPr>
        <p:txBody>
          <a:bodyPr wrap="square" lIns="0" tIns="0" rIns="0" bIns="0" rtlCol="0" anchor="t"/>
          <a:lstStyle/>
          <a:p>
            <a:pPr marL="0" indent="0">
              <a:buNone/>
            </a:pPr>
            <a:r>
              <a:rPr lang="en-US" sz="3600" b="1" dirty="0">
                <a:solidFill>
                  <a:schemeClr val="accent1"/>
                </a:solidFill>
                <a:latin typeface="Cambria" pitchFamily="34" charset="0"/>
                <a:ea typeface="Cambria" pitchFamily="34" charset="-122"/>
                <a:cs typeface="Cambria" pitchFamily="34" charset="-120"/>
              </a:rPr>
              <a:t>23 GiB</a:t>
            </a:r>
            <a:endParaRPr lang="en-US" sz="3600" dirty="0"/>
          </a:p>
        </p:txBody>
      </p:sp>
      <p:sp>
        <p:nvSpPr>
          <p:cNvPr id="9" name="Text 4"/>
          <p:cNvSpPr txBox="1"/>
          <p:nvPr/>
        </p:nvSpPr>
        <p:spPr>
          <a:xfrm>
            <a:off x="3383280" y="4937760"/>
            <a:ext cx="2651760" cy="640080"/>
          </a:xfrm>
          <a:prstGeom prst="rect">
            <a:avLst/>
          </a:prstGeom>
          <a:noFill/>
          <a:ln/>
        </p:spPr>
        <p:txBody>
          <a:bodyPr wrap="square" lIns="0" tIns="0" rIns="0" bIns="0" rtlCol="0" anchor="t"/>
          <a:lstStyle/>
          <a:p>
            <a:pPr marL="0" indent="0">
              <a:buNone/>
            </a:pPr>
            <a:r>
              <a:rPr lang="en-US" sz="1500" dirty="0">
                <a:solidFill>
                  <a:schemeClr val="tx2"/>
                </a:solidFill>
              </a:rPr>
              <a:t>GPT-2 XL: does not fit a typical free-tier GPU</a:t>
            </a:r>
            <a:endParaRPr lang="en-US" sz="1500" dirty="0"/>
          </a:p>
        </p:txBody>
      </p:sp>
      <p:sp>
        <p:nvSpPr>
          <p:cNvPr id="10" name="Text 5"/>
          <p:cNvSpPr txBox="1"/>
          <p:nvPr/>
        </p:nvSpPr>
        <p:spPr>
          <a:xfrm>
            <a:off x="6309360" y="5029200"/>
            <a:ext cx="5303520" cy="1005840"/>
          </a:xfrm>
          <a:prstGeom prst="rect">
            <a:avLst/>
          </a:prstGeom>
          <a:noFill/>
          <a:ln/>
        </p:spPr>
        <p:txBody>
          <a:bodyPr wrap="square" lIns="0" tIns="0" rIns="0" bIns="0" rtlCol="0" anchor="t"/>
          <a:lstStyle/>
          <a:p>
            <a:pPr marL="0" indent="0">
              <a:buNone/>
            </a:pPr>
            <a:r>
              <a:rPr lang="en-US" sz="1400" i="1" dirty="0">
                <a:solidFill>
                  <a:schemeClr val="tx2"/>
                </a:solidFill>
              </a:rPr>
              <a:t>Memory grows linearly with parameter count. Rough planning estimates from the GPT-2 parameter formula, not measurements. Activations come on top.</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777240"/>
          </a:xfrm>
          <a:prstGeom prst="rect">
            <a:avLst/>
          </a:prstGeom>
          <a:noFill/>
          <a:ln/>
        </p:spPr>
        <p:txBody>
          <a:bodyPr wrap="square" lIns="0" tIns="0" rIns="0" bIns="0" rtlCol="0" anchor="ctr"/>
          <a:lstStyle/>
          <a:p>
            <a:pPr marL="0" indent="0" algn="l">
              <a:buNone/>
            </a:pPr>
            <a:r>
              <a:rPr lang="en-US" sz="3200" b="1" dirty="0">
                <a:solidFill>
                  <a:schemeClr val="tx1"/>
                </a:solidFill>
              </a:rPr>
              <a:t>One training step, five parts</a:t>
            </a:r>
            <a:endParaRPr lang="en-US" sz="3200" dirty="0"/>
          </a:p>
        </p:txBody>
      </p:sp>
      <p:sp>
        <p:nvSpPr>
          <p:cNvPr id="4" name="Shape 1"/>
          <p:cNvSpPr/>
          <p:nvPr/>
        </p:nvSpPr>
        <p:spPr>
          <a:xfrm>
            <a:off x="548640" y="1371600"/>
            <a:ext cx="2148840" cy="822960"/>
          </a:xfrm>
          <a:prstGeom prst="homePlate">
            <a:avLst/>
          </a:prstGeom>
          <a:solidFill>
            <a:schemeClr val="tx1"/>
          </a:solidFill>
          <a:ln w="12700">
            <a:solidFill>
              <a:schemeClr val="tx1"/>
            </a:solidFill>
            <a:prstDash val="solid"/>
          </a:ln>
        </p:spPr>
      </p:sp>
      <p:sp>
        <p:nvSpPr>
          <p:cNvPr id="5" name="Text 2"/>
          <p:cNvSpPr txBox="1"/>
          <p:nvPr/>
        </p:nvSpPr>
        <p:spPr>
          <a:xfrm>
            <a:off x="731520" y="1371600"/>
            <a:ext cx="1783080" cy="822960"/>
          </a:xfrm>
          <a:prstGeom prst="rect">
            <a:avLst/>
          </a:prstGeom>
          <a:noFill/>
          <a:ln/>
        </p:spPr>
        <p:txBody>
          <a:bodyPr wrap="square" lIns="0" tIns="0" rIns="0" bIns="0" rtlCol="0" anchor="ctr"/>
          <a:lstStyle/>
          <a:p>
            <a:pPr marL="0" indent="0" algn="ctr">
              <a:buNone/>
            </a:pPr>
            <a:r>
              <a:rPr lang="en-US" sz="1800" b="1" dirty="0">
                <a:solidFill>
                  <a:schemeClr val="bg1"/>
                </a:solidFill>
              </a:rPr>
              <a:t>Forward</a:t>
            </a:r>
            <a:endParaRPr lang="en-US" sz="1800" dirty="0"/>
          </a:p>
        </p:txBody>
      </p:sp>
      <p:sp>
        <p:nvSpPr>
          <p:cNvPr id="6" name="Text 3"/>
          <p:cNvSpPr txBox="1"/>
          <p:nvPr/>
        </p:nvSpPr>
        <p:spPr>
          <a:xfrm>
            <a:off x="548640" y="2331720"/>
            <a:ext cx="2148840" cy="548640"/>
          </a:xfrm>
          <a:prstGeom prst="rect">
            <a:avLst/>
          </a:prstGeom>
          <a:noFill/>
          <a:ln/>
        </p:spPr>
        <p:txBody>
          <a:bodyPr wrap="square" lIns="0" tIns="0" rIns="0" bIns="0" rtlCol="0" anchor="t"/>
          <a:lstStyle/>
          <a:p>
            <a:pPr marL="0" indent="0" algn="ctr">
              <a:buNone/>
            </a:pPr>
            <a:r>
              <a:rPr lang="en-US" sz="1300" dirty="0">
                <a:solidFill>
                  <a:schemeClr val="tx1"/>
                </a:solidFill>
                <a:latin typeface="Courier New" pitchFamily="34" charset="0"/>
                <a:ea typeface="Courier New" pitchFamily="34" charset="-122"/>
                <a:cs typeface="Courier New" pitchFamily="34" charset="-120"/>
              </a:rPr>
              <a:t>logits = model(ids)</a:t>
            </a:r>
            <a:endParaRPr lang="en-US" sz="1300" dirty="0"/>
          </a:p>
        </p:txBody>
      </p:sp>
      <p:sp>
        <p:nvSpPr>
          <p:cNvPr id="7" name="Text 4"/>
          <p:cNvSpPr txBox="1"/>
          <p:nvPr/>
        </p:nvSpPr>
        <p:spPr>
          <a:xfrm>
            <a:off x="548640" y="2880360"/>
            <a:ext cx="2148840" cy="548640"/>
          </a:xfrm>
          <a:prstGeom prst="rect">
            <a:avLst/>
          </a:prstGeom>
          <a:noFill/>
          <a:ln/>
        </p:spPr>
        <p:txBody>
          <a:bodyPr wrap="square" lIns="0" tIns="0" rIns="0" bIns="0" rtlCol="0" anchor="t"/>
          <a:lstStyle/>
          <a:p>
            <a:pPr marL="0" indent="0" algn="ctr">
              <a:buNone/>
            </a:pPr>
            <a:r>
              <a:rPr lang="en-US" sz="1400" dirty="0">
                <a:solidFill>
                  <a:schemeClr val="tx2"/>
                </a:solidFill>
              </a:rPr>
              <a:t>(B, T, V)</a:t>
            </a:r>
            <a:endParaRPr lang="en-US" sz="1400" dirty="0"/>
          </a:p>
        </p:txBody>
      </p:sp>
      <p:sp>
        <p:nvSpPr>
          <p:cNvPr id="8" name="Shape 5"/>
          <p:cNvSpPr/>
          <p:nvPr/>
        </p:nvSpPr>
        <p:spPr>
          <a:xfrm>
            <a:off x="2770632" y="1371600"/>
            <a:ext cx="2148840" cy="822960"/>
          </a:xfrm>
          <a:prstGeom prst="chevron">
            <a:avLst/>
          </a:prstGeom>
          <a:solidFill>
            <a:schemeClr val="tx1"/>
          </a:solidFill>
          <a:ln w="12700">
            <a:solidFill>
              <a:schemeClr val="tx1"/>
            </a:solidFill>
            <a:prstDash val="solid"/>
          </a:ln>
        </p:spPr>
      </p:sp>
      <p:sp>
        <p:nvSpPr>
          <p:cNvPr id="9" name="Text 6"/>
          <p:cNvSpPr txBox="1"/>
          <p:nvPr/>
        </p:nvSpPr>
        <p:spPr>
          <a:xfrm>
            <a:off x="2953512" y="1371600"/>
            <a:ext cx="1783080" cy="822960"/>
          </a:xfrm>
          <a:prstGeom prst="rect">
            <a:avLst/>
          </a:prstGeom>
          <a:noFill/>
          <a:ln/>
        </p:spPr>
        <p:txBody>
          <a:bodyPr wrap="square" lIns="0" tIns="0" rIns="0" bIns="0" rtlCol="0" anchor="ctr"/>
          <a:lstStyle/>
          <a:p>
            <a:pPr marL="0" indent="0" algn="ctr">
              <a:buNone/>
            </a:pPr>
            <a:r>
              <a:rPr lang="en-US" sz="1800" b="1" dirty="0">
                <a:solidFill>
                  <a:schemeClr val="bg1"/>
                </a:solidFill>
              </a:rPr>
              <a:t>Loss</a:t>
            </a:r>
            <a:endParaRPr lang="en-US" sz="1800" dirty="0"/>
          </a:p>
        </p:txBody>
      </p:sp>
      <p:sp>
        <p:nvSpPr>
          <p:cNvPr id="10" name="Text 7"/>
          <p:cNvSpPr txBox="1"/>
          <p:nvPr/>
        </p:nvSpPr>
        <p:spPr>
          <a:xfrm>
            <a:off x="2770632" y="2331720"/>
            <a:ext cx="2148840" cy="548640"/>
          </a:xfrm>
          <a:prstGeom prst="rect">
            <a:avLst/>
          </a:prstGeom>
          <a:noFill/>
          <a:ln/>
        </p:spPr>
        <p:txBody>
          <a:bodyPr wrap="square" lIns="0" tIns="0" rIns="0" bIns="0" rtlCol="0" anchor="t"/>
          <a:lstStyle/>
          <a:p>
            <a:pPr marL="0" indent="0" algn="ctr">
              <a:buNone/>
            </a:pPr>
            <a:r>
              <a:rPr lang="en-US" sz="1300" dirty="0">
                <a:solidFill>
                  <a:schemeClr val="tx1"/>
                </a:solidFill>
                <a:latin typeface="Courier New" pitchFamily="34" charset="0"/>
                <a:ea typeface="Courier New" pitchFamily="34" charset="-122"/>
                <a:cs typeface="Courier New" pitchFamily="34" charset="-120"/>
              </a:rPr>
              <a:t>lm_loss(…)</a:t>
            </a:r>
            <a:endParaRPr lang="en-US" sz="1300" dirty="0"/>
          </a:p>
        </p:txBody>
      </p:sp>
      <p:sp>
        <p:nvSpPr>
          <p:cNvPr id="11" name="Text 8"/>
          <p:cNvSpPr txBox="1"/>
          <p:nvPr/>
        </p:nvSpPr>
        <p:spPr>
          <a:xfrm>
            <a:off x="2770632" y="2880360"/>
            <a:ext cx="2148840" cy="548640"/>
          </a:xfrm>
          <a:prstGeom prst="rect">
            <a:avLst/>
          </a:prstGeom>
          <a:noFill/>
          <a:ln/>
        </p:spPr>
        <p:txBody>
          <a:bodyPr wrap="square" lIns="0" tIns="0" rIns="0" bIns="0" rtlCol="0" anchor="t"/>
          <a:lstStyle/>
          <a:p>
            <a:pPr marL="0" indent="0" algn="ctr">
              <a:buNone/>
            </a:pPr>
            <a:r>
              <a:rPr lang="en-US" sz="1400" dirty="0">
                <a:solidFill>
                  <a:schemeClr val="tx2"/>
                </a:solidFill>
              </a:rPr>
              <a:t>shift once, ignore −100</a:t>
            </a:r>
            <a:endParaRPr lang="en-US" sz="1400" dirty="0"/>
          </a:p>
        </p:txBody>
      </p:sp>
      <p:sp>
        <p:nvSpPr>
          <p:cNvPr id="12" name="Shape 9"/>
          <p:cNvSpPr/>
          <p:nvPr/>
        </p:nvSpPr>
        <p:spPr>
          <a:xfrm>
            <a:off x="4992624" y="1371600"/>
            <a:ext cx="2148840" cy="822960"/>
          </a:xfrm>
          <a:prstGeom prst="chevron">
            <a:avLst/>
          </a:prstGeom>
          <a:solidFill>
            <a:schemeClr val="tx1"/>
          </a:solidFill>
          <a:ln w="12700">
            <a:solidFill>
              <a:schemeClr val="tx1"/>
            </a:solidFill>
            <a:prstDash val="solid"/>
          </a:ln>
        </p:spPr>
      </p:sp>
      <p:sp>
        <p:nvSpPr>
          <p:cNvPr id="13" name="Text 10"/>
          <p:cNvSpPr txBox="1"/>
          <p:nvPr/>
        </p:nvSpPr>
        <p:spPr>
          <a:xfrm>
            <a:off x="5175504" y="1371600"/>
            <a:ext cx="1783080" cy="822960"/>
          </a:xfrm>
          <a:prstGeom prst="rect">
            <a:avLst/>
          </a:prstGeom>
          <a:noFill/>
          <a:ln/>
        </p:spPr>
        <p:txBody>
          <a:bodyPr wrap="square" lIns="0" tIns="0" rIns="0" bIns="0" rtlCol="0" anchor="ctr"/>
          <a:lstStyle/>
          <a:p>
            <a:pPr marL="0" indent="0" algn="ctr">
              <a:buNone/>
            </a:pPr>
            <a:r>
              <a:rPr lang="en-US" sz="1800" b="1" dirty="0">
                <a:solidFill>
                  <a:schemeClr val="bg1"/>
                </a:solidFill>
              </a:rPr>
              <a:t>Backward</a:t>
            </a:r>
            <a:endParaRPr lang="en-US" sz="1800" dirty="0"/>
          </a:p>
        </p:txBody>
      </p:sp>
      <p:sp>
        <p:nvSpPr>
          <p:cNvPr id="14" name="Text 11"/>
          <p:cNvSpPr txBox="1"/>
          <p:nvPr/>
        </p:nvSpPr>
        <p:spPr>
          <a:xfrm>
            <a:off x="4992624" y="2331720"/>
            <a:ext cx="2148840" cy="548640"/>
          </a:xfrm>
          <a:prstGeom prst="rect">
            <a:avLst/>
          </a:prstGeom>
          <a:noFill/>
          <a:ln/>
        </p:spPr>
        <p:txBody>
          <a:bodyPr wrap="square" lIns="0" tIns="0" rIns="0" bIns="0" rtlCol="0" anchor="t"/>
          <a:lstStyle/>
          <a:p>
            <a:pPr marL="0" indent="0" algn="ctr">
              <a:buNone/>
            </a:pPr>
            <a:r>
              <a:rPr lang="en-US" sz="1300" dirty="0">
                <a:solidFill>
                  <a:schemeClr val="tx1"/>
                </a:solidFill>
                <a:latin typeface="Courier New" pitchFamily="34" charset="0"/>
                <a:ea typeface="Courier New" pitchFamily="34" charset="-122"/>
                <a:cs typeface="Courier New" pitchFamily="34" charset="-120"/>
              </a:rPr>
              <a:t>loss.backward()</a:t>
            </a:r>
            <a:endParaRPr lang="en-US" sz="1300" dirty="0"/>
          </a:p>
        </p:txBody>
      </p:sp>
      <p:sp>
        <p:nvSpPr>
          <p:cNvPr id="15" name="Text 12"/>
          <p:cNvSpPr txBox="1"/>
          <p:nvPr/>
        </p:nvSpPr>
        <p:spPr>
          <a:xfrm>
            <a:off x="4992624" y="2880360"/>
            <a:ext cx="2148840" cy="548640"/>
          </a:xfrm>
          <a:prstGeom prst="rect">
            <a:avLst/>
          </a:prstGeom>
          <a:noFill/>
          <a:ln/>
        </p:spPr>
        <p:txBody>
          <a:bodyPr wrap="square" lIns="0" tIns="0" rIns="0" bIns="0" rtlCol="0" anchor="t"/>
          <a:lstStyle/>
          <a:p>
            <a:pPr marL="0" indent="0" algn="ctr">
              <a:buNone/>
            </a:pPr>
            <a:r>
              <a:rPr lang="en-US" sz="1400" dirty="0">
                <a:solidFill>
                  <a:schemeClr val="tx2"/>
                </a:solidFill>
              </a:rPr>
              <a:t>∂L/∂θ for every parameter</a:t>
            </a:r>
            <a:endParaRPr lang="en-US" sz="1400" dirty="0"/>
          </a:p>
        </p:txBody>
      </p:sp>
      <p:sp>
        <p:nvSpPr>
          <p:cNvPr id="16" name="Shape 13"/>
          <p:cNvSpPr/>
          <p:nvPr/>
        </p:nvSpPr>
        <p:spPr>
          <a:xfrm>
            <a:off x="7214616" y="1371600"/>
            <a:ext cx="2148840" cy="822960"/>
          </a:xfrm>
          <a:prstGeom prst="chevron">
            <a:avLst/>
          </a:prstGeom>
          <a:solidFill>
            <a:schemeClr val="tx1"/>
          </a:solidFill>
          <a:ln w="12700">
            <a:solidFill>
              <a:schemeClr val="tx1"/>
            </a:solidFill>
            <a:prstDash val="solid"/>
          </a:ln>
        </p:spPr>
      </p:sp>
      <p:sp>
        <p:nvSpPr>
          <p:cNvPr id="17" name="Text 14"/>
          <p:cNvSpPr txBox="1"/>
          <p:nvPr/>
        </p:nvSpPr>
        <p:spPr>
          <a:xfrm>
            <a:off x="7397496" y="1371600"/>
            <a:ext cx="1783080" cy="822960"/>
          </a:xfrm>
          <a:prstGeom prst="rect">
            <a:avLst/>
          </a:prstGeom>
          <a:noFill/>
          <a:ln/>
        </p:spPr>
        <p:txBody>
          <a:bodyPr wrap="square" lIns="0" tIns="0" rIns="0" bIns="0" rtlCol="0" anchor="ctr"/>
          <a:lstStyle/>
          <a:p>
            <a:pPr marL="0" indent="0" algn="ctr">
              <a:buNone/>
            </a:pPr>
            <a:r>
              <a:rPr lang="en-US" sz="1800" b="1" dirty="0">
                <a:solidFill>
                  <a:schemeClr val="bg1"/>
                </a:solidFill>
              </a:rPr>
              <a:t>Clip</a:t>
            </a:r>
            <a:endParaRPr lang="en-US" sz="1800" dirty="0"/>
          </a:p>
        </p:txBody>
      </p:sp>
      <p:sp>
        <p:nvSpPr>
          <p:cNvPr id="18" name="Text 15"/>
          <p:cNvSpPr txBox="1"/>
          <p:nvPr/>
        </p:nvSpPr>
        <p:spPr>
          <a:xfrm>
            <a:off x="7214616" y="2331720"/>
            <a:ext cx="2148840" cy="548640"/>
          </a:xfrm>
          <a:prstGeom prst="rect">
            <a:avLst/>
          </a:prstGeom>
          <a:noFill/>
          <a:ln/>
        </p:spPr>
        <p:txBody>
          <a:bodyPr wrap="square" lIns="0" tIns="0" rIns="0" bIns="0" rtlCol="0" anchor="t"/>
          <a:lstStyle/>
          <a:p>
            <a:pPr marL="0" indent="0" algn="ctr">
              <a:buNone/>
            </a:pPr>
            <a:r>
              <a:rPr lang="en-US" sz="1300" dirty="0">
                <a:solidFill>
                  <a:schemeClr val="tx1"/>
                </a:solidFill>
                <a:latin typeface="Courier New" pitchFamily="34" charset="0"/>
                <a:ea typeface="Courier New" pitchFamily="34" charset="-122"/>
                <a:cs typeface="Courier New" pitchFamily="34" charset="-120"/>
              </a:rPr>
              <a:t>clip_grad_norm_(…, 1.0)</a:t>
            </a:r>
            <a:endParaRPr lang="en-US" sz="1300" dirty="0"/>
          </a:p>
        </p:txBody>
      </p:sp>
      <p:sp>
        <p:nvSpPr>
          <p:cNvPr id="19" name="Text 16"/>
          <p:cNvSpPr txBox="1"/>
          <p:nvPr/>
        </p:nvSpPr>
        <p:spPr>
          <a:xfrm>
            <a:off x="7214616" y="2880360"/>
            <a:ext cx="2148840" cy="548640"/>
          </a:xfrm>
          <a:prstGeom prst="rect">
            <a:avLst/>
          </a:prstGeom>
          <a:noFill/>
          <a:ln/>
        </p:spPr>
        <p:txBody>
          <a:bodyPr wrap="square" lIns="0" tIns="0" rIns="0" bIns="0" rtlCol="0" anchor="t"/>
          <a:lstStyle/>
          <a:p>
            <a:pPr marL="0" indent="0" algn="ctr">
              <a:buNone/>
            </a:pPr>
            <a:r>
              <a:rPr lang="en-US" sz="1400" dirty="0">
                <a:solidFill>
                  <a:schemeClr val="tx2"/>
                </a:solidFill>
              </a:rPr>
              <a:t>cap the gradient norm</a:t>
            </a:r>
            <a:endParaRPr lang="en-US" sz="1400" dirty="0"/>
          </a:p>
        </p:txBody>
      </p:sp>
      <p:sp>
        <p:nvSpPr>
          <p:cNvPr id="20" name="Shape 17"/>
          <p:cNvSpPr/>
          <p:nvPr/>
        </p:nvSpPr>
        <p:spPr>
          <a:xfrm>
            <a:off x="9436608" y="1371600"/>
            <a:ext cx="2148840" cy="822960"/>
          </a:xfrm>
          <a:prstGeom prst="chevron">
            <a:avLst/>
          </a:prstGeom>
          <a:solidFill>
            <a:schemeClr val="accent1"/>
          </a:solidFill>
          <a:ln w="12700">
            <a:solidFill>
              <a:schemeClr val="accent1"/>
            </a:solidFill>
            <a:prstDash val="solid"/>
          </a:ln>
        </p:spPr>
      </p:sp>
      <p:sp>
        <p:nvSpPr>
          <p:cNvPr id="21" name="Text 18"/>
          <p:cNvSpPr txBox="1"/>
          <p:nvPr/>
        </p:nvSpPr>
        <p:spPr>
          <a:xfrm>
            <a:off x="9619488" y="1371600"/>
            <a:ext cx="1783080" cy="822960"/>
          </a:xfrm>
          <a:prstGeom prst="rect">
            <a:avLst/>
          </a:prstGeom>
          <a:noFill/>
          <a:ln/>
        </p:spPr>
        <p:txBody>
          <a:bodyPr wrap="square" lIns="0" tIns="0" rIns="0" bIns="0" rtlCol="0" anchor="ctr"/>
          <a:lstStyle/>
          <a:p>
            <a:pPr marL="0" indent="0" algn="ctr">
              <a:buNone/>
            </a:pPr>
            <a:r>
              <a:rPr lang="en-US" sz="1800" b="1" dirty="0">
                <a:solidFill>
                  <a:schemeClr val="bg1"/>
                </a:solidFill>
              </a:rPr>
              <a:t>Update</a:t>
            </a:r>
            <a:endParaRPr lang="en-US" sz="1800" dirty="0"/>
          </a:p>
        </p:txBody>
      </p:sp>
      <p:sp>
        <p:nvSpPr>
          <p:cNvPr id="22" name="Text 19"/>
          <p:cNvSpPr txBox="1"/>
          <p:nvPr/>
        </p:nvSpPr>
        <p:spPr>
          <a:xfrm>
            <a:off x="9436608" y="2331720"/>
            <a:ext cx="2148840" cy="548640"/>
          </a:xfrm>
          <a:prstGeom prst="rect">
            <a:avLst/>
          </a:prstGeom>
          <a:noFill/>
          <a:ln/>
        </p:spPr>
        <p:txBody>
          <a:bodyPr wrap="square" lIns="0" tIns="0" rIns="0" bIns="0" rtlCol="0" anchor="t"/>
          <a:lstStyle/>
          <a:p>
            <a:pPr marL="0" indent="0" algn="ctr">
              <a:buNone/>
            </a:pPr>
            <a:r>
              <a:rPr lang="en-US" sz="1300" dirty="0">
                <a:solidFill>
                  <a:schemeClr val="tx1"/>
                </a:solidFill>
                <a:latin typeface="Courier New" pitchFamily="34" charset="0"/>
                <a:ea typeface="Courier New" pitchFamily="34" charset="-122"/>
                <a:cs typeface="Courier New" pitchFamily="34" charset="-120"/>
              </a:rPr>
              <a:t>opt.step(); sched.step()</a:t>
            </a:r>
            <a:endParaRPr lang="en-US" sz="1300" dirty="0"/>
          </a:p>
        </p:txBody>
      </p:sp>
      <p:sp>
        <p:nvSpPr>
          <p:cNvPr id="23" name="Text 20"/>
          <p:cNvSpPr txBox="1"/>
          <p:nvPr/>
        </p:nvSpPr>
        <p:spPr>
          <a:xfrm>
            <a:off x="9436608" y="2880360"/>
            <a:ext cx="2148840" cy="548640"/>
          </a:xfrm>
          <a:prstGeom prst="rect">
            <a:avLst/>
          </a:prstGeom>
          <a:noFill/>
          <a:ln/>
        </p:spPr>
        <p:txBody>
          <a:bodyPr wrap="square" lIns="0" tIns="0" rIns="0" bIns="0" rtlCol="0" anchor="t"/>
          <a:lstStyle/>
          <a:p>
            <a:pPr marL="0" indent="0" algn="ctr">
              <a:buNone/>
            </a:pPr>
            <a:r>
              <a:rPr lang="en-US" sz="1400" dirty="0">
                <a:solidFill>
                  <a:schemeClr val="tx2"/>
                </a:solidFill>
              </a:rPr>
              <a:t>AdamW + LR schedule</a:t>
            </a:r>
            <a:endParaRPr lang="en-US" sz="1400" dirty="0"/>
          </a:p>
        </p:txBody>
      </p:sp>
      <p:sp>
        <p:nvSpPr>
          <p:cNvPr id="24" name="toy model"/>
          <p:cNvSpPr/>
          <p:nvPr/>
        </p:nvSpPr>
        <p:spPr>
          <a:xfrm>
            <a:off x="548640" y="3749040"/>
            <a:ext cx="5394960" cy="2377440"/>
          </a:xfrm>
          <a:prstGeom prst="roundRect">
            <a:avLst>
              <a:gd name="adj" fmla="val 4615"/>
            </a:avLst>
          </a:prstGeom>
          <a:solidFill>
            <a:schemeClr val="bg2"/>
          </a:solidFill>
          <a:ln w="12700">
            <a:solidFill>
              <a:schemeClr val="bg2"/>
            </a:solidFill>
            <a:prstDash val="solid"/>
          </a:ln>
        </p:spPr>
      </p:sp>
      <p:sp>
        <p:nvSpPr>
          <p:cNvPr id="25" name="Text 22"/>
          <p:cNvSpPr txBox="1"/>
          <p:nvPr/>
        </p:nvSpPr>
        <p:spPr>
          <a:xfrm>
            <a:off x="777240" y="3886200"/>
            <a:ext cx="4937760" cy="2148840"/>
          </a:xfrm>
          <a:prstGeom prst="rect">
            <a:avLst/>
          </a:prstGeom>
          <a:noFill/>
          <a:ln/>
        </p:spPr>
        <p:txBody>
          <a:bodyPr wrap="square" lIns="0" tIns="0" rIns="0" bIns="0" rtlCol="0" anchor="t"/>
          <a:lstStyle/>
          <a:p>
            <a:pPr marL="0" indent="0">
              <a:spcAft>
                <a:spcPts val="500"/>
              </a:spcAft>
              <a:buNone/>
            </a:pPr>
            <a:r>
              <a:rPr lang="en-US" sz="1900" b="1" dirty="0">
                <a:solidFill>
                  <a:schemeClr val="tx1"/>
                </a:solidFill>
              </a:rPr>
              <a:t>The toy model</a:t>
            </a:r>
            <a:endParaRPr lang="en-US" sz="1500" dirty="0"/>
          </a:p>
          <a:p>
            <a:pPr marL="0" indent="0">
              <a:spcAft>
                <a:spcPts val="500"/>
              </a:spcAft>
              <a:buNone/>
            </a:pPr>
            <a:r>
              <a:rPr lang="en-US" sz="1500" dirty="0">
                <a:solidFill>
                  <a:schemeClr val="tx1"/>
                </a:solidFill>
              </a:rPr>
              <a:t>GPT-2 design at small scale: learned positions, pre-norm blocks, causal attention, GELU feed-forward, tied output head</a:t>
            </a:r>
            <a:endParaRPr lang="en-US" sz="1500" dirty="0"/>
          </a:p>
          <a:p>
            <a:pPr marL="0" indent="0">
              <a:spcAft>
                <a:spcPts val="500"/>
              </a:spcAft>
              <a:buNone/>
            </a:pPr>
            <a:r>
              <a:rPr lang="en-US" sz="1500" dirty="0">
                <a:solidFill>
                  <a:schemeClr val="tx1"/>
                </a:solidFill>
              </a:rPr>
              <a:t>D = 64, 4 heads, 2 blocks: 108K parameters</a:t>
            </a:r>
            <a:endParaRPr lang="en-US" sz="1500" dirty="0"/>
          </a:p>
          <a:p>
            <a:pPr marL="0" indent="0">
              <a:spcAft>
                <a:spcPts val="500"/>
              </a:spcAft>
              <a:buNone/>
            </a:pPr>
            <a:r>
              <a:rPr lang="en-US" sz="1500" dirty="0">
                <a:solidFill>
                  <a:schemeClr val="tx1"/>
                </a:solidFill>
              </a:rPr>
              <a:t>Dropout 0.1, so train() and eval() behave differently</a:t>
            </a:r>
            <a:endParaRPr lang="en-US" sz="1500" dirty="0"/>
          </a:p>
        </p:txBody>
      </p:sp>
      <p:sp>
        <p:nvSpPr>
          <p:cNvPr id="26" name="sanity check"/>
          <p:cNvSpPr/>
          <p:nvPr/>
        </p:nvSpPr>
        <p:spPr>
          <a:xfrm>
            <a:off x="6217920" y="3749040"/>
            <a:ext cx="5394960" cy="2377440"/>
          </a:xfrm>
          <a:prstGeom prst="roundRect">
            <a:avLst>
              <a:gd name="adj" fmla="val 4615"/>
            </a:avLst>
          </a:prstGeom>
          <a:solidFill>
            <a:schemeClr val="accent5"/>
          </a:solidFill>
          <a:ln w="12700">
            <a:solidFill>
              <a:schemeClr val="accent5"/>
            </a:solidFill>
            <a:prstDash val="solid"/>
          </a:ln>
        </p:spPr>
      </p:sp>
      <p:sp>
        <p:nvSpPr>
          <p:cNvPr id="27" name="Text 24"/>
          <p:cNvSpPr txBox="1"/>
          <p:nvPr/>
        </p:nvSpPr>
        <p:spPr>
          <a:xfrm>
            <a:off x="6446520" y="3886200"/>
            <a:ext cx="4937760" cy="2148840"/>
          </a:xfrm>
          <a:prstGeom prst="rect">
            <a:avLst/>
          </a:prstGeom>
          <a:noFill/>
          <a:ln/>
        </p:spPr>
        <p:txBody>
          <a:bodyPr wrap="square" lIns="0" tIns="0" rIns="0" bIns="0" rtlCol="0" anchor="t"/>
          <a:lstStyle/>
          <a:p>
            <a:pPr marL="0" indent="0">
              <a:spcAft>
                <a:spcPts val="500"/>
              </a:spcAft>
              <a:buNone/>
            </a:pPr>
            <a:r>
              <a:rPr lang="en-US" sz="1900" b="1" dirty="0">
                <a:solidFill>
                  <a:schemeClr val="tx1"/>
                </a:solidFill>
              </a:rPr>
              <a:t>Sanity check before training</a:t>
            </a:r>
            <a:endParaRPr lang="en-US" sz="1500" dirty="0"/>
          </a:p>
          <a:p>
            <a:pPr marL="0" indent="0">
              <a:spcAft>
                <a:spcPts val="500"/>
              </a:spcAft>
              <a:buNone/>
            </a:pPr>
            <a:r>
              <a:rPr lang="en-US" sz="1500" dirty="0">
                <a:solidFill>
                  <a:schemeClr val="tx1"/>
                </a:solidFill>
              </a:rPr>
              <a:t>Untrained loss on recipes: </a:t>
            </a:r>
            <a:r>
              <a:rPr lang="en-US" sz="1500" b="1" dirty="0">
                <a:solidFill>
                  <a:schemeClr val="tx1"/>
                </a:solidFill>
              </a:rPr>
              <a:t>4.355</a:t>
            </a:r>
            <a:endParaRPr lang="en-US" sz="1500" dirty="0"/>
          </a:p>
          <a:p>
            <a:pPr marL="0" indent="0">
              <a:spcAft>
                <a:spcPts val="500"/>
              </a:spcAft>
              <a:buNone/>
            </a:pPr>
            <a:r>
              <a:rPr lang="en-US" sz="1500" dirty="0">
                <a:solidFill>
                  <a:schemeClr val="tx1"/>
                </a:solidFill>
              </a:rPr>
              <a:t>ln V = </a:t>
            </a:r>
            <a:r>
              <a:rPr lang="en-US" sz="1500" b="1" dirty="0">
                <a:solidFill>
                  <a:schemeClr val="tx1"/>
                </a:solidFill>
              </a:rPr>
              <a:t>4.344</a:t>
            </a:r>
            <a:endParaRPr lang="en-US" sz="1500" dirty="0"/>
          </a:p>
          <a:p>
            <a:pPr marL="0" indent="0">
              <a:spcAft>
                <a:spcPts val="500"/>
              </a:spcAft>
              <a:buNone/>
            </a:pPr>
            <a:r>
              <a:rPr lang="en-US" sz="1500" dirty="0">
                <a:solidFill>
                  <a:schemeClr val="tx1"/>
                </a:solidFill>
              </a:rPr>
              <a:t>Every token about equally likely, as expected. Starting far above ln V would suggest a bad initialization or a bug.</a:t>
            </a:r>
            <a:endParaRPr lang="en-US" sz="1500" dirty="0"/>
          </a:p>
        </p:txBody>
      </p:sp>
      <p:sp>
        <p:nvSpPr>
          <p:cNvPr id="3"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777240"/>
          </a:xfrm>
          <a:prstGeom prst="rect">
            <a:avLst/>
          </a:prstGeom>
          <a:noFill/>
          <a:ln/>
        </p:spPr>
        <p:txBody>
          <a:bodyPr wrap="square" lIns="0" tIns="0" rIns="0" bIns="0" rtlCol="0" anchor="ctr"/>
          <a:lstStyle/>
          <a:p>
            <a:pPr marL="0" indent="0" algn="l">
              <a:buNone/>
            </a:pPr>
            <a:r>
              <a:rPr lang="en-US" sz="3200" b="1" dirty="0">
                <a:solidFill>
                  <a:schemeClr val="tx1"/>
                </a:solidFill>
              </a:rPr>
              <a:t>The knobs</a:t>
            </a:r>
            <a:endParaRPr lang="en-US" sz="3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64240" cy="4937760"/>
        </p:xfrm>
        <a:graphic>
          <a:graphicData uri="http://schemas.openxmlformats.org/drawingml/2006/table">
            <a:tbl>
              <a:tblPr/>
              <a:tblGrid>
                <a:gridCol w="2651760"/>
                <a:gridCol w="3840480"/>
                <a:gridCol w="4572000"/>
              </a:tblGrid>
              <a:tr h="548640">
                <a:tc>
                  <a:txBody>
                    <a:bodyPr/>
                    <a:lstStyle/>
                    <a:p>
                      <a:pPr marL="0" indent="0">
                        <a:buNone/>
                      </a:pPr>
                      <a:r>
                        <a:rPr lang="en-US" sz="1400" b="1" dirty="0">
                          <a:solidFill>
                            <a:schemeClr val="bg1"/>
                          </a:solidFill>
                        </a:rPr>
                        <a:t>Knob</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marL="0" indent="0">
                        <a:buNone/>
                      </a:pPr>
                      <a:r>
                        <a:rPr lang="en-US" sz="1400" b="1" dirty="0">
                          <a:solidFill>
                            <a:schemeClr val="bg1"/>
                          </a:solidFill>
                        </a:rPr>
                        <a:t>What it controls</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marL="0" indent="0">
                        <a:buNone/>
                      </a:pPr>
                      <a:r>
                        <a:rPr lang="en-US" sz="1400" b="1" dirty="0">
                          <a:solidFill>
                            <a:schemeClr val="bg1"/>
                          </a:solidFill>
                        </a:rPr>
                        <a:t>Typical practice</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r>
              <a:tr h="548640">
                <a:tc>
                  <a:txBody>
                    <a:bodyPr/>
                    <a:lstStyle/>
                    <a:p>
                      <a:pPr marL="0" indent="0">
                        <a:buNone/>
                      </a:pPr>
                      <a:r>
                        <a:rPr lang="en-US" sz="1400" b="1" dirty="0">
                          <a:solidFill>
                            <a:schemeClr val="accent1"/>
                          </a:solidFill>
                        </a:rPr>
                        <a:t>Peak learning rate</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Size of each update</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Much smaller than in pretraining. HF Trainer default 5e-5: a starting point only</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548640">
                <a:tc>
                  <a:txBody>
                    <a:bodyPr/>
                    <a:lstStyle/>
                    <a:p>
                      <a:pPr marL="0" indent="0">
                        <a:buNone/>
                      </a:pPr>
                      <a:r>
                        <a:rPr lang="en-US" sz="1400" b="1" dirty="0">
                          <a:solidFill>
                            <a:schemeClr val="tx1"/>
                          </a:solidFill>
                        </a:rPr>
                        <a:t>Warmup</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LR rises from 0 over the first few % of steps</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Adam's moment estimates are noisy at first</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r h="548640">
                <a:tc>
                  <a:txBody>
                    <a:bodyPr/>
                    <a:lstStyle/>
                    <a:p>
                      <a:pPr marL="0" indent="0">
                        <a:buNone/>
                      </a:pPr>
                      <a:r>
                        <a:rPr lang="en-US" sz="1400" b="1" dirty="0">
                          <a:solidFill>
                            <a:schemeClr val="tx1"/>
                          </a:solidFill>
                        </a:rPr>
                        <a:t>Decay</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LR falls (linear or cosine) to ~0</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Large steps early, small steps to settle</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548640">
                <a:tc>
                  <a:txBody>
                    <a:bodyPr/>
                    <a:lstStyle/>
                    <a:p>
                      <a:pPr marL="0" indent="0">
                        <a:buNone/>
                      </a:pPr>
                      <a:r>
                        <a:rPr lang="en-US" sz="1400" b="1" dirty="0">
                          <a:solidFill>
                            <a:schemeClr val="tx1"/>
                          </a:solidFill>
                        </a:rPr>
                        <a:t>Gradient clipping</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Rescales the gradient if its norm exceeds a limit</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Commonly 1.0; guards against one odd batch</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r h="548640">
                <a:tc>
                  <a:txBody>
                    <a:bodyPr/>
                    <a:lstStyle/>
                    <a:p>
                      <a:pPr marL="0" indent="0">
                        <a:buNone/>
                      </a:pPr>
                      <a:r>
                        <a:rPr lang="en-US" sz="1400" b="1" dirty="0">
                          <a:solidFill>
                            <a:schemeClr val="tx1"/>
                          </a:solidFill>
                        </a:rPr>
                        <a:t>Weight decay (AdamW)</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Shrinks weights slightly, decoupled from the gradient</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Mild regularization; often skipped for biases and layer norms</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548640">
                <a:tc>
                  <a:txBody>
                    <a:bodyPr/>
                    <a:lstStyle/>
                    <a:p>
                      <a:pPr marL="0" indent="0">
                        <a:buNone/>
                      </a:pPr>
                      <a:r>
                        <a:rPr lang="en-US" sz="1400" b="1" dirty="0">
                          <a:solidFill>
                            <a:schemeClr val="tx1"/>
                          </a:solidFill>
                        </a:rPr>
                        <a:t>Batch size / accumulation</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Examples per update</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Accumulate micro-batches when memory is short</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r h="548640">
                <a:tc>
                  <a:txBody>
                    <a:bodyPr/>
                    <a:lstStyle/>
                    <a:p>
                      <a:pPr marL="0" indent="0">
                        <a:buNone/>
                      </a:pPr>
                      <a:r>
                        <a:rPr lang="en-US" sz="1400" b="1" dirty="0">
                          <a:solidFill>
                            <a:schemeClr val="tx1"/>
                          </a:solidFill>
                        </a:rPr>
                        <a:t>Epochs / steps</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Passes over the data</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Few; stop by validation loss, not training loss</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548640">
                <a:tc>
                  <a:txBody>
                    <a:bodyPr/>
                    <a:lstStyle/>
                    <a:p>
                      <a:pPr marL="0" indent="0">
                        <a:buNone/>
                      </a:pPr>
                      <a:r>
                        <a:rPr lang="en-US" sz="1400" b="1" dirty="0">
                          <a:solidFill>
                            <a:schemeClr val="tx1"/>
                          </a:solidFill>
                        </a:rPr>
                        <a:t>train() vs. eval()</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Dropout on or off</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train() for updates; eval() for measuring and generating</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777240"/>
          </a:xfrm>
          <a:prstGeom prst="rect">
            <a:avLst/>
          </a:prstGeom>
          <a:noFill/>
          <a:ln/>
        </p:spPr>
        <p:txBody>
          <a:bodyPr wrap="square" lIns="0" tIns="0" rIns="0" bIns="0" rtlCol="0" anchor="ctr"/>
          <a:lstStyle/>
          <a:p>
            <a:pPr marL="0" indent="0" algn="l">
              <a:buNone/>
            </a:pPr>
            <a:r>
              <a:rPr lang="en-US" sz="3200" b="1" dirty="0">
                <a:solidFill>
                  <a:schemeClr val="tx1"/>
                </a:solidFill>
              </a:rPr>
              <a:t>Warmup, then linear decay</a:t>
            </a:r>
            <a:endParaRPr lang="en-US" sz="3200" dirty="0"/>
          </a:p>
        </p:txBody>
      </p:sp>
      <p:graphicFrame>
        <p:nvGraphicFramePr>
          <p:cNvPr id="4" name="Chart 0"/>
          <p:cNvGraphicFramePr/>
          <p:nvPr/>
        </p:nvGraphicFramePr>
        <p:xfrm>
          <a:off x="5852160" y="1234440"/>
          <a:ext cx="5760720" cy="4023360"/>
        </p:xfrm>
        <a:graphic>
          <a:graphicData uri="http://schemas.openxmlformats.org/drawingml/2006/chart">
            <c:chart xmlns:c="http://schemas.openxmlformats.org/drawingml/2006/chart" xmlns:r="http://schemas.openxmlformats.org/officeDocument/2006/relationships" r:id="rId3"/>
          </a:graphicData>
        </a:graphic>
      </p:graphicFrame>
      <p:sp>
        <p:nvSpPr>
          <p:cNvPr id="5" name="schedule equation"/>
          <p:cNvSpPr/>
          <p:nvPr/>
        </p:nvSpPr>
        <p:spPr>
          <a:xfrm>
            <a:off x="548640" y="1234440"/>
            <a:ext cx="5029200" cy="2103120"/>
          </a:xfrm>
          <a:prstGeom prst="roundRect">
            <a:avLst>
              <a:gd name="adj" fmla="val 5217"/>
            </a:avLst>
          </a:prstGeom>
          <a:solidFill>
            <a:schemeClr val="bg2"/>
          </a:solidFill>
          <a:ln w="12700">
            <a:solidFill>
              <a:schemeClr val="bg2"/>
            </a:solidFill>
            <a:prstDash val="solid"/>
          </a:ln>
        </p:spPr>
      </p:sp>
      <p:sp>
        <p:nvSpPr>
          <p:cNvPr id="6" name="Text 2"/>
          <p:cNvSpPr txBox="1"/>
          <p:nvPr/>
        </p:nvSpPr>
        <p:spPr>
          <a:xfrm>
            <a:off x="777240" y="1371600"/>
            <a:ext cx="4663440" cy="1828800"/>
          </a:xfrm>
          <a:prstGeom prst="rect">
            <a:avLst/>
          </a:prstGeom>
          <a:noFill/>
          <a:ln/>
        </p:spPr>
        <p:txBody>
          <a:bodyPr wrap="square" lIns="0" tIns="0" rIns="0" bIns="0" rtlCol="0" anchor="ctr"/>
          <a:lstStyle/>
          <a:p>
            <a:pPr marL="0" indent="0">
              <a:spcAft>
                <a:spcPts val="1000"/>
              </a:spcAft>
              <a:buNone/>
            </a:pPr>
            <a:r>
              <a:rPr lang="en-US" sz="1800" dirty="0">
                <a:solidFill>
                  <a:schemeClr val="tx1"/>
                </a:solidFill>
                <a:latin typeface="Cambria" pitchFamily="34" charset="0"/>
                <a:ea typeface="Cambria" pitchFamily="34" charset="-122"/>
                <a:cs typeface="Cambria" pitchFamily="34" charset="-120"/>
              </a:rPr>
              <a:t>η(s) = η</a:t>
            </a:r>
            <a:r>
              <a:rPr lang="en-US" sz="1800" baseline="-40000" dirty="0">
                <a:solidFill>
                  <a:schemeClr val="tx1"/>
                </a:solidFill>
                <a:latin typeface="Cambria" pitchFamily="34" charset="0"/>
                <a:ea typeface="Cambria" pitchFamily="34" charset="-122"/>
                <a:cs typeface="Cambria" pitchFamily="34" charset="-120"/>
              </a:rPr>
              <a:t>max</a:t>
            </a:r>
            <a:r>
              <a:rPr lang="en-US" sz="1800" dirty="0">
                <a:solidFill>
                  <a:schemeClr val="tx1"/>
                </a:solidFill>
                <a:latin typeface="Cambria" pitchFamily="34" charset="0"/>
                <a:ea typeface="Cambria" pitchFamily="34" charset="-122"/>
                <a:cs typeface="Cambria" pitchFamily="34" charset="-120"/>
              </a:rPr>
              <a:t> · (s + 1) / S</a:t>
            </a:r>
            <a:r>
              <a:rPr lang="en-US" sz="1800" baseline="-40000" dirty="0">
                <a:solidFill>
                  <a:schemeClr val="tx1"/>
                </a:solidFill>
                <a:latin typeface="Cambria" pitchFamily="34" charset="0"/>
                <a:ea typeface="Cambria" pitchFamily="34" charset="-122"/>
                <a:cs typeface="Cambria" pitchFamily="34" charset="-120"/>
              </a:rPr>
              <a:t>w</a:t>
            </a:r>
            <a:r>
              <a:rPr lang="en-US" sz="1800" dirty="0">
                <a:solidFill>
                  <a:schemeClr val="tx1"/>
                </a:solidFill>
                <a:latin typeface="Cambria" pitchFamily="34" charset="0"/>
                <a:ea typeface="Cambria" pitchFamily="34" charset="-122"/>
                <a:cs typeface="Cambria" pitchFamily="34" charset="-120"/>
              </a:rPr>
              <a:t>        for s &lt; S</a:t>
            </a:r>
            <a:r>
              <a:rPr lang="en-US" sz="1800" baseline="-40000" dirty="0">
                <a:solidFill>
                  <a:schemeClr val="tx1"/>
                </a:solidFill>
                <a:latin typeface="Cambria" pitchFamily="34" charset="0"/>
                <a:ea typeface="Cambria" pitchFamily="34" charset="-122"/>
                <a:cs typeface="Cambria" pitchFamily="34" charset="-120"/>
              </a:rPr>
              <a:t>w</a:t>
            </a:r>
            <a:endParaRPr lang="en-US" sz="1800" dirty="0"/>
          </a:p>
          <a:p>
            <a:pPr marL="0" indent="0">
              <a:spcAft>
                <a:spcPts val="1000"/>
              </a:spcAft>
              <a:buNone/>
            </a:pPr>
            <a:r>
              <a:rPr lang="en-US" sz="1800" dirty="0">
                <a:solidFill>
                  <a:schemeClr val="tx1"/>
                </a:solidFill>
                <a:latin typeface="Cambria" pitchFamily="34" charset="0"/>
                <a:ea typeface="Cambria" pitchFamily="34" charset="-122"/>
                <a:cs typeface="Cambria" pitchFamily="34" charset="-120"/>
              </a:rPr>
              <a:t>η(s) = η</a:t>
            </a:r>
            <a:r>
              <a:rPr lang="en-US" sz="1800" baseline="-40000" dirty="0">
                <a:solidFill>
                  <a:schemeClr val="tx1"/>
                </a:solidFill>
                <a:latin typeface="Cambria" pitchFamily="34" charset="0"/>
                <a:ea typeface="Cambria" pitchFamily="34" charset="-122"/>
                <a:cs typeface="Cambria" pitchFamily="34" charset="-120"/>
              </a:rPr>
              <a:t>max</a:t>
            </a:r>
            <a:r>
              <a:rPr lang="en-US" sz="1800" dirty="0">
                <a:solidFill>
                  <a:schemeClr val="tx1"/>
                </a:solidFill>
                <a:latin typeface="Cambria" pitchFamily="34" charset="0"/>
                <a:ea typeface="Cambria" pitchFamily="34" charset="-122"/>
                <a:cs typeface="Cambria" pitchFamily="34" charset="-120"/>
              </a:rPr>
              <a:t> · (S − s) / (S − S</a:t>
            </a:r>
            <a:r>
              <a:rPr lang="en-US" sz="1800" baseline="-40000" dirty="0">
                <a:solidFill>
                  <a:schemeClr val="tx1"/>
                </a:solidFill>
                <a:latin typeface="Cambria" pitchFamily="34" charset="0"/>
                <a:ea typeface="Cambria" pitchFamily="34" charset="-122"/>
                <a:cs typeface="Cambria" pitchFamily="34" charset="-120"/>
              </a:rPr>
              <a:t>w</a:t>
            </a:r>
            <a:r>
              <a:rPr lang="en-US" sz="1800" dirty="0">
                <a:solidFill>
                  <a:schemeClr val="tx1"/>
                </a:solidFill>
                <a:latin typeface="Cambria" pitchFamily="34" charset="0"/>
                <a:ea typeface="Cambria" pitchFamily="34" charset="-122"/>
                <a:cs typeface="Cambria" pitchFamily="34" charset="-120"/>
              </a:rPr>
              <a:t>)   for s ≥ S</a:t>
            </a:r>
            <a:r>
              <a:rPr lang="en-US" sz="1800" baseline="-40000" dirty="0">
                <a:solidFill>
                  <a:schemeClr val="tx1"/>
                </a:solidFill>
                <a:latin typeface="Cambria" pitchFamily="34" charset="0"/>
                <a:ea typeface="Cambria" pitchFamily="34" charset="-122"/>
                <a:cs typeface="Cambria" pitchFamily="34" charset="-120"/>
              </a:rPr>
              <a:t>w</a:t>
            </a:r>
            <a:endParaRPr lang="en-US" sz="1800" dirty="0"/>
          </a:p>
        </p:txBody>
      </p:sp>
      <p:sp>
        <p:nvSpPr>
          <p:cNvPr id="7" name="Text 3"/>
          <p:cNvSpPr txBox="1"/>
          <p:nvPr/>
        </p:nvSpPr>
        <p:spPr>
          <a:xfrm>
            <a:off x="548640" y="3566160"/>
            <a:ext cx="5029200" cy="2560320"/>
          </a:xfrm>
          <a:prstGeom prst="rect">
            <a:avLst/>
          </a:prstGeom>
          <a:noFill/>
          <a:ln/>
        </p:spPr>
        <p:txBody>
          <a:bodyPr wrap="square" lIns="0" tIns="0" rIns="0" bIns="0" rtlCol="0" anchor="t"/>
          <a:lstStyle/>
          <a:p>
            <a:pPr marL="228600" indent="-228600">
              <a:spcAft>
                <a:spcPts val="800"/>
              </a:spcAft>
              <a:buSzPct val="100000"/>
              <a:buChar char="•"/>
            </a:pPr>
            <a:r>
              <a:rPr lang="en-US" sz="1600" b="1" dirty="0">
                <a:solidFill>
                  <a:schemeClr val="tx1"/>
                </a:solidFill>
              </a:rPr>
              <a:t>S: </a:t>
            </a:r>
            <a:r>
              <a:rPr lang="en-US" sz="1600" dirty="0">
                <a:solidFill>
                  <a:schemeClr val="tx1"/>
                </a:solidFill>
              </a:rPr>
              <a:t>total steps;  </a:t>
            </a:r>
            <a:r>
              <a:rPr lang="en-US" sz="1600" b="1" dirty="0">
                <a:solidFill>
                  <a:schemeClr val="tx1"/>
                </a:solidFill>
              </a:rPr>
              <a:t>S</a:t>
            </a:r>
            <a:r>
              <a:rPr lang="en-US" sz="1600" b="1" baseline="-40000" dirty="0">
                <a:solidFill>
                  <a:schemeClr val="tx1"/>
                </a:solidFill>
              </a:rPr>
              <a:t>w</a:t>
            </a:r>
            <a:r>
              <a:rPr lang="en-US" sz="1600" b="1" dirty="0">
                <a:solidFill>
                  <a:schemeClr val="tx1"/>
                </a:solidFill>
              </a:rPr>
              <a:t>: </a:t>
            </a:r>
            <a:r>
              <a:rPr lang="en-US" sz="1600" dirty="0">
                <a:solidFill>
                  <a:schemeClr val="tx1"/>
                </a:solidFill>
              </a:rPr>
              <a:t>warmup steps;  </a:t>
            </a:r>
            <a:r>
              <a:rPr lang="en-US" sz="1600" b="1" dirty="0">
                <a:solidFill>
                  <a:schemeClr val="tx1"/>
                </a:solidFill>
              </a:rPr>
              <a:t>η</a:t>
            </a:r>
            <a:r>
              <a:rPr lang="en-US" sz="1600" b="1" baseline="-40000" dirty="0">
                <a:solidFill>
                  <a:schemeClr val="tx1"/>
                </a:solidFill>
              </a:rPr>
              <a:t>max</a:t>
            </a:r>
            <a:r>
              <a:rPr lang="en-US" sz="1600" b="1" dirty="0">
                <a:solidFill>
                  <a:schemeClr val="tx1"/>
                </a:solidFill>
              </a:rPr>
              <a:t>: </a:t>
            </a:r>
            <a:r>
              <a:rPr lang="en-US" sz="1600" dirty="0">
                <a:solidFill>
                  <a:schemeClr val="tx1"/>
                </a:solidFill>
              </a:rPr>
              <a:t>peak LR</a:t>
            </a:r>
            <a:endParaRPr lang="en-US" sz="1600" dirty="0"/>
          </a:p>
          <a:p>
            <a:pPr marL="228600" indent="-228600">
              <a:spcAft>
                <a:spcPts val="800"/>
              </a:spcAft>
              <a:buSzPct val="100000"/>
              <a:buChar char="•"/>
            </a:pPr>
            <a:r>
              <a:rPr lang="en-US" sz="1600" b="1" dirty="0">
                <a:solidFill>
                  <a:schemeClr val="tx1"/>
                </a:solidFill>
              </a:rPr>
              <a:t>Warmup </a:t>
            </a:r>
            <a:r>
              <a:rPr lang="en-US" sz="1600" dirty="0">
                <a:solidFill>
                  <a:schemeClr val="tx1"/>
                </a:solidFill>
              </a:rPr>
              <a:t>avoids destructive first updates while Adam's estimates are still noisy</a:t>
            </a:r>
            <a:endParaRPr lang="en-US" sz="1600" dirty="0"/>
          </a:p>
          <a:p>
            <a:pPr marL="228600" indent="-228600">
              <a:spcAft>
                <a:spcPts val="800"/>
              </a:spcAft>
              <a:buSzPct val="100000"/>
              <a:buChar char="•"/>
            </a:pPr>
            <a:r>
              <a:rPr lang="en-US" sz="1600" b="1" dirty="0">
                <a:solidFill>
                  <a:schemeClr val="tx1"/>
                </a:solidFill>
              </a:rPr>
              <a:t>Decay </a:t>
            </a:r>
            <a:r>
              <a:rPr lang="en-US" sz="1600" dirty="0">
                <a:solidFill>
                  <a:schemeClr val="tx1"/>
                </a:solidFill>
              </a:rPr>
              <a:t>takes large steps early to adapt, small steps late to settle</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777240"/>
          </a:xfrm>
          <a:prstGeom prst="rect">
            <a:avLst/>
          </a:prstGeom>
          <a:noFill/>
          <a:ln/>
        </p:spPr>
        <p:txBody>
          <a:bodyPr wrap="square" lIns="0" tIns="0" rIns="0" bIns="0" rtlCol="0" anchor="ctr"/>
          <a:lstStyle/>
          <a:p>
            <a:pPr marL="0" indent="0" algn="l">
              <a:buNone/>
            </a:pPr>
            <a:r>
              <a:rPr lang="en-US" sz="3200" b="1" dirty="0">
                <a:solidFill>
                  <a:schemeClr val="tx1"/>
                </a:solidFill>
              </a:rPr>
              <a:t>Pretrain, then fine-tune</a:t>
            </a:r>
            <a:endParaRPr lang="en-US" sz="3200" dirty="0"/>
          </a:p>
        </p:txBody>
      </p:sp>
      <p:sp>
        <p:nvSpPr>
          <p:cNvPr id="4" name="demo tag"/>
          <p:cNvSpPr/>
          <p:nvPr/>
        </p:nvSpPr>
        <p:spPr>
          <a:xfrm>
            <a:off x="8732520" y="411480"/>
            <a:ext cx="2880360" cy="457200"/>
          </a:xfrm>
          <a:prstGeom prst="roundRect">
            <a:avLst>
              <a:gd name="adj" fmla="val 50000"/>
            </a:avLst>
          </a:prstGeom>
          <a:solidFill>
            <a:schemeClr val="accent2"/>
          </a:solidFill>
          <a:ln w="12700">
            <a:solidFill>
              <a:schemeClr val="accent2"/>
            </a:solidFill>
            <a:prstDash val="solid"/>
          </a:ln>
        </p:spPr>
      </p:sp>
      <p:sp>
        <p:nvSpPr>
          <p:cNvPr id="5" name="Text 2"/>
          <p:cNvSpPr txBox="1"/>
          <p:nvPr/>
        </p:nvSpPr>
        <p:spPr>
          <a:xfrm>
            <a:off x="8732520" y="411480"/>
            <a:ext cx="2880360" cy="457200"/>
          </a:xfrm>
          <a:prstGeom prst="rect">
            <a:avLst/>
          </a:prstGeom>
          <a:noFill/>
          <a:ln/>
        </p:spPr>
        <p:txBody>
          <a:bodyPr wrap="square" lIns="0" tIns="0" rIns="0" bIns="0" rtlCol="0" anchor="ctr"/>
          <a:lstStyle/>
          <a:p>
            <a:pPr marL="0" indent="0" algn="ctr">
              <a:buNone/>
            </a:pPr>
            <a:r>
              <a:rPr lang="en-US" sz="1400" b="1" dirty="0">
                <a:solidFill>
                  <a:schemeClr val="tx1"/>
                </a:solidFill>
              </a:rPr>
              <a:t>LIVE DEMO  </a:t>
            </a:r>
            <a:r>
              <a:rPr lang="en-US" sz="1400" dirty="0">
                <a:solidFill>
                  <a:schemeClr val="tx1"/>
                </a:solidFill>
              </a:rPr>
              <a:t>cells 24–26</a:t>
            </a:r>
            <a:endParaRPr lang="en-US" sz="1400" dirty="0"/>
          </a:p>
        </p:txBody>
      </p:sp>
      <p:pic>
        <p:nvPicPr>
          <p:cNvPr id="6" name="Image 0" descr="Loss curves during fine-tuning: recipe validation loss falls from about 4.5 to 0.37; generic held-out loss rises from 1.09 to about 7.5."/>
          <p:cNvPicPr>
            <a:picLocks noChangeAspect="1"/>
          </p:cNvPicPr>
          <p:nvPr/>
        </p:nvPicPr>
        <p:blipFill>
          <a:blip r:embed="rId3"/>
          <a:stretch>
            <a:fillRect/>
          </a:stretch>
        </p:blipFill>
        <p:spPr>
          <a:xfrm>
            <a:off x="548640" y="1325880"/>
            <a:ext cx="6675120" cy="3708400"/>
          </a:xfrm>
          <a:prstGeom prst="rect">
            <a:avLst/>
          </a:prstGeom>
        </p:spPr>
      </p:pic>
      <p:sp>
        <p:nvSpPr>
          <p:cNvPr id="7" name="Text 3"/>
          <p:cNvSpPr txBox="1"/>
          <p:nvPr/>
        </p:nvSpPr>
        <p:spPr>
          <a:xfrm>
            <a:off x="548640" y="5125720"/>
            <a:ext cx="6675120" cy="548640"/>
          </a:xfrm>
          <a:prstGeom prst="rect">
            <a:avLst/>
          </a:prstGeom>
          <a:noFill/>
          <a:ln/>
        </p:spPr>
        <p:txBody>
          <a:bodyPr wrap="square" lIns="0" tIns="0" rIns="0" bIns="0" rtlCol="0" anchor="t"/>
          <a:lstStyle/>
          <a:p>
            <a:pPr marL="0" indent="0">
              <a:buNone/>
            </a:pPr>
            <a:r>
              <a:rPr lang="en-US" sz="1200" i="1" dirty="0">
                <a:solidFill>
                  <a:schemeClr val="tx2"/>
                </a:solidFill>
              </a:rPr>
              <a:t>Pretraining: generic sentences, 400 steps, LR 3e-3.  Fine-tuning: 120 recipes, 800 steps, LR 1e-3. Toy model, one CPU run.</a:t>
            </a:r>
            <a:endParaRPr lang="en-US" sz="1200" dirty="0"/>
          </a:p>
        </p:txBody>
      </p:sp>
      <p:sp>
        <p:nvSpPr>
          <p:cNvPr id="8" name="Recipes (validation)"/>
          <p:cNvSpPr/>
          <p:nvPr/>
        </p:nvSpPr>
        <p:spPr>
          <a:xfrm>
            <a:off x="7498080" y="1325880"/>
            <a:ext cx="4114800" cy="2194560"/>
          </a:xfrm>
          <a:prstGeom prst="roundRect">
            <a:avLst>
              <a:gd name="adj" fmla="val 5000"/>
            </a:avLst>
          </a:prstGeom>
          <a:solidFill>
            <a:schemeClr val="bg2"/>
          </a:solidFill>
          <a:ln w="12700">
            <a:solidFill>
              <a:schemeClr val="bg2"/>
            </a:solidFill>
            <a:prstDash val="solid"/>
          </a:ln>
        </p:spPr>
      </p:sp>
      <p:sp>
        <p:nvSpPr>
          <p:cNvPr id="9" name="Text 5"/>
          <p:cNvSpPr txBox="1"/>
          <p:nvPr/>
        </p:nvSpPr>
        <p:spPr>
          <a:xfrm>
            <a:off x="7726680" y="1463040"/>
            <a:ext cx="3657600" cy="365760"/>
          </a:xfrm>
          <a:prstGeom prst="rect">
            <a:avLst/>
          </a:prstGeom>
          <a:noFill/>
          <a:ln/>
        </p:spPr>
        <p:txBody>
          <a:bodyPr wrap="square" lIns="0" tIns="0" rIns="0" bIns="0" rtlCol="0" anchor="t"/>
          <a:lstStyle/>
          <a:p>
            <a:pPr marL="0" indent="0">
              <a:buNone/>
            </a:pPr>
            <a:r>
              <a:rPr lang="en-US" sz="1500" b="1" dirty="0">
                <a:solidFill>
                  <a:schemeClr val="accent1"/>
                </a:solidFill>
              </a:rPr>
              <a:t>Recipes (validation)</a:t>
            </a:r>
            <a:endParaRPr lang="en-US" sz="1500" dirty="0"/>
          </a:p>
        </p:txBody>
      </p:sp>
      <p:sp>
        <p:nvSpPr>
          <p:cNvPr id="10" name="Text 6"/>
          <p:cNvSpPr txBox="1"/>
          <p:nvPr/>
        </p:nvSpPr>
        <p:spPr>
          <a:xfrm>
            <a:off x="7726680" y="1828800"/>
            <a:ext cx="3657600" cy="731520"/>
          </a:xfrm>
          <a:prstGeom prst="rect">
            <a:avLst/>
          </a:prstGeom>
          <a:noFill/>
          <a:ln/>
        </p:spPr>
        <p:txBody>
          <a:bodyPr wrap="square" lIns="0" tIns="0" rIns="0" bIns="0" rtlCol="0" anchor="t"/>
          <a:lstStyle/>
          <a:p>
            <a:pPr marL="0" indent="0">
              <a:buNone/>
            </a:pPr>
            <a:r>
              <a:rPr lang="en-US" sz="3400" b="1" dirty="0">
                <a:solidFill>
                  <a:schemeClr val="accent1"/>
                </a:solidFill>
                <a:latin typeface="Cambria" pitchFamily="34" charset="0"/>
                <a:ea typeface="Cambria" pitchFamily="34" charset="-122"/>
                <a:cs typeface="Cambria" pitchFamily="34" charset="-120"/>
              </a:rPr>
              <a:t>4.48 → 0.37</a:t>
            </a:r>
            <a:endParaRPr lang="en-US" sz="3400" dirty="0"/>
          </a:p>
        </p:txBody>
      </p:sp>
      <p:sp>
        <p:nvSpPr>
          <p:cNvPr id="11" name="Text 7"/>
          <p:cNvSpPr txBox="1"/>
          <p:nvPr/>
        </p:nvSpPr>
        <p:spPr>
          <a:xfrm>
            <a:off x="7726680" y="2606040"/>
            <a:ext cx="3657600" cy="822960"/>
          </a:xfrm>
          <a:prstGeom prst="rect">
            <a:avLst/>
          </a:prstGeom>
          <a:noFill/>
          <a:ln/>
        </p:spPr>
        <p:txBody>
          <a:bodyPr wrap="square" lIns="0" tIns="0" rIns="0" bIns="0" rtlCol="0" anchor="t"/>
          <a:lstStyle/>
          <a:p>
            <a:pPr marL="0" indent="0">
              <a:buNone/>
            </a:pPr>
            <a:r>
              <a:rPr lang="en-US" sz="1400" dirty="0">
                <a:solidFill>
                  <a:schemeClr val="tx2"/>
                </a:solidFill>
              </a:rPr>
              <a:t>Learned the format and much of the dish-specific content</a:t>
            </a:r>
            <a:endParaRPr lang="en-US" sz="1400" dirty="0"/>
          </a:p>
        </p:txBody>
      </p:sp>
      <p:sp>
        <p:nvSpPr>
          <p:cNvPr id="12" name="Generic (held out)"/>
          <p:cNvSpPr/>
          <p:nvPr/>
        </p:nvSpPr>
        <p:spPr>
          <a:xfrm>
            <a:off x="7498080" y="3749040"/>
            <a:ext cx="4114800" cy="2194560"/>
          </a:xfrm>
          <a:prstGeom prst="roundRect">
            <a:avLst>
              <a:gd name="adj" fmla="val 5000"/>
            </a:avLst>
          </a:prstGeom>
          <a:solidFill>
            <a:schemeClr val="bg2"/>
          </a:solidFill>
          <a:ln w="12700">
            <a:solidFill>
              <a:schemeClr val="bg2"/>
            </a:solidFill>
            <a:prstDash val="solid"/>
          </a:ln>
        </p:spPr>
      </p:sp>
      <p:sp>
        <p:nvSpPr>
          <p:cNvPr id="13" name="Text 9"/>
          <p:cNvSpPr txBox="1"/>
          <p:nvPr/>
        </p:nvSpPr>
        <p:spPr>
          <a:xfrm>
            <a:off x="7726680" y="3886200"/>
            <a:ext cx="3657600" cy="365760"/>
          </a:xfrm>
          <a:prstGeom prst="rect">
            <a:avLst/>
          </a:prstGeom>
          <a:noFill/>
          <a:ln/>
        </p:spPr>
        <p:txBody>
          <a:bodyPr wrap="square" lIns="0" tIns="0" rIns="0" bIns="0" rtlCol="0" anchor="t"/>
          <a:lstStyle/>
          <a:p>
            <a:pPr marL="0" indent="0">
              <a:buNone/>
            </a:pPr>
            <a:r>
              <a:rPr lang="en-US" sz="1500" b="1" dirty="0">
                <a:solidFill>
                  <a:schemeClr val="accent3"/>
                </a:solidFill>
              </a:rPr>
              <a:t>Generic (held out)</a:t>
            </a:r>
            <a:endParaRPr lang="en-US" sz="1500" dirty="0"/>
          </a:p>
        </p:txBody>
      </p:sp>
      <p:sp>
        <p:nvSpPr>
          <p:cNvPr id="14" name="Text 10"/>
          <p:cNvSpPr txBox="1"/>
          <p:nvPr/>
        </p:nvSpPr>
        <p:spPr>
          <a:xfrm>
            <a:off x="7726680" y="4251960"/>
            <a:ext cx="3657600" cy="731520"/>
          </a:xfrm>
          <a:prstGeom prst="rect">
            <a:avLst/>
          </a:prstGeom>
          <a:noFill/>
          <a:ln/>
        </p:spPr>
        <p:txBody>
          <a:bodyPr wrap="square" lIns="0" tIns="0" rIns="0" bIns="0" rtlCol="0" anchor="t"/>
          <a:lstStyle/>
          <a:p>
            <a:pPr marL="0" indent="0">
              <a:buNone/>
            </a:pPr>
            <a:r>
              <a:rPr lang="en-US" sz="3400" b="1" dirty="0">
                <a:solidFill>
                  <a:schemeClr val="accent3"/>
                </a:solidFill>
                <a:latin typeface="Cambria" pitchFamily="34" charset="0"/>
                <a:ea typeface="Cambria" pitchFamily="34" charset="-122"/>
                <a:cs typeface="Cambria" pitchFamily="34" charset="-120"/>
              </a:rPr>
              <a:t>1.09 → 7.48</a:t>
            </a:r>
            <a:endParaRPr lang="en-US" sz="3400" dirty="0"/>
          </a:p>
        </p:txBody>
      </p:sp>
      <p:sp>
        <p:nvSpPr>
          <p:cNvPr id="15" name="Text 11"/>
          <p:cNvSpPr txBox="1"/>
          <p:nvPr/>
        </p:nvSpPr>
        <p:spPr>
          <a:xfrm>
            <a:off x="7726680" y="5029200"/>
            <a:ext cx="3657600" cy="822960"/>
          </a:xfrm>
          <a:prstGeom prst="rect">
            <a:avLst/>
          </a:prstGeom>
          <a:noFill/>
          <a:ln/>
        </p:spPr>
        <p:txBody>
          <a:bodyPr wrap="square" lIns="0" tIns="0" rIns="0" bIns="0" rtlCol="0" anchor="t"/>
          <a:lstStyle/>
          <a:p>
            <a:pPr marL="0" indent="0">
              <a:buNone/>
            </a:pPr>
            <a:r>
              <a:rPr lang="en-US" sz="1400" dirty="0">
                <a:solidFill>
                  <a:schemeClr val="tx2"/>
                </a:solidFill>
              </a:rPr>
              <a:t>Catastrophic forgetting: the updates moved weights the old data relied on</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777240"/>
          </a:xfrm>
          <a:prstGeom prst="rect">
            <a:avLst/>
          </a:prstGeom>
          <a:noFill/>
          <a:ln/>
        </p:spPr>
        <p:txBody>
          <a:bodyPr wrap="square" lIns="0" tIns="0" rIns="0" bIns="0" rtlCol="0" anchor="ctr"/>
          <a:lstStyle/>
          <a:p>
            <a:pPr marL="0" indent="0" algn="l">
              <a:buNone/>
            </a:pPr>
            <a:r>
              <a:rPr lang="en-US" sz="3200" b="1" dirty="0">
                <a:solidFill>
                  <a:schemeClr val="tx1"/>
                </a:solidFill>
              </a:rPr>
              <a:t>Base vs. fine-tuned: same prompt</a:t>
            </a:r>
            <a:endParaRPr lang="en-US" sz="3200" dirty="0"/>
          </a:p>
        </p:txBody>
      </p:sp>
      <p:sp>
        <p:nvSpPr>
          <p:cNvPr id="4" name="demo tag"/>
          <p:cNvSpPr/>
          <p:nvPr/>
        </p:nvSpPr>
        <p:spPr>
          <a:xfrm>
            <a:off x="8732520" y="411480"/>
            <a:ext cx="2880360" cy="457200"/>
          </a:xfrm>
          <a:prstGeom prst="roundRect">
            <a:avLst>
              <a:gd name="adj" fmla="val 50000"/>
            </a:avLst>
          </a:prstGeom>
          <a:solidFill>
            <a:schemeClr val="accent2"/>
          </a:solidFill>
          <a:ln w="12700">
            <a:solidFill>
              <a:schemeClr val="accent2"/>
            </a:solidFill>
            <a:prstDash val="solid"/>
          </a:ln>
        </p:spPr>
      </p:sp>
      <p:sp>
        <p:nvSpPr>
          <p:cNvPr id="5" name="Text 2"/>
          <p:cNvSpPr txBox="1"/>
          <p:nvPr/>
        </p:nvSpPr>
        <p:spPr>
          <a:xfrm>
            <a:off x="8732520" y="411480"/>
            <a:ext cx="2880360" cy="457200"/>
          </a:xfrm>
          <a:prstGeom prst="rect">
            <a:avLst/>
          </a:prstGeom>
          <a:noFill/>
          <a:ln/>
        </p:spPr>
        <p:txBody>
          <a:bodyPr wrap="square" lIns="0" tIns="0" rIns="0" bIns="0" rtlCol="0" anchor="ctr"/>
          <a:lstStyle/>
          <a:p>
            <a:pPr marL="0" indent="0" algn="ctr">
              <a:buNone/>
            </a:pPr>
            <a:r>
              <a:rPr lang="en-US" sz="1400" b="1" dirty="0">
                <a:solidFill>
                  <a:schemeClr val="tx1"/>
                </a:solidFill>
              </a:rPr>
              <a:t>LIVE DEMO  </a:t>
            </a:r>
            <a:r>
              <a:rPr lang="en-US" sz="1400" dirty="0">
                <a:solidFill>
                  <a:schemeClr val="tx1"/>
                </a:solidFill>
              </a:rPr>
              <a:t>cell 28</a:t>
            </a:r>
            <a:endParaRPr lang="en-US" sz="14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3108960"/>
        </p:xfrm>
        <a:graphic>
          <a:graphicData uri="http://schemas.openxmlformats.org/drawingml/2006/table">
            <a:tbl>
              <a:tblPr/>
              <a:tblGrid>
                <a:gridCol w="2103120"/>
                <a:gridCol w="3291840"/>
                <a:gridCol w="5669280"/>
              </a:tblGrid>
              <a:tr h="777240">
                <a:tc>
                  <a:txBody>
                    <a:bodyPr/>
                    <a:lstStyle/>
                    <a:p>
                      <a:pPr marL="0" indent="0">
                        <a:buNone/>
                      </a:pPr>
                      <a:r>
                        <a:rPr lang="en-US" sz="1400" b="1" dirty="0">
                          <a:solidFill>
                            <a:schemeClr val="bg1"/>
                          </a:solidFill>
                        </a:rPr>
                        <a:t>Prompt</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marL="0" indent="0">
                        <a:buNone/>
                      </a:pPr>
                      <a:r>
                        <a:rPr lang="en-US" sz="1400" b="1" dirty="0">
                          <a:solidFill>
                            <a:schemeClr val="bg1"/>
                          </a:solidFill>
                        </a:rPr>
                        <a:t>Base model continues</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marL="0" indent="0">
                        <a:buNone/>
                      </a:pPr>
                      <a:r>
                        <a:rPr lang="en-US" sz="1400" b="1" dirty="0">
                          <a:solidFill>
                            <a:schemeClr val="bg1"/>
                          </a:solidFill>
                        </a:rPr>
                        <a:t>Fine-tuned model continues</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r>
              <a:tr h="777240">
                <a:tc>
                  <a:txBody>
                    <a:bodyPr/>
                    <a:lstStyle/>
                    <a:p>
                      <a:pPr marL="0" indent="0">
                        <a:buNone/>
                      </a:pPr>
                      <a:r>
                        <a:rPr lang="en-US" sz="1400" b="1" dirty="0">
                          <a:solidFill>
                            <a:schemeClr val="tx1"/>
                          </a:solidFill>
                          <a:latin typeface="Courier New" pitchFamily="34" charset="0"/>
                          <a:ea typeface="Courier New" pitchFamily="34" charset="-122"/>
                          <a:cs typeface="Courier New" pitchFamily="34" charset="-120"/>
                        </a:rPr>
                        <a:t>recipe : dosa ;</a:t>
                      </a:r>
                      <a:endParaRPr lang="en-US" sz="1400" dirty="0">
                        <a:latin typeface="Courier New" charset="0"/>
                        <a:ea typeface="Courier New" charset="0"/>
                        <a:cs typeface="Courier New" charset="0"/>
                      </a:endParaRPr>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Courier New" pitchFamily="34" charset="0"/>
                          <a:ea typeface="Courier New" pitchFamily="34" charset="-122"/>
                          <a:cs typeface="Courier New" pitchFamily="34" charset="-120"/>
                        </a:rPr>
                        <a:t>ingredients , , , , , . &lt;eos&gt;</a:t>
                      </a:r>
                      <a:endParaRPr lang="en-US" sz="1400" dirty="0">
                        <a:latin typeface="Courier New" charset="0"/>
                        <a:ea typeface="Courier New" charset="0"/>
                        <a:cs typeface="Courier New" charset="0"/>
                      </a:endParaRPr>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Courier New" pitchFamily="34" charset="0"/>
                          <a:ea typeface="Courier New" pitchFamily="34" charset="-122"/>
                          <a:cs typeface="Courier New" pitchFamily="34" charset="-120"/>
                        </a:rPr>
                        <a:t>ingredients : rice , lentil , water ; steps : soak , grind , fry &lt;eos&gt;</a:t>
                      </a:r>
                      <a:endParaRPr lang="en-US" sz="1400" dirty="0">
                        <a:latin typeface="Courier New" charset="0"/>
                        <a:ea typeface="Courier New" charset="0"/>
                        <a:cs typeface="Courier New" charset="0"/>
                      </a:endParaRPr>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777240">
                <a:tc>
                  <a:txBody>
                    <a:bodyPr/>
                    <a:lstStyle/>
                    <a:p>
                      <a:pPr marL="0" indent="0">
                        <a:buNone/>
                      </a:pPr>
                      <a:r>
                        <a:rPr lang="en-US" sz="1400" b="1" dirty="0">
                          <a:solidFill>
                            <a:schemeClr val="tx1"/>
                          </a:solidFill>
                          <a:latin typeface="Courier New" pitchFamily="34" charset="0"/>
                          <a:ea typeface="Courier New" pitchFamily="34" charset="-122"/>
                          <a:cs typeface="Courier New" pitchFamily="34" charset="-120"/>
                        </a:rPr>
                        <a:t>recipe : kheer ;</a:t>
                      </a:r>
                      <a:endParaRPr lang="en-US" sz="1400" dirty="0">
                        <a:latin typeface="Courier New" charset="0"/>
                        <a:ea typeface="Courier New" charset="0"/>
                        <a:cs typeface="Courier New" charset="0"/>
                      </a:endParaRPr>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latin typeface="Courier New" pitchFamily="34" charset="0"/>
                          <a:ea typeface="Courier New" pitchFamily="34" charset="-122"/>
                          <a:cs typeface="Courier New" pitchFamily="34" charset="-120"/>
                        </a:rPr>
                        <a:t>ingredients , , , , , . &lt;eos&gt;</a:t>
                      </a:r>
                      <a:endParaRPr lang="en-US" sz="1400" dirty="0">
                        <a:latin typeface="Courier New" charset="0"/>
                        <a:ea typeface="Courier New" charset="0"/>
                        <a:cs typeface="Courier New" charset="0"/>
                      </a:endParaRPr>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latin typeface="Courier New" pitchFamily="34" charset="0"/>
                          <a:ea typeface="Courier New" pitchFamily="34" charset="-122"/>
                          <a:cs typeface="Courier New" pitchFamily="34" charset="-120"/>
                        </a:rPr>
                        <a:t>ingredients : milk , sugar , cardamom ; steps : boil , stir , sweeten &lt;eos&gt;</a:t>
                      </a:r>
                      <a:endParaRPr lang="en-US" sz="1400" dirty="0">
                        <a:latin typeface="Courier New" charset="0"/>
                        <a:ea typeface="Courier New" charset="0"/>
                        <a:cs typeface="Courier New" charset="0"/>
                      </a:endParaRPr>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r h="777240">
                <a:tc>
                  <a:txBody>
                    <a:bodyPr/>
                    <a:lstStyle/>
                    <a:p>
                      <a:pPr marL="0" indent="0">
                        <a:buNone/>
                      </a:pPr>
                      <a:r>
                        <a:rPr lang="en-US" sz="1400" b="1" dirty="0">
                          <a:solidFill>
                            <a:schemeClr val="tx1"/>
                          </a:solidFill>
                          <a:latin typeface="Courier New" pitchFamily="34" charset="0"/>
                          <a:ea typeface="Courier New" pitchFamily="34" charset="-122"/>
                          <a:cs typeface="Courier New" pitchFamily="34" charset="-120"/>
                        </a:rPr>
                        <a:t>the cat sat</a:t>
                      </a:r>
                      <a:endParaRPr lang="en-US" sz="1400" dirty="0">
                        <a:latin typeface="Courier New" charset="0"/>
                        <a:ea typeface="Courier New" charset="0"/>
                        <a:cs typeface="Courier New" charset="0"/>
                      </a:endParaRPr>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Courier New" pitchFamily="34" charset="0"/>
                          <a:ea typeface="Courier New" pitchFamily="34" charset="-122"/>
                          <a:cs typeface="Courier New" pitchFamily="34" charset="-120"/>
                        </a:rPr>
                        <a:t>on the mat . &lt;eos&gt;</a:t>
                      </a:r>
                      <a:endParaRPr lang="en-US" sz="1400" dirty="0">
                        <a:latin typeface="Courier New" charset="0"/>
                        <a:ea typeface="Courier New" charset="0"/>
                        <a:cs typeface="Courier New" charset="0"/>
                      </a:endParaRPr>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marL="0" indent="0">
                        <a:buNone/>
                      </a:pPr>
                      <a:r>
                        <a:rPr lang="en-US" sz="1400" dirty="0">
                          <a:solidFill>
                            <a:schemeClr val="accent1"/>
                          </a:solidFill>
                          <a:latin typeface="Courier New" pitchFamily="34" charset="0"/>
                          <a:ea typeface="Courier New" pitchFamily="34" charset="-122"/>
                          <a:cs typeface="Courier New" pitchFamily="34" charset="-120"/>
                        </a:rPr>
                        <a:t>: rice , chili , water , ghee ; steps : roast , saute , serve &lt;eos&gt;</a:t>
                      </a:r>
                      <a:endParaRPr lang="en-US" sz="1400" dirty="0">
                        <a:latin typeface="Courier New" charset="0"/>
                        <a:ea typeface="Courier New" charset="0"/>
                        <a:cs typeface="Courier New" charset="0"/>
                      </a:endParaRPr>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bl>
          </a:graphicData>
        </a:graphic>
      </p:graphicFrame>
      <p:sp>
        <p:nvSpPr>
          <p:cNvPr id="7" name="Format learned"/>
          <p:cNvSpPr/>
          <p:nvPr/>
        </p:nvSpPr>
        <p:spPr>
          <a:xfrm>
            <a:off x="548640" y="4526280"/>
            <a:ext cx="3474720" cy="1600200"/>
          </a:xfrm>
          <a:prstGeom prst="roundRect">
            <a:avLst>
              <a:gd name="adj" fmla="val 6857"/>
            </a:avLst>
          </a:prstGeom>
          <a:solidFill>
            <a:schemeClr val="bg2"/>
          </a:solidFill>
          <a:ln w="12700">
            <a:solidFill>
              <a:schemeClr val="bg2"/>
            </a:solidFill>
            <a:prstDash val="solid"/>
          </a:ln>
        </p:spPr>
      </p:sp>
      <p:sp>
        <p:nvSpPr>
          <p:cNvPr id="8" name="Text 4"/>
          <p:cNvSpPr txBox="1"/>
          <p:nvPr/>
        </p:nvSpPr>
        <p:spPr>
          <a:xfrm>
            <a:off x="777240" y="4617720"/>
            <a:ext cx="3017520" cy="411480"/>
          </a:xfrm>
          <a:prstGeom prst="rect">
            <a:avLst/>
          </a:prstGeom>
          <a:noFill/>
          <a:ln/>
        </p:spPr>
        <p:txBody>
          <a:bodyPr wrap="square" lIns="0" tIns="0" rIns="0" bIns="0" rtlCol="0" anchor="t"/>
          <a:lstStyle/>
          <a:p>
            <a:pPr marL="0" indent="0">
              <a:buNone/>
            </a:pPr>
            <a:r>
              <a:rPr lang="en-US" sz="1700" b="1" dirty="0">
                <a:solidFill>
                  <a:schemeClr val="accent4"/>
                </a:solidFill>
              </a:rPr>
              <a:t>Format learned</a:t>
            </a:r>
            <a:endParaRPr lang="en-US" sz="1700" dirty="0"/>
          </a:p>
        </p:txBody>
      </p:sp>
      <p:sp>
        <p:nvSpPr>
          <p:cNvPr id="9" name="Text 5"/>
          <p:cNvSpPr txBox="1"/>
          <p:nvPr/>
        </p:nvSpPr>
        <p:spPr>
          <a:xfrm>
            <a:off x="777240" y="5029200"/>
            <a:ext cx="3017520" cy="1005840"/>
          </a:xfrm>
          <a:prstGeom prst="rect">
            <a:avLst/>
          </a:prstGeom>
          <a:noFill/>
          <a:ln/>
        </p:spPr>
        <p:txBody>
          <a:bodyPr wrap="square" lIns="0" tIns="0" rIns="0" bIns="0" rtlCol="0" anchor="t"/>
          <a:lstStyle/>
          <a:p>
            <a:pPr marL="0" indent="0">
              <a:buNone/>
            </a:pPr>
            <a:r>
              <a:rPr lang="en-US" sz="1400" dirty="0">
                <a:solidFill>
                  <a:schemeClr val="tx1"/>
                </a:solidFill>
              </a:rPr>
              <a:t>The fine-tuned model writes the full record for each dish and ends with &lt;eos&gt;.</a:t>
            </a:r>
            <a:endParaRPr lang="en-US" sz="1400" dirty="0"/>
          </a:p>
        </p:txBody>
      </p:sp>
      <p:sp>
        <p:nvSpPr>
          <p:cNvPr id="10" name="Forgetting in the text"/>
          <p:cNvSpPr/>
          <p:nvPr/>
        </p:nvSpPr>
        <p:spPr>
          <a:xfrm>
            <a:off x="4297680" y="4526280"/>
            <a:ext cx="3474720" cy="1600200"/>
          </a:xfrm>
          <a:prstGeom prst="roundRect">
            <a:avLst>
              <a:gd name="adj" fmla="val 6857"/>
            </a:avLst>
          </a:prstGeom>
          <a:solidFill>
            <a:schemeClr val="bg2"/>
          </a:solidFill>
          <a:ln w="12700">
            <a:solidFill>
              <a:schemeClr val="bg2"/>
            </a:solidFill>
            <a:prstDash val="solid"/>
          </a:ln>
        </p:spPr>
      </p:sp>
      <p:sp>
        <p:nvSpPr>
          <p:cNvPr id="11" name="Text 7"/>
          <p:cNvSpPr txBox="1"/>
          <p:nvPr/>
        </p:nvSpPr>
        <p:spPr>
          <a:xfrm>
            <a:off x="4526280" y="4617720"/>
            <a:ext cx="3017520" cy="411480"/>
          </a:xfrm>
          <a:prstGeom prst="rect">
            <a:avLst/>
          </a:prstGeom>
          <a:noFill/>
          <a:ln/>
        </p:spPr>
        <p:txBody>
          <a:bodyPr wrap="square" lIns="0" tIns="0" rIns="0" bIns="0" rtlCol="0" anchor="t"/>
          <a:lstStyle/>
          <a:p>
            <a:pPr marL="0" indent="0">
              <a:buNone/>
            </a:pPr>
            <a:r>
              <a:rPr lang="en-US" sz="1700" b="1" dirty="0">
                <a:solidFill>
                  <a:schemeClr val="accent1"/>
                </a:solidFill>
              </a:rPr>
              <a:t>Forgetting in the text</a:t>
            </a:r>
            <a:endParaRPr lang="en-US" sz="1700" dirty="0"/>
          </a:p>
        </p:txBody>
      </p:sp>
      <p:sp>
        <p:nvSpPr>
          <p:cNvPr id="12" name="Text 8"/>
          <p:cNvSpPr txBox="1"/>
          <p:nvPr/>
        </p:nvSpPr>
        <p:spPr>
          <a:xfrm>
            <a:off x="4526280" y="5029200"/>
            <a:ext cx="3017520" cy="1005840"/>
          </a:xfrm>
          <a:prstGeom prst="rect">
            <a:avLst/>
          </a:prstGeom>
          <a:noFill/>
          <a:ln/>
        </p:spPr>
        <p:txBody>
          <a:bodyPr wrap="square" lIns="0" tIns="0" rIns="0" bIns="0" rtlCol="0" anchor="t"/>
          <a:lstStyle/>
          <a:p>
            <a:pPr marL="0" indent="0">
              <a:buNone/>
            </a:pPr>
            <a:r>
              <a:rPr lang="en-US" sz="1400" dirty="0">
                <a:solidFill>
                  <a:schemeClr val="tx1"/>
                </a:solidFill>
              </a:rPr>
              <a:t>On a generic prompt it drifts into recipe vocabulary.</a:t>
            </a:r>
            <a:endParaRPr lang="en-US" sz="1400" dirty="0"/>
          </a:p>
        </p:txBody>
      </p:sp>
      <p:sp>
        <p:nvSpPr>
          <p:cNvPr id="13" name="Two samples prove little"/>
          <p:cNvSpPr/>
          <p:nvPr/>
        </p:nvSpPr>
        <p:spPr>
          <a:xfrm>
            <a:off x="8046720" y="4526280"/>
            <a:ext cx="3474720" cy="1600200"/>
          </a:xfrm>
          <a:prstGeom prst="roundRect">
            <a:avLst>
              <a:gd name="adj" fmla="val 6857"/>
            </a:avLst>
          </a:prstGeom>
          <a:solidFill>
            <a:schemeClr val="bg2"/>
          </a:solidFill>
          <a:ln w="12700">
            <a:solidFill>
              <a:schemeClr val="bg2"/>
            </a:solidFill>
            <a:prstDash val="solid"/>
          </a:ln>
        </p:spPr>
      </p:sp>
      <p:sp>
        <p:nvSpPr>
          <p:cNvPr id="14" name="Text 10"/>
          <p:cNvSpPr txBox="1"/>
          <p:nvPr/>
        </p:nvSpPr>
        <p:spPr>
          <a:xfrm>
            <a:off x="8275320" y="4617720"/>
            <a:ext cx="3017520" cy="411480"/>
          </a:xfrm>
          <a:prstGeom prst="rect">
            <a:avLst/>
          </a:prstGeom>
          <a:noFill/>
          <a:ln/>
        </p:spPr>
        <p:txBody>
          <a:bodyPr wrap="square" lIns="0" tIns="0" rIns="0" bIns="0" rtlCol="0" anchor="t"/>
          <a:lstStyle/>
          <a:p>
            <a:pPr marL="0" indent="0">
              <a:buNone/>
            </a:pPr>
            <a:r>
              <a:rPr lang="en-US" sz="1700" b="1" dirty="0">
                <a:solidFill>
                  <a:schemeClr val="accent3"/>
                </a:solidFill>
              </a:rPr>
              <a:t>Two samples prove little</a:t>
            </a:r>
            <a:endParaRPr lang="en-US" sz="1700" dirty="0"/>
          </a:p>
        </p:txBody>
      </p:sp>
      <p:sp>
        <p:nvSpPr>
          <p:cNvPr id="15" name="Text 11"/>
          <p:cNvSpPr txBox="1"/>
          <p:nvPr/>
        </p:nvSpPr>
        <p:spPr>
          <a:xfrm>
            <a:off x="8275320" y="5029200"/>
            <a:ext cx="3017520" cy="1005840"/>
          </a:xfrm>
          <a:prstGeom prst="rect">
            <a:avLst/>
          </a:prstGeom>
          <a:noFill/>
          <a:ln/>
        </p:spPr>
        <p:txBody>
          <a:bodyPr wrap="square" lIns="0" tIns="0" rIns="0" bIns="0" rtlCol="0" anchor="t"/>
          <a:lstStyle/>
          <a:p>
            <a:pPr marL="0" indent="0">
              <a:buNone/>
            </a:pPr>
            <a:r>
              <a:rPr lang="en-US" sz="1400" dirty="0">
                <a:solidFill>
                  <a:schemeClr val="tx1"/>
                </a:solidFill>
              </a:rPr>
              <a:t>Well-formatted output can still hold wrong content. Measure over many samples.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777240"/>
          </a:xfrm>
          <a:prstGeom prst="rect">
            <a:avLst/>
          </a:prstGeom>
          <a:noFill/>
          <a:ln/>
        </p:spPr>
        <p:txBody>
          <a:bodyPr wrap="square" lIns="0" tIns="0" rIns="0" bIns="0" rtlCol="0" anchor="ctr"/>
          <a:lstStyle/>
          <a:p>
            <a:pPr marL="0" indent="0" algn="l">
              <a:buNone/>
            </a:pPr>
            <a:r>
              <a:rPr lang="en-US" sz="3200" b="1" dirty="0">
                <a:solidFill>
                  <a:schemeClr val="tx1"/>
                </a:solidFill>
              </a:rPr>
              <a:t>Learning rate: plasticity vs. stability</a:t>
            </a:r>
            <a:endParaRPr lang="en-US" sz="3200" dirty="0"/>
          </a:p>
        </p:txBody>
      </p:sp>
      <p:sp>
        <p:nvSpPr>
          <p:cNvPr id="4" name="demo tag"/>
          <p:cNvSpPr/>
          <p:nvPr/>
        </p:nvSpPr>
        <p:spPr>
          <a:xfrm>
            <a:off x="8732520" y="411480"/>
            <a:ext cx="2880360" cy="457200"/>
          </a:xfrm>
          <a:prstGeom prst="roundRect">
            <a:avLst>
              <a:gd name="adj" fmla="val 50000"/>
            </a:avLst>
          </a:prstGeom>
          <a:solidFill>
            <a:schemeClr val="accent2"/>
          </a:solidFill>
          <a:ln w="12700">
            <a:solidFill>
              <a:schemeClr val="accent2"/>
            </a:solidFill>
            <a:prstDash val="solid"/>
          </a:ln>
        </p:spPr>
      </p:sp>
      <p:sp>
        <p:nvSpPr>
          <p:cNvPr id="5" name="Text 2"/>
          <p:cNvSpPr txBox="1"/>
          <p:nvPr/>
        </p:nvSpPr>
        <p:spPr>
          <a:xfrm>
            <a:off x="8732520" y="411480"/>
            <a:ext cx="2880360" cy="457200"/>
          </a:xfrm>
          <a:prstGeom prst="rect">
            <a:avLst/>
          </a:prstGeom>
          <a:noFill/>
          <a:ln/>
        </p:spPr>
        <p:txBody>
          <a:bodyPr wrap="square" lIns="0" tIns="0" rIns="0" bIns="0" rtlCol="0" anchor="ctr"/>
          <a:lstStyle/>
          <a:p>
            <a:pPr marL="0" indent="0" algn="ctr">
              <a:buNone/>
            </a:pPr>
            <a:r>
              <a:rPr lang="en-US" sz="1400" b="1" dirty="0">
                <a:solidFill>
                  <a:schemeClr val="tx1"/>
                </a:solidFill>
              </a:rPr>
              <a:t>LIVE DEMO  </a:t>
            </a:r>
            <a:r>
              <a:rPr lang="en-US" sz="1400" dirty="0">
                <a:solidFill>
                  <a:schemeClr val="tx1"/>
                </a:solidFill>
              </a:rPr>
              <a:t>cell 31</a:t>
            </a:r>
            <a:endParaRPr lang="en-US" sz="1400" dirty="0"/>
          </a:p>
        </p:txBody>
      </p:sp>
      <p:pic>
        <p:nvPicPr>
          <p:cNvPr id="6" name="Image 0" descr="Left: recipe validation loss for five learning rates. Right: generic held-out loss on a log scale, rising with learning rate."/>
          <p:cNvPicPr>
            <a:picLocks noChangeAspect="1"/>
          </p:cNvPicPr>
          <p:nvPr/>
        </p:nvPicPr>
        <p:blipFill>
          <a:blip r:embed="rId3"/>
          <a:stretch>
            <a:fillRect/>
          </a:stretch>
        </p:blipFill>
        <p:spPr>
          <a:xfrm>
            <a:off x="1523848" y="1188720"/>
            <a:ext cx="9144000" cy="3235996"/>
          </a:xfrm>
          <a:prstGeom prst="rect">
            <a:avLst/>
          </a:prstGeom>
        </p:spPr>
      </p:pic>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4561876"/>
          <a:ext cx="4754880" cy="914400"/>
        </p:xfrm>
        <a:graphic>
          <a:graphicData uri="http://schemas.openxmlformats.org/drawingml/2006/table">
            <a:tbl>
              <a:tblPr/>
              <a:tblGrid>
                <a:gridCol w="1280160"/>
                <a:gridCol w="1645920"/>
                <a:gridCol w="1828800"/>
              </a:tblGrid>
              <a:tr h="237744">
                <a:tc>
                  <a:txBody>
                    <a:bodyPr/>
                    <a:lstStyle/>
                    <a:p>
                      <a:pPr marL="0" indent="0">
                        <a:buNone/>
                      </a:pPr>
                      <a:r>
                        <a:rPr lang="en-US" sz="1200" b="1" dirty="0">
                          <a:solidFill>
                            <a:schemeClr val="bg1"/>
                          </a:solidFill>
                        </a:rPr>
                        <a:t>Peak LR</a:t>
                      </a:r>
                      <a:endParaRPr lang="en-US" sz="1200" dirty="0"/>
                    </a:p>
                  </a:txBody>
                  <a:tcPr marL="76200" marR="76200" marT="12700" marB="127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Recipes val</a:t>
                      </a:r>
                      <a:endParaRPr lang="en-US" sz="1200" dirty="0"/>
                    </a:p>
                  </a:txBody>
                  <a:tcPr marL="76200" marR="76200" marT="12700" marB="127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Generic held-out</a:t>
                      </a:r>
                      <a:endParaRPr lang="en-US" sz="1200" dirty="0"/>
                    </a:p>
                  </a:txBody>
                  <a:tcPr marL="76200" marR="76200" marT="12700" marB="127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r>
              <a:tr h="237744">
                <a:tc>
                  <a:txBody>
                    <a:bodyPr/>
                    <a:lstStyle/>
                    <a:p>
                      <a:pPr marL="0" indent="0" algn="ctr">
                        <a:buNone/>
                      </a:pPr>
                      <a:r>
                        <a:rPr lang="en-US" sz="1200" dirty="0">
                          <a:solidFill>
                            <a:schemeClr val="tx1"/>
                          </a:solidFill>
                        </a:rPr>
                        <a:t>3e-5</a:t>
                      </a:r>
                      <a:endParaRPr lang="en-US" sz="1200" dirty="0"/>
                    </a:p>
                  </a:txBody>
                  <a:tcPr marL="76200" marR="76200" marT="12700" marB="127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1.206</a:t>
                      </a:r>
                      <a:endParaRPr lang="en-US" sz="1200" dirty="0"/>
                    </a:p>
                  </a:txBody>
                  <a:tcPr marL="76200" marR="76200" marT="12700" marB="127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1.131</a:t>
                      </a:r>
                      <a:endParaRPr lang="en-US" sz="1200" dirty="0"/>
                    </a:p>
                  </a:txBody>
                  <a:tcPr marL="76200" marR="76200" marT="12700" marB="127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237744">
                <a:tc>
                  <a:txBody>
                    <a:bodyPr/>
                    <a:lstStyle/>
                    <a:p>
                      <a:pPr marL="0" indent="0" algn="ctr">
                        <a:buNone/>
                      </a:pPr>
                      <a:r>
                        <a:rPr lang="en-US" sz="1200" dirty="0">
                          <a:solidFill>
                            <a:schemeClr val="tx1"/>
                          </a:solidFill>
                        </a:rPr>
                        <a:t>3e-4</a:t>
                      </a:r>
                      <a:endParaRPr lang="en-US" sz="1200" dirty="0"/>
                    </a:p>
                  </a:txBody>
                  <a:tcPr marL="76200" marR="76200" marT="12700" marB="127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marL="0" indent="0" algn="ctr">
                        <a:buNone/>
                      </a:pPr>
                      <a:r>
                        <a:rPr lang="en-US" sz="1200" dirty="0">
                          <a:solidFill>
                            <a:schemeClr val="tx1"/>
                          </a:solidFill>
                        </a:rPr>
                        <a:t>0.610</a:t>
                      </a:r>
                      <a:endParaRPr lang="en-US" sz="1200" dirty="0"/>
                    </a:p>
                  </a:txBody>
                  <a:tcPr marL="76200" marR="76200" marT="12700" marB="127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marL="0" indent="0" algn="ctr">
                        <a:buNone/>
                      </a:pPr>
                      <a:r>
                        <a:rPr lang="en-US" sz="1200" dirty="0">
                          <a:solidFill>
                            <a:schemeClr val="tx1"/>
                          </a:solidFill>
                        </a:rPr>
                        <a:t>2.916</a:t>
                      </a:r>
                      <a:endParaRPr lang="en-US" sz="1200" dirty="0"/>
                    </a:p>
                  </a:txBody>
                  <a:tcPr marL="76200" marR="76200" marT="12700" marB="127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r h="237744">
                <a:tc>
                  <a:txBody>
                    <a:bodyPr/>
                    <a:lstStyle/>
                    <a:p>
                      <a:pPr marL="0" indent="0" algn="ctr">
                        <a:buNone/>
                      </a:pPr>
                      <a:r>
                        <a:rPr lang="en-US" sz="1200" dirty="0">
                          <a:solidFill>
                            <a:schemeClr val="tx1"/>
                          </a:solidFill>
                        </a:rPr>
                        <a:t>1e-3</a:t>
                      </a:r>
                      <a:endParaRPr lang="en-US" sz="1200" dirty="0"/>
                    </a:p>
                  </a:txBody>
                  <a:tcPr marL="76200" marR="76200" marT="12700" marB="127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0.372</a:t>
                      </a:r>
                      <a:endParaRPr lang="en-US" sz="1200" dirty="0"/>
                    </a:p>
                  </a:txBody>
                  <a:tcPr marL="76200" marR="76200" marT="12700" marB="127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7.095</a:t>
                      </a:r>
                      <a:endParaRPr lang="en-US" sz="1200" dirty="0"/>
                    </a:p>
                  </a:txBody>
                  <a:tcPr marL="76200" marR="76200" marT="12700" marB="127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237744">
                <a:tc>
                  <a:txBody>
                    <a:bodyPr/>
                    <a:lstStyle/>
                    <a:p>
                      <a:pPr marL="0" indent="0" algn="ctr">
                        <a:buNone/>
                      </a:pPr>
                      <a:r>
                        <a:rPr lang="en-US" sz="1200" dirty="0">
                          <a:solidFill>
                            <a:schemeClr val="tx1"/>
                          </a:solidFill>
                        </a:rPr>
                        <a:t>3e-3</a:t>
                      </a:r>
                      <a:endParaRPr lang="en-US" sz="1200" dirty="0"/>
                    </a:p>
                  </a:txBody>
                  <a:tcPr marL="76200" marR="76200" marT="12700" marB="127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marL="0" indent="0" algn="ctr">
                        <a:buNone/>
                      </a:pPr>
                      <a:r>
                        <a:rPr lang="en-US" sz="1200" dirty="0">
                          <a:solidFill>
                            <a:schemeClr val="tx1"/>
                          </a:solidFill>
                        </a:rPr>
                        <a:t>0.368</a:t>
                      </a:r>
                      <a:endParaRPr lang="en-US" sz="1200" dirty="0"/>
                    </a:p>
                  </a:txBody>
                  <a:tcPr marL="76200" marR="76200" marT="12700" marB="127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marL="0" indent="0" algn="ctr">
                        <a:buNone/>
                      </a:pPr>
                      <a:r>
                        <a:rPr lang="en-US" sz="1200" dirty="0">
                          <a:solidFill>
                            <a:schemeClr val="tx1"/>
                          </a:solidFill>
                        </a:rPr>
                        <a:t>10.583</a:t>
                      </a:r>
                      <a:endParaRPr lang="en-US" sz="1200" dirty="0"/>
                    </a:p>
                  </a:txBody>
                  <a:tcPr marL="76200" marR="76200" marT="12700" marB="127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r h="237744">
                <a:tc>
                  <a:txBody>
                    <a:bodyPr/>
                    <a:lstStyle/>
                    <a:p>
                      <a:pPr marL="0" indent="0" algn="ctr">
                        <a:buNone/>
                      </a:pPr>
                      <a:r>
                        <a:rPr lang="en-US" sz="1200" dirty="0">
                          <a:solidFill>
                            <a:schemeClr val="tx1"/>
                          </a:solidFill>
                        </a:rPr>
                        <a:t>3e-2</a:t>
                      </a:r>
                      <a:endParaRPr lang="en-US" sz="1200" dirty="0"/>
                    </a:p>
                  </a:txBody>
                  <a:tcPr marL="76200" marR="76200" marT="12700" marB="127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0.362</a:t>
                      </a:r>
                      <a:endParaRPr lang="en-US" sz="1200" dirty="0"/>
                    </a:p>
                  </a:txBody>
                  <a:tcPr marL="76200" marR="76200" marT="12700" marB="127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marL="0" indent="0" algn="ctr">
                        <a:buNone/>
                      </a:pPr>
                      <a:r>
                        <a:rPr lang="en-US" sz="1200" b="1" dirty="0">
                          <a:solidFill>
                            <a:schemeClr val="accent1"/>
                          </a:solidFill>
                        </a:rPr>
                        <a:t>14.343</a:t>
                      </a:r>
                      <a:endParaRPr lang="en-US" sz="1200" dirty="0"/>
                    </a:p>
                  </a:txBody>
                  <a:tcPr marL="76200" marR="76200" marT="12700" marB="127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bl>
          </a:graphicData>
        </a:graphic>
      </p:graphicFrame>
      <p:sp>
        <p:nvSpPr>
          <p:cNvPr id="8" name="Text 3"/>
          <p:cNvSpPr txBox="1"/>
          <p:nvPr/>
        </p:nvSpPr>
        <p:spPr>
          <a:xfrm>
            <a:off x="5669280" y="4561876"/>
            <a:ext cx="5943600" cy="1737360"/>
          </a:xfrm>
          <a:prstGeom prst="rect">
            <a:avLst/>
          </a:prstGeom>
          <a:noFill/>
          <a:ln/>
        </p:spPr>
        <p:txBody>
          <a:bodyPr wrap="square" lIns="0" tIns="0" rIns="0" bIns="0" rtlCol="0" anchor="t"/>
          <a:lstStyle/>
          <a:p>
            <a:pPr marL="228600" indent="-228600">
              <a:spcAft>
                <a:spcPts val="800"/>
              </a:spcAft>
              <a:buSzPct val="100000"/>
              <a:buChar char="•"/>
            </a:pPr>
            <a:r>
              <a:rPr lang="en-US" sz="1500" b="1" dirty="0">
                <a:solidFill>
                  <a:schemeClr val="tx1"/>
                </a:solidFill>
              </a:rPr>
              <a:t>Too small (3e-5): </a:t>
            </a:r>
            <a:r>
              <a:rPr lang="en-US" sz="1500" dirty="0">
                <a:solidFill>
                  <a:schemeClr val="tx1"/>
                </a:solidFill>
              </a:rPr>
              <a:t>little learned, little forgotten</a:t>
            </a:r>
            <a:endParaRPr lang="en-US" sz="1500" dirty="0"/>
          </a:p>
          <a:p>
            <a:pPr marL="228600" indent="-228600">
              <a:spcAft>
                <a:spcPts val="800"/>
              </a:spcAft>
              <a:buSzPct val="100000"/>
              <a:buChar char="•"/>
            </a:pPr>
            <a:r>
              <a:rPr lang="en-US" sz="1500" b="1" dirty="0">
                <a:solidFill>
                  <a:schemeClr val="tx1"/>
                </a:solidFill>
              </a:rPr>
              <a:t>1e-3 and above: </a:t>
            </a:r>
            <a:r>
              <a:rPr lang="en-US" sz="1500" dirty="0">
                <a:solidFill>
                  <a:schemeClr val="tx1"/>
                </a:solidFill>
              </a:rPr>
              <a:t>recipe loss flat at ≈ 0.37, generic loss keeps climbing: extra LR buys nothing and costs a lot</a:t>
            </a:r>
            <a:endParaRPr lang="en-US" sz="1500" dirty="0"/>
          </a:p>
          <a:p>
            <a:pPr marL="228600" indent="-228600">
              <a:spcAft>
                <a:spcPts val="800"/>
              </a:spcAft>
              <a:buSzPct val="100000"/>
              <a:buChar char="•"/>
            </a:pPr>
            <a:r>
              <a:rPr lang="en-US" sz="1500" b="1" dirty="0">
                <a:solidFill>
                  <a:schemeClr val="tx1"/>
                </a:solidFill>
              </a:rPr>
              <a:t>Toy model: </a:t>
            </a:r>
            <a:r>
              <a:rPr lang="en-US" sz="1500" dirty="0">
                <a:solidFill>
                  <a:schemeClr val="tx1"/>
                </a:solidFill>
              </a:rPr>
              <a:t>one run per setting and very little capacity, so forgetting is far more extreme than in GPT-2</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777240"/>
          </a:xfrm>
          <a:prstGeom prst="rect">
            <a:avLst/>
          </a:prstGeom>
          <a:noFill/>
          <a:ln/>
        </p:spPr>
        <p:txBody>
          <a:bodyPr wrap="square" lIns="0" tIns="0" rIns="0" bIns="0" rtlCol="0" anchor="ctr"/>
          <a:lstStyle/>
          <a:p>
            <a:pPr marL="0" indent="0" algn="l">
              <a:buNone/>
            </a:pPr>
            <a:r>
              <a:rPr lang="en-US" sz="3200" b="1" dirty="0">
                <a:solidFill>
                  <a:schemeClr val="tx1"/>
                </a:solidFill>
              </a:rPr>
              <a:t>Limiting forgetting and overfitting</a:t>
            </a:r>
            <a:endParaRPr lang="en-US" sz="3200" dirty="0"/>
          </a:p>
        </p:txBody>
      </p:sp>
      <p:sp>
        <p:nvSpPr>
          <p:cNvPr id="4" name="Lower LR / fewer steps"/>
          <p:cNvSpPr/>
          <p:nvPr/>
        </p:nvSpPr>
        <p:spPr>
          <a:xfrm>
            <a:off x="548640" y="1280160"/>
            <a:ext cx="3200400" cy="2240280"/>
          </a:xfrm>
          <a:prstGeom prst="roundRect">
            <a:avLst>
              <a:gd name="adj" fmla="val 4898"/>
            </a:avLst>
          </a:prstGeom>
          <a:solidFill>
            <a:schemeClr val="bg2"/>
          </a:solidFill>
          <a:ln w="12700">
            <a:solidFill>
              <a:schemeClr val="bg2"/>
            </a:solidFill>
            <a:prstDash val="solid"/>
          </a:ln>
        </p:spPr>
      </p:sp>
      <p:sp>
        <p:nvSpPr>
          <p:cNvPr id="5" name="Text 2"/>
          <p:cNvSpPr txBox="1"/>
          <p:nvPr/>
        </p:nvSpPr>
        <p:spPr>
          <a:xfrm>
            <a:off x="777240" y="1463040"/>
            <a:ext cx="2743200" cy="411480"/>
          </a:xfrm>
          <a:prstGeom prst="rect">
            <a:avLst/>
          </a:prstGeom>
          <a:noFill/>
          <a:ln/>
        </p:spPr>
        <p:txBody>
          <a:bodyPr wrap="square" lIns="0" tIns="0" rIns="0" bIns="0" rtlCol="0" anchor="t"/>
          <a:lstStyle/>
          <a:p>
            <a:pPr marL="0" indent="0">
              <a:buNone/>
            </a:pPr>
            <a:r>
              <a:rPr lang="en-US" sz="1700" b="1" dirty="0">
                <a:solidFill>
                  <a:schemeClr val="accent3"/>
                </a:solidFill>
              </a:rPr>
              <a:t>Lower LR / fewer steps</a:t>
            </a:r>
            <a:endParaRPr lang="en-US" sz="1700" dirty="0"/>
          </a:p>
        </p:txBody>
      </p:sp>
      <p:sp>
        <p:nvSpPr>
          <p:cNvPr id="6" name="Text 3"/>
          <p:cNvSpPr txBox="1"/>
          <p:nvPr/>
        </p:nvSpPr>
        <p:spPr>
          <a:xfrm>
            <a:off x="777240" y="1920240"/>
            <a:ext cx="2743200" cy="868680"/>
          </a:xfrm>
          <a:prstGeom prst="rect">
            <a:avLst/>
          </a:prstGeom>
          <a:noFill/>
          <a:ln/>
        </p:spPr>
        <p:txBody>
          <a:bodyPr wrap="square" lIns="0" tIns="0" rIns="0" bIns="0" rtlCol="0" anchor="t"/>
          <a:lstStyle/>
          <a:p>
            <a:pPr marL="0" indent="0">
              <a:buNone/>
            </a:pPr>
            <a:r>
              <a:rPr lang="en-US" sz="1500" dirty="0">
                <a:solidFill>
                  <a:schemeClr val="tx1"/>
                </a:solidFill>
              </a:rPr>
              <a:t>Move the weights less</a:t>
            </a:r>
            <a:endParaRPr lang="en-US" sz="1500" dirty="0"/>
          </a:p>
        </p:txBody>
      </p:sp>
      <p:sp>
        <p:nvSpPr>
          <p:cNvPr id="7" name="Text 4"/>
          <p:cNvSpPr txBox="1"/>
          <p:nvPr/>
        </p:nvSpPr>
        <p:spPr>
          <a:xfrm>
            <a:off x="777240" y="2788920"/>
            <a:ext cx="2743200" cy="640080"/>
          </a:xfrm>
          <a:prstGeom prst="rect">
            <a:avLst/>
          </a:prstGeom>
          <a:noFill/>
          <a:ln/>
        </p:spPr>
        <p:txBody>
          <a:bodyPr wrap="square" lIns="0" tIns="0" rIns="0" bIns="0" rtlCol="0" anchor="t"/>
          <a:lstStyle/>
          <a:p>
            <a:pPr marL="0" indent="0">
              <a:buNone/>
            </a:pPr>
            <a:r>
              <a:rPr lang="en-US" sz="1400" b="1" dirty="0">
                <a:solidFill>
                  <a:schemeClr val="tx2"/>
                </a:solidFill>
              </a:rPr>
              <a:t>Cost: </a:t>
            </a:r>
            <a:r>
              <a:rPr lang="en-US" sz="1400" dirty="0">
                <a:solidFill>
                  <a:schemeClr val="tx2"/>
                </a:solidFill>
              </a:rPr>
              <a:t>May under-fit the new task</a:t>
            </a:r>
            <a:endParaRPr lang="en-US" sz="1400" dirty="0"/>
          </a:p>
        </p:txBody>
      </p:sp>
      <p:sp>
        <p:nvSpPr>
          <p:cNvPr id="8" name="Replay (data mixing)"/>
          <p:cNvSpPr/>
          <p:nvPr/>
        </p:nvSpPr>
        <p:spPr>
          <a:xfrm>
            <a:off x="3977640" y="1280160"/>
            <a:ext cx="3200400" cy="2240280"/>
          </a:xfrm>
          <a:prstGeom prst="roundRect">
            <a:avLst>
              <a:gd name="adj" fmla="val 4898"/>
            </a:avLst>
          </a:prstGeom>
          <a:solidFill>
            <a:schemeClr val="bg2"/>
          </a:solidFill>
          <a:ln w="12700">
            <a:solidFill>
              <a:schemeClr val="bg2"/>
            </a:solidFill>
            <a:prstDash val="solid"/>
          </a:ln>
        </p:spPr>
      </p:sp>
      <p:sp>
        <p:nvSpPr>
          <p:cNvPr id="9" name="Text 6"/>
          <p:cNvSpPr txBox="1"/>
          <p:nvPr/>
        </p:nvSpPr>
        <p:spPr>
          <a:xfrm>
            <a:off x="4206240" y="1463040"/>
            <a:ext cx="2743200" cy="411480"/>
          </a:xfrm>
          <a:prstGeom prst="rect">
            <a:avLst/>
          </a:prstGeom>
          <a:noFill/>
          <a:ln/>
        </p:spPr>
        <p:txBody>
          <a:bodyPr wrap="square" lIns="0" tIns="0" rIns="0" bIns="0" rtlCol="0" anchor="t"/>
          <a:lstStyle/>
          <a:p>
            <a:pPr marL="0" indent="0">
              <a:buNone/>
            </a:pPr>
            <a:r>
              <a:rPr lang="en-US" sz="1700" b="1" dirty="0">
                <a:solidFill>
                  <a:schemeClr val="accent3"/>
                </a:solidFill>
              </a:rPr>
              <a:t>Replay (data mixing)</a:t>
            </a:r>
            <a:endParaRPr lang="en-US" sz="1700" dirty="0"/>
          </a:p>
        </p:txBody>
      </p:sp>
      <p:sp>
        <p:nvSpPr>
          <p:cNvPr id="10" name="Text 7"/>
          <p:cNvSpPr txBox="1"/>
          <p:nvPr/>
        </p:nvSpPr>
        <p:spPr>
          <a:xfrm>
            <a:off x="4206240" y="1920240"/>
            <a:ext cx="2743200" cy="868680"/>
          </a:xfrm>
          <a:prstGeom prst="rect">
            <a:avLst/>
          </a:prstGeom>
          <a:noFill/>
          <a:ln/>
        </p:spPr>
        <p:txBody>
          <a:bodyPr wrap="square" lIns="0" tIns="0" rIns="0" bIns="0" rtlCol="0" anchor="t"/>
          <a:lstStyle/>
          <a:p>
            <a:pPr marL="0" indent="0">
              <a:buNone/>
            </a:pPr>
            <a:r>
              <a:rPr lang="en-US" sz="1500" dirty="0">
                <a:solidFill>
                  <a:schemeClr val="tx1"/>
                </a:solidFill>
              </a:rPr>
              <a:t>Mix some original-style data into each batch</a:t>
            </a:r>
            <a:endParaRPr lang="en-US" sz="1500" dirty="0"/>
          </a:p>
        </p:txBody>
      </p:sp>
      <p:sp>
        <p:nvSpPr>
          <p:cNvPr id="11" name="Text 8"/>
          <p:cNvSpPr txBox="1"/>
          <p:nvPr/>
        </p:nvSpPr>
        <p:spPr>
          <a:xfrm>
            <a:off x="4206240" y="2788920"/>
            <a:ext cx="2743200" cy="640080"/>
          </a:xfrm>
          <a:prstGeom prst="rect">
            <a:avLst/>
          </a:prstGeom>
          <a:noFill/>
          <a:ln/>
        </p:spPr>
        <p:txBody>
          <a:bodyPr wrap="square" lIns="0" tIns="0" rIns="0" bIns="0" rtlCol="0" anchor="t"/>
          <a:lstStyle/>
          <a:p>
            <a:pPr marL="0" indent="0">
              <a:buNone/>
            </a:pPr>
            <a:r>
              <a:rPr lang="en-US" sz="1400" b="1" dirty="0">
                <a:solidFill>
                  <a:schemeClr val="tx2"/>
                </a:solidFill>
              </a:rPr>
              <a:t>Cost: </a:t>
            </a:r>
            <a:r>
              <a:rPr lang="en-US" sz="1400" dirty="0">
                <a:solidFill>
                  <a:schemeClr val="tx2"/>
                </a:solidFill>
              </a:rPr>
              <a:t>Needs access to such data</a:t>
            </a:r>
            <a:endParaRPr lang="en-US" sz="1400" dirty="0"/>
          </a:p>
        </p:txBody>
      </p:sp>
      <p:sp>
        <p:nvSpPr>
          <p:cNvPr id="12" name="Freeze layers"/>
          <p:cNvSpPr/>
          <p:nvPr/>
        </p:nvSpPr>
        <p:spPr>
          <a:xfrm>
            <a:off x="548640" y="3749040"/>
            <a:ext cx="3200400" cy="2240280"/>
          </a:xfrm>
          <a:prstGeom prst="roundRect">
            <a:avLst>
              <a:gd name="adj" fmla="val 4898"/>
            </a:avLst>
          </a:prstGeom>
          <a:solidFill>
            <a:schemeClr val="bg2"/>
          </a:solidFill>
          <a:ln w="12700">
            <a:solidFill>
              <a:schemeClr val="bg2"/>
            </a:solidFill>
            <a:prstDash val="solid"/>
          </a:ln>
        </p:spPr>
      </p:sp>
      <p:sp>
        <p:nvSpPr>
          <p:cNvPr id="13" name="Text 10"/>
          <p:cNvSpPr txBox="1"/>
          <p:nvPr/>
        </p:nvSpPr>
        <p:spPr>
          <a:xfrm>
            <a:off x="777240" y="3931920"/>
            <a:ext cx="2743200" cy="411480"/>
          </a:xfrm>
          <a:prstGeom prst="rect">
            <a:avLst/>
          </a:prstGeom>
          <a:noFill/>
          <a:ln/>
        </p:spPr>
        <p:txBody>
          <a:bodyPr wrap="square" lIns="0" tIns="0" rIns="0" bIns="0" rtlCol="0" anchor="t"/>
          <a:lstStyle/>
          <a:p>
            <a:pPr marL="0" indent="0">
              <a:buNone/>
            </a:pPr>
            <a:r>
              <a:rPr lang="en-US" sz="1700" b="1" dirty="0">
                <a:solidFill>
                  <a:schemeClr val="accent3"/>
                </a:solidFill>
              </a:rPr>
              <a:t>Freeze layers</a:t>
            </a:r>
            <a:endParaRPr lang="en-US" sz="1700" dirty="0"/>
          </a:p>
        </p:txBody>
      </p:sp>
      <p:sp>
        <p:nvSpPr>
          <p:cNvPr id="14" name="Text 11"/>
          <p:cNvSpPr txBox="1"/>
          <p:nvPr/>
        </p:nvSpPr>
        <p:spPr>
          <a:xfrm>
            <a:off x="777240" y="4389120"/>
            <a:ext cx="2743200" cy="868680"/>
          </a:xfrm>
          <a:prstGeom prst="rect">
            <a:avLst/>
          </a:prstGeom>
          <a:noFill/>
          <a:ln/>
        </p:spPr>
        <p:txBody>
          <a:bodyPr wrap="square" lIns="0" tIns="0" rIns="0" bIns="0" rtlCol="0" anchor="t"/>
          <a:lstStyle/>
          <a:p>
            <a:pPr marL="0" indent="0">
              <a:buNone/>
            </a:pPr>
            <a:r>
              <a:rPr lang="en-US" sz="1500" dirty="0">
                <a:solidFill>
                  <a:schemeClr val="tx1"/>
                </a:solidFill>
              </a:rPr>
              <a:t>Train only part of the network</a:t>
            </a:r>
            <a:endParaRPr lang="en-US" sz="1500" dirty="0"/>
          </a:p>
        </p:txBody>
      </p:sp>
      <p:sp>
        <p:nvSpPr>
          <p:cNvPr id="15" name="Text 12"/>
          <p:cNvSpPr txBox="1"/>
          <p:nvPr/>
        </p:nvSpPr>
        <p:spPr>
          <a:xfrm>
            <a:off x="777240" y="5257800"/>
            <a:ext cx="2743200" cy="640080"/>
          </a:xfrm>
          <a:prstGeom prst="rect">
            <a:avLst/>
          </a:prstGeom>
          <a:noFill/>
          <a:ln/>
        </p:spPr>
        <p:txBody>
          <a:bodyPr wrap="square" lIns="0" tIns="0" rIns="0" bIns="0" rtlCol="0" anchor="t"/>
          <a:lstStyle/>
          <a:p>
            <a:pPr marL="0" indent="0">
              <a:buNone/>
            </a:pPr>
            <a:r>
              <a:rPr lang="en-US" sz="1400" b="1" dirty="0">
                <a:solidFill>
                  <a:schemeClr val="tx2"/>
                </a:solidFill>
              </a:rPr>
              <a:t>Cost: </a:t>
            </a:r>
            <a:r>
              <a:rPr lang="en-US" sz="1400" dirty="0">
                <a:solidFill>
                  <a:schemeClr val="tx2"/>
                </a:solidFill>
              </a:rPr>
              <a:t>Partial fine-tuning; a precursor of PEFT</a:t>
            </a:r>
            <a:endParaRPr lang="en-US" sz="1400" dirty="0"/>
          </a:p>
        </p:txBody>
      </p:sp>
      <p:sp>
        <p:nvSpPr>
          <p:cNvPr id="16" name="Regularize toward θ₀"/>
          <p:cNvSpPr/>
          <p:nvPr/>
        </p:nvSpPr>
        <p:spPr>
          <a:xfrm>
            <a:off x="3977640" y="3749040"/>
            <a:ext cx="3200400" cy="2240280"/>
          </a:xfrm>
          <a:prstGeom prst="roundRect">
            <a:avLst>
              <a:gd name="adj" fmla="val 4898"/>
            </a:avLst>
          </a:prstGeom>
          <a:solidFill>
            <a:schemeClr val="bg2"/>
          </a:solidFill>
          <a:ln w="12700">
            <a:solidFill>
              <a:schemeClr val="bg2"/>
            </a:solidFill>
            <a:prstDash val="solid"/>
          </a:ln>
        </p:spPr>
      </p:sp>
      <p:sp>
        <p:nvSpPr>
          <p:cNvPr id="17" name="Text 14"/>
          <p:cNvSpPr txBox="1"/>
          <p:nvPr/>
        </p:nvSpPr>
        <p:spPr>
          <a:xfrm>
            <a:off x="4206240" y="3931920"/>
            <a:ext cx="2743200" cy="411480"/>
          </a:xfrm>
          <a:prstGeom prst="rect">
            <a:avLst/>
          </a:prstGeom>
          <a:noFill/>
          <a:ln/>
        </p:spPr>
        <p:txBody>
          <a:bodyPr wrap="square" lIns="0" tIns="0" rIns="0" bIns="0" rtlCol="0" anchor="t"/>
          <a:lstStyle/>
          <a:p>
            <a:pPr marL="0" indent="0">
              <a:buNone/>
            </a:pPr>
            <a:r>
              <a:rPr lang="en-US" sz="1700" b="1" dirty="0">
                <a:solidFill>
                  <a:schemeClr val="accent3"/>
                </a:solidFill>
              </a:rPr>
              <a:t>Regularize toward θ₀</a:t>
            </a:r>
            <a:endParaRPr lang="en-US" sz="1700" dirty="0"/>
          </a:p>
        </p:txBody>
      </p:sp>
      <p:sp>
        <p:nvSpPr>
          <p:cNvPr id="18" name="Text 15"/>
          <p:cNvSpPr txBox="1"/>
          <p:nvPr/>
        </p:nvSpPr>
        <p:spPr>
          <a:xfrm>
            <a:off x="4206240" y="4389120"/>
            <a:ext cx="2743200" cy="868680"/>
          </a:xfrm>
          <a:prstGeom prst="rect">
            <a:avLst/>
          </a:prstGeom>
          <a:noFill/>
          <a:ln/>
        </p:spPr>
        <p:txBody>
          <a:bodyPr wrap="square" lIns="0" tIns="0" rIns="0" bIns="0" rtlCol="0" anchor="t"/>
          <a:lstStyle/>
          <a:p>
            <a:pPr marL="0" indent="0">
              <a:buNone/>
            </a:pPr>
            <a:r>
              <a:rPr lang="en-US" sz="1500" dirty="0">
                <a:solidFill>
                  <a:schemeClr val="tx1"/>
                </a:solidFill>
              </a:rPr>
              <a:t>Penalize drift from the pretrained weights (Kirkpatrick et al., 2017)</a:t>
            </a:r>
            <a:endParaRPr lang="en-US" sz="1500" dirty="0"/>
          </a:p>
        </p:txBody>
      </p:sp>
      <p:sp>
        <p:nvSpPr>
          <p:cNvPr id="19" name="Text 16"/>
          <p:cNvSpPr txBox="1"/>
          <p:nvPr/>
        </p:nvSpPr>
        <p:spPr>
          <a:xfrm>
            <a:off x="4206240" y="5257800"/>
            <a:ext cx="2743200" cy="640080"/>
          </a:xfrm>
          <a:prstGeom prst="rect">
            <a:avLst/>
          </a:prstGeom>
          <a:noFill/>
          <a:ln/>
        </p:spPr>
        <p:txBody>
          <a:bodyPr wrap="square" lIns="0" tIns="0" rIns="0" bIns="0" rtlCol="0" anchor="t"/>
          <a:lstStyle/>
          <a:p>
            <a:pPr marL="0" indent="0">
              <a:buNone/>
            </a:pPr>
            <a:r>
              <a:rPr lang="en-US" sz="1400" b="1" dirty="0">
                <a:solidFill>
                  <a:schemeClr val="tx2"/>
                </a:solidFill>
              </a:rPr>
              <a:t>Cost: </a:t>
            </a:r>
            <a:r>
              <a:rPr lang="en-US" sz="1400" dirty="0">
                <a:solidFill>
                  <a:schemeClr val="tx2"/>
                </a:solidFill>
              </a:rPr>
              <a:t>Extra hyperparameters</a:t>
            </a:r>
            <a:endParaRPr lang="en-US" sz="1400" dirty="0"/>
          </a:p>
        </p:txBody>
      </p:sp>
      <p:sp>
        <p:nvSpPr>
          <p:cNvPr id="20" name="overfitting"/>
          <p:cNvSpPr/>
          <p:nvPr/>
        </p:nvSpPr>
        <p:spPr>
          <a:xfrm>
            <a:off x="7543800" y="1280160"/>
            <a:ext cx="4069080" cy="4709160"/>
          </a:xfrm>
          <a:prstGeom prst="roundRect">
            <a:avLst>
              <a:gd name="adj" fmla="val 2697"/>
            </a:avLst>
          </a:prstGeom>
          <a:solidFill>
            <a:schemeClr val="accent5"/>
          </a:solidFill>
          <a:ln w="12700">
            <a:solidFill>
              <a:schemeClr val="accent5"/>
            </a:solidFill>
            <a:prstDash val="solid"/>
          </a:ln>
        </p:spPr>
      </p:sp>
      <p:sp>
        <p:nvSpPr>
          <p:cNvPr id="21" name="Text 18"/>
          <p:cNvSpPr txBox="1"/>
          <p:nvPr/>
        </p:nvSpPr>
        <p:spPr>
          <a:xfrm>
            <a:off x="7772400" y="1463040"/>
            <a:ext cx="3657600" cy="457200"/>
          </a:xfrm>
          <a:prstGeom prst="rect">
            <a:avLst/>
          </a:prstGeom>
          <a:noFill/>
          <a:ln/>
        </p:spPr>
        <p:txBody>
          <a:bodyPr wrap="square" lIns="0" tIns="0" rIns="0" bIns="0" rtlCol="0" anchor="t"/>
          <a:lstStyle/>
          <a:p>
            <a:pPr marL="0" indent="0">
              <a:buNone/>
            </a:pPr>
            <a:r>
              <a:rPr lang="en-US" sz="2000" b="1" dirty="0">
                <a:solidFill>
                  <a:schemeClr val="tx1"/>
                </a:solidFill>
                <a:latin typeface="Cambria" pitchFamily="34" charset="0"/>
                <a:ea typeface="Cambria" pitchFamily="34" charset="-122"/>
                <a:cs typeface="Cambria" pitchFamily="34" charset="-120"/>
              </a:rPr>
              <a:t>Small data overfits</a:t>
            </a:r>
            <a:endParaRPr lang="en-US" sz="2000" dirty="0"/>
          </a:p>
        </p:txBody>
      </p:sp>
      <p:sp>
        <p:nvSpPr>
          <p:cNvPr id="22" name="Text 19"/>
          <p:cNvSpPr txBox="1"/>
          <p:nvPr/>
        </p:nvSpPr>
        <p:spPr>
          <a:xfrm>
            <a:off x="7772400" y="2011680"/>
            <a:ext cx="3657600" cy="384048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Training loss keeps falling as the model memorizes a few hundred examples</a:t>
            </a:r>
            <a:endParaRPr lang="en-US" sz="1600" dirty="0"/>
          </a:p>
          <a:p>
            <a:pPr marL="228600" indent="-228600">
              <a:spcAft>
                <a:spcPts val="800"/>
              </a:spcAft>
              <a:buSzPct val="100000"/>
              <a:buChar char="•"/>
            </a:pPr>
            <a:r>
              <a:rPr lang="en-US" sz="1600" dirty="0">
                <a:solidFill>
                  <a:schemeClr val="tx1"/>
                </a:solidFill>
              </a:rPr>
              <a:t>Validation loss stops improving, then rises: the gap is the warning</a:t>
            </a:r>
            <a:endParaRPr lang="en-US" sz="1600" dirty="0"/>
          </a:p>
          <a:p>
            <a:pPr marL="228600" indent="-228600">
              <a:spcAft>
                <a:spcPts val="800"/>
              </a:spcAft>
              <a:buSzPct val="100000"/>
              <a:buChar char="•"/>
            </a:pPr>
            <a:r>
              <a:rPr lang="en-US" sz="1600" b="1" dirty="0">
                <a:solidFill>
                  <a:schemeClr val="tx1"/>
                </a:solidFill>
              </a:rPr>
              <a:t>Keep the best checkpoint </a:t>
            </a:r>
            <a:r>
              <a:rPr lang="en-US" sz="1600" dirty="0">
                <a:solidFill>
                  <a:schemeClr val="tx1"/>
                </a:solidFill>
              </a:rPr>
              <a:t>by validation loss, or stop early</a:t>
            </a:r>
            <a:endParaRPr lang="en-US" sz="1600" dirty="0"/>
          </a:p>
          <a:p>
            <a:pPr marL="228600" indent="-228600">
              <a:spcAft>
                <a:spcPts val="800"/>
              </a:spcAft>
              <a:buSzPct val="100000"/>
              <a:buChar char="•"/>
            </a:pPr>
            <a:r>
              <a:rPr lang="en-US" sz="1600" dirty="0">
                <a:solidFill>
                  <a:schemeClr val="tx1"/>
                </a:solidFill>
              </a:rPr>
              <a:t>With little data: smaller LR, fewer epochs, more diverse examples</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777240"/>
          </a:xfrm>
          <a:prstGeom prst="rect">
            <a:avLst/>
          </a:prstGeom>
          <a:noFill/>
          <a:ln/>
        </p:spPr>
        <p:txBody>
          <a:bodyPr wrap="square" lIns="0" tIns="0" rIns="0" bIns="0" rtlCol="0" anchor="ctr"/>
          <a:lstStyle/>
          <a:p>
            <a:pPr marL="0" indent="0" algn="l">
              <a:buNone/>
            </a:pPr>
            <a:r>
              <a:rPr lang="en-US" sz="3200" b="1" dirty="0">
                <a:solidFill>
                  <a:schemeClr val="tx1"/>
                </a:solidFill>
              </a:rPr>
              <a:t>A model that never stops</a:t>
            </a:r>
            <a:endParaRPr lang="en-US" sz="3200" dirty="0"/>
          </a:p>
        </p:txBody>
      </p:sp>
      <p:sp>
        <p:nvSpPr>
          <p:cNvPr id="4" name="demo tag"/>
          <p:cNvSpPr/>
          <p:nvPr/>
        </p:nvSpPr>
        <p:spPr>
          <a:xfrm>
            <a:off x="8732520" y="411480"/>
            <a:ext cx="2880360" cy="457200"/>
          </a:xfrm>
          <a:prstGeom prst="roundRect">
            <a:avLst>
              <a:gd name="adj" fmla="val 50000"/>
            </a:avLst>
          </a:prstGeom>
          <a:solidFill>
            <a:schemeClr val="accent2"/>
          </a:solidFill>
          <a:ln w="12700">
            <a:solidFill>
              <a:schemeClr val="accent2"/>
            </a:solidFill>
            <a:prstDash val="solid"/>
          </a:ln>
        </p:spPr>
      </p:sp>
      <p:sp>
        <p:nvSpPr>
          <p:cNvPr id="5" name="Text 2"/>
          <p:cNvSpPr txBox="1"/>
          <p:nvPr/>
        </p:nvSpPr>
        <p:spPr>
          <a:xfrm>
            <a:off x="8732520" y="411480"/>
            <a:ext cx="2880360" cy="457200"/>
          </a:xfrm>
          <a:prstGeom prst="rect">
            <a:avLst/>
          </a:prstGeom>
          <a:noFill/>
          <a:ln/>
        </p:spPr>
        <p:txBody>
          <a:bodyPr wrap="square" lIns="0" tIns="0" rIns="0" bIns="0" rtlCol="0" anchor="ctr"/>
          <a:lstStyle/>
          <a:p>
            <a:pPr marL="0" indent="0" algn="ctr">
              <a:buNone/>
            </a:pPr>
            <a:r>
              <a:rPr lang="en-US" sz="1400" b="1" dirty="0">
                <a:solidFill>
                  <a:schemeClr val="tx1"/>
                </a:solidFill>
              </a:rPr>
              <a:t>LIVE DEMO  </a:t>
            </a:r>
            <a:r>
              <a:rPr lang="en-US" sz="1400" dirty="0">
                <a:solidFill>
                  <a:schemeClr val="tx1"/>
                </a:solidFill>
              </a:rPr>
              <a:t>cell 34</a:t>
            </a:r>
            <a:endParaRPr lang="en-US" sz="1400" dirty="0"/>
          </a:p>
        </p:txBody>
      </p:sp>
      <p:sp>
        <p:nvSpPr>
          <p:cNvPr id="6" name="bug"/>
          <p:cNvSpPr/>
          <p:nvPr/>
        </p:nvSpPr>
        <p:spPr>
          <a:xfrm>
            <a:off x="548640" y="1280160"/>
            <a:ext cx="5394960" cy="2286000"/>
          </a:xfrm>
          <a:prstGeom prst="roundRect">
            <a:avLst>
              <a:gd name="adj" fmla="val 4800"/>
            </a:avLst>
          </a:prstGeom>
          <a:solidFill>
            <a:schemeClr val="accent6"/>
          </a:solidFill>
          <a:ln w="12700">
            <a:solidFill>
              <a:schemeClr val="accent6"/>
            </a:solidFill>
            <a:prstDash val="solid"/>
          </a:ln>
        </p:spPr>
      </p:sp>
      <p:sp>
        <p:nvSpPr>
          <p:cNvPr id="7" name="Text 4"/>
          <p:cNvSpPr txBox="1"/>
          <p:nvPr/>
        </p:nvSpPr>
        <p:spPr>
          <a:xfrm>
            <a:off x="777240" y="1417320"/>
            <a:ext cx="4937760" cy="2057400"/>
          </a:xfrm>
          <a:prstGeom prst="rect">
            <a:avLst/>
          </a:prstGeom>
          <a:noFill/>
          <a:ln/>
        </p:spPr>
        <p:txBody>
          <a:bodyPr wrap="square" lIns="0" tIns="0" rIns="0" bIns="0" rtlCol="0" anchor="t"/>
          <a:lstStyle/>
          <a:p>
            <a:pPr marL="0" indent="0">
              <a:spcAft>
                <a:spcPts val="600"/>
              </a:spcAft>
              <a:buNone/>
            </a:pPr>
            <a:r>
              <a:rPr lang="en-US" sz="1900" b="1" dirty="0">
                <a:solidFill>
                  <a:schemeClr val="accent1"/>
                </a:solidFill>
              </a:rPr>
              <a:t>Bug</a:t>
            </a:r>
            <a:endParaRPr lang="en-US" sz="1500" dirty="0"/>
          </a:p>
          <a:p>
            <a:pPr marL="0" indent="0">
              <a:spcAft>
                <a:spcPts val="600"/>
              </a:spcAft>
              <a:buNone/>
            </a:pPr>
            <a:r>
              <a:rPr lang="en-US" sz="1500" dirty="0">
                <a:solidFill>
                  <a:schemeClr val="tx1"/>
                </a:solidFill>
                <a:latin typeface="Courier New" pitchFamily="34" charset="0"/>
                <a:ea typeface="Courier New" pitchFamily="34" charset="-122"/>
                <a:cs typeface="Courier New" pitchFamily="34" charset="-120"/>
              </a:rPr>
              <a:t>tok.pad_token = tok.eos_token</a:t>
            </a:r>
            <a:endParaRPr lang="en-US" sz="1500" dirty="0"/>
          </a:p>
          <a:p>
            <a:pPr marL="0" indent="0">
              <a:spcAft>
                <a:spcPts val="600"/>
              </a:spcAft>
              <a:buNone/>
            </a:pPr>
            <a:r>
              <a:rPr lang="en-US" sz="1400" dirty="0">
                <a:solidFill>
                  <a:schemeClr val="tx1"/>
                </a:solidFill>
                <a:latin typeface="Courier New" pitchFamily="34" charset="0"/>
                <a:ea typeface="Courier New" pitchFamily="34" charset="-122"/>
                <a:cs typeface="Courier New" pitchFamily="34" charset="-120"/>
              </a:rPr>
              <a:t>labels[input_ids == tok.pad_token_id] = -100</a:t>
            </a:r>
            <a:endParaRPr lang="en-US" sz="1500" dirty="0"/>
          </a:p>
          <a:p>
            <a:pPr marL="0" indent="0">
              <a:spcAft>
                <a:spcPts val="600"/>
              </a:spcAft>
              <a:buNone/>
            </a:pPr>
            <a:r>
              <a:rPr lang="en-US" sz="1500" dirty="0">
                <a:solidFill>
                  <a:schemeClr val="tx1"/>
                </a:solidFill>
              </a:rPr>
              <a:t>Masks every end-of-text label, including the real ones.</a:t>
            </a:r>
            <a:endParaRPr lang="en-US" sz="1500" dirty="0"/>
          </a:p>
        </p:txBody>
      </p:sp>
      <p:sp>
        <p:nvSpPr>
          <p:cNvPr id="8" name="fix"/>
          <p:cNvSpPr/>
          <p:nvPr/>
        </p:nvSpPr>
        <p:spPr>
          <a:xfrm>
            <a:off x="6217920" y="1280160"/>
            <a:ext cx="5394960" cy="2286000"/>
          </a:xfrm>
          <a:prstGeom prst="roundRect">
            <a:avLst>
              <a:gd name="adj" fmla="val 4800"/>
            </a:avLst>
          </a:prstGeom>
          <a:solidFill>
            <a:schemeClr val="bg2"/>
          </a:solidFill>
          <a:ln w="12700">
            <a:solidFill>
              <a:schemeClr val="bg2"/>
            </a:solidFill>
            <a:prstDash val="solid"/>
          </a:ln>
        </p:spPr>
      </p:sp>
      <p:sp>
        <p:nvSpPr>
          <p:cNvPr id="9" name="Text 6"/>
          <p:cNvSpPr txBox="1"/>
          <p:nvPr/>
        </p:nvSpPr>
        <p:spPr>
          <a:xfrm>
            <a:off x="6446520" y="1417320"/>
            <a:ext cx="4937760" cy="2057400"/>
          </a:xfrm>
          <a:prstGeom prst="rect">
            <a:avLst/>
          </a:prstGeom>
          <a:noFill/>
          <a:ln/>
        </p:spPr>
        <p:txBody>
          <a:bodyPr wrap="square" lIns="0" tIns="0" rIns="0" bIns="0" rtlCol="0" anchor="t"/>
          <a:lstStyle/>
          <a:p>
            <a:pPr marL="0" indent="0">
              <a:spcAft>
                <a:spcPts val="600"/>
              </a:spcAft>
              <a:buNone/>
            </a:pPr>
            <a:r>
              <a:rPr lang="en-US" sz="1900" b="1" dirty="0">
                <a:solidFill>
                  <a:schemeClr val="accent4"/>
                </a:solidFill>
              </a:rPr>
              <a:t>Fix</a:t>
            </a:r>
            <a:endParaRPr lang="en-US" sz="1500" dirty="0"/>
          </a:p>
          <a:p>
            <a:pPr marL="0" indent="0">
              <a:spcAft>
                <a:spcPts val="600"/>
              </a:spcAft>
              <a:buNone/>
            </a:pPr>
            <a:r>
              <a:rPr lang="en-US" sz="1500" dirty="0">
                <a:solidFill>
                  <a:schemeClr val="tx1"/>
                </a:solidFill>
                <a:latin typeface="Courier New" pitchFamily="34" charset="0"/>
                <a:ea typeface="Courier New" pitchFamily="34" charset="-122"/>
                <a:cs typeface="Courier New" pitchFamily="34" charset="-120"/>
              </a:rPr>
              <a:t>labels[attention_mask == 0] = -100</a:t>
            </a:r>
            <a:endParaRPr lang="en-US" sz="1500" dirty="0"/>
          </a:p>
          <a:p>
            <a:pPr marL="0" indent="0">
              <a:spcAft>
                <a:spcPts val="600"/>
              </a:spcAft>
              <a:buNone/>
            </a:pPr>
            <a:r>
              <a:rPr lang="en-US" sz="1500" dirty="0">
                <a:solidFill>
                  <a:schemeClr val="tx1"/>
                </a:solidFill>
              </a:rPr>
              <a:t>Mask by which positions are padding, not by which token sits there.</a:t>
            </a:r>
            <a:endParaRPr lang="en-US" sz="1500" dirty="0"/>
          </a:p>
        </p:txBody>
      </p:sp>
      <p:sp>
        <p:nvSpPr>
          <p:cNvPr id="10" name="Text 7"/>
          <p:cNvSpPr txBox="1"/>
          <p:nvPr/>
        </p:nvSpPr>
        <p:spPr>
          <a:xfrm>
            <a:off x="548640" y="3794760"/>
            <a:ext cx="6949440" cy="2377440"/>
          </a:xfrm>
          <a:prstGeom prst="rect">
            <a:avLst/>
          </a:prstGeom>
          <a:noFill/>
          <a:ln/>
        </p:spPr>
        <p:txBody>
          <a:bodyPr wrap="square" lIns="0" tIns="0" rIns="0" bIns="0" rtlCol="0" anchor="t"/>
          <a:lstStyle/>
          <a:p>
            <a:pPr marL="228600" indent="-228600">
              <a:spcAft>
                <a:spcPts val="800"/>
              </a:spcAft>
              <a:buSzPct val="100000"/>
              <a:buChar char="•"/>
            </a:pPr>
            <a:r>
              <a:rPr lang="en-US" sz="1600" b="1" dirty="0">
                <a:solidFill>
                  <a:schemeClr val="tx1"/>
                </a:solidFill>
              </a:rPr>
              <a:t>Experiment: </a:t>
            </a:r>
            <a:r>
              <a:rPr lang="en-US" sz="1600" dirty="0">
                <a:solidFill>
                  <a:schemeClr val="tx1"/>
                </a:solidFill>
              </a:rPr>
              <a:t>fine-tune twice, with and without the &lt;eos&gt; label; sample 40 recipes at temperature 1; count how many stop on their own</a:t>
            </a:r>
            <a:endParaRPr lang="en-US" sz="1600" dirty="0"/>
          </a:p>
          <a:p>
            <a:pPr marL="228600" indent="-228600">
              <a:spcAft>
                <a:spcPts val="800"/>
              </a:spcAft>
              <a:buSzPct val="100000"/>
              <a:buChar char="•"/>
            </a:pPr>
            <a:r>
              <a:rPr lang="en-US" sz="1600" b="1" dirty="0">
                <a:solidFill>
                  <a:schemeClr val="tx1"/>
                </a:solidFill>
              </a:rPr>
              <a:t>What to look for: </a:t>
            </a:r>
            <a:r>
              <a:rPr lang="en-US" sz="1600" dirty="0">
                <a:solidFill>
                  <a:schemeClr val="tx1"/>
                </a:solidFill>
              </a:rPr>
              <a:t>with the label, nearly every sample stops after the record; without it, the model runs to the token limit and often starts a new, malformed record</a:t>
            </a:r>
            <a:endParaRPr lang="en-US" sz="1600" dirty="0"/>
          </a:p>
          <a:p>
            <a:pPr marL="228600" indent="-228600">
              <a:spcAft>
                <a:spcPts val="800"/>
              </a:spcAft>
              <a:buSzPct val="100000"/>
              <a:buChar char="•"/>
            </a:pPr>
            <a:r>
              <a:rPr lang="en-US" sz="1600" b="1" dirty="0">
                <a:solidFill>
                  <a:schemeClr val="tx1"/>
                </a:solidFill>
              </a:rPr>
              <a:t>Invisible in the loss curve: </a:t>
            </a:r>
            <a:r>
              <a:rPr lang="en-US" sz="1600" dirty="0">
                <a:solidFill>
                  <a:schemeClr val="tx1"/>
                </a:solidFill>
              </a:rPr>
              <a:t>only generation reveals it</a:t>
            </a:r>
            <a:endParaRPr lang="en-US" sz="1600" dirty="0"/>
          </a:p>
        </p:txBody>
      </p:sp>
      <p:sp>
        <p:nvSpPr>
          <p:cNvPr id="11" name="rule of thumb"/>
          <p:cNvSpPr/>
          <p:nvPr/>
        </p:nvSpPr>
        <p:spPr>
          <a:xfrm>
            <a:off x="7772400" y="3794760"/>
            <a:ext cx="3840480" cy="2286000"/>
          </a:xfrm>
          <a:prstGeom prst="roundRect">
            <a:avLst>
              <a:gd name="adj" fmla="val 4800"/>
            </a:avLst>
          </a:prstGeom>
          <a:solidFill>
            <a:schemeClr val="accent5"/>
          </a:solidFill>
          <a:ln w="12700">
            <a:solidFill>
              <a:schemeClr val="accent5"/>
            </a:solidFill>
            <a:prstDash val="solid"/>
          </a:ln>
        </p:spPr>
      </p:sp>
      <p:sp>
        <p:nvSpPr>
          <p:cNvPr id="12" name="Text 9"/>
          <p:cNvSpPr txBox="1"/>
          <p:nvPr/>
        </p:nvSpPr>
        <p:spPr>
          <a:xfrm>
            <a:off x="8001000" y="3931920"/>
            <a:ext cx="3383280" cy="2057400"/>
          </a:xfrm>
          <a:prstGeom prst="rect">
            <a:avLst/>
          </a:prstGeom>
          <a:noFill/>
          <a:ln/>
        </p:spPr>
        <p:txBody>
          <a:bodyPr wrap="square" lIns="0" tIns="0" rIns="0" bIns="0" rtlCol="0" anchor="t"/>
          <a:lstStyle/>
          <a:p>
            <a:pPr marL="0" indent="0">
              <a:spcAft>
                <a:spcPts val="600"/>
              </a:spcAft>
              <a:buNone/>
            </a:pPr>
            <a:r>
              <a:rPr lang="en-US" sz="1900" b="1" dirty="0">
                <a:solidFill>
                  <a:schemeClr val="tx1"/>
                </a:solidFill>
              </a:rPr>
              <a:t>Rule of thumb</a:t>
            </a:r>
            <a:endParaRPr lang="en-US" sz="1500" dirty="0"/>
          </a:p>
          <a:p>
            <a:pPr marL="0" indent="0">
              <a:spcAft>
                <a:spcPts val="600"/>
              </a:spcAft>
              <a:buNone/>
            </a:pPr>
            <a:r>
              <a:rPr lang="en-US" sz="1500" dirty="0">
                <a:solidFill>
                  <a:schemeClr val="tx1"/>
                </a:solidFill>
              </a:rPr>
              <a:t>After building labels, print one decoded example with its labels and check the last real token. It takes ten seconds.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777240"/>
          </a:xfrm>
          <a:prstGeom prst="rect">
            <a:avLst/>
          </a:prstGeom>
          <a:noFill/>
          <a:ln/>
        </p:spPr>
        <p:txBody>
          <a:bodyPr wrap="square" lIns="0" tIns="0" rIns="0" bIns="0" rtlCol="0" anchor="ctr"/>
          <a:lstStyle/>
          <a:p>
            <a:pPr marL="0" indent="0" algn="l">
              <a:buNone/>
            </a:pPr>
            <a:r>
              <a:rPr lang="en-US" sz="3200" b="1" dirty="0">
                <a:solidFill>
                  <a:schemeClr val="tx1"/>
                </a:solidFill>
              </a:rPr>
              <a:t>What each measurement tells you</a:t>
            </a:r>
            <a:endParaRPr lang="en-US" sz="32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64240" cy="914400"/>
        </p:xfrm>
        <a:graphic>
          <a:graphicData uri="http://schemas.openxmlformats.org/drawingml/2006/table">
            <a:tbl>
              <a:tblPr/>
              <a:tblGrid>
                <a:gridCol w="2926080"/>
                <a:gridCol w="3931920"/>
                <a:gridCol w="4206240"/>
              </a:tblGrid>
              <a:tr h="603504">
                <a:tc>
                  <a:txBody>
                    <a:bodyPr/>
                    <a:lstStyle/>
                    <a:p>
                      <a:pPr marL="0" indent="0">
                        <a:buNone/>
                      </a:pPr>
                      <a:r>
                        <a:rPr lang="en-US" sz="1400" b="1" dirty="0">
                          <a:solidFill>
                            <a:schemeClr val="bg1"/>
                          </a:solidFill>
                        </a:rPr>
                        <a:t>Measurement</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marL="0" indent="0">
                        <a:buNone/>
                      </a:pPr>
                      <a:r>
                        <a:rPr lang="en-US" sz="1400" b="1" dirty="0">
                          <a:solidFill>
                            <a:schemeClr val="bg1"/>
                          </a:solidFill>
                        </a:rPr>
                        <a:t>Tells you</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marL="0" indent="0">
                        <a:buNone/>
                      </a:pPr>
                      <a:r>
                        <a:rPr lang="en-US" sz="1400" b="1" dirty="0">
                          <a:solidFill>
                            <a:schemeClr val="bg1"/>
                          </a:solidFill>
                        </a:rPr>
                        <a:t>Does not tell you</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r>
              <a:tr h="603504">
                <a:tc>
                  <a:txBody>
                    <a:bodyPr/>
                    <a:lstStyle/>
                    <a:p>
                      <a:pPr marL="0" indent="0">
                        <a:buNone/>
                      </a:pPr>
                      <a:r>
                        <a:rPr lang="en-US" sz="1400" b="1" dirty="0">
                          <a:solidFill>
                            <a:schemeClr val="tx1"/>
                          </a:solidFill>
                        </a:rPr>
                        <a:t>Validation loss / perplexity</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How well held-out text from the same distribution is predicted</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Whether outputs are correct or useful; not comparable across tokenizers</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603504">
                <a:tc>
                  <a:txBody>
                    <a:bodyPr/>
                    <a:lstStyle/>
                    <a:p>
                      <a:pPr marL="0" indent="0">
                        <a:buNone/>
                      </a:pPr>
                      <a:r>
                        <a:rPr lang="en-US" sz="1400" b="1" dirty="0">
                          <a:solidFill>
                            <a:schemeClr val="tx1"/>
                          </a:solidFill>
                        </a:rPr>
                        <a:t>Held-out original-domain loss</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How much general ability was lost</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Whether that loss matters for your application</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r h="603504">
                <a:tc>
                  <a:txBody>
                    <a:bodyPr/>
                    <a:lstStyle/>
                    <a:p>
                      <a:pPr marL="0" indent="0">
                        <a:buNone/>
                      </a:pPr>
                      <a:r>
                        <a:rPr lang="en-US" sz="1400" b="1" dirty="0">
                          <a:solidFill>
                            <a:schemeClr val="tx1"/>
                          </a:solidFill>
                        </a:rPr>
                        <a:t>Generations (fixed prompts and settings)</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What a user sees: format, style, stopping</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Statistical reliability from a handful of samples</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603504">
                <a:tc>
                  <a:txBody>
                    <a:bodyPr/>
                    <a:lstStyle/>
                    <a:p>
                      <a:pPr marL="0" indent="0">
                        <a:buNone/>
                      </a:pPr>
                      <a:r>
                        <a:rPr lang="en-US" sz="1400" b="1" dirty="0">
                          <a:solidFill>
                            <a:schemeClr val="tx1"/>
                          </a:solidFill>
                        </a:rPr>
                        <a:t>Task-specific automatic checks</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Whether outputs satisfy rules you can write down</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Quality beyond those rules</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r h="603504">
                <a:tc>
                  <a:txBody>
                    <a:bodyPr/>
                    <a:lstStyle/>
                    <a:p>
                      <a:pPr marL="0" indent="0">
                        <a:buNone/>
                      </a:pPr>
                      <a:r>
                        <a:rPr lang="en-US" sz="1400" b="1" dirty="0">
                          <a:solidFill>
                            <a:schemeClr val="tx1"/>
                          </a:solidFill>
                        </a:rPr>
                        <a:t>BLEU / ROUGE</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n-gram overlap with a reference</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Factuality or usefulness; depends on tokenization and references</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603504">
                <a:tc>
                  <a:txBody>
                    <a:bodyPr/>
                    <a:lstStyle/>
                    <a:p>
                      <a:pPr marL="0" indent="0">
                        <a:buNone/>
                      </a:pPr>
                      <a:r>
                        <a:rPr lang="en-US" sz="1400" b="1" dirty="0">
                          <a:solidFill>
                            <a:schemeClr val="tx1"/>
                          </a:solidFill>
                        </a:rPr>
                        <a:t>Human review with a rubric</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Usefulness, correctness, tone</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Cheapness or consistency: needs clear criteria and several raters</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bl>
          </a:graphicData>
        </a:graphic>
      </p:graphicFrame>
      <p:sp>
        <p:nvSpPr>
          <p:cNvPr id="5" name="control"/>
          <p:cNvSpPr/>
          <p:nvPr/>
        </p:nvSpPr>
        <p:spPr>
          <a:xfrm>
            <a:off x="548640" y="5532120"/>
            <a:ext cx="11064240" cy="640080"/>
          </a:xfrm>
          <a:prstGeom prst="roundRect">
            <a:avLst>
              <a:gd name="adj" fmla="val 17143"/>
            </a:avLst>
          </a:prstGeom>
          <a:solidFill>
            <a:schemeClr val="accent5"/>
          </a:solidFill>
          <a:ln w="12700">
            <a:solidFill>
              <a:schemeClr val="accent5"/>
            </a:solidFill>
            <a:prstDash val="solid"/>
          </a:ln>
        </p:spPr>
      </p:sp>
      <p:sp>
        <p:nvSpPr>
          <p:cNvPr id="6" name="Text 2"/>
          <p:cNvSpPr txBox="1"/>
          <p:nvPr/>
        </p:nvSpPr>
        <p:spPr>
          <a:xfrm>
            <a:off x="777240" y="5532120"/>
            <a:ext cx="10607040" cy="640080"/>
          </a:xfrm>
          <a:prstGeom prst="rect">
            <a:avLst/>
          </a:prstGeom>
          <a:noFill/>
          <a:ln/>
        </p:spPr>
        <p:txBody>
          <a:bodyPr wrap="square" lIns="0" tIns="0" rIns="0" bIns="0" rtlCol="0" anchor="ctr"/>
          <a:lstStyle/>
          <a:p>
            <a:pPr marL="0" indent="0">
              <a:buNone/>
            </a:pPr>
            <a:r>
              <a:rPr lang="en-US" sz="1600" b="1" dirty="0">
                <a:solidFill>
                  <a:schemeClr val="tx1"/>
                </a:solidFill>
              </a:rPr>
              <a:t>Always: </a:t>
            </a:r>
            <a:r>
              <a:rPr lang="en-US" sz="1600" dirty="0">
                <a:solidFill>
                  <a:schemeClr val="tx1"/>
                </a:solidFill>
              </a:rPr>
              <a:t>compare with the base model under identical prompts and decoding settings, and record those settings with the result.</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777240"/>
          </a:xfrm>
          <a:prstGeom prst="rect">
            <a:avLst/>
          </a:prstGeom>
          <a:noFill/>
          <a:ln/>
        </p:spPr>
        <p:txBody>
          <a:bodyPr wrap="square" lIns="0" tIns="0" rIns="0" bIns="0" rtlCol="0" anchor="ctr"/>
          <a:lstStyle/>
          <a:p>
            <a:pPr marL="0" indent="0" algn="l">
              <a:buNone/>
            </a:pPr>
            <a:r>
              <a:rPr lang="en-US" sz="3200" b="1" dirty="0">
                <a:solidFill>
                  <a:schemeClr val="tx1"/>
                </a:solidFill>
              </a:rPr>
              <a:t>A rule-based check for the toy task</a:t>
            </a:r>
            <a:endParaRPr lang="en-US" sz="3200" dirty="0"/>
          </a:p>
        </p:txBody>
      </p:sp>
      <p:sp>
        <p:nvSpPr>
          <p:cNvPr id="4" name="demo tag"/>
          <p:cNvSpPr/>
          <p:nvPr/>
        </p:nvSpPr>
        <p:spPr>
          <a:xfrm>
            <a:off x="8732520" y="411480"/>
            <a:ext cx="2880360" cy="457200"/>
          </a:xfrm>
          <a:prstGeom prst="roundRect">
            <a:avLst>
              <a:gd name="adj" fmla="val 50000"/>
            </a:avLst>
          </a:prstGeom>
          <a:solidFill>
            <a:schemeClr val="accent2"/>
          </a:solidFill>
          <a:ln w="12700">
            <a:solidFill>
              <a:schemeClr val="accent2"/>
            </a:solidFill>
            <a:prstDash val="solid"/>
          </a:ln>
        </p:spPr>
      </p:sp>
      <p:sp>
        <p:nvSpPr>
          <p:cNvPr id="5" name="Text 2"/>
          <p:cNvSpPr txBox="1"/>
          <p:nvPr/>
        </p:nvSpPr>
        <p:spPr>
          <a:xfrm>
            <a:off x="8732520" y="411480"/>
            <a:ext cx="2880360" cy="457200"/>
          </a:xfrm>
          <a:prstGeom prst="rect">
            <a:avLst/>
          </a:prstGeom>
          <a:noFill/>
          <a:ln/>
        </p:spPr>
        <p:txBody>
          <a:bodyPr wrap="square" lIns="0" tIns="0" rIns="0" bIns="0" rtlCol="0" anchor="ctr"/>
          <a:lstStyle/>
          <a:p>
            <a:pPr marL="0" indent="0" algn="ctr">
              <a:buNone/>
            </a:pPr>
            <a:r>
              <a:rPr lang="en-US" sz="1400" b="1" dirty="0">
                <a:solidFill>
                  <a:schemeClr val="tx1"/>
                </a:solidFill>
              </a:rPr>
              <a:t>LIVE DEMO  </a:t>
            </a:r>
            <a:r>
              <a:rPr lang="en-US" sz="1400" dirty="0">
                <a:solidFill>
                  <a:schemeClr val="tx1"/>
                </a:solidFill>
              </a:rPr>
              <a:t>cell 37</a:t>
            </a:r>
            <a:endParaRPr lang="en-US" sz="14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6035040" cy="914400"/>
        </p:xfrm>
        <a:graphic>
          <a:graphicData uri="http://schemas.openxmlformats.org/drawingml/2006/table">
            <a:tbl>
              <a:tblPr/>
              <a:tblGrid>
                <a:gridCol w="1828800"/>
                <a:gridCol w="4206240"/>
              </a:tblGrid>
              <a:tr h="685800">
                <a:tc>
                  <a:txBody>
                    <a:bodyPr/>
                    <a:lstStyle/>
                    <a:p>
                      <a:pPr marL="0" indent="0">
                        <a:buNone/>
                      </a:pPr>
                      <a:r>
                        <a:rPr lang="en-US" sz="1400" b="1" dirty="0">
                          <a:solidFill>
                            <a:schemeClr val="bg1"/>
                          </a:solidFill>
                        </a:rPr>
                        <a:t>Category</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marL="0" indent="0">
                        <a:buNone/>
                      </a:pPr>
                      <a:r>
                        <a:rPr lang="en-US" sz="1400" b="1" dirty="0">
                          <a:solidFill>
                            <a:schemeClr val="bg1"/>
                          </a:solidFill>
                        </a:rPr>
                        <a:t>Meaning</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r>
              <a:tr h="685800">
                <a:tc>
                  <a:txBody>
                    <a:bodyPr/>
                    <a:lstStyle/>
                    <a:p>
                      <a:pPr marL="0" indent="0">
                        <a:buNone/>
                      </a:pPr>
                      <a:r>
                        <a:rPr lang="en-US" sz="1400" b="1" dirty="0">
                          <a:solidFill>
                            <a:schemeClr val="tx1"/>
                          </a:solidFill>
                        </a:rPr>
                        <a:t>Format-valid</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Matches  recipe : D ; ingredients : a , b , c ; steps : x , y , z &lt;eos&gt;</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685800">
                <a:tc>
                  <a:txBody>
                    <a:bodyPr/>
                    <a:lstStyle/>
                    <a:p>
                      <a:pPr marL="0" indent="0">
                        <a:buNone/>
                      </a:pPr>
                      <a:r>
                        <a:rPr lang="en-US" sz="1400" b="1" dirty="0">
                          <a:solidFill>
                            <a:schemeClr val="tx1"/>
                          </a:solidFill>
                        </a:rPr>
                        <a:t>Content-valid</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Format-valid, and a possible recipe for dish D</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r h="685800">
                <a:tc>
                  <a:txBody>
                    <a:bodyPr/>
                    <a:lstStyle/>
                    <a:p>
                      <a:pPr marL="0" indent="0">
                        <a:buNone/>
                      </a:pPr>
                      <a:r>
                        <a:rPr lang="en-US" sz="1400" b="1" dirty="0">
                          <a:solidFill>
                            <a:schemeClr val="accent1"/>
                          </a:solidFill>
                        </a:rPr>
                        <a:t>Copied</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Content-valid and identical to a training record</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685800">
                <a:tc>
                  <a:txBody>
                    <a:bodyPr/>
                    <a:lstStyle/>
                    <a:p>
                      <a:pPr marL="0" indent="0">
                        <a:buNone/>
                      </a:pPr>
                      <a:r>
                        <a:rPr lang="en-US" sz="1400" b="1" dirty="0">
                          <a:solidFill>
                            <a:schemeClr val="accent4"/>
                          </a:solidFill>
                        </a:rPr>
                        <a:t>Novel valid</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Content-valid and never shown in training</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bl>
          </a:graphicData>
        </a:graphic>
      </p:graphicFrame>
      <p:sp>
        <p:nvSpPr>
          <p:cNvPr id="7" name="Text 3"/>
          <p:cNvSpPr txBox="1"/>
          <p:nvPr/>
        </p:nvSpPr>
        <p:spPr>
          <a:xfrm>
            <a:off x="548640" y="5074920"/>
            <a:ext cx="6035040" cy="457200"/>
          </a:xfrm>
          <a:prstGeom prst="rect">
            <a:avLst/>
          </a:prstGeom>
          <a:noFill/>
          <a:ln/>
        </p:spPr>
        <p:txBody>
          <a:bodyPr wrap="square" lIns="0" tIns="0" rIns="0" bIns="0" rtlCol="0" anchor="t"/>
          <a:lstStyle/>
          <a:p>
            <a:pPr marL="0" indent="0">
              <a:buNone/>
            </a:pPr>
            <a:r>
              <a:rPr lang="en-US" sz="1400" i="1" dirty="0">
                <a:solidFill>
                  <a:schemeClr val="tx2"/>
                </a:solidFill>
              </a:rPr>
              <a:t>60 samples per model at temperature 1, one seed: compare only large differences.</a:t>
            </a:r>
            <a:endParaRPr lang="en-US" sz="1400" dirty="0"/>
          </a:p>
        </p:txBody>
      </p:sp>
      <p:sp>
        <p:nvSpPr>
          <p:cNvPr id="8" name="Text 4"/>
          <p:cNvSpPr txBox="1"/>
          <p:nvPr/>
        </p:nvSpPr>
        <p:spPr>
          <a:xfrm>
            <a:off x="6949440" y="1280160"/>
            <a:ext cx="4663440" cy="457200"/>
          </a:xfrm>
          <a:prstGeom prst="rect">
            <a:avLst/>
          </a:prstGeom>
          <a:noFill/>
          <a:ln/>
        </p:spPr>
        <p:txBody>
          <a:bodyPr wrap="square" lIns="0" tIns="0" rIns="0" bIns="0" rtlCol="0" anchor="t"/>
          <a:lstStyle/>
          <a:p>
            <a:pPr marL="0" indent="0">
              <a:buNone/>
            </a:pPr>
            <a:r>
              <a:rPr lang="en-US" sz="2000" b="1" dirty="0">
                <a:solidFill>
                  <a:schemeClr val="tx1"/>
                </a:solidFill>
                <a:latin typeface="Cambria" pitchFamily="34" charset="0"/>
                <a:ea typeface="Cambria" pitchFamily="34" charset="-122"/>
                <a:cs typeface="Cambria" pitchFamily="34" charset="-120"/>
              </a:rPr>
              <a:t>What the check shows</a:t>
            </a:r>
            <a:endParaRPr lang="en-US" sz="2000" dirty="0"/>
          </a:p>
        </p:txBody>
      </p:sp>
      <p:sp>
        <p:nvSpPr>
          <p:cNvPr id="9" name="Text 5"/>
          <p:cNvSpPr txBox="1"/>
          <p:nvPr/>
        </p:nvSpPr>
        <p:spPr>
          <a:xfrm>
            <a:off x="6949440" y="1828800"/>
            <a:ext cx="4663440" cy="4297680"/>
          </a:xfrm>
          <a:prstGeom prst="rect">
            <a:avLst/>
          </a:prstGeom>
          <a:noFill/>
          <a:ln/>
        </p:spPr>
        <p:txBody>
          <a:bodyPr wrap="square" lIns="0" tIns="0" rIns="0" bIns="0" rtlCol="0" anchor="t"/>
          <a:lstStyle/>
          <a:p>
            <a:pPr marL="228600" indent="-228600">
              <a:spcAft>
                <a:spcPts val="800"/>
              </a:spcAft>
              <a:buSzPct val="100000"/>
              <a:buChar char="•"/>
            </a:pPr>
            <a:r>
              <a:rPr lang="en-US" sz="1600" b="1" dirty="0">
                <a:solidFill>
                  <a:schemeClr val="tx1"/>
                </a:solidFill>
              </a:rPr>
              <a:t>Content-valid &lt; format-valid: </a:t>
            </a:r>
            <a:r>
              <a:rPr lang="en-US" sz="1600" dirty="0">
                <a:solidFill>
                  <a:schemeClr val="tx1"/>
                </a:solidFill>
              </a:rPr>
              <a:t>some recipes look right but mix ingredients or steps from the wrong dish</a:t>
            </a:r>
            <a:endParaRPr lang="en-US" sz="1600" dirty="0"/>
          </a:p>
          <a:p>
            <a:pPr marL="228600" indent="-228600">
              <a:spcAft>
                <a:spcPts val="800"/>
              </a:spcAft>
              <a:buSzPct val="100000"/>
              <a:buChar char="•"/>
            </a:pPr>
            <a:r>
              <a:rPr lang="en-US" sz="1600" b="1" dirty="0">
                <a:solidFill>
                  <a:schemeClr val="tx1"/>
                </a:solidFill>
              </a:rPr>
              <a:t>Loss alone doesn't rank models: </a:t>
            </a:r>
            <a:r>
              <a:rPr lang="en-US" sz="1600" dirty="0">
                <a:solidFill>
                  <a:schemeClr val="tx1"/>
                </a:solidFill>
              </a:rPr>
              <a:t>two LRs with almost equal recipe loss differ clearly in content-validity</a:t>
            </a:r>
            <a:endParaRPr lang="en-US" sz="1600" dirty="0"/>
          </a:p>
          <a:p>
            <a:pPr marL="228600" indent="-228600">
              <a:spcAft>
                <a:spcPts val="800"/>
              </a:spcAft>
              <a:buSzPct val="100000"/>
              <a:buChar char="•"/>
            </a:pPr>
            <a:r>
              <a:rPr lang="en-US" sz="1600" b="1" dirty="0">
                <a:solidFill>
                  <a:schemeClr val="tx1"/>
                </a:solidFill>
              </a:rPr>
              <a:t>Memorization: </a:t>
            </a:r>
            <a:r>
              <a:rPr lang="en-US" sz="1600" dirty="0">
                <a:solidFill>
                  <a:schemeClr val="tx1"/>
                </a:solidFill>
              </a:rPr>
              <a:t>most valid outputs are copies of training records, almost none novel</a:t>
            </a:r>
            <a:endParaRPr lang="en-US" sz="1600" dirty="0"/>
          </a:p>
          <a:p>
            <a:pPr marL="228600" indent="-228600">
              <a:spcAft>
                <a:spcPts val="800"/>
              </a:spcAft>
              <a:buSzPct val="100000"/>
              <a:buChar char="•"/>
            </a:pPr>
            <a:r>
              <a:rPr lang="en-US" sz="1600" b="1" dirty="0">
                <a:solidFill>
                  <a:schemeClr val="tx1"/>
                </a:solidFill>
              </a:rPr>
              <a:t>Real data: </a:t>
            </a:r>
            <a:r>
              <a:rPr lang="en-US" sz="1600" dirty="0">
                <a:solidFill>
                  <a:schemeClr val="tx1"/>
                </a:solidFill>
              </a:rPr>
              <a:t>needs human review against a rubric; BLEU / ROUGE cannot replace it</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777240"/>
          </a:xfrm>
          <a:prstGeom prst="rect">
            <a:avLst/>
          </a:prstGeom>
          <a:noFill/>
          <a:ln/>
        </p:spPr>
        <p:txBody>
          <a:bodyPr wrap="square" lIns="0" tIns="0" rIns="0" bIns="0" rtlCol="0" anchor="ctr"/>
          <a:lstStyle/>
          <a:p>
            <a:pPr marL="0" indent="0" algn="l">
              <a:buNone/>
            </a:pPr>
            <a:r>
              <a:rPr lang="en-US" sz="3200" b="1" dirty="0">
                <a:solidFill>
                  <a:schemeClr val="tx1"/>
                </a:solidFill>
              </a:rPr>
              <a:t>Responsible use</a:t>
            </a:r>
            <a:endParaRPr lang="en-US" sz="3200" dirty="0"/>
          </a:p>
        </p:txBody>
      </p:sp>
      <p:sp>
        <p:nvSpPr>
          <p:cNvPr id="4" name="Data rights and privacy"/>
          <p:cNvSpPr/>
          <p:nvPr/>
        </p:nvSpPr>
        <p:spPr>
          <a:xfrm>
            <a:off x="548640" y="1280160"/>
            <a:ext cx="5440680" cy="2240280"/>
          </a:xfrm>
          <a:prstGeom prst="roundRect">
            <a:avLst>
              <a:gd name="adj" fmla="val 4898"/>
            </a:avLst>
          </a:prstGeom>
          <a:solidFill>
            <a:schemeClr val="bg2"/>
          </a:solidFill>
          <a:ln w="12700">
            <a:solidFill>
              <a:schemeClr val="bg2"/>
            </a:solidFill>
            <a:prstDash val="solid"/>
          </a:ln>
        </p:spPr>
      </p:sp>
      <p:sp>
        <p:nvSpPr>
          <p:cNvPr id="5" name="Shape 2"/>
          <p:cNvSpPr/>
          <p:nvPr/>
        </p:nvSpPr>
        <p:spPr>
          <a:xfrm>
            <a:off x="822960" y="1554480"/>
            <a:ext cx="502920" cy="502920"/>
          </a:xfrm>
          <a:prstGeom prst="ellipse">
            <a:avLst/>
          </a:prstGeom>
          <a:solidFill>
            <a:schemeClr val="accent1"/>
          </a:solidFill>
          <a:ln w="12700">
            <a:solidFill>
              <a:schemeClr val="accent1"/>
            </a:solidFill>
            <a:prstDash val="solid"/>
          </a:ln>
        </p:spPr>
      </p:sp>
      <p:sp>
        <p:nvSpPr>
          <p:cNvPr id="6" name="Text 3"/>
          <p:cNvSpPr txBox="1"/>
          <p:nvPr/>
        </p:nvSpPr>
        <p:spPr>
          <a:xfrm>
            <a:off x="1508760" y="1554480"/>
            <a:ext cx="4206240" cy="502920"/>
          </a:xfrm>
          <a:prstGeom prst="rect">
            <a:avLst/>
          </a:prstGeom>
          <a:noFill/>
          <a:ln/>
        </p:spPr>
        <p:txBody>
          <a:bodyPr wrap="square" lIns="0" tIns="0" rIns="0" bIns="0" rtlCol="0" anchor="ctr"/>
          <a:lstStyle/>
          <a:p>
            <a:pPr marL="0" indent="0">
              <a:buNone/>
            </a:pPr>
            <a:r>
              <a:rPr lang="en-US" sz="1900" b="1" dirty="0">
                <a:solidFill>
                  <a:schemeClr val="tx1"/>
                </a:solidFill>
              </a:rPr>
              <a:t>Data rights and privacy</a:t>
            </a:r>
            <a:endParaRPr lang="en-US" sz="1900" dirty="0"/>
          </a:p>
        </p:txBody>
      </p:sp>
      <p:sp>
        <p:nvSpPr>
          <p:cNvPr id="7" name="Text 4"/>
          <p:cNvSpPr txBox="1"/>
          <p:nvPr/>
        </p:nvSpPr>
        <p:spPr>
          <a:xfrm>
            <a:off x="822960" y="2194560"/>
            <a:ext cx="4892040" cy="1188720"/>
          </a:xfrm>
          <a:prstGeom prst="rect">
            <a:avLst/>
          </a:prstGeom>
          <a:noFill/>
          <a:ln/>
        </p:spPr>
        <p:txBody>
          <a:bodyPr wrap="square" lIns="0" tIns="0" rIns="0" bIns="0" rtlCol="0" anchor="t"/>
          <a:lstStyle/>
          <a:p>
            <a:pPr marL="0" indent="0">
              <a:buNone/>
            </a:pPr>
            <a:r>
              <a:rPr lang="en-US" sz="1600" dirty="0">
                <a:solidFill>
                  <a:schemeClr val="tx1"/>
                </a:solidFill>
              </a:rPr>
              <a:t>Fine-tune only on data you may use. Models can memorize and reproduce training text, including personal data.</a:t>
            </a:r>
            <a:endParaRPr lang="en-US" sz="1600" dirty="0"/>
          </a:p>
        </p:txBody>
      </p:sp>
      <p:sp>
        <p:nvSpPr>
          <p:cNvPr id="8" name="Inherited and amplified bias"/>
          <p:cNvSpPr/>
          <p:nvPr/>
        </p:nvSpPr>
        <p:spPr>
          <a:xfrm>
            <a:off x="6172200" y="1280160"/>
            <a:ext cx="5440680" cy="2240280"/>
          </a:xfrm>
          <a:prstGeom prst="roundRect">
            <a:avLst>
              <a:gd name="adj" fmla="val 4898"/>
            </a:avLst>
          </a:prstGeom>
          <a:solidFill>
            <a:schemeClr val="bg2"/>
          </a:solidFill>
          <a:ln w="12700">
            <a:solidFill>
              <a:schemeClr val="bg2"/>
            </a:solidFill>
            <a:prstDash val="solid"/>
          </a:ln>
        </p:spPr>
      </p:sp>
      <p:sp>
        <p:nvSpPr>
          <p:cNvPr id="9" name="Shape 6"/>
          <p:cNvSpPr/>
          <p:nvPr/>
        </p:nvSpPr>
        <p:spPr>
          <a:xfrm>
            <a:off x="6446520" y="1554480"/>
            <a:ext cx="502920" cy="502920"/>
          </a:xfrm>
          <a:prstGeom prst="ellipse">
            <a:avLst/>
          </a:prstGeom>
          <a:solidFill>
            <a:schemeClr val="accent3"/>
          </a:solidFill>
          <a:ln w="12700">
            <a:solidFill>
              <a:schemeClr val="accent3"/>
            </a:solidFill>
            <a:prstDash val="solid"/>
          </a:ln>
        </p:spPr>
      </p:sp>
      <p:sp>
        <p:nvSpPr>
          <p:cNvPr id="10" name="Text 7"/>
          <p:cNvSpPr txBox="1"/>
          <p:nvPr/>
        </p:nvSpPr>
        <p:spPr>
          <a:xfrm>
            <a:off x="7132320" y="1554480"/>
            <a:ext cx="4206240" cy="502920"/>
          </a:xfrm>
          <a:prstGeom prst="rect">
            <a:avLst/>
          </a:prstGeom>
          <a:noFill/>
          <a:ln/>
        </p:spPr>
        <p:txBody>
          <a:bodyPr wrap="square" lIns="0" tIns="0" rIns="0" bIns="0" rtlCol="0" anchor="ctr"/>
          <a:lstStyle/>
          <a:p>
            <a:pPr marL="0" indent="0">
              <a:buNone/>
            </a:pPr>
            <a:r>
              <a:rPr lang="en-US" sz="1900" b="1" dirty="0">
                <a:solidFill>
                  <a:schemeClr val="tx1"/>
                </a:solidFill>
              </a:rPr>
              <a:t>Inherited and amplified bias</a:t>
            </a:r>
            <a:endParaRPr lang="en-US" sz="1900" dirty="0"/>
          </a:p>
        </p:txBody>
      </p:sp>
      <p:sp>
        <p:nvSpPr>
          <p:cNvPr id="11" name="Text 8"/>
          <p:cNvSpPr txBox="1"/>
          <p:nvPr/>
        </p:nvSpPr>
        <p:spPr>
          <a:xfrm>
            <a:off x="6446520" y="2194560"/>
            <a:ext cx="4892040" cy="1188720"/>
          </a:xfrm>
          <a:prstGeom prst="rect">
            <a:avLst/>
          </a:prstGeom>
          <a:noFill/>
          <a:ln/>
        </p:spPr>
        <p:txBody>
          <a:bodyPr wrap="square" lIns="0" tIns="0" rIns="0" bIns="0" rtlCol="0" anchor="t"/>
          <a:lstStyle/>
          <a:p>
            <a:pPr marL="0" indent="0">
              <a:buNone/>
            </a:pPr>
            <a:r>
              <a:rPr lang="en-US" sz="1600" dirty="0">
                <a:solidFill>
                  <a:schemeClr val="tx1"/>
                </a:solidFill>
              </a:rPr>
              <a:t>GPT-2 reflects its web text; a small fine-tuning set can sharpen it. Check outputs across realistic inputs.</a:t>
            </a:r>
            <a:endParaRPr lang="en-US" sz="1600" dirty="0"/>
          </a:p>
        </p:txBody>
      </p:sp>
      <p:sp>
        <p:nvSpPr>
          <p:cNvPr id="12" name="Fluency is not truth"/>
          <p:cNvSpPr/>
          <p:nvPr/>
        </p:nvSpPr>
        <p:spPr>
          <a:xfrm>
            <a:off x="548640" y="3749040"/>
            <a:ext cx="5440680" cy="2240280"/>
          </a:xfrm>
          <a:prstGeom prst="roundRect">
            <a:avLst>
              <a:gd name="adj" fmla="val 4898"/>
            </a:avLst>
          </a:prstGeom>
          <a:solidFill>
            <a:schemeClr val="bg2"/>
          </a:solidFill>
          <a:ln w="12700">
            <a:solidFill>
              <a:schemeClr val="bg2"/>
            </a:solidFill>
            <a:prstDash val="solid"/>
          </a:ln>
        </p:spPr>
      </p:sp>
      <p:sp>
        <p:nvSpPr>
          <p:cNvPr id="13" name="Shape 10"/>
          <p:cNvSpPr/>
          <p:nvPr/>
        </p:nvSpPr>
        <p:spPr>
          <a:xfrm>
            <a:off x="822960" y="4023360"/>
            <a:ext cx="502920" cy="502920"/>
          </a:xfrm>
          <a:prstGeom prst="ellipse">
            <a:avLst/>
          </a:prstGeom>
          <a:solidFill>
            <a:schemeClr val="accent2"/>
          </a:solidFill>
          <a:ln w="12700">
            <a:solidFill>
              <a:schemeClr val="accent2"/>
            </a:solidFill>
            <a:prstDash val="solid"/>
          </a:ln>
        </p:spPr>
      </p:sp>
      <p:sp>
        <p:nvSpPr>
          <p:cNvPr id="14" name="Text 11"/>
          <p:cNvSpPr txBox="1"/>
          <p:nvPr/>
        </p:nvSpPr>
        <p:spPr>
          <a:xfrm>
            <a:off x="1508760" y="4023360"/>
            <a:ext cx="4206240" cy="502920"/>
          </a:xfrm>
          <a:prstGeom prst="rect">
            <a:avLst/>
          </a:prstGeom>
          <a:noFill/>
          <a:ln/>
        </p:spPr>
        <p:txBody>
          <a:bodyPr wrap="square" lIns="0" tIns="0" rIns="0" bIns="0" rtlCol="0" anchor="ctr"/>
          <a:lstStyle/>
          <a:p>
            <a:pPr marL="0" indent="0">
              <a:buNone/>
            </a:pPr>
            <a:r>
              <a:rPr lang="en-US" sz="1900" b="1" dirty="0">
                <a:solidFill>
                  <a:schemeClr val="tx1"/>
                </a:solidFill>
              </a:rPr>
              <a:t>Fluency is not truth</a:t>
            </a:r>
            <a:endParaRPr lang="en-US" sz="1900" dirty="0"/>
          </a:p>
        </p:txBody>
      </p:sp>
      <p:sp>
        <p:nvSpPr>
          <p:cNvPr id="15" name="Text 12"/>
          <p:cNvSpPr txBox="1"/>
          <p:nvPr/>
        </p:nvSpPr>
        <p:spPr>
          <a:xfrm>
            <a:off x="822960" y="4663440"/>
            <a:ext cx="4892040" cy="1188720"/>
          </a:xfrm>
          <a:prstGeom prst="rect">
            <a:avLst/>
          </a:prstGeom>
          <a:noFill/>
          <a:ln/>
        </p:spPr>
        <p:txBody>
          <a:bodyPr wrap="square" lIns="0" tIns="0" rIns="0" bIns="0" rtlCol="0" anchor="t"/>
          <a:lstStyle/>
          <a:p>
            <a:pPr marL="0" indent="0">
              <a:buNone/>
            </a:pPr>
            <a:r>
              <a:rPr lang="en-US" sz="1600" dirty="0">
                <a:solidFill>
                  <a:schemeClr val="tx1"/>
                </a:solidFill>
              </a:rPr>
              <a:t>A well-formatted recipe can contain wrong or unsafe steps. Keep a human in the loop for anything consequential.</a:t>
            </a:r>
            <a:endParaRPr lang="en-US" sz="1600" dirty="0"/>
          </a:p>
        </p:txBody>
      </p:sp>
      <p:sp>
        <p:nvSpPr>
          <p:cNvPr id="16" name="Prototype, not product"/>
          <p:cNvSpPr/>
          <p:nvPr/>
        </p:nvSpPr>
        <p:spPr>
          <a:xfrm>
            <a:off x="6172200" y="3749040"/>
            <a:ext cx="5440680" cy="2240280"/>
          </a:xfrm>
          <a:prstGeom prst="roundRect">
            <a:avLst>
              <a:gd name="adj" fmla="val 4898"/>
            </a:avLst>
          </a:prstGeom>
          <a:solidFill>
            <a:schemeClr val="bg2"/>
          </a:solidFill>
          <a:ln w="12700">
            <a:solidFill>
              <a:schemeClr val="bg2"/>
            </a:solidFill>
            <a:prstDash val="solid"/>
          </a:ln>
        </p:spPr>
      </p:sp>
      <p:sp>
        <p:nvSpPr>
          <p:cNvPr id="17" name="Shape 14"/>
          <p:cNvSpPr/>
          <p:nvPr/>
        </p:nvSpPr>
        <p:spPr>
          <a:xfrm>
            <a:off x="6446520" y="4023360"/>
            <a:ext cx="502920" cy="502920"/>
          </a:xfrm>
          <a:prstGeom prst="ellipse">
            <a:avLst/>
          </a:prstGeom>
          <a:solidFill>
            <a:schemeClr val="accent4"/>
          </a:solidFill>
          <a:ln w="12700">
            <a:solidFill>
              <a:schemeClr val="accent4"/>
            </a:solidFill>
            <a:prstDash val="solid"/>
          </a:ln>
        </p:spPr>
      </p:sp>
      <p:sp>
        <p:nvSpPr>
          <p:cNvPr id="18" name="Text 15"/>
          <p:cNvSpPr txBox="1"/>
          <p:nvPr/>
        </p:nvSpPr>
        <p:spPr>
          <a:xfrm>
            <a:off x="7132320" y="4023360"/>
            <a:ext cx="4206240" cy="502920"/>
          </a:xfrm>
          <a:prstGeom prst="rect">
            <a:avLst/>
          </a:prstGeom>
          <a:noFill/>
          <a:ln/>
        </p:spPr>
        <p:txBody>
          <a:bodyPr wrap="square" lIns="0" tIns="0" rIns="0" bIns="0" rtlCol="0" anchor="ctr"/>
          <a:lstStyle/>
          <a:p>
            <a:pPr marL="0" indent="0">
              <a:buNone/>
            </a:pPr>
            <a:r>
              <a:rPr lang="en-US" sz="1900" b="1" dirty="0">
                <a:solidFill>
                  <a:schemeClr val="tx1"/>
                </a:solidFill>
              </a:rPr>
              <a:t>Prototype, not product</a:t>
            </a:r>
            <a:endParaRPr lang="en-US" sz="1900" dirty="0"/>
          </a:p>
        </p:txBody>
      </p:sp>
      <p:sp>
        <p:nvSpPr>
          <p:cNvPr id="19" name="Text 16"/>
          <p:cNvSpPr txBox="1"/>
          <p:nvPr/>
        </p:nvSpPr>
        <p:spPr>
          <a:xfrm>
            <a:off x="6446520" y="4663440"/>
            <a:ext cx="4892040" cy="1188720"/>
          </a:xfrm>
          <a:prstGeom prst="rect">
            <a:avLst/>
          </a:prstGeom>
          <a:noFill/>
          <a:ln/>
        </p:spPr>
        <p:txBody>
          <a:bodyPr wrap="square" lIns="0" tIns="0" rIns="0" bIns="0" rtlCol="0" anchor="t"/>
          <a:lstStyle/>
          <a:p>
            <a:pPr marL="0" indent="0">
              <a:buNone/>
            </a:pPr>
            <a:r>
              <a:rPr lang="en-US" sz="1600" dirty="0">
                <a:solidFill>
                  <a:schemeClr val="tx1"/>
                </a:solidFill>
              </a:rPr>
              <a:t>Deployment needs realistic evaluation, monitoring, and license review for the base model and the data.</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777240"/>
          </a:xfrm>
          <a:prstGeom prst="rect">
            <a:avLst/>
          </a:prstGeom>
          <a:noFill/>
          <a:ln/>
        </p:spPr>
        <p:txBody>
          <a:bodyPr wrap="square" lIns="0" tIns="0" rIns="0" bIns="0" rtlCol="0" anchor="ctr"/>
          <a:lstStyle/>
          <a:p>
            <a:pPr marL="0" indent="0" algn="l">
              <a:buNone/>
            </a:pPr>
            <a:r>
              <a:rPr lang="en-US" sz="3200" b="1" dirty="0">
                <a:solidFill>
                  <a:schemeClr val="tx1"/>
                </a:solidFill>
              </a:rPr>
              <a:t>Check your understanding</a:t>
            </a:r>
            <a:endParaRPr lang="en-US" sz="3200" dirty="0"/>
          </a:p>
        </p:txBody>
      </p:sp>
      <p:sp>
        <p:nvSpPr>
          <p:cNvPr id="4" name="question 1"/>
          <p:cNvSpPr/>
          <p:nvPr/>
        </p:nvSpPr>
        <p:spPr>
          <a:xfrm>
            <a:off x="548640" y="1280160"/>
            <a:ext cx="5440680" cy="1463040"/>
          </a:xfrm>
          <a:prstGeom prst="roundRect">
            <a:avLst>
              <a:gd name="adj" fmla="val 7500"/>
            </a:avLst>
          </a:prstGeom>
          <a:solidFill>
            <a:schemeClr val="bg2"/>
          </a:solidFill>
          <a:ln w="12700">
            <a:solidFill>
              <a:schemeClr val="bg2"/>
            </a:solidFill>
            <a:prstDash val="solid"/>
          </a:ln>
        </p:spPr>
      </p:sp>
      <p:sp>
        <p:nvSpPr>
          <p:cNvPr id="5" name="Text 2"/>
          <p:cNvSpPr txBox="1"/>
          <p:nvPr/>
        </p:nvSpPr>
        <p:spPr>
          <a:xfrm>
            <a:off x="731520" y="1417320"/>
            <a:ext cx="457200" cy="548640"/>
          </a:xfrm>
          <a:prstGeom prst="rect">
            <a:avLst/>
          </a:prstGeom>
          <a:noFill/>
          <a:ln/>
        </p:spPr>
        <p:txBody>
          <a:bodyPr wrap="square" lIns="0" tIns="0" rIns="0" bIns="0" rtlCol="0" anchor="t"/>
          <a:lstStyle/>
          <a:p>
            <a:pPr marL="0" indent="0">
              <a:buNone/>
            </a:pPr>
            <a:r>
              <a:rPr lang="en-US" sz="2600" b="1" dirty="0">
                <a:solidFill>
                  <a:schemeClr val="accent1"/>
                </a:solidFill>
                <a:latin typeface="Cambria" pitchFamily="34" charset="0"/>
                <a:ea typeface="Cambria" pitchFamily="34" charset="-122"/>
                <a:cs typeface="Cambria" pitchFamily="34" charset="-120"/>
              </a:rPr>
              <a:t>1</a:t>
            </a:r>
            <a:endParaRPr lang="en-US" sz="2600" dirty="0"/>
          </a:p>
        </p:txBody>
      </p:sp>
      <p:sp>
        <p:nvSpPr>
          <p:cNvPr id="6" name="Text 3"/>
          <p:cNvSpPr txBox="1"/>
          <p:nvPr/>
        </p:nvSpPr>
        <p:spPr>
          <a:xfrm>
            <a:off x="1280160" y="1417320"/>
            <a:ext cx="4526280" cy="1188720"/>
          </a:xfrm>
          <a:prstGeom prst="rect">
            <a:avLst/>
          </a:prstGeom>
          <a:noFill/>
          <a:ln/>
        </p:spPr>
        <p:txBody>
          <a:bodyPr wrap="square" lIns="0" tIns="0" rIns="0" bIns="0" rtlCol="0" anchor="ctr"/>
          <a:lstStyle/>
          <a:p>
            <a:pPr marL="0" indent="0">
              <a:buNone/>
            </a:pPr>
            <a:r>
              <a:rPr lang="en-US" sz="1500" dirty="0">
                <a:solidFill>
                  <a:schemeClr val="tx1"/>
                </a:solidFill>
              </a:rPr>
              <a:t>For tokens [A, B, C, D] with labels −100 on A and B, which predictions enter the loss, and what is the denominator of the mean?</a:t>
            </a:r>
            <a:endParaRPr lang="en-US" sz="1500" dirty="0"/>
          </a:p>
        </p:txBody>
      </p:sp>
      <p:sp>
        <p:nvSpPr>
          <p:cNvPr id="7" name="question 2"/>
          <p:cNvSpPr/>
          <p:nvPr/>
        </p:nvSpPr>
        <p:spPr>
          <a:xfrm>
            <a:off x="6172200" y="1280160"/>
            <a:ext cx="5440680" cy="1463040"/>
          </a:xfrm>
          <a:prstGeom prst="roundRect">
            <a:avLst>
              <a:gd name="adj" fmla="val 7500"/>
            </a:avLst>
          </a:prstGeom>
          <a:solidFill>
            <a:schemeClr val="bg2"/>
          </a:solidFill>
          <a:ln w="12700">
            <a:solidFill>
              <a:schemeClr val="bg2"/>
            </a:solidFill>
            <a:prstDash val="solid"/>
          </a:ln>
        </p:spPr>
      </p:sp>
      <p:sp>
        <p:nvSpPr>
          <p:cNvPr id="8" name="Text 5"/>
          <p:cNvSpPr txBox="1"/>
          <p:nvPr/>
        </p:nvSpPr>
        <p:spPr>
          <a:xfrm>
            <a:off x="6355080" y="1417320"/>
            <a:ext cx="457200" cy="548640"/>
          </a:xfrm>
          <a:prstGeom prst="rect">
            <a:avLst/>
          </a:prstGeom>
          <a:noFill/>
          <a:ln/>
        </p:spPr>
        <p:txBody>
          <a:bodyPr wrap="square" lIns="0" tIns="0" rIns="0" bIns="0" rtlCol="0" anchor="t"/>
          <a:lstStyle/>
          <a:p>
            <a:pPr marL="0" indent="0">
              <a:buNone/>
            </a:pPr>
            <a:r>
              <a:rPr lang="en-US" sz="2600" b="1" dirty="0">
                <a:solidFill>
                  <a:schemeClr val="accent3"/>
                </a:solidFill>
                <a:latin typeface="Cambria" pitchFamily="34" charset="0"/>
                <a:ea typeface="Cambria" pitchFamily="34" charset="-122"/>
                <a:cs typeface="Cambria" pitchFamily="34" charset="-120"/>
              </a:rPr>
              <a:t>2</a:t>
            </a:r>
            <a:endParaRPr lang="en-US" sz="2600" dirty="0"/>
          </a:p>
        </p:txBody>
      </p:sp>
      <p:sp>
        <p:nvSpPr>
          <p:cNvPr id="9" name="Text 6"/>
          <p:cNvSpPr txBox="1"/>
          <p:nvPr/>
        </p:nvSpPr>
        <p:spPr>
          <a:xfrm>
            <a:off x="6903720" y="1417320"/>
            <a:ext cx="4526280" cy="1188720"/>
          </a:xfrm>
          <a:prstGeom prst="rect">
            <a:avLst/>
          </a:prstGeom>
          <a:noFill/>
          <a:ln/>
        </p:spPr>
        <p:txBody>
          <a:bodyPr wrap="square" lIns="0" tIns="0" rIns="0" bIns="0" rtlCol="0" anchor="ctr"/>
          <a:lstStyle/>
          <a:p>
            <a:pPr marL="0" indent="0">
              <a:buNone/>
            </a:pPr>
            <a:r>
              <a:rPr lang="en-US" sz="1500" dirty="0">
                <a:solidFill>
                  <a:schemeClr val="tx1"/>
                </a:solidFill>
              </a:rPr>
              <a:t>Why is labels[input_ids == pad_token_id] = −100 dangerous when pad_token = eos_token? What would you use instead?</a:t>
            </a:r>
            <a:endParaRPr lang="en-US" sz="1500" dirty="0"/>
          </a:p>
        </p:txBody>
      </p:sp>
      <p:sp>
        <p:nvSpPr>
          <p:cNvPr id="10" name="question 3"/>
          <p:cNvSpPr/>
          <p:nvPr/>
        </p:nvSpPr>
        <p:spPr>
          <a:xfrm>
            <a:off x="548640" y="2926080"/>
            <a:ext cx="5440680" cy="1463040"/>
          </a:xfrm>
          <a:prstGeom prst="roundRect">
            <a:avLst>
              <a:gd name="adj" fmla="val 7500"/>
            </a:avLst>
          </a:prstGeom>
          <a:solidFill>
            <a:schemeClr val="bg2"/>
          </a:solidFill>
          <a:ln w="12700">
            <a:solidFill>
              <a:schemeClr val="bg2"/>
            </a:solidFill>
            <a:prstDash val="solid"/>
          </a:ln>
        </p:spPr>
      </p:sp>
      <p:sp>
        <p:nvSpPr>
          <p:cNvPr id="11" name="Text 8"/>
          <p:cNvSpPr txBox="1"/>
          <p:nvPr/>
        </p:nvSpPr>
        <p:spPr>
          <a:xfrm>
            <a:off x="731520" y="3063240"/>
            <a:ext cx="457200" cy="548640"/>
          </a:xfrm>
          <a:prstGeom prst="rect">
            <a:avLst/>
          </a:prstGeom>
          <a:noFill/>
          <a:ln/>
        </p:spPr>
        <p:txBody>
          <a:bodyPr wrap="square" lIns="0" tIns="0" rIns="0" bIns="0" rtlCol="0" anchor="t"/>
          <a:lstStyle/>
          <a:p>
            <a:pPr marL="0" indent="0">
              <a:buNone/>
            </a:pPr>
            <a:r>
              <a:rPr lang="en-US" sz="2600" b="1" dirty="0">
                <a:solidFill>
                  <a:schemeClr val="accent1"/>
                </a:solidFill>
                <a:latin typeface="Cambria" pitchFamily="34" charset="0"/>
                <a:ea typeface="Cambria" pitchFamily="34" charset="-122"/>
                <a:cs typeface="Cambria" pitchFamily="34" charset="-120"/>
              </a:rPr>
              <a:t>3</a:t>
            </a:r>
            <a:endParaRPr lang="en-US" sz="2600" dirty="0"/>
          </a:p>
        </p:txBody>
      </p:sp>
      <p:sp>
        <p:nvSpPr>
          <p:cNvPr id="12" name="Text 9"/>
          <p:cNvSpPr txBox="1"/>
          <p:nvPr/>
        </p:nvSpPr>
        <p:spPr>
          <a:xfrm>
            <a:off x="1280160" y="3063240"/>
            <a:ext cx="4526280" cy="1188720"/>
          </a:xfrm>
          <a:prstGeom prst="rect">
            <a:avLst/>
          </a:prstGeom>
          <a:noFill/>
          <a:ln/>
        </p:spPr>
        <p:txBody>
          <a:bodyPr wrap="square" lIns="0" tIns="0" rIns="0" bIns="0" rtlCol="0" anchor="ctr"/>
          <a:lstStyle/>
          <a:p>
            <a:pPr marL="0" indent="0">
              <a:buNone/>
            </a:pPr>
            <a:r>
              <a:rPr lang="en-US" sz="1500" dirty="0">
                <a:solidFill>
                  <a:schemeClr val="tx1"/>
                </a:solidFill>
              </a:rPr>
              <a:t>GPT2LMHeadModel shifts labels internally. What goes wrong if you also shift them yourself?</a:t>
            </a:r>
            <a:endParaRPr lang="en-US" sz="1500" dirty="0"/>
          </a:p>
        </p:txBody>
      </p:sp>
      <p:sp>
        <p:nvSpPr>
          <p:cNvPr id="13" name="question 4"/>
          <p:cNvSpPr/>
          <p:nvPr/>
        </p:nvSpPr>
        <p:spPr>
          <a:xfrm>
            <a:off x="6172200" y="2926080"/>
            <a:ext cx="5440680" cy="1463040"/>
          </a:xfrm>
          <a:prstGeom prst="roundRect">
            <a:avLst>
              <a:gd name="adj" fmla="val 7500"/>
            </a:avLst>
          </a:prstGeom>
          <a:solidFill>
            <a:schemeClr val="bg2"/>
          </a:solidFill>
          <a:ln w="12700">
            <a:solidFill>
              <a:schemeClr val="bg2"/>
            </a:solidFill>
            <a:prstDash val="solid"/>
          </a:ln>
        </p:spPr>
      </p:sp>
      <p:sp>
        <p:nvSpPr>
          <p:cNvPr id="14" name="Text 11"/>
          <p:cNvSpPr txBox="1"/>
          <p:nvPr/>
        </p:nvSpPr>
        <p:spPr>
          <a:xfrm>
            <a:off x="6355080" y="3063240"/>
            <a:ext cx="457200" cy="548640"/>
          </a:xfrm>
          <a:prstGeom prst="rect">
            <a:avLst/>
          </a:prstGeom>
          <a:noFill/>
          <a:ln/>
        </p:spPr>
        <p:txBody>
          <a:bodyPr wrap="square" lIns="0" tIns="0" rIns="0" bIns="0" rtlCol="0" anchor="t"/>
          <a:lstStyle/>
          <a:p>
            <a:pPr marL="0" indent="0">
              <a:buNone/>
            </a:pPr>
            <a:r>
              <a:rPr lang="en-US" sz="2600" b="1" dirty="0">
                <a:solidFill>
                  <a:schemeClr val="accent3"/>
                </a:solidFill>
                <a:latin typeface="Cambria" pitchFamily="34" charset="0"/>
                <a:ea typeface="Cambria" pitchFamily="34" charset="-122"/>
                <a:cs typeface="Cambria" pitchFamily="34" charset="-120"/>
              </a:rPr>
              <a:t>4</a:t>
            </a:r>
            <a:endParaRPr lang="en-US" sz="2600" dirty="0"/>
          </a:p>
        </p:txBody>
      </p:sp>
      <p:sp>
        <p:nvSpPr>
          <p:cNvPr id="15" name="Text 12"/>
          <p:cNvSpPr txBox="1"/>
          <p:nvPr/>
        </p:nvSpPr>
        <p:spPr>
          <a:xfrm>
            <a:off x="6903720" y="3063240"/>
            <a:ext cx="4526280" cy="1188720"/>
          </a:xfrm>
          <a:prstGeom prst="rect">
            <a:avLst/>
          </a:prstGeom>
          <a:noFill/>
          <a:ln/>
        </p:spPr>
        <p:txBody>
          <a:bodyPr wrap="square" lIns="0" tIns="0" rIns="0" bIns="0" rtlCol="0" anchor="ctr"/>
          <a:lstStyle/>
          <a:p>
            <a:pPr marL="0" indent="0">
              <a:buNone/>
            </a:pPr>
            <a:r>
              <a:rPr lang="en-US" sz="1500" dirty="0">
                <a:solidFill>
                  <a:schemeClr val="tx1"/>
                </a:solidFill>
              </a:rPr>
              <a:t>Estimate the fp32 training-state memory for a 355M-parameter model.</a:t>
            </a:r>
            <a:endParaRPr lang="en-US" sz="1500" dirty="0"/>
          </a:p>
        </p:txBody>
      </p:sp>
      <p:sp>
        <p:nvSpPr>
          <p:cNvPr id="16" name="question 5"/>
          <p:cNvSpPr/>
          <p:nvPr/>
        </p:nvSpPr>
        <p:spPr>
          <a:xfrm>
            <a:off x="548640" y="4572000"/>
            <a:ext cx="5440680" cy="1463040"/>
          </a:xfrm>
          <a:prstGeom prst="roundRect">
            <a:avLst>
              <a:gd name="adj" fmla="val 7500"/>
            </a:avLst>
          </a:prstGeom>
          <a:solidFill>
            <a:schemeClr val="bg2"/>
          </a:solidFill>
          <a:ln w="12700">
            <a:solidFill>
              <a:schemeClr val="bg2"/>
            </a:solidFill>
            <a:prstDash val="solid"/>
          </a:ln>
        </p:spPr>
      </p:sp>
      <p:sp>
        <p:nvSpPr>
          <p:cNvPr id="17" name="Text 14"/>
          <p:cNvSpPr txBox="1"/>
          <p:nvPr/>
        </p:nvSpPr>
        <p:spPr>
          <a:xfrm>
            <a:off x="731520" y="4709160"/>
            <a:ext cx="457200" cy="548640"/>
          </a:xfrm>
          <a:prstGeom prst="rect">
            <a:avLst/>
          </a:prstGeom>
          <a:noFill/>
          <a:ln/>
        </p:spPr>
        <p:txBody>
          <a:bodyPr wrap="square" lIns="0" tIns="0" rIns="0" bIns="0" rtlCol="0" anchor="t"/>
          <a:lstStyle/>
          <a:p>
            <a:pPr marL="0" indent="0">
              <a:buNone/>
            </a:pPr>
            <a:r>
              <a:rPr lang="en-US" sz="2600" b="1" dirty="0">
                <a:solidFill>
                  <a:schemeClr val="accent1"/>
                </a:solidFill>
                <a:latin typeface="Cambria" pitchFamily="34" charset="0"/>
                <a:ea typeface="Cambria" pitchFamily="34" charset="-122"/>
                <a:cs typeface="Cambria" pitchFamily="34" charset="-120"/>
              </a:rPr>
              <a:t>5</a:t>
            </a:r>
            <a:endParaRPr lang="en-US" sz="2600" dirty="0"/>
          </a:p>
        </p:txBody>
      </p:sp>
      <p:sp>
        <p:nvSpPr>
          <p:cNvPr id="18" name="Text 15"/>
          <p:cNvSpPr txBox="1"/>
          <p:nvPr/>
        </p:nvSpPr>
        <p:spPr>
          <a:xfrm>
            <a:off x="1280160" y="4709160"/>
            <a:ext cx="4526280" cy="1188720"/>
          </a:xfrm>
          <a:prstGeom prst="rect">
            <a:avLst/>
          </a:prstGeom>
          <a:noFill/>
          <a:ln/>
        </p:spPr>
        <p:txBody>
          <a:bodyPr wrap="square" lIns="0" tIns="0" rIns="0" bIns="0" rtlCol="0" anchor="ctr"/>
          <a:lstStyle/>
          <a:p>
            <a:pPr marL="0" indent="0">
              <a:buNone/>
            </a:pPr>
            <a:r>
              <a:rPr lang="en-US" sz="1500" dirty="0">
                <a:solidFill>
                  <a:schemeClr val="tx1"/>
                </a:solidFill>
              </a:rPr>
              <a:t>The largest learning rate gave the lowest recipe loss. Argue for and against choosing it.</a:t>
            </a:r>
            <a:endParaRPr lang="en-US" sz="1500" dirty="0"/>
          </a:p>
        </p:txBody>
      </p:sp>
      <p:sp>
        <p:nvSpPr>
          <p:cNvPr id="19" name="question 6"/>
          <p:cNvSpPr/>
          <p:nvPr/>
        </p:nvSpPr>
        <p:spPr>
          <a:xfrm>
            <a:off x="6172200" y="4572000"/>
            <a:ext cx="5440680" cy="1463040"/>
          </a:xfrm>
          <a:prstGeom prst="roundRect">
            <a:avLst>
              <a:gd name="adj" fmla="val 7500"/>
            </a:avLst>
          </a:prstGeom>
          <a:solidFill>
            <a:schemeClr val="bg2"/>
          </a:solidFill>
          <a:ln w="12700">
            <a:solidFill>
              <a:schemeClr val="bg2"/>
            </a:solidFill>
            <a:prstDash val="solid"/>
          </a:ln>
        </p:spPr>
      </p:sp>
      <p:sp>
        <p:nvSpPr>
          <p:cNvPr id="20" name="Text 17"/>
          <p:cNvSpPr txBox="1"/>
          <p:nvPr/>
        </p:nvSpPr>
        <p:spPr>
          <a:xfrm>
            <a:off x="6355080" y="4709160"/>
            <a:ext cx="457200" cy="548640"/>
          </a:xfrm>
          <a:prstGeom prst="rect">
            <a:avLst/>
          </a:prstGeom>
          <a:noFill/>
          <a:ln/>
        </p:spPr>
        <p:txBody>
          <a:bodyPr wrap="square" lIns="0" tIns="0" rIns="0" bIns="0" rtlCol="0" anchor="t"/>
          <a:lstStyle/>
          <a:p>
            <a:pPr marL="0" indent="0">
              <a:buNone/>
            </a:pPr>
            <a:r>
              <a:rPr lang="en-US" sz="2600" b="1" dirty="0">
                <a:solidFill>
                  <a:schemeClr val="accent3"/>
                </a:solidFill>
                <a:latin typeface="Cambria" pitchFamily="34" charset="0"/>
                <a:ea typeface="Cambria" pitchFamily="34" charset="-122"/>
                <a:cs typeface="Cambria" pitchFamily="34" charset="-120"/>
              </a:rPr>
              <a:t>6</a:t>
            </a:r>
            <a:endParaRPr lang="en-US" sz="2600" dirty="0"/>
          </a:p>
        </p:txBody>
      </p:sp>
      <p:sp>
        <p:nvSpPr>
          <p:cNvPr id="21" name="Text 18"/>
          <p:cNvSpPr txBox="1"/>
          <p:nvPr/>
        </p:nvSpPr>
        <p:spPr>
          <a:xfrm>
            <a:off x="6903720" y="4709160"/>
            <a:ext cx="4526280" cy="1188720"/>
          </a:xfrm>
          <a:prstGeom prst="rect">
            <a:avLst/>
          </a:prstGeom>
          <a:noFill/>
          <a:ln/>
        </p:spPr>
        <p:txBody>
          <a:bodyPr wrap="square" lIns="0" tIns="0" rIns="0" bIns="0" rtlCol="0" anchor="ctr"/>
          <a:lstStyle/>
          <a:p>
            <a:pPr marL="0" indent="0">
              <a:buNone/>
            </a:pPr>
            <a:r>
              <a:rPr lang="en-US" sz="1500" dirty="0">
                <a:solidFill>
                  <a:schemeClr val="tx1"/>
                </a:solidFill>
              </a:rPr>
              <a:t>Give one case where fine-tuning beats retrieval, and one where retrieval is better.</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777240"/>
          </a:xfrm>
          <a:prstGeom prst="rect">
            <a:avLst/>
          </a:prstGeom>
          <a:noFill/>
          <a:ln/>
        </p:spPr>
        <p:txBody>
          <a:bodyPr wrap="square" lIns="0" tIns="0" rIns="0" bIns="0" rtlCol="0" anchor="ctr"/>
          <a:lstStyle/>
          <a:p>
            <a:pPr marL="0" indent="0" algn="l">
              <a:buNone/>
            </a:pPr>
            <a:r>
              <a:rPr lang="en-US" sz="3200" b="1" dirty="0">
                <a:solidFill>
                  <a:schemeClr val="tx1"/>
                </a:solidFill>
              </a:rPr>
              <a:t>Next, and further reading</a:t>
            </a:r>
            <a:endParaRPr lang="en-US" sz="3200" dirty="0"/>
          </a:p>
        </p:txBody>
      </p:sp>
      <p:sp>
        <p:nvSpPr>
          <p:cNvPr id="4" name="next"/>
          <p:cNvSpPr/>
          <p:nvPr/>
        </p:nvSpPr>
        <p:spPr>
          <a:xfrm>
            <a:off x="548640" y="1280160"/>
            <a:ext cx="4206240" cy="2743200"/>
          </a:xfrm>
          <a:prstGeom prst="roundRect">
            <a:avLst>
              <a:gd name="adj" fmla="val 4000"/>
            </a:avLst>
          </a:prstGeom>
          <a:solidFill>
            <a:schemeClr val="accent5"/>
          </a:solidFill>
          <a:ln w="12700">
            <a:solidFill>
              <a:schemeClr val="accent5"/>
            </a:solidFill>
            <a:prstDash val="solid"/>
          </a:ln>
        </p:spPr>
      </p:sp>
      <p:sp>
        <p:nvSpPr>
          <p:cNvPr id="5" name="Text 2"/>
          <p:cNvSpPr txBox="1"/>
          <p:nvPr/>
        </p:nvSpPr>
        <p:spPr>
          <a:xfrm>
            <a:off x="822960" y="1463040"/>
            <a:ext cx="3657600" cy="2377440"/>
          </a:xfrm>
          <a:prstGeom prst="rect">
            <a:avLst/>
          </a:prstGeom>
          <a:noFill/>
          <a:ln/>
        </p:spPr>
        <p:txBody>
          <a:bodyPr wrap="square" lIns="0" tIns="0" rIns="0" bIns="0" rtlCol="0" anchor="t"/>
          <a:lstStyle/>
          <a:p>
            <a:pPr marL="0" indent="0">
              <a:spcAft>
                <a:spcPts val="1000"/>
              </a:spcAft>
              <a:buNone/>
            </a:pPr>
            <a:r>
              <a:rPr lang="en-US" sz="2200" b="1" dirty="0">
                <a:solidFill>
                  <a:schemeClr val="tx1"/>
                </a:solidFill>
              </a:rPr>
              <a:t>Next</a:t>
            </a:r>
            <a:endParaRPr lang="en-US" sz="1700" dirty="0"/>
          </a:p>
          <a:p>
            <a:pPr marL="0" indent="0">
              <a:spcAft>
                <a:spcPts val="1000"/>
              </a:spcAft>
              <a:buNone/>
            </a:pPr>
            <a:r>
              <a:rPr lang="en-US" sz="1700" dirty="0">
                <a:solidFill>
                  <a:schemeClr val="tx1"/>
                </a:solidFill>
              </a:rPr>
              <a:t>Fine-tuning with the Hugging Face Trainer: the same loop, through the Trainer API, on a real pretrained model.</a:t>
            </a:r>
            <a:endParaRPr lang="en-US" sz="1700" dirty="0"/>
          </a:p>
          <a:p>
            <a:pPr marL="0" indent="0">
              <a:spcAft>
                <a:spcPts val="1000"/>
              </a:spcAft>
              <a:buNone/>
            </a:pPr>
            <a:r>
              <a:rPr lang="en-US" sz="1300" dirty="0">
                <a:solidFill>
                  <a:schemeClr val="tx2"/>
                </a:solidFill>
                <a:latin typeface="Courier New" pitchFamily="34" charset="0"/>
                <a:ea typeface="Courier New" pitchFamily="34" charset="-122"/>
                <a:cs typeface="Courier New" pitchFamily="34" charset="-120"/>
              </a:rPr>
              <a:t>hf_trainer_fine_tuning.ipynb</a:t>
            </a:r>
            <a:endParaRPr lang="en-US" sz="1700" dirty="0"/>
          </a:p>
        </p:txBody>
      </p:sp>
      <p:sp>
        <p:nvSpPr>
          <p:cNvPr id="6" name="Text 3"/>
          <p:cNvSpPr txBox="1"/>
          <p:nvPr/>
        </p:nvSpPr>
        <p:spPr>
          <a:xfrm>
            <a:off x="5120640" y="1280160"/>
            <a:ext cx="6492240" cy="4846320"/>
          </a:xfrm>
          <a:prstGeom prst="rect">
            <a:avLst/>
          </a:prstGeom>
          <a:noFill/>
          <a:ln/>
        </p:spPr>
        <p:txBody>
          <a:bodyPr wrap="square" lIns="0" tIns="0" rIns="0" bIns="0" rtlCol="0" anchor="t"/>
          <a:lstStyle/>
          <a:p>
            <a:pPr marL="228600" indent="-228600">
              <a:spcAft>
                <a:spcPts val="800"/>
              </a:spcAft>
              <a:buSzPct val="100000"/>
              <a:buChar char="•"/>
            </a:pPr>
            <a:r>
              <a:rPr lang="en-US" sz="1600" b="1" dirty="0">
                <a:solidFill>
                  <a:schemeClr val="tx1"/>
                </a:solidFill>
              </a:rPr>
              <a:t>Radford et al. (2019). </a:t>
            </a:r>
            <a:r>
              <a:rPr lang="en-US" sz="1600" dirty="0">
                <a:solidFill>
                  <a:schemeClr val="tx1"/>
                </a:solidFill>
              </a:rPr>
              <a:t>Language Models are Unsupervised Multitask Learners. The GPT-2 report.</a:t>
            </a:r>
            <a:endParaRPr lang="en-US" sz="1600" dirty="0"/>
          </a:p>
          <a:p>
            <a:pPr marL="228600" indent="-228600">
              <a:spcAft>
                <a:spcPts val="800"/>
              </a:spcAft>
              <a:buSzPct val="100000"/>
              <a:buChar char="•"/>
            </a:pPr>
            <a:r>
              <a:rPr lang="en-US" sz="1600" b="1" dirty="0">
                <a:solidFill>
                  <a:schemeClr val="tx1"/>
                </a:solidFill>
              </a:rPr>
              <a:t>Howard &amp; Ruder (2018). </a:t>
            </a:r>
            <a:r>
              <a:rPr lang="en-US" sz="1600" dirty="0">
                <a:solidFill>
                  <a:schemeClr val="tx1"/>
                </a:solidFill>
              </a:rPr>
              <a:t>Universal Language Model Fine-tuning for Text Classification. arXiv:1801.06146</a:t>
            </a:r>
            <a:endParaRPr lang="en-US" sz="1600" dirty="0"/>
          </a:p>
          <a:p>
            <a:pPr marL="228600" indent="-228600">
              <a:spcAft>
                <a:spcPts val="800"/>
              </a:spcAft>
              <a:buSzPct val="100000"/>
              <a:buChar char="•"/>
            </a:pPr>
            <a:r>
              <a:rPr lang="en-US" sz="1600" b="1" dirty="0">
                <a:solidFill>
                  <a:schemeClr val="tx1"/>
                </a:solidFill>
              </a:rPr>
              <a:t>Loshchilov &amp; Hutter (2019). </a:t>
            </a:r>
            <a:r>
              <a:rPr lang="en-US" sz="1600" dirty="0">
                <a:solidFill>
                  <a:schemeClr val="tx1"/>
                </a:solidFill>
              </a:rPr>
              <a:t>Decoupled Weight Decay Regularization (AdamW). arXiv:1711.05101</a:t>
            </a:r>
            <a:endParaRPr lang="en-US" sz="1600" dirty="0"/>
          </a:p>
          <a:p>
            <a:pPr marL="228600" indent="-228600">
              <a:spcAft>
                <a:spcPts val="800"/>
              </a:spcAft>
              <a:buSzPct val="100000"/>
              <a:buChar char="•"/>
            </a:pPr>
            <a:r>
              <a:rPr lang="en-US" sz="1600" b="1" dirty="0">
                <a:solidFill>
                  <a:schemeClr val="tx1"/>
                </a:solidFill>
              </a:rPr>
              <a:t>Kirkpatrick et al. (2017). </a:t>
            </a:r>
            <a:r>
              <a:rPr lang="en-US" sz="1600" dirty="0">
                <a:solidFill>
                  <a:schemeClr val="tx1"/>
                </a:solidFill>
              </a:rPr>
              <a:t>Overcoming catastrophic forgetting in neural networks. arXiv:1612.00796</a:t>
            </a:r>
            <a:endParaRPr lang="en-US" sz="1600" dirty="0"/>
          </a:p>
          <a:p>
            <a:pPr marL="228600" indent="-228600">
              <a:spcAft>
                <a:spcPts val="800"/>
              </a:spcAft>
              <a:buSzPct val="100000"/>
              <a:buChar char="•"/>
            </a:pPr>
            <a:r>
              <a:rPr lang="en-US" sz="1600" b="1" dirty="0">
                <a:solidFill>
                  <a:schemeClr val="tx1"/>
                </a:solidFill>
              </a:rPr>
              <a:t>Carlini et al. (2021). </a:t>
            </a:r>
            <a:r>
              <a:rPr lang="en-US" sz="1600" dirty="0">
                <a:solidFill>
                  <a:schemeClr val="tx1"/>
                </a:solidFill>
              </a:rPr>
              <a:t>Extracting Training Data from Large Language Models. arXiv:2012.07805</a:t>
            </a:r>
            <a:endParaRPr lang="en-US" sz="1600" dirty="0"/>
          </a:p>
          <a:p>
            <a:pPr marL="228600" indent="-228600">
              <a:spcAft>
                <a:spcPts val="800"/>
              </a:spcAft>
              <a:buSzPct val="100000"/>
              <a:buChar char="•"/>
            </a:pPr>
            <a:r>
              <a:rPr lang="en-US" sz="1600" b="1" dirty="0">
                <a:solidFill>
                  <a:schemeClr val="tx1"/>
                </a:solidFill>
              </a:rPr>
              <a:t>Korthikanti et al. (2022). </a:t>
            </a:r>
            <a:r>
              <a:rPr lang="en-US" sz="1600" dirty="0">
                <a:solidFill>
                  <a:schemeClr val="tx1"/>
                </a:solidFill>
              </a:rPr>
              <a:t>Reducing Activation Recomputation in Large Transformer Models. arXiv:2205.05198</a:t>
            </a:r>
            <a:endParaRPr lang="en-US" sz="1600" dirty="0"/>
          </a:p>
          <a:p>
            <a:pPr marL="228600" indent="-228600">
              <a:spcAft>
                <a:spcPts val="800"/>
              </a:spcAft>
              <a:buSzPct val="100000"/>
              <a:buChar char="•"/>
            </a:pPr>
            <a:r>
              <a:rPr lang="en-US" sz="1600" b="1" dirty="0">
                <a:solidFill>
                  <a:schemeClr val="tx1"/>
                </a:solidFill>
              </a:rPr>
              <a:t>Hugging Face docs: </a:t>
            </a:r>
            <a:r>
              <a:rPr lang="en-US" sz="1600" dirty="0">
                <a:solidFill>
                  <a:schemeClr val="tx1"/>
                </a:solidFill>
              </a:rPr>
              <a:t>causal language modeling guide · GPT-2 model card · Trainer</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24</a:t>
            </a:fld>
            <a:endParaRPr lang="en-US"/>
          </a:p>
        </p:txBody>
      </p:sp>
    </p:spTree>
  </p:cSld>
  <p:clrMapOvr>
    <a:masterClrMapping/>
  </p:clrMapOvr>
</p:sld>
</file>

<file path=ppt/theme/theme1.xml><?xml version="1.0" encoding="utf-8"?>
<a:theme xmlns:a="http://schemas.openxmlformats.org/drawingml/2006/main" name="Office Theme">
  <a:themeElements>
    <a:clrScheme name="Fine-tuning GPT-2">
      <a:dk1>
        <a:srgbClr val="1F2A44"/>
      </a:dk1>
      <a:lt1>
        <a:srgbClr val="FFFFFF"/>
      </a:lt1>
      <a:dk2>
        <a:srgbClr val="5A6478"/>
      </a:dk2>
      <a:lt2>
        <a:srgbClr val="EEF1F6"/>
      </a:lt2>
      <a:accent1>
        <a:srgbClr val="C0392B"/>
      </a:accent1>
      <a:accent2>
        <a:srgbClr val="D69E2E"/>
      </a:accent2>
      <a:accent3>
        <a:srgbClr val="2B6CB0"/>
      </a:accent3>
      <a:accent4>
        <a:srgbClr val="2F855A"/>
      </a:accent4>
      <a:accent5>
        <a:srgbClr val="FBF3E0"/>
      </a:accent5>
      <a:accent6>
        <a:srgbClr val="FBEAEA"/>
      </a:accent6>
      <a:hlink>
        <a:srgbClr val="2B6CB0"/>
      </a:hlink>
      <a:folHlink>
        <a:srgbClr val="6B46C1"/>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TotalTime>
  <Words>4650</Words>
  <Application>Microsoft Office PowerPoint</Application>
  <PresentationFormat>Widescreen</PresentationFormat>
  <Paragraphs>548</Paragraphs>
  <Slides>24</Slides>
  <Notes>24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Cambria</vt:lpstr>
      <vt:lpstr>Courier New</vt:lpstr>
      <vt:lpstr>Office Theme</vt:lpstr>
      <vt:lpstr>Fine-tuning GPT-2</vt:lpstr>
      <vt:lpstr>What you will learn</vt:lpstr>
      <vt:lpstr>Three ways to get a recipe out of GPT-2</vt:lpstr>
      <vt:lpstr>Same objective, different starting point</vt:lpstr>
      <vt:lpstr>The fine-tuning pipeline</vt:lpstr>
      <vt:lpstr>A toy world we can train in seconds</vt:lpstr>
      <vt:lpstr>Inputs, labels and the ignored value −100</vt:lpstr>
      <vt:lpstr>Every position makes a prediction</vt:lpstr>
      <vt:lpstr>Which predictions enter the loss?</vt:lpstr>
      <vt:lpstr>Batching, padding and packing</vt:lpstr>
      <vt:lpstr>What “full” fine-tuning costs</vt:lpstr>
      <vt:lpstr>One training step, five parts</vt:lpstr>
      <vt:lpstr>The knobs</vt:lpstr>
      <vt:lpstr>Warmup, then linear decay</vt:lpstr>
      <vt:lpstr>Pretrain, then fine-tune</vt:lpstr>
      <vt:lpstr>Base vs. fine-tuned: same prompt</vt:lpstr>
      <vt:lpstr>Learning rate: plasticity vs. stability</vt:lpstr>
      <vt:lpstr>Limiting forgetting and overfitting</vt:lpstr>
      <vt:lpstr>A model that never stops</vt:lpstr>
      <vt:lpstr>What each measurement tells you</vt:lpstr>
      <vt:lpstr>A rule-based check for the toy task</vt:lpstr>
      <vt:lpstr>Responsible use</vt:lpstr>
      <vt:lpstr>Check your understanding</vt:lpstr>
      <vt:lpstr>Next, and further reading</vt:lpstr>
    </vt:vector>
  </TitlesOfParts>
  <Company>PptxGenJS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Fine-tuning GPT-2: adapting a pretrained causal language model</dc:title>
  <dc:subject>PptxGenJS Presentation</dc:subject>
  <dc:creator>Generative AI (ABAI3009L), Bennett University</dc:creator>
  <cp:lastModifiedBy>Microsoft account</cp:lastModifiedBy>
  <cp:revision>2</cp:revision>
  <dcterms:created xsi:type="dcterms:W3CDTF">2026-10-16T12:13:22Z</dcterms:created>
  <dcterms:modified xsi:type="dcterms:W3CDTF">2026-10-16T12:49:18Z</dcterms:modified>
</cp:coreProperties>
</file>