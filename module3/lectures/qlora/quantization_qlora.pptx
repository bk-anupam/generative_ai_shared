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e4cb1a0-d9dd-3ac0-0609-c1af2c39c2fd}">
          <p14:sldIdLst>
            <p14:sldId id="256"/>
            <p14:sldId id="257"/>
          </p14:sldIdLst>
        </p14:section>
        <p14:section name="Will it fit?" id="{f85e1f27-0460-db47-26c4-d1e230b8f529}">
          <p14:sldIdLst>
            <p14:sldId id="258"/>
            <p14:sldId id="259"/>
            <p14:sldId id="260"/>
          </p14:sldIdLst>
        </p14:section>
        <p14:section name="What quantization does" id="{43b87e67-3dd4-522f-f07a-aaf80d702eab}">
          <p14:sldIdLst>
            <p14:sldId id="261"/>
            <p14:sldId id="262"/>
            <p14:sldId id="263"/>
            <p14:sldId id="264"/>
            <p14:sldId id="265"/>
            <p14:sldId id="266"/>
          </p14:sldIdLst>
        </p14:section>
        <p14:section name="Which format for which job" id="{e56d6f9f-b299-ceeb-c26a-41506f902354}">
          <p14:sldIdLst>
            <p14:sldId id="267"/>
            <p14:sldId id="268"/>
            <p14:sldId id="269"/>
          </p14:sldIdLst>
        </p14:section>
        <p14:section name="QLoRA" id="{fc781461-c028-a710-a20c-7555bbd1f982}">
          <p14:sldIdLst>
            <p14:sldId id="270"/>
            <p14:sldId id="271"/>
            <p14:sldId id="272"/>
          </p14:sldIdLst>
        </p14:section>
        <p14:section name="After training" id="{2877334b-c479-d5d7-8bc6-3bfe4b840f78}">
          <p14:sldIdLst>
            <p14:sldId id="273"/>
            <p14:sldId id="274"/>
            <p14:sldId id="275"/>
          </p14:sldIdLst>
        </p14:section>
        <p14:section name="Measured on a real model" id="{403159dd-e244-6456-5214-2497c3c3c67c}">
          <p14:sldIdLst>
            <p14:sldId id="276"/>
            <p14:sldId id="277"/>
          </p14:sldIdLst>
        </p14:section>
        <p14:section name="Wrap-up" id="{3e93fef9-7a81-fcaa-a4c0-1decf33aa3c2}">
          <p14:sldIdLst>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433"/>
                </a:solidFill>
                <a:latin typeface="+mn-lt"/>
              </a:defRPr>
            </a:pPr>
            <a:r>
              <a:rPr sz="1400" b="0" i="0" u="none" strike="noStrike">
                <a:solidFill>
                  <a:srgbClr val="1C2433"/>
                </a:solidFill>
                <a:latin typeface="+mn-lt"/>
              </a:rPr>
              <a:t>GB, log scale: weights + training state, before activations</a:t>
            </a:r>
          </a:p>
        </c:rich>
      </c:tx>
      <c:layout/>
      <c:overlay val="0"/>
    </c:title>
    <c:autoTitleDeleted val="0"/>
    <c:plotArea>
      <c:layout/>
      <c:barChart>
        <c:barDir val="col"/>
        <c:grouping val="clustered"/>
        <c:varyColors val="0"/>
        <c:ser>
          <c:idx val="0"/>
          <c:order val="0"/>
          <c:tx>
            <c:strRef>
              <c:f>Sheet1!$B$1</c:f>
              <c:strCache>
                <c:ptCount val="1"/>
                <c:pt idx="0">
                  <c:v>inference, 16-bit</c:v>
                </c:pt>
              </c:strCache>
            </c:strRef>
          </c:tx>
          <c:spPr>
            <a:solidFill>
              <a:srgbClr val="5A6478"/>
            </a:solidFill>
            <a:effectLst/>
          </c:spPr>
          <c:invertIfNegative val="0"/>
          <c:dLbls>
            <c:numFmt formatCode="0.0" sourceLinked="0"/>
            <c:txPr>
              <a:bodyPr/>
              <a:lstStyle/>
              <a:p>
                <a:pPr>
                  <a:defRPr b="0" i="0" strike="noStrike" sz="1000" u="none">
                    <a:solidFill>
                      <a:srgbClr val="1C2433"/>
                    </a:solidFill>
                    <a:latin typeface="+mn-lt"/>
                  </a:defRPr>
                </a:pPr>
              </a:p>
            </c:txPr>
            <c:showLegendKey val="0"/>
            <c:showVal val="1"/>
            <c:showCatName val="0"/>
            <c:showSerName val="0"/>
            <c:showPercent val="0"/>
            <c:showBubbleSize val="0"/>
            <c:showLeaderLines val="0"/>
          </c:dLbls>
          <c:cat>
            <c:multiLvlStrRef>
              <c:f>Sheet1!$A$2:$A$4</c:f>
              <c:multiLvlStrCache>
                <c:ptCount val="3"/>
                <c:lvl>
                  <c:pt idx="0">
                    <c:v>0.5B</c:v>
                  </c:pt>
                  <c:pt idx="1">
                    <c:v>1.5B</c:v>
                  </c:pt>
                  <c:pt idx="2">
                    <c:v>7B</c:v>
                  </c:pt>
                </c:lvl>
              </c:multiLvlStrCache>
            </c:multiLvlStrRef>
          </c:cat>
          <c:val>
            <c:numRef>
              <c:f>Sheet1!$B$2:$B$4</c:f>
              <c:numCache>
                <c:formatCode>General</c:formatCode>
                <c:ptCount val="3"/>
                <c:pt idx="0">
                  <c:v>0.99</c:v>
                </c:pt>
                <c:pt idx="1">
                  <c:v>3.09</c:v>
                </c:pt>
                <c:pt idx="2">
                  <c:v>15.23</c:v>
                </c:pt>
              </c:numCache>
            </c:numRef>
          </c:val>
        </c:ser>
        <c:ser>
          <c:idx val="1"/>
          <c:order val="1"/>
          <c:tx>
            <c:strRef>
              <c:f>Sheet1!$C$1</c:f>
              <c:strCache>
                <c:ptCount val="1"/>
                <c:pt idx="0">
                  <c:v>inference, 4-bit</c:v>
                </c:pt>
              </c:strCache>
            </c:strRef>
          </c:tx>
          <c:spPr>
            <a:solidFill>
              <a:srgbClr val="8FC1C5"/>
            </a:solidFill>
            <a:effectLst/>
          </c:spPr>
          <c:invertIfNegative val="0"/>
          <c:dLbls>
            <c:numFmt formatCode="0.0" sourceLinked="0"/>
            <c:txPr>
              <a:bodyPr/>
              <a:lstStyle/>
              <a:p>
                <a:pPr>
                  <a:defRPr b="0" i="0" strike="noStrike" sz="1000" u="none">
                    <a:solidFill>
                      <a:srgbClr val="1C2433"/>
                    </a:solidFill>
                    <a:latin typeface="+mn-lt"/>
                  </a:defRPr>
                </a:pPr>
              </a:p>
            </c:txPr>
            <c:showLegendKey val="0"/>
            <c:showVal val="1"/>
            <c:showCatName val="0"/>
            <c:showSerName val="0"/>
            <c:showPercent val="0"/>
            <c:showBubbleSize val="0"/>
            <c:showLeaderLines val="0"/>
          </c:dLbls>
          <c:cat>
            <c:multiLvlStrRef>
              <c:f>Sheet1!$A$2:$A$4</c:f>
              <c:multiLvlStrCache>
                <c:ptCount val="3"/>
                <c:lvl>
                  <c:pt idx="0">
                    <c:v>0.5B</c:v>
                  </c:pt>
                  <c:pt idx="1">
                    <c:v>1.5B</c:v>
                  </c:pt>
                  <c:pt idx="2">
                    <c:v>7B</c:v>
                  </c:pt>
                </c:lvl>
              </c:multiLvlStrCache>
            </c:multiLvlStrRef>
          </c:cat>
          <c:val>
            <c:numRef>
              <c:f>Sheet1!$C$2:$C$4</c:f>
              <c:numCache>
                <c:formatCode>General</c:formatCode>
                <c:ptCount val="3"/>
                <c:pt idx="0">
                  <c:v>0.46</c:v>
                </c:pt>
                <c:pt idx="1">
                  <c:v>1.14</c:v>
                </c:pt>
                <c:pt idx="2">
                  <c:v>5.55</c:v>
                </c:pt>
              </c:numCache>
            </c:numRef>
          </c:val>
        </c:ser>
        <c:ser>
          <c:idx val="2"/>
          <c:order val="2"/>
          <c:tx>
            <c:strRef>
              <c:f>Sheet1!$D$1</c:f>
              <c:strCache>
                <c:ptCount val="1"/>
                <c:pt idx="0">
                  <c:v>full fine-tuning</c:v>
                </c:pt>
              </c:strCache>
            </c:strRef>
          </c:tx>
          <c:spPr>
            <a:solidFill>
              <a:srgbClr val="C8443F"/>
            </a:solidFill>
            <a:effectLst/>
          </c:spPr>
          <c:invertIfNegative val="0"/>
          <c:dLbls>
            <c:numFmt formatCode="0.0" sourceLinked="0"/>
            <c:txPr>
              <a:bodyPr/>
              <a:lstStyle/>
              <a:p>
                <a:pPr>
                  <a:defRPr b="0" i="0" strike="noStrike" sz="1000" u="none">
                    <a:solidFill>
                      <a:srgbClr val="1C2433"/>
                    </a:solidFill>
                    <a:latin typeface="+mn-lt"/>
                  </a:defRPr>
                </a:pPr>
              </a:p>
            </c:txPr>
            <c:showLegendKey val="0"/>
            <c:showVal val="1"/>
            <c:showCatName val="0"/>
            <c:showSerName val="0"/>
            <c:showPercent val="0"/>
            <c:showBubbleSize val="0"/>
            <c:showLeaderLines val="0"/>
          </c:dLbls>
          <c:cat>
            <c:multiLvlStrRef>
              <c:f>Sheet1!$A$2:$A$4</c:f>
              <c:multiLvlStrCache>
                <c:ptCount val="3"/>
                <c:lvl>
                  <c:pt idx="0">
                    <c:v>0.5B</c:v>
                  </c:pt>
                  <c:pt idx="1">
                    <c:v>1.5B</c:v>
                  </c:pt>
                  <c:pt idx="2">
                    <c:v>7B</c:v>
                  </c:pt>
                </c:lvl>
              </c:multiLvlStrCache>
            </c:multiLvlStrRef>
          </c:cat>
          <c:val>
            <c:numRef>
              <c:f>Sheet1!$D$2:$D$4</c:f>
              <c:numCache>
                <c:formatCode>General</c:formatCode>
                <c:ptCount val="3"/>
                <c:pt idx="0">
                  <c:v>7.9</c:v>
                </c:pt>
                <c:pt idx="1">
                  <c:v>24.7</c:v>
                </c:pt>
                <c:pt idx="2">
                  <c:v>121.85</c:v>
                </c:pt>
              </c:numCache>
            </c:numRef>
          </c:val>
        </c:ser>
        <c:ser>
          <c:idx val="3"/>
          <c:order val="3"/>
          <c:tx>
            <c:strRef>
              <c:f>Sheet1!$E$1</c:f>
              <c:strCache>
                <c:ptCount val="1"/>
                <c:pt idx="0">
                  <c:v>LoRA</c:v>
                </c:pt>
              </c:strCache>
            </c:strRef>
          </c:tx>
          <c:spPr>
            <a:solidFill>
              <a:srgbClr val="D9701E"/>
            </a:solidFill>
            <a:effectLst/>
          </c:spPr>
          <c:invertIfNegative val="0"/>
          <c:dLbls>
            <c:numFmt formatCode="0.0" sourceLinked="0"/>
            <c:txPr>
              <a:bodyPr/>
              <a:lstStyle/>
              <a:p>
                <a:pPr>
                  <a:defRPr b="0" i="0" strike="noStrike" sz="1000" u="none">
                    <a:solidFill>
                      <a:srgbClr val="1C2433"/>
                    </a:solidFill>
                    <a:latin typeface="+mn-lt"/>
                  </a:defRPr>
                </a:pPr>
              </a:p>
            </c:txPr>
            <c:showLegendKey val="0"/>
            <c:showVal val="1"/>
            <c:showCatName val="0"/>
            <c:showSerName val="0"/>
            <c:showPercent val="0"/>
            <c:showBubbleSize val="0"/>
            <c:showLeaderLines val="0"/>
          </c:dLbls>
          <c:cat>
            <c:multiLvlStrRef>
              <c:f>Sheet1!$A$2:$A$4</c:f>
              <c:multiLvlStrCache>
                <c:ptCount val="3"/>
                <c:lvl>
                  <c:pt idx="0">
                    <c:v>0.5B</c:v>
                  </c:pt>
                  <c:pt idx="1">
                    <c:v>1.5B</c:v>
                  </c:pt>
                  <c:pt idx="2">
                    <c:v>7B</c:v>
                  </c:pt>
                </c:lvl>
              </c:multiLvlStrCache>
            </c:multiLvlStrRef>
          </c:cat>
          <c:val>
            <c:numRef>
              <c:f>Sheet1!$E$2:$E$4</c:f>
              <c:numCache>
                <c:formatCode>General</c:formatCode>
                <c:ptCount val="3"/>
                <c:pt idx="0">
                  <c:v>1.13</c:v>
                </c:pt>
                <c:pt idx="1">
                  <c:v>3.38</c:v>
                </c:pt>
                <c:pt idx="2">
                  <c:v>15.88</c:v>
                </c:pt>
              </c:numCache>
            </c:numRef>
          </c:val>
        </c:ser>
        <c:ser>
          <c:idx val="4"/>
          <c:order val="4"/>
          <c:tx>
            <c:strRef>
              <c:f>Sheet1!$F$1</c:f>
              <c:strCache>
                <c:ptCount val="1"/>
                <c:pt idx="0">
                  <c:v>QLoRA</c:v>
                </c:pt>
              </c:strCache>
            </c:strRef>
          </c:tx>
          <c:spPr>
            <a:solidFill>
              <a:srgbClr val="16737A"/>
            </a:solidFill>
            <a:effectLst/>
          </c:spPr>
          <c:invertIfNegative val="0"/>
          <c:dLbls>
            <c:numFmt formatCode="0.0" sourceLinked="0"/>
            <c:txPr>
              <a:bodyPr/>
              <a:lstStyle/>
              <a:p>
                <a:pPr>
                  <a:defRPr b="0" i="0" strike="noStrike" sz="1000" u="none">
                    <a:solidFill>
                      <a:srgbClr val="1C2433"/>
                    </a:solidFill>
                    <a:latin typeface="+mn-lt"/>
                  </a:defRPr>
                </a:pPr>
              </a:p>
            </c:txPr>
            <c:showLegendKey val="0"/>
            <c:showVal val="1"/>
            <c:showCatName val="0"/>
            <c:showSerName val="0"/>
            <c:showPercent val="0"/>
            <c:showBubbleSize val="0"/>
            <c:showLeaderLines val="0"/>
          </c:dLbls>
          <c:cat>
            <c:multiLvlStrRef>
              <c:f>Sheet1!$A$2:$A$4</c:f>
              <c:multiLvlStrCache>
                <c:ptCount val="3"/>
                <c:lvl>
                  <c:pt idx="0">
                    <c:v>0.5B</c:v>
                  </c:pt>
                  <c:pt idx="1">
                    <c:v>1.5B</c:v>
                  </c:pt>
                  <c:pt idx="2">
                    <c:v>7B</c:v>
                  </c:pt>
                </c:lvl>
              </c:multiLvlStrCache>
            </c:multiLvlStrRef>
          </c:cat>
          <c:val>
            <c:numRef>
              <c:f>Sheet1!$F$2:$F$4</c:f>
              <c:numCache>
                <c:formatCode>General</c:formatCode>
                <c:ptCount val="3"/>
                <c:pt idx="0">
                  <c:v>0.87</c:v>
                </c:pt>
                <c:pt idx="1">
                  <c:v>1.91</c:v>
                </c:pt>
                <c:pt idx="2">
                  <c:v>8.37</c:v>
                </c:pt>
              </c:numCache>
            </c:numRef>
          </c:val>
        </c:ser>
        <c:dLbls>
          <c:numFmt formatCode="0.0" sourceLinked="0"/>
          <c:txPr>
            <a:bodyPr/>
            <a:lstStyle/>
            <a:p>
              <a:pPr>
                <a:defRPr b="0" i="0" strike="noStrike" sz="1000" u="none">
                  <a:solidFill>
                    <a:srgbClr val="1C2433"/>
                  </a:solidFill>
                  <a:latin typeface="+mn-lt"/>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A6478"/>
                </a:solidFill>
                <a:latin typeface="+mn-lt"/>
              </a:defRPr>
            </a:pPr>
            <a:endParaRPr lang="en-US"/>
          </a:p>
        </c:txPr>
        <c:crossAx val="2094734552"/>
        <c:crosses val="autoZero"/>
        <c:auto val="1"/>
        <c:lblAlgn val="ctr"/>
        <c:noMultiLvlLbl val="1"/>
      </c:catAx>
      <c:valAx>
        <c:axId val="2094734552"/>
        <c:scaling>
          <c:logBase val="10"/>
          <c:orientation val="minMax"/>
          <c:max val="300"/>
          <c:min val="0.3"/>
        </c:scaling>
        <c:delete val="0"/>
        <c:axPos val="l"/>
        <c:majorGridlines>
          <c:spPr>
            <a:ln w="6350" cap="flat">
              <a:solidFill>
                <a:srgbClr val="DDE2EA"/>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A64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C24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433"/>
                </a:solidFill>
                <a:latin typeface="+mn-lt"/>
              </a:defRPr>
            </a:pPr>
            <a:r>
              <a:rPr sz="1400" b="0" i="0" u="none" strike="noStrike">
                <a:solidFill>
                  <a:srgbClr val="1C2433"/>
                </a:solidFill>
                <a:latin typeface="+mn-lt"/>
              </a:rPr>
              <a:t>Extra bits per weight spent on scales</a:t>
            </a:r>
          </a:p>
        </c:rich>
      </c:tx>
      <c:layout/>
      <c:overlay val="0"/>
    </c:title>
    <c:autoTitleDeleted val="0"/>
    <c:plotArea>
      <c:layout/>
      <c:barChart>
        <c:barDir val="bar"/>
        <c:grouping val="clustered"/>
        <c:varyColors val="0"/>
        <c:ser>
          <c:idx val="0"/>
          <c:order val="0"/>
          <c:tx>
            <c:strRef>
              <c:f>Sheet1!$B$1</c:f>
              <c:strCache>
                <c:ptCount val="1"/>
                <c:pt idx="0">
                  <c:v>bits per weight for the scales</c:v>
                </c:pt>
              </c:strCache>
            </c:strRef>
          </c:tx>
          <c:spPr>
            <a:solidFill>
              <a:srgbClr val="5A6478"/>
            </a:solidFill>
            <a:effectLst/>
          </c:spPr>
          <c:invertIfNegative val="0"/>
          <c:dLbls>
            <c:numFmt formatCode="0.000" sourceLinked="0"/>
            <c:txPr>
              <a:bodyPr/>
              <a:lstStyle/>
              <a:p>
                <a:pPr>
                  <a:defRPr b="0" i="0" strike="noStrike" sz="1200" u="none">
                    <a:solidFill>
                      <a:srgbClr val="1C2433"/>
                    </a:solidFill>
                    <a:latin typeface="+mn-lt"/>
                  </a:defRPr>
                </a:pPr>
              </a:p>
            </c:txPr>
            <c:showLegendKey val="0"/>
            <c:showVal val="1"/>
            <c:showCatName val="0"/>
            <c:showSerName val="0"/>
            <c:showPercent val="0"/>
            <c:showBubbleSize val="0"/>
            <c:showLeaderLines val="0"/>
          </c:dLbls>
          <c:dPt>
            <c:idx val="0"/>
            <c:invertIfNegative val="0"/>
            <c:bubble3D val="0"/>
            <c:spPr>
              <a:solidFill>
                <a:srgbClr val="5A6478"/>
              </a:solidFill>
              <a:effectLst/>
            </c:spPr>
          </c:dPt>
          <c:dPt>
            <c:idx val="1"/>
            <c:invertIfNegative val="0"/>
            <c:bubble3D val="0"/>
            <c:spPr>
              <a:solidFill>
                <a:srgbClr val="5A6478"/>
              </a:solidFill>
              <a:effectLst/>
            </c:spPr>
          </c:dPt>
          <c:dPt>
            <c:idx val="2"/>
            <c:invertIfNegative val="0"/>
            <c:bubble3D val="0"/>
            <c:spPr>
              <a:solidFill>
                <a:srgbClr val="5A6478"/>
              </a:solidFill>
              <a:effectLst/>
            </c:spPr>
          </c:dPt>
          <c:dPt>
            <c:idx val="3"/>
            <c:invertIfNegative val="0"/>
            <c:bubble3D val="0"/>
            <c:spPr>
              <a:solidFill>
                <a:srgbClr val="16737A"/>
              </a:solidFill>
              <a:effectLst/>
            </c:spPr>
          </c:dPt>
          <c:cat>
            <c:multiLvlStrRef>
              <c:f>Sheet1!$A$2:$A$5</c:f>
              <c:multiLvlStrCache>
                <c:ptCount val="4"/>
                <c:lvl>
                  <c:pt idx="0">
                    <c:v>block 64</c:v>
                  </c:pt>
                  <c:pt idx="1">
                    <c:v>block 256</c:v>
                  </c:pt>
                  <c:pt idx="2">
                    <c:v>block 1024</c:v>
                  </c:pt>
                  <c:pt idx="3">
                    <c:v>block 64 + double quant.</c:v>
                  </c:pt>
                </c:lvl>
              </c:multiLvlStrCache>
            </c:multiLvlStrRef>
          </c:cat>
          <c:val>
            <c:numRef>
              <c:f>Sheet1!$B$2:$B$5</c:f>
              <c:numCache>
                <c:formatCode>General</c:formatCode>
                <c:ptCount val="4"/>
                <c:pt idx="0">
                  <c:v>0.5</c:v>
                </c:pt>
                <c:pt idx="1">
                  <c:v>0.125</c:v>
                </c:pt>
                <c:pt idx="2">
                  <c:v>0.031</c:v>
                </c:pt>
                <c:pt idx="3">
                  <c:v>0.127</c:v>
                </c:pt>
              </c:numCache>
            </c:numRef>
          </c:val>
        </c:ser>
        <c:dLbls>
          <c:numFmt formatCode="0.000" sourceLinked="0"/>
          <c:txPr>
            <a:bodyPr/>
            <a:lstStyle/>
            <a:p>
              <a:pPr>
                <a:defRPr b="0" i="0" strike="noStrike" sz="1200" u="none">
                  <a:solidFill>
                    <a:srgbClr val="1C24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A6478"/>
                </a:solidFill>
                <a:latin typeface="+mn-lt"/>
              </a:defRPr>
            </a:pPr>
            <a:endParaRPr lang="en-US"/>
          </a:p>
        </c:txPr>
        <c:crossAx val="2094734552"/>
        <c:crosses val="autoZero"/>
        <c:auto val="1"/>
        <c:lblAlgn val="ctr"/>
        <c:noMultiLvlLbl val="1"/>
      </c:catAx>
      <c:valAx>
        <c:axId val="2094734552"/>
        <c:scaling>
          <c:orientation val="minMax"/>
          <c:max val="0.6"/>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A64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433"/>
                </a:solidFill>
                <a:latin typeface="+mn-lt"/>
              </a:defRPr>
            </a:pPr>
            <a:r>
              <a:rPr sz="1400" b="0" i="0" u="none" strike="noStrike">
                <a:solidFill>
                  <a:srgbClr val="1C2433"/>
                </a:solidFill>
                <a:latin typeface="+mn-lt"/>
              </a:rPr>
              <a:t>Qwen2.5-1.5B-Instruct on the Hub: file size, GB</a:t>
            </a:r>
          </a:p>
        </c:rich>
      </c:tx>
      <c:layout/>
      <c:overlay val="0"/>
    </c:title>
    <c:autoTitleDeleted val="0"/>
    <c:plotArea>
      <c:layout/>
      <c:barChart>
        <c:barDir val="bar"/>
        <c:grouping val="clustered"/>
        <c:varyColors val="0"/>
        <c:ser>
          <c:idx val="0"/>
          <c:order val="0"/>
          <c:tx>
            <c:strRef>
              <c:f>Sheet1!$B$1</c:f>
              <c:strCache>
                <c:ptCount val="1"/>
                <c:pt idx="0">
                  <c:v>file size, GB</c:v>
                </c:pt>
              </c:strCache>
            </c:strRef>
          </c:tx>
          <c:spPr>
            <a:solidFill>
              <a:srgbClr val="5A6478"/>
            </a:solidFill>
            <a:effectLst/>
          </c:spPr>
          <c:invertIfNegative val="0"/>
          <c:dLbls>
            <c:numFmt formatCode="0.00" sourceLinked="0"/>
            <c:txPr>
              <a:bodyPr/>
              <a:lstStyle/>
              <a:p>
                <a:pPr>
                  <a:defRPr b="0" i="0" strike="noStrike" sz="1200" u="none">
                    <a:solidFill>
                      <a:srgbClr val="1C2433"/>
                    </a:solidFill>
                    <a:latin typeface="+mn-lt"/>
                  </a:defRPr>
                </a:pPr>
              </a:p>
            </c:txPr>
            <c:showLegendKey val="0"/>
            <c:showVal val="1"/>
            <c:showCatName val="0"/>
            <c:showSerName val="0"/>
            <c:showPercent val="0"/>
            <c:showBubbleSize val="0"/>
            <c:showLeaderLines val="0"/>
          </c:dLbls>
          <c:dPt>
            <c:idx val="0"/>
            <c:invertIfNegative val="0"/>
            <c:bubble3D val="0"/>
            <c:spPr>
              <a:solidFill>
                <a:srgbClr val="5A6478"/>
              </a:solidFill>
              <a:effectLst/>
            </c:spPr>
          </c:dPt>
          <c:dPt>
            <c:idx val="1"/>
            <c:invertIfNegative val="0"/>
            <c:bubble3D val="0"/>
            <c:spPr>
              <a:solidFill>
                <a:srgbClr val="16737A"/>
              </a:solidFill>
              <a:effectLst/>
            </c:spPr>
          </c:dPt>
          <c:dPt>
            <c:idx val="2"/>
            <c:invertIfNegative val="0"/>
            <c:bubble3D val="0"/>
            <c:spPr>
              <a:solidFill>
                <a:srgbClr val="16737A"/>
              </a:solidFill>
              <a:effectLst/>
            </c:spPr>
          </c:dPt>
          <c:dPt>
            <c:idx val="3"/>
            <c:invertIfNegative val="0"/>
            <c:bubble3D val="0"/>
            <c:spPr>
              <a:solidFill>
                <a:srgbClr val="D9701E"/>
              </a:solidFill>
              <a:effectLst/>
            </c:spPr>
          </c:dPt>
          <c:dPt>
            <c:idx val="4"/>
            <c:invertIfNegative val="0"/>
            <c:bubble3D val="0"/>
            <c:spPr>
              <a:solidFill>
                <a:srgbClr val="D9701E"/>
              </a:solidFill>
              <a:effectLst/>
            </c:spPr>
          </c:dPt>
          <c:dPt>
            <c:idx val="5"/>
            <c:invertIfNegative val="0"/>
            <c:bubble3D val="0"/>
            <c:spPr>
              <a:solidFill>
                <a:srgbClr val="C8443F"/>
              </a:solidFill>
              <a:effectLst/>
            </c:spPr>
          </c:dPt>
          <c:cat>
            <c:multiLvlStrRef>
              <c:f>Sheet1!$A$2:$A$7</c:f>
              <c:multiLvlStrCache>
                <c:ptCount val="6"/>
                <c:lvl>
                  <c:pt idx="0">
                    <c:v>original, bf16</c:v>
                  </c:pt>
                  <c:pt idx="1">
                    <c:v>GPTQ-Int4</c:v>
                  </c:pt>
                  <c:pt idx="2">
                    <c:v>AWQ (4-bit)</c:v>
                  </c:pt>
                  <c:pt idx="3">
                    <c:v>GGUF q8_0</c:v>
                  </c:pt>
                  <c:pt idx="4">
                    <c:v>GGUF q4_k_m</c:v>
                  </c:pt>
                  <c:pt idx="5">
                    <c:v>GGUF q2_k</c:v>
                  </c:pt>
                </c:lvl>
              </c:multiLvlStrCache>
            </c:multiLvlStrRef>
          </c:cat>
          <c:val>
            <c:numRef>
              <c:f>Sheet1!$B$2:$B$7</c:f>
              <c:numCache>
                <c:formatCode>General</c:formatCode>
                <c:ptCount val="6"/>
                <c:pt idx="0">
                  <c:v>3.09</c:v>
                </c:pt>
                <c:pt idx="1">
                  <c:v>1.15</c:v>
                </c:pt>
                <c:pt idx="2">
                  <c:v>1.61</c:v>
                </c:pt>
                <c:pt idx="3">
                  <c:v>1.89</c:v>
                </c:pt>
                <c:pt idx="4">
                  <c:v>1.12</c:v>
                </c:pt>
                <c:pt idx="5">
                  <c:v>0.75</c:v>
                </c:pt>
              </c:numCache>
            </c:numRef>
          </c:val>
        </c:ser>
        <c:dLbls>
          <c:numFmt formatCode="0.00" sourceLinked="0"/>
          <c:txPr>
            <a:bodyPr/>
            <a:lstStyle/>
            <a:p>
              <a:pPr>
                <a:defRPr b="0" i="0" strike="noStrike" sz="1200" u="none">
                  <a:solidFill>
                    <a:srgbClr val="1C24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5A6478"/>
                </a:solidFill>
                <a:latin typeface="+mn-lt"/>
              </a:defRPr>
            </a:pPr>
            <a:endParaRPr lang="en-US"/>
          </a:p>
        </c:txPr>
        <c:crossAx val="2094734552"/>
        <c:crosses val="autoZero"/>
        <c:auto val="1"/>
        <c:lblAlgn val="ctr"/>
        <c:noMultiLvlLbl val="1"/>
      </c:catAx>
      <c:valAx>
        <c:axId val="2094734552"/>
        <c:scaling>
          <c:orientation val="minMax"/>
          <c:max val="3.6"/>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A64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433"/>
                </a:solidFill>
                <a:latin typeface="+mn-lt"/>
              </a:defRPr>
            </a:pPr>
            <a:r>
              <a:rPr sz="1400" b="0" i="0" u="none" strike="noStrike">
                <a:solidFill>
                  <a:srgbClr val="1C2433"/>
                </a:solidFill>
                <a:latin typeface="+mn-lt"/>
              </a:rPr>
              <a:t>GPU memory for the weights, GB</a:t>
            </a:r>
          </a:p>
        </c:rich>
      </c:tx>
      <c:layout/>
      <c:overlay val="0"/>
    </c:title>
    <c:autoTitleDeleted val="0"/>
    <c:plotArea>
      <c:layout/>
      <c:barChart>
        <c:barDir val="col"/>
        <c:grouping val="clustered"/>
        <c:varyColors val="0"/>
        <c:ser>
          <c:idx val="0"/>
          <c:order val="0"/>
          <c:tx>
            <c:strRef>
              <c:f>Sheet1!$B$1</c:f>
              <c:strCache>
                <c:ptCount val="1"/>
                <c:pt idx="0">
                  <c:v>GB</c:v>
                </c:pt>
              </c:strCache>
            </c:strRef>
          </c:tx>
          <c:spPr>
            <a:solidFill>
              <a:srgbClr val="5A6478"/>
            </a:solidFill>
            <a:effectLst/>
          </c:spPr>
          <c:invertIfNegative val="0"/>
          <c:dLbls>
            <c:numFmt formatCode="0.00" sourceLinked="0"/>
            <c:txPr>
              <a:bodyPr/>
              <a:lstStyle/>
              <a:p>
                <a:pPr>
                  <a:defRPr b="0" i="0" strike="noStrike" sz="1200" u="none">
                    <a:solidFill>
                      <a:srgbClr val="1C2433"/>
                    </a:solidFill>
                    <a:latin typeface="+mn-lt"/>
                  </a:defRPr>
                </a:pPr>
              </a:p>
            </c:txPr>
            <c:showLegendKey val="0"/>
            <c:showVal val="1"/>
            <c:showCatName val="0"/>
            <c:showSerName val="0"/>
            <c:showPercent val="0"/>
            <c:showBubbleSize val="0"/>
            <c:showLeaderLines val="0"/>
          </c:dLbls>
          <c:dPt>
            <c:idx val="0"/>
            <c:invertIfNegative val="0"/>
            <c:bubble3D val="0"/>
            <c:spPr>
              <a:solidFill>
                <a:srgbClr val="5A6478"/>
              </a:solidFill>
              <a:effectLst/>
            </c:spPr>
          </c:dPt>
          <c:dPt>
            <c:idx val="1"/>
            <c:invertIfNegative val="0"/>
            <c:bubble3D val="0"/>
            <c:spPr>
              <a:solidFill>
                <a:srgbClr val="16737A"/>
              </a:solidFill>
              <a:effectLst/>
            </c:spPr>
          </c:dPt>
          <c:dPt>
            <c:idx val="2"/>
            <c:invertIfNegative val="0"/>
            <c:bubble3D val="0"/>
            <c:spPr>
              <a:solidFill>
                <a:srgbClr val="8FC1C5"/>
              </a:solidFill>
              <a:effectLst/>
            </c:spPr>
          </c:dPt>
          <c:cat>
            <c:multiLvlStrRef>
              <c:f>Sheet1!$A$2:$A$4</c:f>
              <c:multiLvlStrCache>
                <c:ptCount val="3"/>
                <c:lvl>
                  <c:pt idx="0">
                    <c:v>fp16</c:v>
                  </c:pt>
                  <c:pt idx="1">
                    <c:v>NF4</c:v>
                  </c:pt>
                  <c:pt idx="2">
                    <c:v>estimate, 4-bit</c:v>
                  </c:pt>
                </c:lvl>
              </c:multiLvlStrCache>
            </c:multiLvlStrRef>
          </c:cat>
          <c:val>
            <c:numRef>
              <c:f>Sheet1!$B$2:$B$4</c:f>
              <c:numCache>
                <c:formatCode>General</c:formatCode>
                <c:ptCount val="3"/>
                <c:pt idx="0">
                  <c:v>3.09</c:v>
                </c:pt>
                <c:pt idx="1">
                  <c:v>1.16</c:v>
                </c:pt>
                <c:pt idx="2">
                  <c:v>1.14</c:v>
                </c:pt>
              </c:numCache>
            </c:numRef>
          </c:val>
        </c:ser>
        <c:dLbls>
          <c:numFmt formatCode="0.00" sourceLinked="0"/>
          <c:txPr>
            <a:bodyPr/>
            <a:lstStyle/>
            <a:p>
              <a:pPr>
                <a:defRPr b="0" i="0" strike="noStrike" sz="1200" u="none">
                  <a:solidFill>
                    <a:srgbClr val="1C24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A6478"/>
                </a:solidFill>
                <a:latin typeface="+mn-lt"/>
              </a:defRPr>
            </a:pPr>
            <a:endParaRPr lang="en-US"/>
          </a:p>
        </c:txPr>
        <c:crossAx val="2094734552"/>
        <c:crosses val="autoZero"/>
        <c:auto val="1"/>
        <c:lblAlgn val="ctr"/>
        <c:noMultiLvlLbl val="1"/>
      </c:catAx>
      <c:valAx>
        <c:axId val="2094734552"/>
        <c:scaling>
          <c:orientation val="minMax"/>
          <c:max val="3.6"/>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A64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433"/>
                </a:solidFill>
                <a:latin typeface="+mn-lt"/>
              </a:defRPr>
            </a:pPr>
            <a:r>
              <a:rPr sz="1400" b="0" i="0" u="none" strike="noStrike">
                <a:solidFill>
                  <a:srgbClr val="1C2433"/>
                </a:solidFill>
                <a:latin typeface="+mn-lt"/>
              </a:rPr>
              <a:t>Greedy generation, tokens/s</a:t>
            </a:r>
          </a:p>
        </c:rich>
      </c:tx>
      <c:layout/>
      <c:overlay val="0"/>
    </c:title>
    <c:autoTitleDeleted val="0"/>
    <c:plotArea>
      <c:layout/>
      <c:barChart>
        <c:barDir val="col"/>
        <c:grouping val="clustered"/>
        <c:varyColors val="0"/>
        <c:ser>
          <c:idx val="0"/>
          <c:order val="0"/>
          <c:tx>
            <c:strRef>
              <c:f>Sheet1!$B$1</c:f>
              <c:strCache>
                <c:ptCount val="1"/>
                <c:pt idx="0">
                  <c:v>tokens/s</c:v>
                </c:pt>
              </c:strCache>
            </c:strRef>
          </c:tx>
          <c:spPr>
            <a:solidFill>
              <a:srgbClr val="5A6478"/>
            </a:solidFill>
            <a:effectLst/>
          </c:spPr>
          <c:invertIfNegative val="0"/>
          <c:dLbls>
            <c:numFmt formatCode="0.0" sourceLinked="0"/>
            <c:txPr>
              <a:bodyPr/>
              <a:lstStyle/>
              <a:p>
                <a:pPr>
                  <a:defRPr b="0" i="0" strike="noStrike" sz="1200" u="none">
                    <a:solidFill>
                      <a:srgbClr val="1C2433"/>
                    </a:solidFill>
                    <a:latin typeface="+mn-lt"/>
                  </a:defRPr>
                </a:pPr>
              </a:p>
            </c:txPr>
            <c:showLegendKey val="0"/>
            <c:showVal val="1"/>
            <c:showCatName val="0"/>
            <c:showSerName val="0"/>
            <c:showPercent val="0"/>
            <c:showBubbleSize val="0"/>
            <c:showLeaderLines val="0"/>
          </c:dLbls>
          <c:dPt>
            <c:idx val="0"/>
            <c:invertIfNegative val="0"/>
            <c:bubble3D val="0"/>
            <c:spPr>
              <a:solidFill>
                <a:srgbClr val="5A6478"/>
              </a:solidFill>
              <a:effectLst/>
            </c:spPr>
          </c:dPt>
          <c:dPt>
            <c:idx val="1"/>
            <c:invertIfNegative val="0"/>
            <c:bubble3D val="0"/>
            <c:spPr>
              <a:solidFill>
                <a:srgbClr val="C8443F"/>
              </a:solidFill>
              <a:effectLst/>
            </c:spPr>
          </c:dPt>
          <c:cat>
            <c:multiLvlStrRef>
              <c:f>Sheet1!$A$2:$A$3</c:f>
              <c:multiLvlStrCache>
                <c:ptCount val="2"/>
                <c:lvl>
                  <c:pt idx="0">
                    <c:v>fp16</c:v>
                  </c:pt>
                  <c:pt idx="1">
                    <c:v>NF4</c:v>
                  </c:pt>
                </c:lvl>
              </c:multiLvlStrCache>
            </c:multiLvlStrRef>
          </c:cat>
          <c:val>
            <c:numRef>
              <c:f>Sheet1!$B$2:$B$3</c:f>
              <c:numCache>
                <c:formatCode>General</c:formatCode>
                <c:ptCount val="2"/>
                <c:pt idx="0">
                  <c:v>25</c:v>
                </c:pt>
                <c:pt idx="1">
                  <c:v>18.7</c:v>
                </c:pt>
              </c:numCache>
            </c:numRef>
          </c:val>
        </c:ser>
        <c:dLbls>
          <c:numFmt formatCode="0.0" sourceLinked="0"/>
          <c:txPr>
            <a:bodyPr/>
            <a:lstStyle/>
            <a:p>
              <a:pPr>
                <a:defRPr b="0" i="0" strike="noStrike" sz="1200" u="none">
                  <a:solidFill>
                    <a:srgbClr val="1C24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A6478"/>
                </a:solidFill>
                <a:latin typeface="+mn-lt"/>
              </a:defRPr>
            </a:pPr>
            <a:endParaRPr lang="en-US"/>
          </a:p>
        </c:txPr>
        <c:crossAx val="2094734552"/>
        <c:crosses val="autoZero"/>
        <c:auto val="1"/>
        <c:lblAlgn val="ctr"/>
        <c:noMultiLvlLbl val="1"/>
      </c:catAx>
      <c:valAx>
        <c:axId val="2094734552"/>
        <c:scaling>
          <c:orientation val="minMax"/>
          <c:max val="30"/>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A64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1-6 of the notebook need only PyTorch and matplotlib and run on a CPU in a few seconds: run them once before class so every demo has output. Section 7 (optional) downloads Qwen2.5-1.5B-Instruct (about 3.1 GB, Apache-2.0) and needs a Kaggle T4 with internet: run the install cell (cell 21, %pip install -U bitsandbytes), restart if pip upgraded a loaded package, and set RUN_QUANT_DEMO = True in cell 22. If get_peft_model raises 'Found an incompatible version of torchao', run the commented-out pip uninstall line, restart, and rerun. Amber 'LIVE DEMO' tags mark where to switch to the notebook; cell numbers are 0-based positions. Numbers on the slides come from the notebook's saved Kaggle run (T4, PyTorch 2.10, transformers 5.0). Prerequisites: the PEFT/LoRA lecture and the number-formats refresher (fp32, fp16, bf16).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end of the PEFT/LoRA lecture. LoRA removed almost all of the training state (14 of the 16 bytes per frozen parameter), but the frozen weights themselves still sit in GPU memory at 2 bytes each. For Qwen2.5-7B that is about 15.2 GB of weights; with all-linear adapters at r = 16 the total before activations is 15.9 GB, which does not fit a 16 GB T4 once activations are added. QLoRA stores the same frozen weights in 4-bit NF4 and brings the total to about 8.4 GB. The numbers are the notebook's Section 1 estimates (cell 3). This lecture is about using these tools well, not deriving them: the four questions on the right are the ones students will face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in any real project is whether the model fits on the GPU you have. Memory is roughly parameters times bytes per parameter, plus activations and overhead. What has to be stored depends on the job. Inference: the weights plus the KV cache, which grows with batch size times sequence length. Full fine-tuning: 16 bytes per parameter, the accounting from the LoRA lecture. LoRA: 2 bytes per frozen parameter plus 16 per adapter parameter. QLoRA: 4-bit frozen weights plus 16 per adapter parameter. One practical detail changes the numbers: bitsandbytes quantizes only the linear layers inside the decoder blocks. The embedding table and output head stay 16-bit, and for small models with large vocabularies that is a big share: 233M of Qwen2.5-1.5B's 1.54B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cells 3 and 4. The table and chart are the Section 1 arithmetic for the three Qwen2.5 sizes, with LoRA and QLoRA on all linear layers at r = 16, before activations and KV cache. Read the 7B group: inference in 16-bit already takes 15.2 GB; LoRA needs 15.9 GB, which does not fit once activations are added; QLoRA needs 8.4 GB and leaves room for activations. The QLoRA column assumes the non-quantized parameters are upcast to fp32, as prepare_model_for_kbit_training does (Section 4); for the 7B model, which has a separate output head, those 1.09B parameters take about 4.4 GB in fp32 instead of 2.2 GB in 16-bit. That is why QLoRA for 0.5B is barely smaller than LoRA. Activations are not in the chart; for long sequences they can exceed the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Qwen2.5-1.5B. Its decoder linear layers hold 1.31B parameters; everything else, mostly the 151,936 x 1536 embedding table, is 0.23B (15%). In 16-bit that is 2.62 + 0.47 = 3.09 GB. In 4-bit only the 1.31B shrink, to 0.68 GB including the block scales, so the total is 1.14 GB, not the 0.77 GB a quarter would give. The real files agree: the GPTQ 4-bit checkpoint on the Hub is 1.15 GB, and 467 MB of it is the 16-bit embedding table. Section 7 measures 1.16 GB on the GPU. A checkpoint is a saved copy of the model's weights plus configuration, the files you download from the Hub. Practical rule: estimate first with this arithmetic, then measure on the real GPU with torch.cuda.max_memory_allocated(), as Section 7 and the lab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Quantization replaces each 16-bit weight by a 4-bit code: an index into a short list of allowed values, the levels. Each block of weights keeps one shared number, the scale, that restores the original size. Quantization happens once, when the model is loaded; dequantization happens every time a layer runs. Step 3 puts every block on the same ruler whatever its size: after dividing by the block's largest absolute weight, everything lies in [-1, 1] and the largest weight is exactly plus or minus 1. Which 16 levels are used is the difference between int4 and NF4, two slides on. Consequence of step 6: the matrix multiplication still runs in 16-bit, so 4-bit quantization saves memory, not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row by row. The block is -0.031, 0.012, 0.044, -0.007, so the scale is the largest absolute value, 0.044. Divide: -0.705, 0.273, 1.000, -0.159. Round each to the nearest NF4 level (the 16 values are on a later slide) and store only its index: 1, 10, 15, 5, as 4-bit codes. Dequantize: level times 0.044. The largest weight comes back exactly, because after normalizing it sits on the level 1.0; the others come back close but not equal. That gap is the rounding error, the price of compression. Savings: a real block of 64 weights takes 1024 bits in 16-bit; codes plus one 32-bit scale take 256 + 32 = 288 bits, 4.5 bits per weight. Double quantization, later, shrinks the scale's share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scheme leaves one choice open: which values may a normalized weight be rounded to? The formats differ only in how many levels they offer and where they sit. int8: multiply by 127 and round to a whole number from -127 to 127: 255 evenly spaced levels about 0.008 apart, 1 byte per weight. int4: whole numbers -7 to 7 divided by 7: 15 evenly spaced levels about 0.14 apart (about 18 times int8's gap), 0.5 byte per weight. NF4, 4-bit NormalFloat from the QLoRA paper: also 16 levels and 0.5 byte, but placed so each serves about the same share of a bell-shaped distribution: dense near 0 (about 0.08 apart) and sparse near plus or minus 1 (about 0.3 apart). int4 and NF4 cost the same memory, so the comparison between them is fair: the only question is whether the 16 levels are well placed.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cells 8 and 9. The notebook draws 65,536 normal weights at a typical scale of 0.02, quantizes them in blocks of 64 with each set of levels, and prints the relative error (norm of the error over norm of the weights). int8: 0.0059, tiny; most models lose little or no quality at 8 bits (Dettmers et al., 2022). With 4 bits, where the 16 levels sit matters: after dividing by the block scale most weights lie near zero, and evenly spaced int4 levels waste resolution on the rarely used tails. NF4 lowers the error from 0.107 to 0.092 for the same 4 bits. The histogram on this slide is the same construction drawn for the slide, not the notebook's exact bars. Students do not need the derivation of NF4; the lesson is: for 4-bit QLoRA use nf4 (the alternative in bitsandbytes is fp4).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cell 12. Real LLM weights and activations contain a few outliers, values much larger than the rest (Dettmers et al., 2022). The notebook sets one of the 65,536 weights to 1.0, 50 times the typical size. With one scale for the whole tensor, that outlier is the scale: a typical weight of 0.02 divided by 1.0 is 0.02, and the nearest NF4 level is 0, so almost every weight is rounded to zero. The error jumps from 0.12 to 0.93. With one scale per block of 64, only the outlier's own block is squeezed (its other 63 weights), and the overall error barely moves: 0.0920 to 0.0945.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Cell 12 also prints the cost of the scales. Each block stores a 32-bit scale, so at block size 64 the scales add 32 / 64 = 0.5 bits per weight: a '4-bit' format really costs 4.5 bits. Bigger blocks are cheaper but track outliers worse. Double quantization quantizes the scales too, in two levels. First: weights become 4-bit codes with one scale per block of 64. Second: those scales are stored as 8-bit codes, grouped 256 at a time, and each group of 256 scales shares one new 32-bit scale. Overhead: 8/64 + 32/(64 x 256) = 0.125 + 0.002, about 0.127 bits per weight instead of 0.5. That is the NF4_BYTES = (4 + 0.127) / 8 used in Section 1. The QLoRA paper reports this saves about 0.37 bits per weight, about 3 GB for a 65B model. bitsandbytes does all of it; students only choose nf4, double quantization on or off, and the compute dtype.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'Quantized model' can mean several different things. They differ in when the quantization happens and what software runs the result. A checkpoint is a saved copy of a model's weights plus its configuration, the files you download from the Hub; one model can be published as several checkpoints, 16-bit and quantized. Load-time quantization with bitsandbytes needs no preparation: download the normal 16-bit checkpoint and it is quantized as it loads. It is the most flexible choice and the one QLoRA uses. Pre-quantized checkpoints (GPTQ, AWQ, GGUF) are prepared once by whoever publishes them: a smaller download, often faster inference with dedicated kernels, but you generally do not fine-tune those files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GPTQ and AWQ are made for GPU serving. Both run the model on some calibration text and choose the rounding to minimize the change in the model's outputs on that data, not just the error of each weight (Frantar et al., 2022; Lin et al., 2023). GPTQ rounds a layer's weights one at a time and adjusts the not-yet-rounded weights to compensate for each rounding error. AWQ, Activation-aware Weight Quantization, finds the small share of weights that matter most, judged by how large the activations passing through them are, and scales them up before rounding so they lose less precision. GGUF is the file format of llama.cpp, Ollama and LM Studio: one .gguf file holds the quantized weights, tokenizer and model settings, so it runs on its own, typically on a laptop CPU with optional GPU offload, in many quantization levels such as q8_0 and q4_k_m.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sizes for Qwen2.5-1.5B-Instruct, checked on the Hub when the notebook was written. In GGUF names the number is the approximate bits per weight, K marks the k-quant family, and S/M/L say how many layers are kept at higher precision. q4_k_m is a common default. The AWQ file is larger than the GPTQ file although both are 4-bit: reading the file headers shows that the AWQ file stores a separate 16-bit copy of the output head (467 MB) next to the embedding table, while the GPTQ file stores the shared table once. Packaging choices matter, so check the real file size. Below 4 bits quality usually drops noticeably, especially for small models: treat 2- and 3-bit files as a last resort, and test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cell 16. QLoRA (Dettmers et al., 2023) is LoRA with one change: the frozen base weights are stored in 4-bit NF4 instead of 16-bit. The right half of the diagram is exactly the LoRA diagram from last lecture. The two new boxes on the left: W0 is stored as NF4 codes plus block scales; just before it is used it is dequantized, level times scale, to fp16. That fp16 W0 is rebuilt on every forward and backward pass and not kept. The QLoRA paper calls these the storage data type (NF4) and the compute data type (bf16 in the paper; fp16 on a T4). Only A and B receive weight gradients, so optimizer state stays tiny. Gradients still pass through the dequantized W0 to reach earlier layers' adapters. The 4-bit weights are never updated, so their rounding error does not grow during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ingredients and their Hugging Face settings. NF4 and double quantization were the previous section. Paged optimizers move optimizer state to CPU memory during sudden memory spikes instead of crashing. What the paper showed: a 65B model fine-tuned on one 48 GB GPU, where 16-bit full fine-tuning needs more than 780 GB. NF4 QLoRA matched 16-bit full fine-tuning and 16-bit LoRA on the benchmarks tested: an empirical result for those models and tasks, not a guarantee, so always compare on your own task. LoRA on only the query and value projections did not match full fine-tuning; adapting all linear layers was the most important setting, and the rank mattered much less. For a 7B model the 4-bit base took 5,048 MB and the LoRA weights 26 MB, but without gradient checkpointing the activation gradients flowing into the adapters took 567 MB per sequence: that is why gradient checkpointing is part of the recipe.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recipe the lab uses. BitsAndBytesConfig asks for 4-bit NF4 with double quantization and fp16 compute: on a T4 the compute dtype must be fp16, because Turing GPUs have no bf16 support; use bf16 on Ampere or newer (A100, L4, RTX 30xx+), and match the Trainer flag (fp16=True or bf16=True). prepare_model_for_kbit_training freezes every base parameter, casts the remaining 16-bit parameters (norms, embeddings, output head) to fp32 for stability, makes the input embeddings pass gradients along, and turns on gradient checkpointing; use_reentrant=False selects the variant PyTorch recommends and silences a warning. target_modules='all-linear' wraps every linear layer except the output head, following the paper. device_map={'': 0} puts the whole model on GPU 0: on Kaggle's T4 x2 machines device_map='auto' would split the model across both GPUs, which works for inference but complicates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produces a LoRA adapter of a few tens of MB, exactly as in the LoRA lecture. Keep it separate when several tasks share one base, when you want to switch adapters, or when storage matters: load the base in 4-bit or 16-bit, then PeftModel.from_pretrained(base, adapter_dir). Merge into a 16-bit base when you want one ordinary model file, for example for a serving engine: reload the base in fp16/bf16, not 4-bit, load the adapter, merge_and_unload, save_pretrained. For limited hardware, merge as above and then convert the merged model to GPTQ, AWQ or GGUF. Why not merge into the 4-bit weights: W + (alpha/r)BA would be rounded back to 4 bits and the small learned update can be partly lost; peft allows it but warns. The adapter was trained against the 4-bit base; running it on the 16-bit base usually works well but is not identical, so evaluate the model in the form you will 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notebook's Section 6 checklist as a tree. First question: are you training or only running the model? If training, do the Section 1 arithmetic and then measure: if the 16-bit model plus LoRA fits, use plain LoRA in 16-bit, which is simpler and usually faster than QLoRA. If it does not fit, use QLoRA: NF4, double quantization, fp16 or bf16 compute, all-linear adapters, gradient checkpointing. If only running: for a GPU server with many users, a GPTQ or AWQ checkpoint served with vLLM or TGI; for a laptop or CPU, GGUF with llama.cpp or Ollama, q4_k_m being a common start; for a quick experiment in Python, bitsandbytes 8-bit or 4-bit at load time. Ask students to place three scenarios: fine-tune Qwen2.5-1.5B on a T4 (LoRA fits), fine-tune Qwen2.5-7B on a T4 (QLoRA), ship a chatbot that runs offline on laptops (GGUF).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table; each row is a mistake students make in the lab. Speed: load-time 4-bit is often slower, so quantize to save memory and measure speed separately. bf16 on a T4 gives errors or very slow emulation. Comparing a quantized and an unquantized model under different prompts or decoding settings measures the prompts, not the quantization. Merging into 4-bit loses part of the update. Quality loss depends on model size, task and format. Forgetting activations and the KV cache leads to out-of-memory with long sequences or big batches. Library clashes: note working versions; on Kaggle the torchao fix from the LoRA lecture. Close with what quantization does not change: the model's behaviour is still the original model's plus a small error. A quantized model that hallucinates did not start hallucinating because of quantization, and quantization will not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Section 7, needs a T4 and internet: run cell 21 (install) and cell 22 with RUN_QUANT_DEMO = True. It loads Qwen2.5-1.5B-Instruct twice, in fp16 and then in 4-bit NF4 with double quantization and fp16 compute, and freeing the first copy in between. Memory: NF4 held 1.16 GB against 3.09 GB, 38%, within 0.02 GB of the Section 1 estimate; not a quarter, because the embedding table stays 16-bit. Speed: 18.7 against 25.0 tokens per second, about 25% slower, because every layer dequantizes its weights on each step. Output: greedy decoding is deterministic, so the change in wording comes from quantization alone, and it changed from the first sentence. Neither answer is good: the fp16 one says GPU memory is limited because the GPU handles many tasks, which is wrong; the NF4 one makes a loose comparison with CPU memory. Judging quality needs an evaluation on many examples, as in the lab. The temperature/top_p/top_k warning is harmless.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Cell 24 looks inside layer 0's down_proj. It is now a bitsandbytes Linear4bit; its weight is a uint8 column of 6,881,280 entries, exactly half of the 1536 x 8960 = 13,762,560 weights, because two 4-bit codes are packed into each byte. The quant state records NF4, block size 64 and nested (double-quantized) scales. The embedding table is still fp16. Cell 26 applies the recipe: peft reports 18,464,768 trainable parameters, exactly the Section 1 formula for all linear layers at r = 16. Then one forward and backward pass on a batch of 4 x 512 tokens peaks at 5.80 GB, three times the 1.91 GB estimate, because the estimate leaves out everything that depends on the batch. The biggest part is the output logits: 4 x 512 tokens x 151,936 vocabulary entries is 311M scores, 1.24 GB per copy in fp32 (the head was upcast), and computing the loss and its gradient keeps more than one copy. Checkpointed activations of the 28 layers are only about 0.2 GB. Lesson: with a large vocabulary, batch x sequence length drives memory through the logits; halving either roughly halves that part. Suggest rerunning with a batch of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misconceptions explicitly. Four-bit is not a quarter of the size, because embeddings and the output head stay 16-bit. Load-time 4-bit is not faster; in our T4 run it was 25% slower. Merging into the 4-bit base loses part of the update; merge into a 16-bit copy. Quantization adds a small error; it neither causes nor fixes the model's weaknesses, so evaluate each form on the same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of the notebook's eight questions, for think-pair-share. Answers: 1) Only the decoder's linear layers (1.31B parameters) are quantized; the 233M-parameter embedding table stays 16-bit (about 0.47 GB), and the block scales add a little more. 2) Load-time 4-bit saves memory, not time: weights are dequantized to 16-bit for every computation, so generation is usually no faster and often slower (25% slower in Section 7). Speed-ups need formats with dedicated kernels, and must be measured. 3) The outlier sets the scale: with one scale every weight is divided by the outlier's size and squeezed into the levels near zero; with blocks only the 63 other weights of its block. 4) (a) LoRA in 16-bit fits (about 3.4 GB before activations) and is simpler; QLoRA also works. (b) LoRA needs about 16 GB before activations, which does not fit; QLoRA about 8 GB. 5) The decoder linear layers are stored in NF4; only A and B are trained; the matmul runs in fp16 on a T4. 6) Most training memory is activations: the backward pass runs through every layer to reach the earliest adapters; the paper measured 567 MB per sequence of activation gradients against 26 MB of LoRA weights for 7B.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takeaways. Next: the QLoRA lab (module3/labs/qlora_dialogsum) applies this setup to a real fine-tuning task on DialogSum, with training and evaluation against the base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1069848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246120"/>
            <a:ext cx="10698480" cy="731520"/>
          </a:xfrm>
          <a:prstGeom prst="rect">
            <a:avLst/>
          </a:prstGeom>
          <a:noFill/>
          <a:ln/>
        </p:spPr>
        <p:txBody>
          <a:bodyPr wrap="square" rtlCol="0"/>
          <a:lstStyle>
            <a:lvl1pPr indent="0" marL="0">
              <a:buNone/>
              <a:defRPr lang="en-US" sz="2400" dirty="0">
                <a:solidFill>
                  <a:schemeClr val="accent2"/>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Quantization and QLoRA · Generative AI, Module 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10698480" cy="1737360"/>
          </a:xfrm>
          <a:prstGeom prst="rect">
            <a:avLst/>
          </a:prstGeom>
          <a:noFill/>
          <a:ln/>
        </p:spPr>
        <p:txBody>
          <a:bodyPr wrap="square" lIns="0" tIns="0" rIns="0" bIns="0" rtlCol="0" anchor="b"/>
          <a:lstStyle/>
          <a:p>
            <a:pPr algn="l" indent="0" marL="0">
              <a:buNone/>
            </a:pPr>
            <a:r>
              <a:rPr lang="en-US" sz="4400" b="1" dirty="0">
                <a:solidFill>
                  <a:schemeClr val="bg1"/>
                </a:solidFill>
              </a:rPr>
              <a:t>Quantization and QLoRA</a:t>
            </a:r>
            <a:endParaRPr lang="en-US" sz="4400" dirty="0"/>
          </a:p>
        </p:txBody>
      </p:sp>
      <p:sp>
        <p:nvSpPr>
          <p:cNvPr id="3" name="Text 0"/>
          <p:cNvSpPr/>
          <p:nvPr>
            <p:ph idx="101" type="body" hasCustomPrompt="1"/>
          </p:nvPr>
        </p:nvSpPr>
        <p:spPr>
          <a:xfrm>
            <a:off x="731520" y="3246120"/>
            <a:ext cx="10698480" cy="731520"/>
          </a:xfrm>
          <a:prstGeom prst="rect">
            <a:avLst/>
          </a:prstGeom>
          <a:noFill/>
          <a:ln/>
        </p:spPr>
        <p:txBody>
          <a:bodyPr wrap="square" lIns="0" tIns="0" rIns="0" bIns="0" rtlCol="0" anchor="t"/>
          <a:lstStyle/>
          <a:p>
            <a:pPr indent="0" marL="0">
              <a:buNone/>
            </a:pPr>
            <a:r>
              <a:rPr lang="en-US" sz="2400" dirty="0">
                <a:solidFill>
                  <a:schemeClr val="accent2"/>
                </a:solidFill>
              </a:rPr>
              <a:t>Store the frozen weights in 4 bits; train 16-bit LoRA adapters on top</a:t>
            </a:r>
            <a:endParaRPr lang="en-US" sz="2400" dirty="0"/>
          </a:p>
        </p:txBody>
      </p:sp>
      <p:sp>
        <p:nvSpPr>
          <p:cNvPr id="4" name="Text 2"/>
          <p:cNvSpPr txBox="1"/>
          <p:nvPr/>
        </p:nvSpPr>
        <p:spPr>
          <a:xfrm>
            <a:off x="731520" y="5120640"/>
            <a:ext cx="10698480" cy="365760"/>
          </a:xfrm>
          <a:prstGeom prst="rect">
            <a:avLst/>
          </a:prstGeom>
          <a:noFill/>
          <a:ln/>
        </p:spPr>
        <p:txBody>
          <a:bodyPr wrap="square" lIns="0" tIns="0" rIns="0" bIns="0" rtlCol="0" anchor="t"/>
          <a:lstStyle/>
          <a:p>
            <a:pPr indent="0" marL="0">
              <a:buNone/>
            </a:pPr>
            <a:r>
              <a:rPr lang="en-US" sz="1600" dirty="0">
                <a:solidFill>
                  <a:schemeClr val="bg1"/>
                </a:solidFill>
              </a:rPr>
              <a:t>Generative AI (ABAI3009L) · Module 3: Training and Fine-tuning LLMs</a:t>
            </a:r>
            <a:endParaRPr lang="en-US" sz="1600" dirty="0"/>
          </a:p>
        </p:txBody>
      </p:sp>
      <p:sp>
        <p:nvSpPr>
          <p:cNvPr id="5" name="Text 3"/>
          <p:cNvSpPr txBox="1"/>
          <p:nvPr/>
        </p:nvSpPr>
        <p:spPr>
          <a:xfrm>
            <a:off x="731520" y="5532120"/>
            <a:ext cx="10698480" cy="365760"/>
          </a:xfrm>
          <a:prstGeom prst="rect">
            <a:avLst/>
          </a:prstGeom>
          <a:noFill/>
          <a:ln/>
        </p:spPr>
        <p:txBody>
          <a:bodyPr wrap="square" lIns="0" tIns="0" rIns="0" bIns="0" rtlCol="0" anchor="t"/>
          <a:lstStyle/>
          <a:p>
            <a:pPr indent="0" marL="0">
              <a:buNone/>
            </a:pPr>
            <a:r>
              <a:rPr lang="en-US" sz="1400" dirty="0">
                <a:solidFill>
                  <a:srgbClr val="C9CFDA"/>
                </a:solidFill>
              </a:rPr>
              <a:t>Companion notebook: module3/lectures/peft/quantization_qlora.ipynb</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Where LoRA left us</a:t>
            </a:r>
            <a:endParaRPr lang="en-US" sz="3200" dirty="0"/>
          </a:p>
        </p:txBody>
      </p:sp>
      <p:sp>
        <p:nvSpPr>
          <p:cNvPr id="4" name="Text 1"/>
          <p:cNvSpPr txBox="1"/>
          <p:nvPr/>
        </p:nvSpPr>
        <p:spPr>
          <a:xfrm>
            <a:off x="548640" y="1280160"/>
            <a:ext cx="6583680" cy="365760"/>
          </a:xfrm>
          <a:prstGeom prst="rect">
            <a:avLst/>
          </a:prstGeom>
          <a:noFill/>
          <a:ln/>
        </p:spPr>
        <p:txBody>
          <a:bodyPr wrap="square" lIns="0" tIns="0" rIns="0" bIns="0" rtlCol="0" anchor="t"/>
          <a:lstStyle/>
          <a:p>
            <a:pPr indent="0" marL="0">
              <a:buNone/>
            </a:pPr>
            <a:r>
              <a:rPr lang="en-US" sz="1600" b="1" dirty="0">
                <a:solidFill>
                  <a:schemeClr val="tx1"/>
                </a:solidFill>
              </a:rPr>
              <a:t>Qwen2.5-7B, weights + training state before activations</a:t>
            </a:r>
            <a:endParaRPr lang="en-US" sz="1600" dirty="0"/>
          </a:p>
        </p:txBody>
      </p:sp>
      <p:sp>
        <p:nvSpPr>
          <p:cNvPr id="5" name="Text 2"/>
          <p:cNvSpPr txBox="1"/>
          <p:nvPr/>
        </p:nvSpPr>
        <p:spPr>
          <a:xfrm>
            <a:off x="548640" y="1783080"/>
            <a:ext cx="6035040" cy="320040"/>
          </a:xfrm>
          <a:prstGeom prst="rect">
            <a:avLst/>
          </a:prstGeom>
          <a:noFill/>
          <a:ln/>
        </p:spPr>
        <p:txBody>
          <a:bodyPr wrap="square" lIns="0" tIns="0" rIns="0" bIns="0" rtlCol="0" anchor="t"/>
          <a:lstStyle/>
          <a:p>
            <a:pPr indent="0" marL="0">
              <a:buNone/>
            </a:pPr>
            <a:r>
              <a:rPr lang="en-US" sz="1400" dirty="0">
                <a:solidFill>
                  <a:schemeClr val="tx2"/>
                </a:solidFill>
              </a:rPr>
              <a:t>T4 GPU memory</a:t>
            </a:r>
            <a:endParaRPr lang="en-US" sz="1400" dirty="0"/>
          </a:p>
        </p:txBody>
      </p:sp>
      <p:sp>
        <p:nvSpPr>
          <p:cNvPr id="6" name="io "/>
          <p:cNvSpPr/>
          <p:nvPr/>
        </p:nvSpPr>
        <p:spPr>
          <a:xfrm>
            <a:off x="548640" y="2130552"/>
            <a:ext cx="6035040" cy="548640"/>
          </a:xfrm>
          <a:prstGeom prst="rect">
            <a:avLst/>
          </a:prstGeom>
          <a:solidFill>
            <a:schemeClr val="bg1"/>
          </a:solidFill>
          <a:ln w="15875">
            <a:solidFill>
              <a:schemeClr val="tx2"/>
            </a:solidFill>
            <a:prstDash val="solid"/>
          </a:ln>
        </p:spPr>
      </p:sp>
      <p:sp>
        <p:nvSpPr>
          <p:cNvPr id="7" name="Text 4"/>
          <p:cNvSpPr txBox="1"/>
          <p:nvPr/>
        </p:nvSpPr>
        <p:spPr>
          <a:xfrm>
            <a:off x="548640" y="2130552"/>
            <a:ext cx="6035040" cy="548640"/>
          </a:xfrm>
          <a:prstGeom prst="rect">
            <a:avLst/>
          </a:prstGeom>
          <a:noFill/>
          <a:ln/>
        </p:spPr>
        <p:txBody>
          <a:bodyPr wrap="square" lIns="0" tIns="0" rIns="0" bIns="0" rtlCol="0" anchor="ctr"/>
          <a:lstStyle/>
          <a:p>
            <a:pPr algn="ctr" indent="0" marL="0">
              <a:buNone/>
            </a:pPr>
            <a:endParaRPr lang="en-US" sz="1500" dirty="0"/>
          </a:p>
        </p:txBody>
      </p:sp>
      <p:sp>
        <p:nvSpPr>
          <p:cNvPr id="8" name="Text 5"/>
          <p:cNvSpPr txBox="1"/>
          <p:nvPr/>
        </p:nvSpPr>
        <p:spPr>
          <a:xfrm>
            <a:off x="685800" y="2130552"/>
            <a:ext cx="5852160" cy="548640"/>
          </a:xfrm>
          <a:prstGeom prst="rect">
            <a:avLst/>
          </a:prstGeom>
          <a:noFill/>
          <a:ln/>
        </p:spPr>
        <p:txBody>
          <a:bodyPr wrap="square" lIns="0" tIns="0" rIns="0" bIns="0" rtlCol="0" anchor="ctr"/>
          <a:lstStyle/>
          <a:p>
            <a:pPr indent="0" marL="0">
              <a:buNone/>
            </a:pPr>
            <a:r>
              <a:rPr lang="en-US" sz="1500" b="1" dirty="0">
                <a:solidFill>
                  <a:schemeClr val="tx1"/>
                </a:solidFill>
              </a:rPr>
              <a:t>16 GB</a:t>
            </a:r>
            <a:endParaRPr lang="en-US" sz="1500" dirty="0"/>
          </a:p>
        </p:txBody>
      </p:sp>
      <p:sp>
        <p:nvSpPr>
          <p:cNvPr id="9" name="Text 6"/>
          <p:cNvSpPr txBox="1"/>
          <p:nvPr/>
        </p:nvSpPr>
        <p:spPr>
          <a:xfrm>
            <a:off x="548640" y="2926080"/>
            <a:ext cx="6035040" cy="320040"/>
          </a:xfrm>
          <a:prstGeom prst="rect">
            <a:avLst/>
          </a:prstGeom>
          <a:noFill/>
          <a:ln/>
        </p:spPr>
        <p:txBody>
          <a:bodyPr wrap="square" lIns="0" tIns="0" rIns="0" bIns="0" rtlCol="0" anchor="t"/>
          <a:lstStyle/>
          <a:p>
            <a:pPr indent="0" marL="0">
              <a:buNone/>
            </a:pPr>
            <a:r>
              <a:rPr lang="en-US" sz="1400" dirty="0">
                <a:solidFill>
                  <a:schemeClr val="tx2"/>
                </a:solidFill>
              </a:rPr>
              <a:t>LoRA, 16-bit base</a:t>
            </a:r>
            <a:endParaRPr lang="en-US" sz="1400" dirty="0"/>
          </a:p>
        </p:txBody>
      </p:sp>
      <p:sp>
        <p:nvSpPr>
          <p:cNvPr id="10" name="warn "/>
          <p:cNvSpPr/>
          <p:nvPr/>
        </p:nvSpPr>
        <p:spPr>
          <a:xfrm>
            <a:off x="548640" y="3273552"/>
            <a:ext cx="5989777" cy="548640"/>
          </a:xfrm>
          <a:prstGeom prst="rect">
            <a:avLst/>
          </a:prstGeom>
          <a:solidFill>
            <a:schemeClr val="accent6"/>
          </a:solidFill>
          <a:ln w="15875">
            <a:solidFill>
              <a:schemeClr val="accent3"/>
            </a:solidFill>
            <a:prstDash val="solid"/>
          </a:ln>
        </p:spPr>
      </p:sp>
      <p:sp>
        <p:nvSpPr>
          <p:cNvPr id="11" name="Text 8"/>
          <p:cNvSpPr txBox="1"/>
          <p:nvPr/>
        </p:nvSpPr>
        <p:spPr>
          <a:xfrm>
            <a:off x="548640" y="3273552"/>
            <a:ext cx="5989777" cy="548640"/>
          </a:xfrm>
          <a:prstGeom prst="rect">
            <a:avLst/>
          </a:prstGeom>
          <a:noFill/>
          <a:ln/>
        </p:spPr>
        <p:txBody>
          <a:bodyPr wrap="square" lIns="0" tIns="0" rIns="0" bIns="0" rtlCol="0" anchor="ctr"/>
          <a:lstStyle/>
          <a:p>
            <a:pPr algn="ctr" indent="0" marL="0">
              <a:buNone/>
            </a:pPr>
            <a:endParaRPr lang="en-US" sz="1500" dirty="0"/>
          </a:p>
        </p:txBody>
      </p:sp>
      <p:sp>
        <p:nvSpPr>
          <p:cNvPr id="12" name="Text 9"/>
          <p:cNvSpPr txBox="1"/>
          <p:nvPr/>
        </p:nvSpPr>
        <p:spPr>
          <a:xfrm>
            <a:off x="685800" y="3273552"/>
            <a:ext cx="5852160" cy="548640"/>
          </a:xfrm>
          <a:prstGeom prst="rect">
            <a:avLst/>
          </a:prstGeom>
          <a:noFill/>
          <a:ln/>
        </p:spPr>
        <p:txBody>
          <a:bodyPr wrap="square" lIns="0" tIns="0" rIns="0" bIns="0" rtlCol="0" anchor="ctr"/>
          <a:lstStyle/>
          <a:p>
            <a:pPr indent="0" marL="0">
              <a:buNone/>
            </a:pPr>
            <a:r>
              <a:rPr lang="en-US" sz="1500" b="1" dirty="0">
                <a:solidFill>
                  <a:schemeClr val="accent3"/>
                </a:solidFill>
              </a:rPr>
              <a:t>15.9 GB: no room for activations</a:t>
            </a:r>
            <a:endParaRPr lang="en-US" sz="1500" dirty="0"/>
          </a:p>
        </p:txBody>
      </p:sp>
      <p:sp>
        <p:nvSpPr>
          <p:cNvPr id="13" name="Text 10"/>
          <p:cNvSpPr txBox="1"/>
          <p:nvPr/>
        </p:nvSpPr>
        <p:spPr>
          <a:xfrm>
            <a:off x="548640" y="4069080"/>
            <a:ext cx="6035040" cy="320040"/>
          </a:xfrm>
          <a:prstGeom prst="rect">
            <a:avLst/>
          </a:prstGeom>
          <a:noFill/>
          <a:ln/>
        </p:spPr>
        <p:txBody>
          <a:bodyPr wrap="square" lIns="0" tIns="0" rIns="0" bIns="0" rtlCol="0" anchor="t"/>
          <a:lstStyle/>
          <a:p>
            <a:pPr indent="0" marL="0">
              <a:buNone/>
            </a:pPr>
            <a:r>
              <a:rPr lang="en-US" sz="1400" dirty="0">
                <a:solidFill>
                  <a:schemeClr val="tx2"/>
                </a:solidFill>
              </a:rPr>
              <a:t>QLoRA, 4-bit base</a:t>
            </a:r>
            <a:endParaRPr lang="en-US" sz="1400" dirty="0"/>
          </a:p>
        </p:txBody>
      </p:sp>
      <p:sp>
        <p:nvSpPr>
          <p:cNvPr id="14" name="quant "/>
          <p:cNvSpPr/>
          <p:nvPr/>
        </p:nvSpPr>
        <p:spPr>
          <a:xfrm>
            <a:off x="548640" y="4416552"/>
            <a:ext cx="3157080" cy="548640"/>
          </a:xfrm>
          <a:prstGeom prst="rect">
            <a:avLst/>
          </a:prstGeom>
          <a:solidFill>
            <a:srgbClr val="DCEFF0"/>
          </a:solidFill>
          <a:ln w="15875">
            <a:solidFill>
              <a:schemeClr val="accent1"/>
            </a:solidFill>
            <a:prstDash val="solid"/>
          </a:ln>
        </p:spPr>
      </p:sp>
      <p:sp>
        <p:nvSpPr>
          <p:cNvPr id="15" name="Text 12"/>
          <p:cNvSpPr txBox="1"/>
          <p:nvPr/>
        </p:nvSpPr>
        <p:spPr>
          <a:xfrm>
            <a:off x="548640" y="4416552"/>
            <a:ext cx="3157080" cy="548640"/>
          </a:xfrm>
          <a:prstGeom prst="rect">
            <a:avLst/>
          </a:prstGeom>
          <a:noFill/>
          <a:ln/>
        </p:spPr>
        <p:txBody>
          <a:bodyPr wrap="square" lIns="0" tIns="0" rIns="0" bIns="0" rtlCol="0" anchor="ctr"/>
          <a:lstStyle/>
          <a:p>
            <a:pPr algn="ctr" indent="0" marL="0">
              <a:buNone/>
            </a:pPr>
            <a:endParaRPr lang="en-US" sz="1500" dirty="0"/>
          </a:p>
        </p:txBody>
      </p:sp>
      <p:sp>
        <p:nvSpPr>
          <p:cNvPr id="16" name="Text 13"/>
          <p:cNvSpPr txBox="1"/>
          <p:nvPr/>
        </p:nvSpPr>
        <p:spPr>
          <a:xfrm>
            <a:off x="685800" y="4416552"/>
            <a:ext cx="5852160" cy="548640"/>
          </a:xfrm>
          <a:prstGeom prst="rect">
            <a:avLst/>
          </a:prstGeom>
          <a:noFill/>
          <a:ln/>
        </p:spPr>
        <p:txBody>
          <a:bodyPr wrap="square" lIns="0" tIns="0" rIns="0" bIns="0" rtlCol="0" anchor="ctr"/>
          <a:lstStyle/>
          <a:p>
            <a:pPr indent="0" marL="0">
              <a:buNone/>
            </a:pPr>
            <a:r>
              <a:rPr lang="en-US" sz="1500" b="1" dirty="0">
                <a:solidFill>
                  <a:schemeClr val="tx1"/>
                </a:solidFill>
              </a:rPr>
              <a:t>8.4 GB: room left for activations</a:t>
            </a:r>
            <a:endParaRPr lang="en-US" sz="1500" dirty="0"/>
          </a:p>
        </p:txBody>
      </p:sp>
      <p:sp>
        <p:nvSpPr>
          <p:cNvPr id="17" name="idea"/>
          <p:cNvSpPr/>
          <p:nvPr/>
        </p:nvSpPr>
        <p:spPr>
          <a:xfrm>
            <a:off x="548640" y="5349240"/>
            <a:ext cx="6035040" cy="822960"/>
          </a:xfrm>
          <a:prstGeom prst="roundRect">
            <a:avLst>
              <a:gd name="adj" fmla="val 13333"/>
            </a:avLst>
          </a:prstGeom>
          <a:solidFill>
            <a:schemeClr val="accent5"/>
          </a:solidFill>
          <a:ln w="12700">
            <a:solidFill>
              <a:schemeClr val="accent5"/>
            </a:solidFill>
            <a:prstDash val="solid"/>
          </a:ln>
        </p:spPr>
      </p:sp>
      <p:sp>
        <p:nvSpPr>
          <p:cNvPr id="18" name="Text 15"/>
          <p:cNvSpPr txBox="1"/>
          <p:nvPr/>
        </p:nvSpPr>
        <p:spPr>
          <a:xfrm>
            <a:off x="777240" y="5349240"/>
            <a:ext cx="5577840" cy="822960"/>
          </a:xfrm>
          <a:prstGeom prst="rect">
            <a:avLst/>
          </a:prstGeom>
          <a:noFill/>
          <a:ln/>
        </p:spPr>
        <p:txBody>
          <a:bodyPr wrap="square" lIns="0" tIns="0" rIns="0" bIns="0" rtlCol="0" anchor="ctr"/>
          <a:lstStyle/>
          <a:p>
            <a:pPr indent="0" marL="0">
              <a:buNone/>
            </a:pPr>
            <a:r>
              <a:rPr lang="en-US" sz="1500" b="1" dirty="0">
                <a:solidFill>
                  <a:schemeClr val="tx1"/>
                </a:solidFill>
              </a:rPr>
              <a:t>The frozen weights must shrink. </a:t>
            </a:r>
            <a:r>
              <a:rPr lang="en-US" sz="1500" dirty="0">
                <a:solidFill>
                  <a:schemeClr val="tx1"/>
                </a:solidFill>
              </a:rPr>
              <a:t>Quantization stores them with fewer bits; QLoRA trains LoRA on top.</a:t>
            </a:r>
            <a:endParaRPr lang="en-US" sz="1500" dirty="0"/>
          </a:p>
        </p:txBody>
      </p:sp>
      <p:sp>
        <p:nvSpPr>
          <p:cNvPr id="19" name="Text 16"/>
          <p:cNvSpPr txBox="1"/>
          <p:nvPr/>
        </p:nvSpPr>
        <p:spPr>
          <a:xfrm>
            <a:off x="6949440" y="1280160"/>
            <a:ext cx="4663440" cy="365760"/>
          </a:xfrm>
          <a:prstGeom prst="rect">
            <a:avLst/>
          </a:prstGeom>
          <a:noFill/>
          <a:ln/>
        </p:spPr>
        <p:txBody>
          <a:bodyPr wrap="square" lIns="0" tIns="0" rIns="0" bIns="0" rtlCol="0" anchor="t"/>
          <a:lstStyle/>
          <a:p>
            <a:pPr indent="0" marL="0">
              <a:buNone/>
            </a:pPr>
            <a:r>
              <a:rPr lang="en-US" sz="1600" b="1" dirty="0">
                <a:solidFill>
                  <a:schemeClr val="tx1"/>
                </a:solidFill>
              </a:rPr>
              <a:t>The questions for today</a:t>
            </a:r>
            <a:endParaRPr lang="en-US" sz="1600" dirty="0"/>
          </a:p>
        </p:txBody>
      </p:sp>
      <p:sp>
        <p:nvSpPr>
          <p:cNvPr id="20" name="Will this model fit?"/>
          <p:cNvSpPr/>
          <p:nvPr/>
        </p:nvSpPr>
        <p:spPr>
          <a:xfrm>
            <a:off x="6949440" y="1783080"/>
            <a:ext cx="4663440" cy="960120"/>
          </a:xfrm>
          <a:prstGeom prst="roundRect">
            <a:avLst>
              <a:gd name="adj" fmla="val 11429"/>
            </a:avLst>
          </a:prstGeom>
          <a:solidFill>
            <a:schemeClr val="bg2"/>
          </a:solidFill>
          <a:ln w="12700">
            <a:solidFill>
              <a:schemeClr val="bg2"/>
            </a:solidFill>
            <a:prstDash val="solid"/>
          </a:ln>
        </p:spPr>
      </p:sp>
      <p:sp>
        <p:nvSpPr>
          <p:cNvPr id="21" name="Shape 18"/>
          <p:cNvSpPr/>
          <p:nvPr/>
        </p:nvSpPr>
        <p:spPr>
          <a:xfrm>
            <a:off x="7132320" y="2011680"/>
            <a:ext cx="502920" cy="502920"/>
          </a:xfrm>
          <a:prstGeom prst="ellipse">
            <a:avLst/>
          </a:prstGeom>
          <a:solidFill>
            <a:schemeClr val="accent1"/>
          </a:solidFill>
          <a:ln w="12700">
            <a:solidFill>
              <a:schemeClr val="accent1"/>
            </a:solidFill>
            <a:prstDash val="solid"/>
          </a:ln>
        </p:spPr>
      </p:sp>
      <p:sp>
        <p:nvSpPr>
          <p:cNvPr id="22" name="Text 19"/>
          <p:cNvSpPr txBox="1"/>
          <p:nvPr/>
        </p:nvSpPr>
        <p:spPr>
          <a:xfrm>
            <a:off x="7132320" y="20116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23" name="Text 20"/>
          <p:cNvSpPr txBox="1"/>
          <p:nvPr/>
        </p:nvSpPr>
        <p:spPr>
          <a:xfrm>
            <a:off x="7818120" y="1783080"/>
            <a:ext cx="3657600" cy="960120"/>
          </a:xfrm>
          <a:prstGeom prst="rect">
            <a:avLst/>
          </a:prstGeom>
          <a:noFill/>
          <a:ln/>
        </p:spPr>
        <p:txBody>
          <a:bodyPr wrap="square" lIns="0" tIns="0" rIns="0" bIns="0" rtlCol="0" anchor="ctr"/>
          <a:lstStyle/>
          <a:p>
            <a:pPr indent="0" marL="0">
              <a:buNone/>
            </a:pPr>
            <a:r>
              <a:rPr lang="en-US" sz="1500" b="1" dirty="0">
                <a:solidFill>
                  <a:schemeClr val="tx1"/>
                </a:solidFill>
              </a:rPr>
              <a:t>Will this model fit?</a:t>
            </a:r>
            <a:endParaRPr lang="en-US" sz="1500" dirty="0"/>
          </a:p>
          <a:p>
            <a:pPr indent="0" marL="0">
              <a:buNone/>
            </a:pPr>
            <a:r>
              <a:rPr lang="en-US" sz="1500" dirty="0">
                <a:solidFill>
                  <a:schemeClr val="tx2"/>
                </a:solidFill>
              </a:rPr>
              <a:t>a memory budget you can do on paper</a:t>
            </a:r>
            <a:endParaRPr lang="en-US" sz="1500" dirty="0"/>
          </a:p>
        </p:txBody>
      </p:sp>
      <p:sp>
        <p:nvSpPr>
          <p:cNvPr id="24" name="What do I lose?"/>
          <p:cNvSpPr/>
          <p:nvPr/>
        </p:nvSpPr>
        <p:spPr>
          <a:xfrm>
            <a:off x="6949440" y="2880360"/>
            <a:ext cx="4663440" cy="960120"/>
          </a:xfrm>
          <a:prstGeom prst="roundRect">
            <a:avLst>
              <a:gd name="adj" fmla="val 11429"/>
            </a:avLst>
          </a:prstGeom>
          <a:solidFill>
            <a:schemeClr val="bg2"/>
          </a:solidFill>
          <a:ln w="12700">
            <a:solidFill>
              <a:schemeClr val="bg2"/>
            </a:solidFill>
            <a:prstDash val="solid"/>
          </a:ln>
        </p:spPr>
      </p:sp>
      <p:sp>
        <p:nvSpPr>
          <p:cNvPr id="25" name="Shape 22"/>
          <p:cNvSpPr/>
          <p:nvPr/>
        </p:nvSpPr>
        <p:spPr>
          <a:xfrm>
            <a:off x="7132320" y="3108960"/>
            <a:ext cx="502920" cy="502920"/>
          </a:xfrm>
          <a:prstGeom prst="ellipse">
            <a:avLst/>
          </a:prstGeom>
          <a:solidFill>
            <a:schemeClr val="accent4"/>
          </a:solidFill>
          <a:ln w="12700">
            <a:solidFill>
              <a:schemeClr val="accent4"/>
            </a:solidFill>
            <a:prstDash val="solid"/>
          </a:ln>
        </p:spPr>
      </p:sp>
      <p:sp>
        <p:nvSpPr>
          <p:cNvPr id="26" name="Text 23"/>
          <p:cNvSpPr txBox="1"/>
          <p:nvPr/>
        </p:nvSpPr>
        <p:spPr>
          <a:xfrm>
            <a:off x="7132320" y="31089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27" name="Text 24"/>
          <p:cNvSpPr txBox="1"/>
          <p:nvPr/>
        </p:nvSpPr>
        <p:spPr>
          <a:xfrm>
            <a:off x="7818120" y="2880360"/>
            <a:ext cx="3657600" cy="960120"/>
          </a:xfrm>
          <a:prstGeom prst="rect">
            <a:avLst/>
          </a:prstGeom>
          <a:noFill/>
          <a:ln/>
        </p:spPr>
        <p:txBody>
          <a:bodyPr wrap="square" lIns="0" tIns="0" rIns="0" bIns="0" rtlCol="0" anchor="ctr"/>
          <a:lstStyle/>
          <a:p>
            <a:pPr indent="0" marL="0">
              <a:buNone/>
            </a:pPr>
            <a:r>
              <a:rPr lang="en-US" sz="1500" b="1" dirty="0">
                <a:solidFill>
                  <a:schemeClr val="tx1"/>
                </a:solidFill>
              </a:rPr>
              <a:t>What do I lose?</a:t>
            </a:r>
            <a:endParaRPr lang="en-US" sz="1500" dirty="0"/>
          </a:p>
          <a:p>
            <a:pPr indent="0" marL="0">
              <a:buNone/>
            </a:pPr>
            <a:r>
              <a:rPr lang="en-US" sz="1500" dirty="0">
                <a:solidFill>
                  <a:schemeClr val="tx2"/>
                </a:solidFill>
              </a:rPr>
              <a:t>rounding error, and why blocks matter</a:t>
            </a:r>
            <a:endParaRPr lang="en-US" sz="1500" dirty="0"/>
          </a:p>
        </p:txBody>
      </p:sp>
      <p:sp>
        <p:nvSpPr>
          <p:cNvPr id="28" name="Which format for which job?"/>
          <p:cNvSpPr/>
          <p:nvPr/>
        </p:nvSpPr>
        <p:spPr>
          <a:xfrm>
            <a:off x="6949440" y="3977640"/>
            <a:ext cx="4663440" cy="960120"/>
          </a:xfrm>
          <a:prstGeom prst="roundRect">
            <a:avLst>
              <a:gd name="adj" fmla="val 11429"/>
            </a:avLst>
          </a:prstGeom>
          <a:solidFill>
            <a:schemeClr val="bg2"/>
          </a:solidFill>
          <a:ln w="12700">
            <a:solidFill>
              <a:schemeClr val="bg2"/>
            </a:solidFill>
            <a:prstDash val="solid"/>
          </a:ln>
        </p:spPr>
      </p:sp>
      <p:sp>
        <p:nvSpPr>
          <p:cNvPr id="29" name="Shape 26"/>
          <p:cNvSpPr/>
          <p:nvPr/>
        </p:nvSpPr>
        <p:spPr>
          <a:xfrm>
            <a:off x="7132320" y="4206240"/>
            <a:ext cx="502920" cy="502920"/>
          </a:xfrm>
          <a:prstGeom prst="ellipse">
            <a:avLst/>
          </a:prstGeom>
          <a:solidFill>
            <a:schemeClr val="accent1"/>
          </a:solidFill>
          <a:ln w="12700">
            <a:solidFill>
              <a:schemeClr val="accent1"/>
            </a:solidFill>
            <a:prstDash val="solid"/>
          </a:ln>
        </p:spPr>
      </p:sp>
      <p:sp>
        <p:nvSpPr>
          <p:cNvPr id="30" name="Text 27"/>
          <p:cNvSpPr txBox="1"/>
          <p:nvPr/>
        </p:nvSpPr>
        <p:spPr>
          <a:xfrm>
            <a:off x="7132320" y="4206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31" name="Text 28"/>
          <p:cNvSpPr txBox="1"/>
          <p:nvPr/>
        </p:nvSpPr>
        <p:spPr>
          <a:xfrm>
            <a:off x="7818120" y="3977640"/>
            <a:ext cx="3657600" cy="960120"/>
          </a:xfrm>
          <a:prstGeom prst="rect">
            <a:avLst/>
          </a:prstGeom>
          <a:noFill/>
          <a:ln/>
        </p:spPr>
        <p:txBody>
          <a:bodyPr wrap="square" lIns="0" tIns="0" rIns="0" bIns="0" rtlCol="0" anchor="ctr"/>
          <a:lstStyle/>
          <a:p>
            <a:pPr indent="0" marL="0">
              <a:buNone/>
            </a:pPr>
            <a:r>
              <a:rPr lang="en-US" sz="1500" b="1" dirty="0">
                <a:solidFill>
                  <a:schemeClr val="tx1"/>
                </a:solidFill>
              </a:rPr>
              <a:t>Which format for which job?</a:t>
            </a:r>
            <a:endParaRPr lang="en-US" sz="1500" dirty="0"/>
          </a:p>
          <a:p>
            <a:pPr indent="0" marL="0">
              <a:buNone/>
            </a:pPr>
            <a:r>
              <a:rPr lang="en-US" sz="1500" dirty="0">
                <a:solidFill>
                  <a:schemeClr val="tx2"/>
                </a:solidFill>
              </a:rPr>
              <a:t>fine-tuning, GPU serving, or a laptop</a:t>
            </a:r>
            <a:endParaRPr lang="en-US" sz="1500" dirty="0"/>
          </a:p>
        </p:txBody>
      </p:sp>
      <p:sp>
        <p:nvSpPr>
          <p:cNvPr id="32" name="How do I set it up?"/>
          <p:cNvSpPr/>
          <p:nvPr/>
        </p:nvSpPr>
        <p:spPr>
          <a:xfrm>
            <a:off x="6949440" y="5074920"/>
            <a:ext cx="4663440" cy="960120"/>
          </a:xfrm>
          <a:prstGeom prst="roundRect">
            <a:avLst>
              <a:gd name="adj" fmla="val 11429"/>
            </a:avLst>
          </a:prstGeom>
          <a:solidFill>
            <a:schemeClr val="bg2"/>
          </a:solidFill>
          <a:ln w="12700">
            <a:solidFill>
              <a:schemeClr val="bg2"/>
            </a:solidFill>
            <a:prstDash val="solid"/>
          </a:ln>
        </p:spPr>
      </p:sp>
      <p:sp>
        <p:nvSpPr>
          <p:cNvPr id="33" name="Shape 30"/>
          <p:cNvSpPr/>
          <p:nvPr/>
        </p:nvSpPr>
        <p:spPr>
          <a:xfrm>
            <a:off x="7132320" y="5303520"/>
            <a:ext cx="502920" cy="502920"/>
          </a:xfrm>
          <a:prstGeom prst="ellipse">
            <a:avLst/>
          </a:prstGeom>
          <a:solidFill>
            <a:schemeClr val="accent4"/>
          </a:solidFill>
          <a:ln w="12700">
            <a:solidFill>
              <a:schemeClr val="accent4"/>
            </a:solidFill>
            <a:prstDash val="solid"/>
          </a:ln>
        </p:spPr>
      </p:sp>
      <p:sp>
        <p:nvSpPr>
          <p:cNvPr id="34" name="Text 31"/>
          <p:cNvSpPr txBox="1"/>
          <p:nvPr/>
        </p:nvSpPr>
        <p:spPr>
          <a:xfrm>
            <a:off x="7132320" y="53035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35" name="Text 32"/>
          <p:cNvSpPr txBox="1"/>
          <p:nvPr/>
        </p:nvSpPr>
        <p:spPr>
          <a:xfrm>
            <a:off x="7818120" y="5074920"/>
            <a:ext cx="3657600" cy="960120"/>
          </a:xfrm>
          <a:prstGeom prst="rect">
            <a:avLst/>
          </a:prstGeom>
          <a:noFill/>
          <a:ln/>
        </p:spPr>
        <p:txBody>
          <a:bodyPr wrap="square" lIns="0" tIns="0" rIns="0" bIns="0" rtlCol="0" anchor="ctr"/>
          <a:lstStyle/>
          <a:p>
            <a:pPr indent="0" marL="0">
              <a:buNone/>
            </a:pPr>
            <a:r>
              <a:rPr lang="en-US" sz="1500" b="1" dirty="0">
                <a:solidFill>
                  <a:schemeClr val="tx1"/>
                </a:solidFill>
              </a:rPr>
              <a:t>How do I set it up?</a:t>
            </a:r>
            <a:endParaRPr lang="en-US" sz="1500" dirty="0"/>
          </a:p>
          <a:p>
            <a:pPr indent="0" marL="0">
              <a:buNone/>
            </a:pPr>
            <a:r>
              <a:rPr lang="en-US" sz="1500" dirty="0">
                <a:solidFill>
                  <a:schemeClr val="tx2"/>
                </a:solidFill>
              </a:rPr>
              <a:t>the QLoRA recipe, and what can go wrong</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 memory budget you can do on paper</a:t>
            </a:r>
            <a:endParaRPr lang="en-US" sz="3200" dirty="0"/>
          </a:p>
        </p:txBody>
      </p:sp>
      <p:sp>
        <p:nvSpPr>
          <p:cNvPr id="4" name="formula"/>
          <p:cNvSpPr/>
          <p:nvPr/>
        </p:nvSpPr>
        <p:spPr>
          <a:xfrm>
            <a:off x="548640" y="1280160"/>
            <a:ext cx="11064240" cy="868680"/>
          </a:xfrm>
          <a:prstGeom prst="roundRect">
            <a:avLst>
              <a:gd name="adj" fmla="val 12632"/>
            </a:avLst>
          </a:prstGeom>
          <a:solidFill>
            <a:schemeClr val="tx1"/>
          </a:solidFill>
          <a:ln w="12700">
            <a:solidFill>
              <a:schemeClr val="tx1"/>
            </a:solidFill>
            <a:prstDash val="solid"/>
          </a:ln>
        </p:spPr>
      </p:sp>
      <p:sp>
        <p:nvSpPr>
          <p:cNvPr id="5" name="Text 2"/>
          <p:cNvSpPr txBox="1"/>
          <p:nvPr/>
        </p:nvSpPr>
        <p:spPr>
          <a:xfrm>
            <a:off x="822960" y="1280160"/>
            <a:ext cx="10515600" cy="868680"/>
          </a:xfrm>
          <a:prstGeom prst="rect">
            <a:avLst/>
          </a:prstGeom>
          <a:noFill/>
          <a:ln/>
        </p:spPr>
        <p:txBody>
          <a:bodyPr wrap="square" lIns="0" tIns="0" rIns="0" bIns="0" rtlCol="0" anchor="ctr"/>
          <a:lstStyle/>
          <a:p>
            <a:pPr indent="0" marL="0">
              <a:buNone/>
            </a:pPr>
            <a:r>
              <a:rPr lang="en-US" sz="2400" dirty="0">
                <a:solidFill>
                  <a:schemeClr val="bg1"/>
                </a:solidFill>
                <a:latin typeface="Cambria" pitchFamily="34" charset="0"/>
                <a:ea typeface="Cambria" pitchFamily="34" charset="-122"/>
                <a:cs typeface="Cambria" pitchFamily="34" charset="-120"/>
              </a:rPr>
              <a:t>memory  ≈  parameters × bytes per parameter  +  </a:t>
            </a:r>
            <a:r>
              <a:rPr lang="en-US" sz="2400" dirty="0">
                <a:solidFill>
                  <a:schemeClr val="accent2"/>
                </a:solidFill>
                <a:latin typeface="Cambria" pitchFamily="34" charset="0"/>
                <a:ea typeface="Cambria" pitchFamily="34" charset="-122"/>
                <a:cs typeface="Cambria" pitchFamily="34" charset="-120"/>
              </a:rPr>
              <a:t>activations and overhead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423160"/>
          <a:ext cx="5212080" cy="914400"/>
        </p:xfrm>
        <a:graphic>
          <a:graphicData uri="http://schemas.openxmlformats.org/drawingml/2006/table">
            <a:tbl>
              <a:tblPr/>
              <a:tblGrid>
                <a:gridCol w="2194560"/>
                <a:gridCol w="1371600"/>
                <a:gridCol w="1645920"/>
              </a:tblGrid>
              <a:tr h="438912">
                <a:tc>
                  <a:txBody>
                    <a:bodyPr/>
                    <a:lstStyle/>
                    <a:p>
                      <a:pPr indent="0" marL="0">
                        <a:buNone/>
                      </a:pPr>
                      <a:r>
                        <a:rPr lang="en-US" sz="1400" b="1" dirty="0">
                          <a:solidFill>
                            <a:schemeClr val="bg1"/>
                          </a:solidFill>
                        </a:rPr>
                        <a:t>Storage format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Bytes / parameter</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Used for</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438912">
                <a:tc>
                  <a:txBody>
                    <a:bodyPr/>
                    <a:lstStyle/>
                    <a:p>
                      <a:pPr indent="0" marL="0">
                        <a:buNone/>
                      </a:pPr>
                      <a:r>
                        <a:rPr lang="en-US" sz="1400" dirty="0">
                          <a:solidFill>
                            <a:schemeClr val="tx1"/>
                          </a:solidFill>
                        </a:rPr>
                        <a:t>fp32</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optimizer state, master weights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rPr>
                        <a:t>fp16 / bf16</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inference and LoRA training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38912">
                <a:tc>
                  <a:txBody>
                    <a:bodyPr/>
                    <a:lstStyle/>
                    <a:p>
                      <a:pPr indent="0" marL="0">
                        <a:buNone/>
                      </a:pPr>
                      <a:r>
                        <a:rPr lang="en-US" sz="1400" dirty="0">
                          <a:solidFill>
                            <a:schemeClr val="tx1"/>
                          </a:solidFill>
                        </a:rPr>
                        <a:t>int8</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8-bit quantization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38912">
                <a:tc>
                  <a:txBody>
                    <a:bodyPr/>
                    <a:lstStyle/>
                    <a:p>
                      <a:pPr indent="0" marL="0">
                        <a:buNone/>
                      </a:pPr>
                      <a:r>
                        <a:rPr lang="en-US" sz="1400" b="1" dirty="0">
                          <a:solidFill>
                            <a:schemeClr val="accent1"/>
                          </a:solidFill>
                        </a:rPr>
                        <a:t>4-bit (NF4, GPTQ, AWQ, …)</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about 0.5</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4-bit quantization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bl>
          </a:graphicData>
        </a:graphic>
      </p:graphicFrame>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035040" y="2423160"/>
          <a:ext cx="5577840" cy="914400"/>
        </p:xfrm>
        <a:graphic>
          <a:graphicData uri="http://schemas.openxmlformats.org/drawingml/2006/table">
            <a:tbl>
              <a:tblPr/>
              <a:tblGrid>
                <a:gridCol w="1600200"/>
                <a:gridCol w="3977640"/>
              </a:tblGrid>
              <a:tr h="438912">
                <a:tc>
                  <a:txBody>
                    <a:bodyPr/>
                    <a:lstStyle/>
                    <a:p>
                      <a:pPr indent="0" marL="0">
                        <a:buNone/>
                      </a:pPr>
                      <a:r>
                        <a:rPr lang="en-US" sz="1400" b="1" dirty="0">
                          <a:solidFill>
                            <a:schemeClr val="bg1"/>
                          </a:solidFill>
                        </a:rPr>
                        <a:t>Job</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In memory, before activations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438912">
                <a:tc>
                  <a:txBody>
                    <a:bodyPr/>
                    <a:lstStyle/>
                    <a:p>
                      <a:pPr indent="0" marL="0">
                        <a:buNone/>
                      </a:pPr>
                      <a:r>
                        <a:rPr lang="en-US" sz="1400" b="1" dirty="0">
                          <a:solidFill>
                            <a:schemeClr val="tx1"/>
                          </a:solidFill>
                        </a:rPr>
                        <a:t>Inference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weights + the KV cache (grows with batch × sequence length)</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38912">
                <a:tc>
                  <a:txBody>
                    <a:bodyPr/>
                    <a:lstStyle/>
                    <a:p>
                      <a:pPr indent="0" marL="0">
                        <a:buNone/>
                      </a:pPr>
                      <a:r>
                        <a:rPr lang="en-US" sz="1400" b="1" dirty="0">
                          <a:solidFill>
                            <a:schemeClr val="tx1"/>
                          </a:solidFill>
                        </a:rPr>
                        <a:t>Full fine-tuning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16 bytes per parameter</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38912">
                <a:tc>
                  <a:txBody>
                    <a:bodyPr/>
                    <a:lstStyle/>
                    <a:p>
                      <a:pPr indent="0" marL="0">
                        <a:buNone/>
                      </a:pPr>
                      <a:r>
                        <a:rPr lang="en-US" sz="1400" b="1" dirty="0">
                          <a:solidFill>
                            <a:schemeClr val="accent4"/>
                          </a:solidFill>
                        </a:rPr>
                        <a:t>LoRA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 bytes per frozen parameter + 16 per adapter parameter</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38912">
                <a:tc>
                  <a:txBody>
                    <a:bodyPr/>
                    <a:lstStyle/>
                    <a:p>
                      <a:pPr indent="0" marL="0">
                        <a:buNone/>
                      </a:pPr>
                      <a:r>
                        <a:rPr lang="en-US" sz="1400" b="1" dirty="0">
                          <a:solidFill>
                            <a:schemeClr val="accent1"/>
                          </a:solidFill>
                        </a:rPr>
                        <a:t>QLoRA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4-bit frozen weights + 16 per adapter parameter</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bl>
          </a:graphicData>
        </a:graphic>
      </p:graphicFrame>
      <p:sp>
        <p:nvSpPr>
          <p:cNvPr id="8" name="not quantized"/>
          <p:cNvSpPr/>
          <p:nvPr/>
        </p:nvSpPr>
        <p:spPr>
          <a:xfrm>
            <a:off x="548640" y="4892040"/>
            <a:ext cx="11064240" cy="1280160"/>
          </a:xfrm>
          <a:prstGeom prst="roundRect">
            <a:avLst>
              <a:gd name="adj" fmla="val 8571"/>
            </a:avLst>
          </a:prstGeom>
          <a:solidFill>
            <a:schemeClr val="accent5"/>
          </a:solidFill>
          <a:ln w="12700">
            <a:solidFill>
              <a:schemeClr val="accent5"/>
            </a:solidFill>
            <a:prstDash val="solid"/>
          </a:ln>
        </p:spPr>
      </p:sp>
      <p:sp>
        <p:nvSpPr>
          <p:cNvPr id="9" name="Text 4"/>
          <p:cNvSpPr txBox="1"/>
          <p:nvPr/>
        </p:nvSpPr>
        <p:spPr>
          <a:xfrm>
            <a:off x="777240" y="4892040"/>
            <a:ext cx="10607040" cy="1280160"/>
          </a:xfrm>
          <a:prstGeom prst="rect">
            <a:avLst/>
          </a:prstGeom>
          <a:noFill/>
          <a:ln/>
        </p:spPr>
        <p:txBody>
          <a:bodyPr wrap="square" lIns="0" tIns="0" rIns="0" bIns="0" rtlCol="0" anchor="ctr"/>
          <a:lstStyle/>
          <a:p>
            <a:pPr indent="0" marL="0">
              <a:buNone/>
            </a:pPr>
            <a:r>
              <a:rPr lang="en-US" sz="1500" b="1" dirty="0">
                <a:solidFill>
                  <a:schemeClr val="tx1"/>
                </a:solidFill>
              </a:rPr>
              <a:t>Not everything is quantized. </a:t>
            </a:r>
            <a:r>
              <a:rPr lang="en-US" sz="1500" dirty="0">
                <a:solidFill>
                  <a:schemeClr val="tx1"/>
                </a:solidFill>
                <a:latin typeface="Courier New" pitchFamily="34" charset="0"/>
                <a:ea typeface="Courier New" pitchFamily="34" charset="-122"/>
                <a:cs typeface="Courier New" pitchFamily="34" charset="-120"/>
              </a:rPr>
              <a:t>bitsandbytes</a:t>
            </a:r>
            <a:r>
              <a:rPr lang="en-US" sz="1500" dirty="0">
                <a:solidFill>
                  <a:schemeClr val="tx1"/>
                </a:solidFill>
              </a:rPr>
              <a:t> quantizes only the linear layers inside the decoder blocks. The token embedding table and the output head stay 16-bit: in Qwen2.5-1.5B the embedding table is 233M of the 1.54B parameters.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What fits on a 16 GB T4</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cells 3, 4</a:t>
            </a:r>
            <a:endParaRPr lang="en-US" sz="1400" dirty="0"/>
          </a:p>
        </p:txBody>
      </p:sp>
      <p:graphicFrame>
        <p:nvGraphicFramePr>
          <p:cNvPr id="6" name="Chart 0" descr=""/>
          <p:cNvGraphicFramePr/>
          <p:nvPr/>
        </p:nvGraphicFramePr>
        <p:xfrm>
          <a:off x="548640" y="1234440"/>
          <a:ext cx="6949440" cy="493776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7818120" y="1280160"/>
            <a:ext cx="3794760" cy="365760"/>
          </a:xfrm>
          <a:prstGeom prst="rect">
            <a:avLst/>
          </a:prstGeom>
          <a:noFill/>
          <a:ln/>
        </p:spPr>
        <p:txBody>
          <a:bodyPr wrap="square" lIns="0" tIns="0" rIns="0" bIns="0" rtlCol="0" anchor="t"/>
          <a:lstStyle/>
          <a:p>
            <a:pPr indent="0" marL="0">
              <a:buNone/>
            </a:pPr>
            <a:r>
              <a:rPr lang="en-US" sz="1600" b="1" dirty="0">
                <a:solidFill>
                  <a:schemeClr val="tx1"/>
                </a:solidFill>
              </a:rPr>
              <a:t>Qwen2.5-7B on a 16 GB T4</a:t>
            </a:r>
            <a:endParaRPr lang="en-US" sz="1600" dirty="0"/>
          </a:p>
        </p:txBody>
      </p:sp>
      <p:sp>
        <p:nvSpPr>
          <p:cNvPr id="8" name="LoRA"/>
          <p:cNvSpPr/>
          <p:nvPr/>
        </p:nvSpPr>
        <p:spPr>
          <a:xfrm>
            <a:off x="7818120" y="1737360"/>
            <a:ext cx="3794760" cy="1097280"/>
          </a:xfrm>
          <a:prstGeom prst="roundRect">
            <a:avLst>
              <a:gd name="adj" fmla="val 10000"/>
            </a:avLst>
          </a:prstGeom>
          <a:solidFill>
            <a:schemeClr val="accent6"/>
          </a:solidFill>
          <a:ln w="12700">
            <a:solidFill>
              <a:schemeClr val="accent6"/>
            </a:solidFill>
            <a:prstDash val="solid"/>
          </a:ln>
        </p:spPr>
      </p:sp>
      <p:sp>
        <p:nvSpPr>
          <p:cNvPr id="9" name="Text 5"/>
          <p:cNvSpPr txBox="1"/>
          <p:nvPr/>
        </p:nvSpPr>
        <p:spPr>
          <a:xfrm>
            <a:off x="8001000" y="1737360"/>
            <a:ext cx="3474720" cy="1097280"/>
          </a:xfrm>
          <a:prstGeom prst="rect">
            <a:avLst/>
          </a:prstGeom>
          <a:noFill/>
          <a:ln/>
        </p:spPr>
        <p:txBody>
          <a:bodyPr wrap="square" lIns="0" tIns="0" rIns="0" bIns="0" rtlCol="0" anchor="ctr"/>
          <a:lstStyle/>
          <a:p>
            <a:pPr indent="0" marL="0">
              <a:buNone/>
            </a:pPr>
            <a:r>
              <a:rPr lang="en-US" sz="1600" b="1" dirty="0">
                <a:solidFill>
                  <a:schemeClr val="tx1"/>
                </a:solidFill>
              </a:rPr>
              <a:t>LoRA  </a:t>
            </a:r>
            <a:r>
              <a:rPr lang="en-US" sz="2400" b="1" dirty="0">
                <a:solidFill>
                  <a:schemeClr val="accent3"/>
                </a:solidFill>
                <a:latin typeface="Cambria" pitchFamily="34" charset="0"/>
                <a:ea typeface="Cambria" pitchFamily="34" charset="-122"/>
                <a:cs typeface="Cambria" pitchFamily="34" charset="-120"/>
              </a:rPr>
              <a:t>15.9 GB</a:t>
            </a:r>
            <a:endParaRPr lang="en-US" sz="1400" dirty="0"/>
          </a:p>
          <a:p>
            <a:pPr indent="0" marL="0">
              <a:buNone/>
            </a:pPr>
            <a:r>
              <a:rPr lang="en-US" sz="1400" dirty="0">
                <a:solidFill>
                  <a:schemeClr val="tx2"/>
                </a:solidFill>
              </a:rPr>
              <a:t>does not fit with activations</a:t>
            </a:r>
            <a:endParaRPr lang="en-US" sz="1400" dirty="0"/>
          </a:p>
        </p:txBody>
      </p:sp>
      <p:sp>
        <p:nvSpPr>
          <p:cNvPr id="10" name="QLoRA"/>
          <p:cNvSpPr/>
          <p:nvPr/>
        </p:nvSpPr>
        <p:spPr>
          <a:xfrm>
            <a:off x="7818120" y="2971800"/>
            <a:ext cx="3794760" cy="1097280"/>
          </a:xfrm>
          <a:prstGeom prst="roundRect">
            <a:avLst>
              <a:gd name="adj" fmla="val 10000"/>
            </a:avLst>
          </a:prstGeom>
          <a:solidFill>
            <a:srgbClr val="DCEFF0"/>
          </a:solidFill>
          <a:ln w="12700">
            <a:solidFill>
              <a:srgbClr val="DCEFF0"/>
            </a:solidFill>
            <a:prstDash val="solid"/>
          </a:ln>
        </p:spPr>
      </p:sp>
      <p:sp>
        <p:nvSpPr>
          <p:cNvPr id="11" name="Text 7"/>
          <p:cNvSpPr txBox="1"/>
          <p:nvPr/>
        </p:nvSpPr>
        <p:spPr>
          <a:xfrm>
            <a:off x="8001000" y="2971800"/>
            <a:ext cx="3474720" cy="1097280"/>
          </a:xfrm>
          <a:prstGeom prst="rect">
            <a:avLst/>
          </a:prstGeom>
          <a:noFill/>
          <a:ln/>
        </p:spPr>
        <p:txBody>
          <a:bodyPr wrap="square" lIns="0" tIns="0" rIns="0" bIns="0" rtlCol="0" anchor="ctr"/>
          <a:lstStyle/>
          <a:p>
            <a:pPr indent="0" marL="0">
              <a:buNone/>
            </a:pPr>
            <a:r>
              <a:rPr lang="en-US" sz="1600" b="1" dirty="0">
                <a:solidFill>
                  <a:schemeClr val="tx1"/>
                </a:solidFill>
              </a:rPr>
              <a:t>QLoRA  </a:t>
            </a:r>
            <a:r>
              <a:rPr lang="en-US" sz="2400" b="1" dirty="0">
                <a:solidFill>
                  <a:schemeClr val="accent1"/>
                </a:solidFill>
                <a:latin typeface="Cambria" pitchFamily="34" charset="0"/>
                <a:ea typeface="Cambria" pitchFamily="34" charset="-122"/>
                <a:cs typeface="Cambria" pitchFamily="34" charset="-120"/>
              </a:rPr>
              <a:t>8.4 GB</a:t>
            </a:r>
            <a:endParaRPr lang="en-US" sz="1400" dirty="0"/>
          </a:p>
          <a:p>
            <a:pPr indent="0" marL="0">
              <a:buNone/>
            </a:pPr>
            <a:r>
              <a:rPr lang="en-US" sz="1400" dirty="0">
                <a:solidFill>
                  <a:schemeClr val="tx2"/>
                </a:solidFill>
              </a:rPr>
              <a:t>leaves about 7.6 GB for activations</a:t>
            </a:r>
            <a:endParaRPr lang="en-US" sz="1400" dirty="0"/>
          </a:p>
        </p:txBody>
      </p:sp>
      <p:sp>
        <p:nvSpPr>
          <p:cNvPr id="12" name="not in chart"/>
          <p:cNvSpPr/>
          <p:nvPr/>
        </p:nvSpPr>
        <p:spPr>
          <a:xfrm>
            <a:off x="7818120" y="4343400"/>
            <a:ext cx="3794760" cy="1828800"/>
          </a:xfrm>
          <a:prstGeom prst="roundRect">
            <a:avLst>
              <a:gd name="adj" fmla="val 6000"/>
            </a:avLst>
          </a:prstGeom>
          <a:solidFill>
            <a:schemeClr val="bg2"/>
          </a:solidFill>
          <a:ln w="12700">
            <a:solidFill>
              <a:schemeClr val="bg2"/>
            </a:solidFill>
            <a:prstDash val="solid"/>
          </a:ln>
        </p:spPr>
      </p:sp>
      <p:sp>
        <p:nvSpPr>
          <p:cNvPr id="13" name="Text 9"/>
          <p:cNvSpPr txBox="1"/>
          <p:nvPr/>
        </p:nvSpPr>
        <p:spPr>
          <a:xfrm>
            <a:off x="8001000" y="4434840"/>
            <a:ext cx="3474720" cy="1645920"/>
          </a:xfrm>
          <a:prstGeom prst="rect">
            <a:avLst/>
          </a:prstGeom>
          <a:noFill/>
          <a:ln/>
        </p:spPr>
        <p:txBody>
          <a:bodyPr wrap="square" lIns="0" tIns="0" rIns="0" bIns="0" rtlCol="0" anchor="ctr"/>
          <a:lstStyle/>
          <a:p>
            <a:pPr marL="228600" indent="-228600">
              <a:spcAft>
                <a:spcPts val="800"/>
              </a:spcAft>
              <a:buSzPct val="100000"/>
              <a:buChar char="•"/>
            </a:pPr>
            <a:r>
              <a:rPr lang="en-US" sz="1400" b="1" dirty="0">
                <a:solidFill>
                  <a:schemeClr val="tx1"/>
                </a:solidFill>
              </a:rPr>
              <a:t>Upcasting costs: </a:t>
            </a:r>
            <a:r>
              <a:rPr lang="en-US" sz="1400" dirty="0">
                <a:solidFill>
                  <a:schemeClr val="tx1"/>
                </a:solidFill>
              </a:rPr>
              <a:t>QLoRA keeps non-quantized parameters in fp32 (7B: 4.4 GB, not 2.2 GB)</a:t>
            </a:r>
            <a:endParaRPr lang="en-US" sz="1400" dirty="0"/>
          </a:p>
          <a:p>
            <a:pPr marL="228600" indent="-228600">
              <a:spcAft>
                <a:spcPts val="800"/>
              </a:spcAft>
              <a:buSzPct val="100000"/>
              <a:buChar char="•"/>
            </a:pPr>
            <a:r>
              <a:rPr lang="en-US" sz="1400" b="1" dirty="0">
                <a:solidFill>
                  <a:schemeClr val="tx1"/>
                </a:solidFill>
              </a:rPr>
              <a:t>Not in the chart: </a:t>
            </a:r>
            <a:r>
              <a:rPr lang="en-US" sz="1400" dirty="0">
                <a:solidFill>
                  <a:schemeClr val="tx1"/>
                </a:solidFill>
              </a:rPr>
              <a:t>activations, and the KV cache at inference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4-bit is not a quarter of the size</a:t>
            </a:r>
            <a:endParaRPr lang="en-US" sz="3200" dirty="0"/>
          </a:p>
        </p:txBody>
      </p:sp>
      <p:sp>
        <p:nvSpPr>
          <p:cNvPr id="4" name="Text 1"/>
          <p:cNvSpPr txBox="1"/>
          <p:nvPr/>
        </p:nvSpPr>
        <p:spPr>
          <a:xfrm>
            <a:off x="548640" y="1280160"/>
            <a:ext cx="7315200" cy="365760"/>
          </a:xfrm>
          <a:prstGeom prst="rect">
            <a:avLst/>
          </a:prstGeom>
          <a:noFill/>
          <a:ln/>
        </p:spPr>
        <p:txBody>
          <a:bodyPr wrap="square" lIns="0" tIns="0" rIns="0" bIns="0" rtlCol="0" anchor="t"/>
          <a:lstStyle/>
          <a:p>
            <a:pPr indent="0" marL="0">
              <a:buNone/>
            </a:pPr>
            <a:r>
              <a:rPr lang="en-US" sz="1600" b="1" dirty="0">
                <a:solidFill>
                  <a:schemeClr val="tx1"/>
                </a:solidFill>
              </a:rPr>
              <a:t>Qwen2.5-1.5B: where the bytes go</a:t>
            </a:r>
            <a:endParaRPr lang="en-US" sz="1600" dirty="0"/>
          </a:p>
        </p:txBody>
      </p:sp>
      <p:sp>
        <p:nvSpPr>
          <p:cNvPr id="5" name="Text 2"/>
          <p:cNvSpPr txBox="1"/>
          <p:nvPr/>
        </p:nvSpPr>
        <p:spPr>
          <a:xfrm>
            <a:off x="548640" y="1828800"/>
            <a:ext cx="1097280" cy="594360"/>
          </a:xfrm>
          <a:prstGeom prst="rect">
            <a:avLst/>
          </a:prstGeom>
          <a:noFill/>
          <a:ln/>
        </p:spPr>
        <p:txBody>
          <a:bodyPr wrap="square" lIns="0" tIns="0" rIns="0" bIns="0" rtlCol="0" anchor="ctr"/>
          <a:lstStyle/>
          <a:p>
            <a:pPr indent="0" marL="0">
              <a:buNone/>
            </a:pPr>
            <a:r>
              <a:rPr lang="en-US" sz="1500" b="1" dirty="0">
                <a:solidFill>
                  <a:schemeClr val="tx1"/>
                </a:solidFill>
              </a:rPr>
              <a:t>16-bit</a:t>
            </a:r>
            <a:endParaRPr lang="en-US" sz="1500" dirty="0"/>
          </a:p>
        </p:txBody>
      </p:sp>
      <p:sp>
        <p:nvSpPr>
          <p:cNvPr id="6" name="frozen decoder linear layers: 1.31B × 2 B = 2.62 GB"/>
          <p:cNvSpPr/>
          <p:nvPr/>
        </p:nvSpPr>
        <p:spPr>
          <a:xfrm>
            <a:off x="1691640" y="1828800"/>
            <a:ext cx="4458070" cy="594360"/>
          </a:xfrm>
          <a:prstGeom prst="rect">
            <a:avLst/>
          </a:prstGeom>
          <a:solidFill>
            <a:schemeClr val="bg2"/>
          </a:solidFill>
          <a:ln w="15875">
            <a:solidFill>
              <a:schemeClr val="tx2"/>
            </a:solidFill>
            <a:prstDash val="solid"/>
          </a:ln>
        </p:spPr>
      </p:sp>
      <p:sp>
        <p:nvSpPr>
          <p:cNvPr id="7" name="Text 4"/>
          <p:cNvSpPr txBox="1"/>
          <p:nvPr/>
        </p:nvSpPr>
        <p:spPr>
          <a:xfrm>
            <a:off x="1691640" y="1828800"/>
            <a:ext cx="4458070" cy="594360"/>
          </a:xfrm>
          <a:prstGeom prst="rect">
            <a:avLst/>
          </a:prstGeom>
          <a:noFill/>
          <a:ln/>
        </p:spPr>
        <p:txBody>
          <a:bodyPr wrap="square" lIns="0" tIns="0" rIns="0" bIns="0" rtlCol="0" anchor="ctr"/>
          <a:lstStyle/>
          <a:p>
            <a:pPr algn="ctr" indent="0" marL="0">
              <a:buNone/>
            </a:pPr>
            <a:r>
              <a:rPr lang="en-US" sz="1300" dirty="0">
                <a:solidFill>
                  <a:schemeClr val="tx1"/>
                </a:solidFill>
              </a:rPr>
              <a:t>decoder linear layers: 1.31B × 2 B = 2.62 GB</a:t>
            </a:r>
            <a:endParaRPr lang="en-US" sz="1300" dirty="0"/>
          </a:p>
        </p:txBody>
      </p:sp>
      <p:sp>
        <p:nvSpPr>
          <p:cNvPr id="8" name="frozen 0.47"/>
          <p:cNvSpPr/>
          <p:nvPr/>
        </p:nvSpPr>
        <p:spPr>
          <a:xfrm>
            <a:off x="6149710" y="1828800"/>
            <a:ext cx="799730" cy="594360"/>
          </a:xfrm>
          <a:prstGeom prst="rect">
            <a:avLst/>
          </a:prstGeom>
          <a:solidFill>
            <a:schemeClr val="bg2"/>
          </a:solidFill>
          <a:ln w="15875">
            <a:solidFill>
              <a:schemeClr val="tx2"/>
            </a:solidFill>
            <a:prstDash val="solid"/>
          </a:ln>
        </p:spPr>
      </p:sp>
      <p:sp>
        <p:nvSpPr>
          <p:cNvPr id="9" name="Text 6"/>
          <p:cNvSpPr txBox="1"/>
          <p:nvPr/>
        </p:nvSpPr>
        <p:spPr>
          <a:xfrm>
            <a:off x="6149710" y="1828800"/>
            <a:ext cx="799730" cy="594360"/>
          </a:xfrm>
          <a:prstGeom prst="rect">
            <a:avLst/>
          </a:prstGeom>
          <a:noFill/>
          <a:ln/>
        </p:spPr>
        <p:txBody>
          <a:bodyPr wrap="square" lIns="0" tIns="0" rIns="0" bIns="0" rtlCol="0" anchor="ctr"/>
          <a:lstStyle/>
          <a:p>
            <a:pPr algn="ctr" indent="0" marL="0">
              <a:buNone/>
            </a:pPr>
            <a:r>
              <a:rPr lang="en-US" sz="1300" dirty="0">
                <a:solidFill>
                  <a:schemeClr val="tx1"/>
                </a:solidFill>
              </a:rPr>
              <a:t>0.47</a:t>
            </a:r>
            <a:endParaRPr lang="en-US" sz="1300" dirty="0"/>
          </a:p>
        </p:txBody>
      </p:sp>
      <p:sp>
        <p:nvSpPr>
          <p:cNvPr id="10" name="Text 7"/>
          <p:cNvSpPr txBox="1"/>
          <p:nvPr/>
        </p:nvSpPr>
        <p:spPr>
          <a:xfrm>
            <a:off x="7086600" y="1828800"/>
            <a:ext cx="1371600" cy="59436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3.09 GB</a:t>
            </a:r>
            <a:endParaRPr lang="en-US" sz="1700" dirty="0"/>
          </a:p>
        </p:txBody>
      </p:sp>
      <p:sp>
        <p:nvSpPr>
          <p:cNvPr id="11" name="Text 8"/>
          <p:cNvSpPr txBox="1"/>
          <p:nvPr/>
        </p:nvSpPr>
        <p:spPr>
          <a:xfrm>
            <a:off x="548640" y="2697480"/>
            <a:ext cx="1097280" cy="594360"/>
          </a:xfrm>
          <a:prstGeom prst="rect">
            <a:avLst/>
          </a:prstGeom>
          <a:noFill/>
          <a:ln/>
        </p:spPr>
        <p:txBody>
          <a:bodyPr wrap="square" lIns="0" tIns="0" rIns="0" bIns="0" rtlCol="0" anchor="ctr"/>
          <a:lstStyle/>
          <a:p>
            <a:pPr indent="0" marL="0">
              <a:buNone/>
            </a:pPr>
            <a:r>
              <a:rPr lang="en-US" sz="1500" b="1" dirty="0">
                <a:solidFill>
                  <a:schemeClr val="tx1"/>
                </a:solidFill>
              </a:rPr>
              <a:t>4-bit</a:t>
            </a:r>
            <a:endParaRPr lang="en-US" sz="1500" dirty="0"/>
          </a:p>
        </p:txBody>
      </p:sp>
      <p:sp>
        <p:nvSpPr>
          <p:cNvPr id="12" name="quant 0.68"/>
          <p:cNvSpPr/>
          <p:nvPr/>
        </p:nvSpPr>
        <p:spPr>
          <a:xfrm>
            <a:off x="1691640" y="2697480"/>
            <a:ext cx="1157056" cy="594360"/>
          </a:xfrm>
          <a:prstGeom prst="rect">
            <a:avLst/>
          </a:prstGeom>
          <a:solidFill>
            <a:srgbClr val="DCEFF0"/>
          </a:solidFill>
          <a:ln w="15875">
            <a:solidFill>
              <a:schemeClr val="accent1"/>
            </a:solidFill>
            <a:prstDash val="solid"/>
          </a:ln>
        </p:spPr>
      </p:sp>
      <p:sp>
        <p:nvSpPr>
          <p:cNvPr id="13" name="Text 10"/>
          <p:cNvSpPr txBox="1"/>
          <p:nvPr/>
        </p:nvSpPr>
        <p:spPr>
          <a:xfrm>
            <a:off x="1691640" y="2697480"/>
            <a:ext cx="1157056" cy="594360"/>
          </a:xfrm>
          <a:prstGeom prst="rect">
            <a:avLst/>
          </a:prstGeom>
          <a:noFill/>
          <a:ln/>
        </p:spPr>
        <p:txBody>
          <a:bodyPr wrap="square" lIns="0" tIns="0" rIns="0" bIns="0" rtlCol="0" anchor="ctr"/>
          <a:lstStyle/>
          <a:p>
            <a:pPr algn="ctr" indent="0" marL="0">
              <a:buNone/>
            </a:pPr>
            <a:r>
              <a:rPr lang="en-US" sz="1300" dirty="0">
                <a:solidFill>
                  <a:schemeClr val="tx1"/>
                </a:solidFill>
              </a:rPr>
              <a:t>0.68</a:t>
            </a:r>
            <a:endParaRPr lang="en-US" sz="1300" dirty="0"/>
          </a:p>
        </p:txBody>
      </p:sp>
      <p:sp>
        <p:nvSpPr>
          <p:cNvPr id="14" name="frozen 0.47"/>
          <p:cNvSpPr/>
          <p:nvPr/>
        </p:nvSpPr>
        <p:spPr>
          <a:xfrm>
            <a:off x="2848696" y="2697480"/>
            <a:ext cx="799730" cy="594360"/>
          </a:xfrm>
          <a:prstGeom prst="rect">
            <a:avLst/>
          </a:prstGeom>
          <a:solidFill>
            <a:schemeClr val="bg2"/>
          </a:solidFill>
          <a:ln w="15875">
            <a:solidFill>
              <a:schemeClr val="tx2"/>
            </a:solidFill>
            <a:prstDash val="solid"/>
          </a:ln>
        </p:spPr>
      </p:sp>
      <p:sp>
        <p:nvSpPr>
          <p:cNvPr id="15" name="Text 12"/>
          <p:cNvSpPr txBox="1"/>
          <p:nvPr/>
        </p:nvSpPr>
        <p:spPr>
          <a:xfrm>
            <a:off x="2848696" y="2697480"/>
            <a:ext cx="799730" cy="594360"/>
          </a:xfrm>
          <a:prstGeom prst="rect">
            <a:avLst/>
          </a:prstGeom>
          <a:noFill/>
          <a:ln/>
        </p:spPr>
        <p:txBody>
          <a:bodyPr wrap="square" lIns="0" tIns="0" rIns="0" bIns="0" rtlCol="0" anchor="ctr"/>
          <a:lstStyle/>
          <a:p>
            <a:pPr algn="ctr" indent="0" marL="0">
              <a:buNone/>
            </a:pPr>
            <a:r>
              <a:rPr lang="en-US" sz="1300" dirty="0">
                <a:solidFill>
                  <a:schemeClr val="tx1"/>
                </a:solidFill>
              </a:rPr>
              <a:t>0.47</a:t>
            </a:r>
            <a:endParaRPr lang="en-US" sz="1300" dirty="0"/>
          </a:p>
        </p:txBody>
      </p:sp>
      <p:sp>
        <p:nvSpPr>
          <p:cNvPr id="16" name="Text 13"/>
          <p:cNvSpPr txBox="1"/>
          <p:nvPr/>
        </p:nvSpPr>
        <p:spPr>
          <a:xfrm>
            <a:off x="3785586" y="2697480"/>
            <a:ext cx="1371600" cy="594360"/>
          </a:xfrm>
          <a:prstGeom prst="rect">
            <a:avLst/>
          </a:prstGeom>
          <a:noFill/>
          <a:ln/>
        </p:spPr>
        <p:txBody>
          <a:bodyPr wrap="square" lIns="0" tIns="0" rIns="0" bIns="0" rtlCol="0" anchor="ctr"/>
          <a:lstStyle/>
          <a:p>
            <a:pPr indent="0" marL="0">
              <a:buNone/>
            </a:pPr>
            <a:r>
              <a:rPr lang="en-US" sz="1700" b="1" dirty="0">
                <a:solidFill>
                  <a:schemeClr val="accent1"/>
                </a:solidFill>
                <a:latin typeface="Cambria" pitchFamily="34" charset="0"/>
                <a:ea typeface="Cambria" pitchFamily="34" charset="-122"/>
                <a:cs typeface="Cambria" pitchFamily="34" charset="-120"/>
              </a:rPr>
              <a:t>1.14 GB</a:t>
            </a:r>
            <a:endParaRPr lang="en-US" sz="1700" dirty="0"/>
          </a:p>
        </p:txBody>
      </p:sp>
      <p:sp>
        <p:nvSpPr>
          <p:cNvPr id="17" name="Text 14"/>
          <p:cNvSpPr txBox="1"/>
          <p:nvPr/>
        </p:nvSpPr>
        <p:spPr>
          <a:xfrm>
            <a:off x="548640" y="3566160"/>
            <a:ext cx="1097280" cy="594360"/>
          </a:xfrm>
          <a:prstGeom prst="rect">
            <a:avLst/>
          </a:prstGeom>
          <a:noFill/>
          <a:ln/>
        </p:spPr>
        <p:txBody>
          <a:bodyPr wrap="square" lIns="0" tIns="0" rIns="0" bIns="0" rtlCol="0" anchor="ctr"/>
          <a:lstStyle/>
          <a:p>
            <a:pPr indent="0" marL="0">
              <a:buNone/>
            </a:pPr>
            <a:r>
              <a:rPr lang="en-US" sz="1500" b="1" dirty="0">
                <a:solidFill>
                  <a:schemeClr val="tx2"/>
                </a:solidFill>
              </a:rPr>
              <a:t>a quarter</a:t>
            </a:r>
            <a:endParaRPr lang="en-US" sz="1500" dirty="0"/>
          </a:p>
        </p:txBody>
      </p:sp>
      <p:sp>
        <p:nvSpPr>
          <p:cNvPr id="18" name="io 0.77"/>
          <p:cNvSpPr/>
          <p:nvPr/>
        </p:nvSpPr>
        <p:spPr>
          <a:xfrm>
            <a:off x="1691640" y="3566160"/>
            <a:ext cx="1310196" cy="594360"/>
          </a:xfrm>
          <a:prstGeom prst="rect">
            <a:avLst/>
          </a:prstGeom>
          <a:solidFill>
            <a:schemeClr val="bg1"/>
          </a:solidFill>
          <a:ln w="15875">
            <a:solidFill>
              <a:schemeClr val="tx2"/>
            </a:solidFill>
            <a:prstDash val="solid"/>
          </a:ln>
        </p:spPr>
      </p:sp>
      <p:sp>
        <p:nvSpPr>
          <p:cNvPr id="19" name="Text 16"/>
          <p:cNvSpPr txBox="1"/>
          <p:nvPr/>
        </p:nvSpPr>
        <p:spPr>
          <a:xfrm>
            <a:off x="1691640" y="3566160"/>
            <a:ext cx="1310196" cy="594360"/>
          </a:xfrm>
          <a:prstGeom prst="rect">
            <a:avLst/>
          </a:prstGeom>
          <a:noFill/>
          <a:ln/>
        </p:spPr>
        <p:txBody>
          <a:bodyPr wrap="square" lIns="0" tIns="0" rIns="0" bIns="0" rtlCol="0" anchor="ctr"/>
          <a:lstStyle/>
          <a:p>
            <a:pPr algn="ctr" indent="0" marL="0">
              <a:buNone/>
            </a:pPr>
            <a:r>
              <a:rPr lang="en-US" sz="1300" dirty="0">
                <a:solidFill>
                  <a:schemeClr val="tx1"/>
                </a:solidFill>
              </a:rPr>
              <a:t>0.77</a:t>
            </a:r>
            <a:endParaRPr lang="en-US" sz="1300" dirty="0"/>
          </a:p>
        </p:txBody>
      </p:sp>
      <p:sp>
        <p:nvSpPr>
          <p:cNvPr id="20" name="Text 17"/>
          <p:cNvSpPr txBox="1"/>
          <p:nvPr/>
        </p:nvSpPr>
        <p:spPr>
          <a:xfrm>
            <a:off x="3138996" y="3566160"/>
            <a:ext cx="1371600" cy="59436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0.77 GB?</a:t>
            </a:r>
            <a:endParaRPr lang="en-US" sz="1700" dirty="0"/>
          </a:p>
        </p:txBody>
      </p:sp>
      <p:sp>
        <p:nvSpPr>
          <p:cNvPr id="21" name="Text 18"/>
          <p:cNvSpPr txBox="1"/>
          <p:nvPr/>
        </p:nvSpPr>
        <p:spPr>
          <a:xfrm>
            <a:off x="1691640" y="4343400"/>
            <a:ext cx="6400800" cy="320040"/>
          </a:xfrm>
          <a:prstGeom prst="rect">
            <a:avLst/>
          </a:prstGeom>
          <a:noFill/>
          <a:ln/>
        </p:spPr>
        <p:txBody>
          <a:bodyPr wrap="square" lIns="0" tIns="0" rIns="0" bIns="0" rtlCol="0" anchor="t"/>
          <a:lstStyle/>
          <a:p>
            <a:pPr indent="0" marL="0">
              <a:buNone/>
            </a:pPr>
            <a:r>
              <a:rPr lang="en-US" sz="1300" dirty="0">
                <a:solidFill>
                  <a:schemeClr val="tx2"/>
                </a:solidFill>
              </a:rPr>
              <a:t>grey = 16-bit (0.47 GB: mostly the embedding table, kept in both)</a:t>
            </a:r>
            <a:r>
              <a:rPr lang="en-US" sz="1300" dirty="0">
                <a:solidFill>
                  <a:schemeClr val="tx1"/>
                </a:solidFill>
              </a:rPr>
              <a:t>   ·   </a:t>
            </a:r>
            <a:r>
              <a:rPr lang="en-US" sz="1300" dirty="0">
                <a:solidFill>
                  <a:schemeClr val="accent1"/>
                </a:solidFill>
              </a:rPr>
              <a:t>teal = 4-bit codes + block scales</a:t>
            </a:r>
            <a:endParaRPr lang="en-US" sz="1300" dirty="0"/>
          </a:p>
        </p:txBody>
      </p:sp>
      <p:sp>
        <p:nvSpPr>
          <p:cNvPr id="22" name="GPTQ 4-bit file on the Hub; 467 MB of it is the 16-bit embedding table"/>
          <p:cNvSpPr/>
          <p:nvPr/>
        </p:nvSpPr>
        <p:spPr>
          <a:xfrm>
            <a:off x="548640" y="4846320"/>
            <a:ext cx="3794760" cy="1325880"/>
          </a:xfrm>
          <a:prstGeom prst="roundRect">
            <a:avLst>
              <a:gd name="adj" fmla="val 8276"/>
            </a:avLst>
          </a:prstGeom>
          <a:solidFill>
            <a:schemeClr val="bg2"/>
          </a:solidFill>
          <a:ln w="12700">
            <a:solidFill>
              <a:schemeClr val="bg2"/>
            </a:solidFill>
            <a:prstDash val="solid"/>
          </a:ln>
        </p:spPr>
      </p:sp>
      <p:sp>
        <p:nvSpPr>
          <p:cNvPr id="23" name="Text 20"/>
          <p:cNvSpPr txBox="1"/>
          <p:nvPr/>
        </p:nvSpPr>
        <p:spPr>
          <a:xfrm>
            <a:off x="777240" y="4956048"/>
            <a:ext cx="3337560" cy="640080"/>
          </a:xfrm>
          <a:prstGeom prst="rect">
            <a:avLst/>
          </a:prstGeom>
          <a:noFill/>
          <a:ln/>
        </p:spPr>
        <p:txBody>
          <a:bodyPr wrap="square" lIns="0" tIns="0" rIns="0" bIns="0" rtlCol="0" anchor="b"/>
          <a:lstStyle/>
          <a:p>
            <a:pPr indent="0" marL="0">
              <a:buNone/>
            </a:pPr>
            <a:r>
              <a:rPr lang="en-US" sz="2800" b="1" dirty="0">
                <a:solidFill>
                  <a:schemeClr val="accent1"/>
                </a:solidFill>
                <a:latin typeface="Cambria" pitchFamily="34" charset="0"/>
                <a:ea typeface="Cambria" pitchFamily="34" charset="-122"/>
                <a:cs typeface="Cambria" pitchFamily="34" charset="-120"/>
              </a:rPr>
              <a:t>1.15 GB</a:t>
            </a:r>
            <a:endParaRPr lang="en-US" sz="2800" dirty="0"/>
          </a:p>
        </p:txBody>
      </p:sp>
      <p:sp>
        <p:nvSpPr>
          <p:cNvPr id="24" name="Text 21"/>
          <p:cNvSpPr txBox="1"/>
          <p:nvPr/>
        </p:nvSpPr>
        <p:spPr>
          <a:xfrm>
            <a:off x="777240" y="5650992"/>
            <a:ext cx="3337560" cy="429768"/>
          </a:xfrm>
          <a:prstGeom prst="rect">
            <a:avLst/>
          </a:prstGeom>
          <a:noFill/>
          <a:ln/>
        </p:spPr>
        <p:txBody>
          <a:bodyPr wrap="square" lIns="0" tIns="0" rIns="0" bIns="0" rtlCol="0" anchor="t"/>
          <a:lstStyle/>
          <a:p>
            <a:pPr indent="0" marL="0">
              <a:buNone/>
            </a:pPr>
            <a:r>
              <a:rPr lang="en-US" sz="1400" dirty="0">
                <a:solidFill>
                  <a:schemeClr val="tx2"/>
                </a:solidFill>
              </a:rPr>
              <a:t>GPTQ 4-bit file on the Hub; 467 MB of it is the 16-bit embedding table</a:t>
            </a:r>
            <a:endParaRPr lang="en-US" sz="1400" dirty="0"/>
          </a:p>
        </p:txBody>
      </p:sp>
      <p:sp>
        <p:nvSpPr>
          <p:cNvPr id="25" name="measured on a T4 in Section 7 (estimate: 1.14 GB)"/>
          <p:cNvSpPr/>
          <p:nvPr/>
        </p:nvSpPr>
        <p:spPr>
          <a:xfrm>
            <a:off x="4526280" y="4846320"/>
            <a:ext cx="3794760" cy="1325880"/>
          </a:xfrm>
          <a:prstGeom prst="roundRect">
            <a:avLst>
              <a:gd name="adj" fmla="val 8276"/>
            </a:avLst>
          </a:prstGeom>
          <a:solidFill>
            <a:schemeClr val="bg2"/>
          </a:solidFill>
          <a:ln w="12700">
            <a:solidFill>
              <a:schemeClr val="bg2"/>
            </a:solidFill>
            <a:prstDash val="solid"/>
          </a:ln>
        </p:spPr>
      </p:sp>
      <p:sp>
        <p:nvSpPr>
          <p:cNvPr id="26" name="Text 23"/>
          <p:cNvSpPr txBox="1"/>
          <p:nvPr/>
        </p:nvSpPr>
        <p:spPr>
          <a:xfrm>
            <a:off x="4754880" y="4956048"/>
            <a:ext cx="3337560" cy="640080"/>
          </a:xfrm>
          <a:prstGeom prst="rect">
            <a:avLst/>
          </a:prstGeom>
          <a:noFill/>
          <a:ln/>
        </p:spPr>
        <p:txBody>
          <a:bodyPr wrap="square" lIns="0" tIns="0" rIns="0" bIns="0" rtlCol="0" anchor="b"/>
          <a:lstStyle/>
          <a:p>
            <a:pPr indent="0" marL="0">
              <a:buNone/>
            </a:pPr>
            <a:r>
              <a:rPr lang="en-US" sz="2800" b="1" dirty="0">
                <a:solidFill>
                  <a:schemeClr val="accent1"/>
                </a:solidFill>
                <a:latin typeface="Cambria" pitchFamily="34" charset="0"/>
                <a:ea typeface="Cambria" pitchFamily="34" charset="-122"/>
                <a:cs typeface="Cambria" pitchFamily="34" charset="-120"/>
              </a:rPr>
              <a:t>1.16 GB</a:t>
            </a:r>
            <a:endParaRPr lang="en-US" sz="2800" dirty="0"/>
          </a:p>
        </p:txBody>
      </p:sp>
      <p:sp>
        <p:nvSpPr>
          <p:cNvPr id="27" name="Text 24"/>
          <p:cNvSpPr txBox="1"/>
          <p:nvPr/>
        </p:nvSpPr>
        <p:spPr>
          <a:xfrm>
            <a:off x="4754880" y="5650992"/>
            <a:ext cx="3337560" cy="429768"/>
          </a:xfrm>
          <a:prstGeom prst="rect">
            <a:avLst/>
          </a:prstGeom>
          <a:noFill/>
          <a:ln/>
        </p:spPr>
        <p:txBody>
          <a:bodyPr wrap="square" lIns="0" tIns="0" rIns="0" bIns="0" rtlCol="0" anchor="t"/>
          <a:lstStyle/>
          <a:p>
            <a:pPr indent="0" marL="0">
              <a:buNone/>
            </a:pPr>
            <a:r>
              <a:rPr lang="en-US" sz="1400" dirty="0">
                <a:solidFill>
                  <a:schemeClr val="tx2"/>
                </a:solidFill>
              </a:rPr>
              <a:t>measured on a T4 in Section 7 (estimate: 1.14 GB)</a:t>
            </a:r>
            <a:endParaRPr lang="en-US" sz="1400" dirty="0"/>
          </a:p>
        </p:txBody>
      </p:sp>
      <p:sp>
        <p:nvSpPr>
          <p:cNvPr id="28" name="rule"/>
          <p:cNvSpPr/>
          <p:nvPr/>
        </p:nvSpPr>
        <p:spPr>
          <a:xfrm>
            <a:off x="8595360" y="1280160"/>
            <a:ext cx="3017520" cy="4892040"/>
          </a:xfrm>
          <a:prstGeom prst="roundRect">
            <a:avLst>
              <a:gd name="adj" fmla="val 3636"/>
            </a:avLst>
          </a:prstGeom>
          <a:solidFill>
            <a:schemeClr val="tx1"/>
          </a:solidFill>
          <a:ln w="12700">
            <a:solidFill>
              <a:schemeClr val="tx1"/>
            </a:solidFill>
            <a:prstDash val="solid"/>
          </a:ln>
        </p:spPr>
      </p:sp>
      <p:sp>
        <p:nvSpPr>
          <p:cNvPr id="29" name="Text 26"/>
          <p:cNvSpPr txBox="1"/>
          <p:nvPr/>
        </p:nvSpPr>
        <p:spPr>
          <a:xfrm>
            <a:off x="8823960" y="1463040"/>
            <a:ext cx="2606040" cy="4572000"/>
          </a:xfrm>
          <a:prstGeom prst="rect">
            <a:avLst/>
          </a:prstGeom>
          <a:noFill/>
          <a:ln/>
        </p:spPr>
        <p:txBody>
          <a:bodyPr wrap="square" lIns="0" tIns="0" rIns="0" bIns="0" rtlCol="0" anchor="t"/>
          <a:lstStyle/>
          <a:p>
            <a:pPr indent="0" marL="0">
              <a:buNone/>
            </a:pPr>
            <a:r>
              <a:rPr lang="en-US" sz="1600" b="1" dirty="0">
                <a:solidFill>
                  <a:schemeClr val="accent2"/>
                </a:solidFill>
              </a:rPr>
              <a:t>Practical rule</a:t>
            </a:r>
            <a:endParaRPr lang="en-US" sz="1600" dirty="0"/>
          </a:p>
          <a:p>
            <a:pPr indent="0" marL="0">
              <a:buNone/>
            </a:pPr>
            <a:r>
              <a:rPr lang="en-US" sz="1600" dirty="0">
                <a:solidFill>
                  <a:schemeClr val="tx1"/>
                </a:solidFill>
              </a:rPr>
              <a:t> </a:t>
            </a:r>
            <a:endParaRPr lang="en-US" sz="1600" dirty="0"/>
          </a:p>
          <a:p>
            <a:pPr indent="0" marL="0">
              <a:buNone/>
            </a:pPr>
            <a:r>
              <a:rPr lang="en-US" sz="1600" dirty="0">
                <a:solidFill>
                  <a:schemeClr val="bg1"/>
                </a:solidFill>
              </a:rPr>
              <a:t>Estimate first with this arithmetic.</a:t>
            </a:r>
            <a:endParaRPr lang="en-US" sz="1600" dirty="0"/>
          </a:p>
          <a:p>
            <a:pPr indent="0" marL="0">
              <a:buNone/>
            </a:pPr>
            <a:r>
              <a:rPr lang="en-US" sz="1600" dirty="0">
                <a:solidFill>
                  <a:schemeClr val="tx1"/>
                </a:solidFill>
              </a:rPr>
              <a:t> </a:t>
            </a:r>
            <a:endParaRPr lang="en-US" sz="1600" dirty="0"/>
          </a:p>
          <a:p>
            <a:pPr indent="0" marL="0">
              <a:buNone/>
            </a:pPr>
            <a:r>
              <a:rPr lang="en-US" sz="1600" dirty="0">
                <a:solidFill>
                  <a:schemeClr val="bg1"/>
                </a:solidFill>
              </a:rPr>
              <a:t>Then measure on the real GPU:</a:t>
            </a:r>
            <a:endParaRPr lang="en-US" sz="1600" dirty="0"/>
          </a:p>
          <a:p>
            <a:pPr indent="0" marL="0">
              <a:buNone/>
            </a:pPr>
            <a:r>
              <a:rPr lang="en-US" sz="1300" dirty="0">
                <a:solidFill>
                  <a:schemeClr val="accent2"/>
                </a:solidFill>
                <a:latin typeface="Courier New" pitchFamily="34" charset="0"/>
                <a:ea typeface="Courier New" pitchFamily="34" charset="-122"/>
                <a:cs typeface="Courier New" pitchFamily="34" charset="-120"/>
              </a:rPr>
              <a:t>torch.cuda.</a:t>
            </a:r>
            <a:endParaRPr lang="en-US" sz="1600" dirty="0"/>
          </a:p>
          <a:p>
            <a:pPr indent="0" marL="0">
              <a:buNone/>
            </a:pPr>
            <a:r>
              <a:rPr lang="en-US" sz="1300" dirty="0">
                <a:solidFill>
                  <a:schemeClr val="accent2"/>
                </a:solidFill>
                <a:latin typeface="Courier New" pitchFamily="34" charset="0"/>
                <a:ea typeface="Courier New" pitchFamily="34" charset="-122"/>
                <a:cs typeface="Courier New" pitchFamily="34" charset="-120"/>
              </a:rPr>
              <a:t>  max_memory_allocated()</a:t>
            </a:r>
            <a:endParaRPr lang="en-US" sz="1600" dirty="0"/>
          </a:p>
          <a:p>
            <a:pPr indent="0" marL="0">
              <a:buNone/>
            </a:pPr>
            <a:r>
              <a:rPr lang="en-US" sz="1600" dirty="0">
                <a:solidFill>
                  <a:schemeClr val="tx1"/>
                </a:solidFill>
              </a:rPr>
              <a:t> </a:t>
            </a:r>
            <a:endParaRPr lang="en-US" sz="1600" dirty="0"/>
          </a:p>
          <a:p>
            <a:pPr indent="0" marL="0">
              <a:buNone/>
            </a:pPr>
            <a:r>
              <a:rPr lang="en-US" sz="1600" dirty="0">
                <a:solidFill>
                  <a:srgbClr val="C9CFDA"/>
                </a:solidFill>
              </a:rPr>
              <a:t>Small models with large vocabularies keep the biggest 16-bit share: 28% of Qwen2.5-0.5B, 15% of 1.5B, 14% of 7B.</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Quantization in six steps</a:t>
            </a:r>
            <a:endParaRPr lang="en-US" sz="3200" dirty="0"/>
          </a:p>
        </p:txBody>
      </p:sp>
      <p:sp>
        <p:nvSpPr>
          <p:cNvPr id="4" name="Text 1"/>
          <p:cNvSpPr txBox="1"/>
          <p:nvPr/>
        </p:nvSpPr>
        <p:spPr>
          <a:xfrm>
            <a:off x="548640" y="1280160"/>
            <a:ext cx="9144000" cy="365760"/>
          </a:xfrm>
          <a:prstGeom prst="rect">
            <a:avLst/>
          </a:prstGeom>
          <a:noFill/>
          <a:ln/>
        </p:spPr>
        <p:txBody>
          <a:bodyPr wrap="square" lIns="0" tIns="0" rIns="0" bIns="0" rtlCol="0" anchor="t"/>
          <a:lstStyle/>
          <a:p>
            <a:pPr indent="0" marL="0">
              <a:buNone/>
            </a:pPr>
            <a:r>
              <a:rPr lang="en-US" sz="1600" b="1" dirty="0">
                <a:solidFill>
                  <a:schemeClr val="accent1"/>
                </a:solidFill>
              </a:rPr>
              <a:t>Quantization: once, when the model is loaded</a:t>
            </a:r>
            <a:endParaRPr lang="en-US" sz="1600" dirty="0"/>
          </a:p>
        </p:txBody>
      </p:sp>
      <p:sp>
        <p:nvSpPr>
          <p:cNvPr id="5" name="Text 2"/>
          <p:cNvSpPr txBox="1"/>
          <p:nvPr/>
        </p:nvSpPr>
        <p:spPr>
          <a:xfrm>
            <a:off x="9372600" y="1280160"/>
            <a:ext cx="2240280" cy="685800"/>
          </a:xfrm>
          <a:prstGeom prst="rect">
            <a:avLst/>
          </a:prstGeom>
          <a:noFill/>
          <a:ln/>
        </p:spPr>
        <p:txBody>
          <a:bodyPr wrap="square" lIns="0" tIns="0" rIns="0" bIns="0" rtlCol="0" anchor="t"/>
          <a:lstStyle/>
          <a:p>
            <a:pPr indent="0" marL="0">
              <a:buNone/>
            </a:pPr>
            <a:r>
              <a:rPr lang="en-US" sz="1600" b="1" dirty="0">
                <a:solidFill>
                  <a:schemeClr val="accent4"/>
                </a:solidFill>
              </a:rPr>
              <a:t>Dequantization: every time the layer runs</a:t>
            </a:r>
            <a:endParaRPr lang="en-US" sz="1600" dirty="0"/>
          </a:p>
        </p:txBody>
      </p:sp>
      <p:sp>
        <p:nvSpPr>
          <p:cNvPr id="6" name="Split into blocks"/>
          <p:cNvSpPr/>
          <p:nvPr/>
        </p:nvSpPr>
        <p:spPr>
          <a:xfrm>
            <a:off x="548640" y="2057400"/>
            <a:ext cx="1645920" cy="2651760"/>
          </a:xfrm>
          <a:prstGeom prst="roundRect">
            <a:avLst>
              <a:gd name="adj" fmla="val 6667"/>
            </a:avLst>
          </a:prstGeom>
          <a:solidFill>
            <a:schemeClr val="bg2"/>
          </a:solidFill>
          <a:ln w="12700">
            <a:solidFill>
              <a:schemeClr val="bg2"/>
            </a:solidFill>
            <a:prstDash val="solid"/>
          </a:ln>
        </p:spPr>
      </p:sp>
      <p:sp>
        <p:nvSpPr>
          <p:cNvPr id="7" name="Shape 4"/>
          <p:cNvSpPr/>
          <p:nvPr/>
        </p:nvSpPr>
        <p:spPr>
          <a:xfrm>
            <a:off x="685800" y="2194560"/>
            <a:ext cx="457200" cy="457200"/>
          </a:xfrm>
          <a:prstGeom prst="ellipse">
            <a:avLst/>
          </a:prstGeom>
          <a:solidFill>
            <a:schemeClr val="accent1"/>
          </a:solidFill>
          <a:ln w="12700">
            <a:solidFill>
              <a:schemeClr val="accent1"/>
            </a:solidFill>
            <a:prstDash val="solid"/>
          </a:ln>
        </p:spPr>
      </p:sp>
      <p:sp>
        <p:nvSpPr>
          <p:cNvPr id="8" name="Text 5"/>
          <p:cNvSpPr txBox="1"/>
          <p:nvPr/>
        </p:nvSpPr>
        <p:spPr>
          <a:xfrm>
            <a:off x="685800" y="21945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9" name="Text 6"/>
          <p:cNvSpPr txBox="1"/>
          <p:nvPr/>
        </p:nvSpPr>
        <p:spPr>
          <a:xfrm>
            <a:off x="685800" y="2743200"/>
            <a:ext cx="1371600" cy="685800"/>
          </a:xfrm>
          <a:prstGeom prst="rect">
            <a:avLst/>
          </a:prstGeom>
          <a:noFill/>
          <a:ln/>
        </p:spPr>
        <p:txBody>
          <a:bodyPr wrap="square" lIns="0" tIns="0" rIns="0" bIns="0" rtlCol="0" anchor="t"/>
          <a:lstStyle/>
          <a:p>
            <a:pPr indent="0" marL="0">
              <a:buNone/>
            </a:pPr>
            <a:r>
              <a:rPr lang="en-US" sz="1500" b="1" dirty="0">
                <a:solidFill>
                  <a:schemeClr val="tx1"/>
                </a:solidFill>
              </a:rPr>
              <a:t>Split into blocks</a:t>
            </a:r>
            <a:endParaRPr lang="en-US" sz="1500" dirty="0"/>
          </a:p>
        </p:txBody>
      </p:sp>
      <p:sp>
        <p:nvSpPr>
          <p:cNvPr id="10" name="Text 7"/>
          <p:cNvSpPr txBox="1"/>
          <p:nvPr/>
        </p:nvSpPr>
        <p:spPr>
          <a:xfrm>
            <a:off x="685800" y="3429000"/>
            <a:ext cx="1371600" cy="1234440"/>
          </a:xfrm>
          <a:prstGeom prst="rect">
            <a:avLst/>
          </a:prstGeom>
          <a:noFill/>
          <a:ln/>
        </p:spPr>
        <p:txBody>
          <a:bodyPr wrap="square" lIns="0" tIns="0" rIns="0" bIns="0" rtlCol="0" anchor="t"/>
          <a:lstStyle/>
          <a:p>
            <a:pPr indent="0" marL="0">
              <a:buNone/>
            </a:pPr>
            <a:r>
              <a:rPr lang="en-US" sz="1300" dirty="0">
                <a:solidFill>
                  <a:schemeClr val="tx2"/>
                </a:solidFill>
              </a:rPr>
              <a:t>Cut each layer's weights into small groups: 64 weights in QLoRA.</a:t>
            </a:r>
            <a:endParaRPr lang="en-US" sz="1300" dirty="0"/>
          </a:p>
        </p:txBody>
      </p:sp>
      <p:sp>
        <p:nvSpPr>
          <p:cNvPr id="11" name="Shape 8"/>
          <p:cNvSpPr/>
          <p:nvPr/>
        </p:nvSpPr>
        <p:spPr>
          <a:xfrm>
            <a:off x="2194560" y="3383280"/>
            <a:ext cx="137160" cy="0"/>
          </a:xfrm>
          <a:prstGeom prst="line">
            <a:avLst/>
          </a:prstGeom>
          <a:noFill/>
          <a:ln w="22225">
            <a:solidFill>
              <a:schemeClr val="tx2"/>
            </a:solidFill>
            <a:prstDash val="solid"/>
            <a:tailEnd type="triangle"/>
          </a:ln>
        </p:spPr>
      </p:sp>
      <p:sp>
        <p:nvSpPr>
          <p:cNvPr id="12" name="Find each block's scale"/>
          <p:cNvSpPr/>
          <p:nvPr/>
        </p:nvSpPr>
        <p:spPr>
          <a:xfrm>
            <a:off x="2331720" y="2057400"/>
            <a:ext cx="1645920" cy="2651760"/>
          </a:xfrm>
          <a:prstGeom prst="roundRect">
            <a:avLst>
              <a:gd name="adj" fmla="val 6667"/>
            </a:avLst>
          </a:prstGeom>
          <a:solidFill>
            <a:schemeClr val="bg2"/>
          </a:solidFill>
          <a:ln w="12700">
            <a:solidFill>
              <a:schemeClr val="bg2"/>
            </a:solidFill>
            <a:prstDash val="solid"/>
          </a:ln>
        </p:spPr>
      </p:sp>
      <p:sp>
        <p:nvSpPr>
          <p:cNvPr id="13" name="Shape 10"/>
          <p:cNvSpPr/>
          <p:nvPr/>
        </p:nvSpPr>
        <p:spPr>
          <a:xfrm>
            <a:off x="2468880" y="2194560"/>
            <a:ext cx="457200" cy="457200"/>
          </a:xfrm>
          <a:prstGeom prst="ellipse">
            <a:avLst/>
          </a:prstGeom>
          <a:solidFill>
            <a:schemeClr val="accent1"/>
          </a:solidFill>
          <a:ln w="12700">
            <a:solidFill>
              <a:schemeClr val="accent1"/>
            </a:solidFill>
            <a:prstDash val="solid"/>
          </a:ln>
        </p:spPr>
      </p:sp>
      <p:sp>
        <p:nvSpPr>
          <p:cNvPr id="14" name="Text 11"/>
          <p:cNvSpPr txBox="1"/>
          <p:nvPr/>
        </p:nvSpPr>
        <p:spPr>
          <a:xfrm>
            <a:off x="2468880" y="21945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5" name="Text 12"/>
          <p:cNvSpPr txBox="1"/>
          <p:nvPr/>
        </p:nvSpPr>
        <p:spPr>
          <a:xfrm>
            <a:off x="2468880" y="2743200"/>
            <a:ext cx="1371600" cy="685800"/>
          </a:xfrm>
          <a:prstGeom prst="rect">
            <a:avLst/>
          </a:prstGeom>
          <a:noFill/>
          <a:ln/>
        </p:spPr>
        <p:txBody>
          <a:bodyPr wrap="square" lIns="0" tIns="0" rIns="0" bIns="0" rtlCol="0" anchor="t"/>
          <a:lstStyle/>
          <a:p>
            <a:pPr indent="0" marL="0">
              <a:buNone/>
            </a:pPr>
            <a:r>
              <a:rPr lang="en-US" sz="1500" b="1" dirty="0">
                <a:solidFill>
                  <a:schemeClr val="tx1"/>
                </a:solidFill>
              </a:rPr>
              <a:t>Find each block's scale</a:t>
            </a:r>
            <a:endParaRPr lang="en-US" sz="1500" dirty="0"/>
          </a:p>
        </p:txBody>
      </p:sp>
      <p:sp>
        <p:nvSpPr>
          <p:cNvPr id="16" name="Text 13"/>
          <p:cNvSpPr txBox="1"/>
          <p:nvPr/>
        </p:nvSpPr>
        <p:spPr>
          <a:xfrm>
            <a:off x="2468880" y="3429000"/>
            <a:ext cx="1371600" cy="1234440"/>
          </a:xfrm>
          <a:prstGeom prst="rect">
            <a:avLst/>
          </a:prstGeom>
          <a:noFill/>
          <a:ln/>
        </p:spPr>
        <p:txBody>
          <a:bodyPr wrap="square" lIns="0" tIns="0" rIns="0" bIns="0" rtlCol="0" anchor="t"/>
          <a:lstStyle/>
          <a:p>
            <a:pPr indent="0" marL="0">
              <a:buNone/>
            </a:pPr>
            <a:r>
              <a:rPr lang="en-US" sz="1300" dirty="0">
                <a:solidFill>
                  <a:schemeClr val="tx2"/>
                </a:solidFill>
              </a:rPr>
              <a:t>scale = the largest |weight| in the block.</a:t>
            </a:r>
            <a:endParaRPr lang="en-US" sz="1300" dirty="0"/>
          </a:p>
        </p:txBody>
      </p:sp>
      <p:sp>
        <p:nvSpPr>
          <p:cNvPr id="17" name="Shape 14"/>
          <p:cNvSpPr/>
          <p:nvPr/>
        </p:nvSpPr>
        <p:spPr>
          <a:xfrm>
            <a:off x="3977640" y="3383280"/>
            <a:ext cx="137160" cy="0"/>
          </a:xfrm>
          <a:prstGeom prst="line">
            <a:avLst/>
          </a:prstGeom>
          <a:noFill/>
          <a:ln w="22225">
            <a:solidFill>
              <a:schemeClr val="tx2"/>
            </a:solidFill>
            <a:prstDash val="solid"/>
            <a:tailEnd type="triangle"/>
          </a:ln>
        </p:spPr>
      </p:sp>
      <p:sp>
        <p:nvSpPr>
          <p:cNvPr id="18" name="Normalize"/>
          <p:cNvSpPr/>
          <p:nvPr/>
        </p:nvSpPr>
        <p:spPr>
          <a:xfrm>
            <a:off x="4114800" y="2057400"/>
            <a:ext cx="1645920" cy="2651760"/>
          </a:xfrm>
          <a:prstGeom prst="roundRect">
            <a:avLst>
              <a:gd name="adj" fmla="val 6667"/>
            </a:avLst>
          </a:prstGeom>
          <a:solidFill>
            <a:schemeClr val="bg2"/>
          </a:solidFill>
          <a:ln w="12700">
            <a:solidFill>
              <a:schemeClr val="bg2"/>
            </a:solidFill>
            <a:prstDash val="solid"/>
          </a:ln>
        </p:spPr>
      </p:sp>
      <p:sp>
        <p:nvSpPr>
          <p:cNvPr id="19" name="Shape 16"/>
          <p:cNvSpPr/>
          <p:nvPr/>
        </p:nvSpPr>
        <p:spPr>
          <a:xfrm>
            <a:off x="4251960" y="2194560"/>
            <a:ext cx="457200" cy="457200"/>
          </a:xfrm>
          <a:prstGeom prst="ellipse">
            <a:avLst/>
          </a:prstGeom>
          <a:solidFill>
            <a:schemeClr val="accent1"/>
          </a:solidFill>
          <a:ln w="12700">
            <a:solidFill>
              <a:schemeClr val="accent1"/>
            </a:solidFill>
            <a:prstDash val="solid"/>
          </a:ln>
        </p:spPr>
      </p:sp>
      <p:sp>
        <p:nvSpPr>
          <p:cNvPr id="20" name="Text 17"/>
          <p:cNvSpPr txBox="1"/>
          <p:nvPr/>
        </p:nvSpPr>
        <p:spPr>
          <a:xfrm>
            <a:off x="4251960" y="21945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1" name="Text 18"/>
          <p:cNvSpPr txBox="1"/>
          <p:nvPr/>
        </p:nvSpPr>
        <p:spPr>
          <a:xfrm>
            <a:off x="4251960" y="2743200"/>
            <a:ext cx="1371600" cy="685800"/>
          </a:xfrm>
          <a:prstGeom prst="rect">
            <a:avLst/>
          </a:prstGeom>
          <a:noFill/>
          <a:ln/>
        </p:spPr>
        <p:txBody>
          <a:bodyPr wrap="square" lIns="0" tIns="0" rIns="0" bIns="0" rtlCol="0" anchor="t"/>
          <a:lstStyle/>
          <a:p>
            <a:pPr indent="0" marL="0">
              <a:buNone/>
            </a:pPr>
            <a:r>
              <a:rPr lang="en-US" sz="1500" b="1" dirty="0">
                <a:solidFill>
                  <a:schemeClr val="tx1"/>
                </a:solidFill>
              </a:rPr>
              <a:t>Normalize</a:t>
            </a:r>
            <a:endParaRPr lang="en-US" sz="1500" dirty="0"/>
          </a:p>
        </p:txBody>
      </p:sp>
      <p:sp>
        <p:nvSpPr>
          <p:cNvPr id="22" name="Text 19"/>
          <p:cNvSpPr txBox="1"/>
          <p:nvPr/>
        </p:nvSpPr>
        <p:spPr>
          <a:xfrm>
            <a:off x="4251960" y="3429000"/>
            <a:ext cx="1371600" cy="1234440"/>
          </a:xfrm>
          <a:prstGeom prst="rect">
            <a:avLst/>
          </a:prstGeom>
          <a:noFill/>
          <a:ln/>
        </p:spPr>
        <p:txBody>
          <a:bodyPr wrap="square" lIns="0" tIns="0" rIns="0" bIns="0" rtlCol="0" anchor="t"/>
          <a:lstStyle/>
          <a:p>
            <a:pPr indent="0" marL="0">
              <a:buNone/>
            </a:pPr>
            <a:r>
              <a:rPr lang="en-US" sz="1300" dirty="0">
                <a:solidFill>
                  <a:schemeClr val="tx2"/>
                </a:solidFill>
              </a:rPr>
              <a:t>Divide by the scale: every weight now lies in [−1, 1].</a:t>
            </a:r>
            <a:endParaRPr lang="en-US" sz="1300" dirty="0"/>
          </a:p>
        </p:txBody>
      </p:sp>
      <p:sp>
        <p:nvSpPr>
          <p:cNvPr id="23" name="Shape 20"/>
          <p:cNvSpPr/>
          <p:nvPr/>
        </p:nvSpPr>
        <p:spPr>
          <a:xfrm>
            <a:off x="5760720" y="3383280"/>
            <a:ext cx="137160" cy="0"/>
          </a:xfrm>
          <a:prstGeom prst="line">
            <a:avLst/>
          </a:prstGeom>
          <a:noFill/>
          <a:ln w="22225">
            <a:solidFill>
              <a:schemeClr val="tx2"/>
            </a:solidFill>
            <a:prstDash val="solid"/>
            <a:tailEnd type="triangle"/>
          </a:ln>
        </p:spPr>
      </p:sp>
      <p:sp>
        <p:nvSpPr>
          <p:cNvPr id="24" name="Round to the nearest level"/>
          <p:cNvSpPr/>
          <p:nvPr/>
        </p:nvSpPr>
        <p:spPr>
          <a:xfrm>
            <a:off x="5897880" y="2057400"/>
            <a:ext cx="1645920" cy="2651760"/>
          </a:xfrm>
          <a:prstGeom prst="roundRect">
            <a:avLst>
              <a:gd name="adj" fmla="val 6667"/>
            </a:avLst>
          </a:prstGeom>
          <a:solidFill>
            <a:schemeClr val="bg2"/>
          </a:solidFill>
          <a:ln w="12700">
            <a:solidFill>
              <a:schemeClr val="bg2"/>
            </a:solidFill>
            <a:prstDash val="solid"/>
          </a:ln>
        </p:spPr>
      </p:sp>
      <p:sp>
        <p:nvSpPr>
          <p:cNvPr id="25" name="Shape 22"/>
          <p:cNvSpPr/>
          <p:nvPr/>
        </p:nvSpPr>
        <p:spPr>
          <a:xfrm>
            <a:off x="6035040" y="2194560"/>
            <a:ext cx="457200" cy="457200"/>
          </a:xfrm>
          <a:prstGeom prst="ellipse">
            <a:avLst/>
          </a:prstGeom>
          <a:solidFill>
            <a:schemeClr val="accent1"/>
          </a:solidFill>
          <a:ln w="12700">
            <a:solidFill>
              <a:schemeClr val="accent1"/>
            </a:solidFill>
            <a:prstDash val="solid"/>
          </a:ln>
        </p:spPr>
      </p:sp>
      <p:sp>
        <p:nvSpPr>
          <p:cNvPr id="26" name="Text 23"/>
          <p:cNvSpPr txBox="1"/>
          <p:nvPr/>
        </p:nvSpPr>
        <p:spPr>
          <a:xfrm>
            <a:off x="6035040" y="21945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7" name="Text 24"/>
          <p:cNvSpPr txBox="1"/>
          <p:nvPr/>
        </p:nvSpPr>
        <p:spPr>
          <a:xfrm>
            <a:off x="6035040" y="2743200"/>
            <a:ext cx="1371600" cy="685800"/>
          </a:xfrm>
          <a:prstGeom prst="rect">
            <a:avLst/>
          </a:prstGeom>
          <a:noFill/>
          <a:ln/>
        </p:spPr>
        <p:txBody>
          <a:bodyPr wrap="square" lIns="0" tIns="0" rIns="0" bIns="0" rtlCol="0" anchor="t"/>
          <a:lstStyle/>
          <a:p>
            <a:pPr indent="0" marL="0">
              <a:buNone/>
            </a:pPr>
            <a:r>
              <a:rPr lang="en-US" sz="1500" b="1" dirty="0">
                <a:solidFill>
                  <a:schemeClr val="tx1"/>
                </a:solidFill>
              </a:rPr>
              <a:t>Round to the nearest level</a:t>
            </a:r>
            <a:endParaRPr lang="en-US" sz="1500" dirty="0"/>
          </a:p>
        </p:txBody>
      </p:sp>
      <p:sp>
        <p:nvSpPr>
          <p:cNvPr id="28" name="Text 25"/>
          <p:cNvSpPr txBox="1"/>
          <p:nvPr/>
        </p:nvSpPr>
        <p:spPr>
          <a:xfrm>
            <a:off x="6035040" y="3429000"/>
            <a:ext cx="1371600" cy="1234440"/>
          </a:xfrm>
          <a:prstGeom prst="rect">
            <a:avLst/>
          </a:prstGeom>
          <a:noFill/>
          <a:ln/>
        </p:spPr>
        <p:txBody>
          <a:bodyPr wrap="square" lIns="0" tIns="0" rIns="0" bIns="0" rtlCol="0" anchor="t"/>
          <a:lstStyle/>
          <a:p>
            <a:pPr indent="0" marL="0">
              <a:buNone/>
            </a:pPr>
            <a:r>
              <a:rPr lang="en-US" sz="1300" dirty="0">
                <a:solidFill>
                  <a:schemeClr val="tx2"/>
                </a:solidFill>
              </a:rPr>
              <a:t>16 allowed levels; record the level's index, a 4-bit code 0–15.</a:t>
            </a:r>
            <a:endParaRPr lang="en-US" sz="1300" dirty="0"/>
          </a:p>
        </p:txBody>
      </p:sp>
      <p:sp>
        <p:nvSpPr>
          <p:cNvPr id="29" name="Shape 26"/>
          <p:cNvSpPr/>
          <p:nvPr/>
        </p:nvSpPr>
        <p:spPr>
          <a:xfrm>
            <a:off x="7543800" y="3383280"/>
            <a:ext cx="137160" cy="0"/>
          </a:xfrm>
          <a:prstGeom prst="line">
            <a:avLst/>
          </a:prstGeom>
          <a:noFill/>
          <a:ln w="22225">
            <a:solidFill>
              <a:schemeClr val="tx2"/>
            </a:solidFill>
            <a:prstDash val="solid"/>
            <a:tailEnd type="triangle"/>
          </a:ln>
        </p:spPr>
      </p:sp>
      <p:sp>
        <p:nvSpPr>
          <p:cNvPr id="30" name="Store codes + scale"/>
          <p:cNvSpPr/>
          <p:nvPr/>
        </p:nvSpPr>
        <p:spPr>
          <a:xfrm>
            <a:off x="7680960" y="2057400"/>
            <a:ext cx="1645920" cy="2651760"/>
          </a:xfrm>
          <a:prstGeom prst="roundRect">
            <a:avLst>
              <a:gd name="adj" fmla="val 6667"/>
            </a:avLst>
          </a:prstGeom>
          <a:solidFill>
            <a:schemeClr val="bg2"/>
          </a:solidFill>
          <a:ln w="12700">
            <a:solidFill>
              <a:schemeClr val="bg2"/>
            </a:solidFill>
            <a:prstDash val="solid"/>
          </a:ln>
        </p:spPr>
      </p:sp>
      <p:sp>
        <p:nvSpPr>
          <p:cNvPr id="31" name="Shape 28"/>
          <p:cNvSpPr/>
          <p:nvPr/>
        </p:nvSpPr>
        <p:spPr>
          <a:xfrm>
            <a:off x="7818120" y="2194560"/>
            <a:ext cx="457200" cy="457200"/>
          </a:xfrm>
          <a:prstGeom prst="ellipse">
            <a:avLst/>
          </a:prstGeom>
          <a:solidFill>
            <a:schemeClr val="accent1"/>
          </a:solidFill>
          <a:ln w="12700">
            <a:solidFill>
              <a:schemeClr val="accent1"/>
            </a:solidFill>
            <a:prstDash val="solid"/>
          </a:ln>
        </p:spPr>
      </p:sp>
      <p:sp>
        <p:nvSpPr>
          <p:cNvPr id="32" name="Text 29"/>
          <p:cNvSpPr txBox="1"/>
          <p:nvPr/>
        </p:nvSpPr>
        <p:spPr>
          <a:xfrm>
            <a:off x="7818120" y="21945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3" name="Text 30"/>
          <p:cNvSpPr txBox="1"/>
          <p:nvPr/>
        </p:nvSpPr>
        <p:spPr>
          <a:xfrm>
            <a:off x="7818120" y="2743200"/>
            <a:ext cx="1371600" cy="685800"/>
          </a:xfrm>
          <a:prstGeom prst="rect">
            <a:avLst/>
          </a:prstGeom>
          <a:noFill/>
          <a:ln/>
        </p:spPr>
        <p:txBody>
          <a:bodyPr wrap="square" lIns="0" tIns="0" rIns="0" bIns="0" rtlCol="0" anchor="t"/>
          <a:lstStyle/>
          <a:p>
            <a:pPr indent="0" marL="0">
              <a:buNone/>
            </a:pPr>
            <a:r>
              <a:rPr lang="en-US" sz="1500" b="1" dirty="0">
                <a:solidFill>
                  <a:schemeClr val="tx1"/>
                </a:solidFill>
              </a:rPr>
              <a:t>Store codes + scale</a:t>
            </a:r>
            <a:endParaRPr lang="en-US" sz="1500" dirty="0"/>
          </a:p>
        </p:txBody>
      </p:sp>
      <p:sp>
        <p:nvSpPr>
          <p:cNvPr id="34" name="Text 31"/>
          <p:cNvSpPr txBox="1"/>
          <p:nvPr/>
        </p:nvSpPr>
        <p:spPr>
          <a:xfrm>
            <a:off x="7818120" y="3429000"/>
            <a:ext cx="1371600" cy="1234440"/>
          </a:xfrm>
          <a:prstGeom prst="rect">
            <a:avLst/>
          </a:prstGeom>
          <a:noFill/>
          <a:ln/>
        </p:spPr>
        <p:txBody>
          <a:bodyPr wrap="square" lIns="0" tIns="0" rIns="0" bIns="0" rtlCol="0" anchor="t"/>
          <a:lstStyle/>
          <a:p>
            <a:pPr indent="0" marL="0">
              <a:buNone/>
            </a:pPr>
            <a:r>
              <a:rPr lang="en-US" sz="1300" dirty="0">
                <a:solidFill>
                  <a:schemeClr val="tx2"/>
                </a:solidFill>
              </a:rPr>
              <a:t>Keep one 4-bit code per weight and one scale per block. Discard the 16-bit weights.</a:t>
            </a:r>
            <a:endParaRPr lang="en-US" sz="1300" dirty="0"/>
          </a:p>
        </p:txBody>
      </p:sp>
      <p:sp>
        <p:nvSpPr>
          <p:cNvPr id="35" name="Shape 32"/>
          <p:cNvSpPr/>
          <p:nvPr/>
        </p:nvSpPr>
        <p:spPr>
          <a:xfrm>
            <a:off x="9326880" y="3383280"/>
            <a:ext cx="228600" cy="0"/>
          </a:xfrm>
          <a:prstGeom prst="line">
            <a:avLst/>
          </a:prstGeom>
          <a:noFill/>
          <a:ln w="22225">
            <a:solidFill>
              <a:schemeClr val="tx2"/>
            </a:solidFill>
            <a:prstDash val="solid"/>
            <a:tailEnd type="triangle"/>
          </a:ln>
        </p:spPr>
      </p:sp>
      <p:sp>
        <p:nvSpPr>
          <p:cNvPr id="36" name="Look up and rescale"/>
          <p:cNvSpPr/>
          <p:nvPr/>
        </p:nvSpPr>
        <p:spPr>
          <a:xfrm>
            <a:off x="9555480" y="2057400"/>
            <a:ext cx="1645920" cy="2651760"/>
          </a:xfrm>
          <a:prstGeom prst="roundRect">
            <a:avLst>
              <a:gd name="adj" fmla="val 6667"/>
            </a:avLst>
          </a:prstGeom>
          <a:solidFill>
            <a:schemeClr val="accent6"/>
          </a:solidFill>
          <a:ln w="12700">
            <a:solidFill>
              <a:schemeClr val="accent6"/>
            </a:solidFill>
            <a:prstDash val="solid"/>
          </a:ln>
        </p:spPr>
      </p:sp>
      <p:sp>
        <p:nvSpPr>
          <p:cNvPr id="37" name="Shape 34"/>
          <p:cNvSpPr/>
          <p:nvPr/>
        </p:nvSpPr>
        <p:spPr>
          <a:xfrm>
            <a:off x="9692640" y="2194560"/>
            <a:ext cx="457200" cy="457200"/>
          </a:xfrm>
          <a:prstGeom prst="ellipse">
            <a:avLst/>
          </a:prstGeom>
          <a:solidFill>
            <a:schemeClr val="accent4"/>
          </a:solidFill>
          <a:ln w="12700">
            <a:solidFill>
              <a:schemeClr val="accent4"/>
            </a:solidFill>
            <a:prstDash val="solid"/>
          </a:ln>
        </p:spPr>
      </p:sp>
      <p:sp>
        <p:nvSpPr>
          <p:cNvPr id="38" name="Text 35"/>
          <p:cNvSpPr txBox="1"/>
          <p:nvPr/>
        </p:nvSpPr>
        <p:spPr>
          <a:xfrm>
            <a:off x="9692640" y="21945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9" name="Text 36"/>
          <p:cNvSpPr txBox="1"/>
          <p:nvPr/>
        </p:nvSpPr>
        <p:spPr>
          <a:xfrm>
            <a:off x="9692640" y="2743200"/>
            <a:ext cx="1371600" cy="685800"/>
          </a:xfrm>
          <a:prstGeom prst="rect">
            <a:avLst/>
          </a:prstGeom>
          <a:noFill/>
          <a:ln/>
        </p:spPr>
        <p:txBody>
          <a:bodyPr wrap="square" lIns="0" tIns="0" rIns="0" bIns="0" rtlCol="0" anchor="t"/>
          <a:lstStyle/>
          <a:p>
            <a:pPr indent="0" marL="0">
              <a:buNone/>
            </a:pPr>
            <a:r>
              <a:rPr lang="en-US" sz="1500" b="1" dirty="0">
                <a:solidFill>
                  <a:schemeClr val="tx1"/>
                </a:solidFill>
              </a:rPr>
              <a:t>Look up and rescale</a:t>
            </a:r>
            <a:endParaRPr lang="en-US" sz="1500" dirty="0"/>
          </a:p>
        </p:txBody>
      </p:sp>
      <p:sp>
        <p:nvSpPr>
          <p:cNvPr id="40" name="Text 37"/>
          <p:cNvSpPr txBox="1"/>
          <p:nvPr/>
        </p:nvSpPr>
        <p:spPr>
          <a:xfrm>
            <a:off x="9692640" y="3429000"/>
            <a:ext cx="1371600" cy="1234440"/>
          </a:xfrm>
          <a:prstGeom prst="rect">
            <a:avLst/>
          </a:prstGeom>
          <a:noFill/>
          <a:ln/>
        </p:spPr>
        <p:txBody>
          <a:bodyPr wrap="square" lIns="0" tIns="0" rIns="0" bIns="0" rtlCol="0" anchor="t"/>
          <a:lstStyle/>
          <a:p>
            <a:pPr indent="0" marL="0">
              <a:buNone/>
            </a:pPr>
            <a:r>
              <a:rPr lang="en-US" sz="1300" dirty="0">
                <a:solidFill>
                  <a:schemeClr val="tx2"/>
                </a:solidFill>
              </a:rPr>
              <a:t>weight ≈ level[code] × scale, in 16-bit, just before the matrix multiplication.</a:t>
            </a:r>
            <a:endParaRPr lang="en-US" sz="1300" dirty="0"/>
          </a:p>
        </p:txBody>
      </p:sp>
      <p:sp>
        <p:nvSpPr>
          <p:cNvPr id="41" name="in memory"/>
          <p:cNvSpPr/>
          <p:nvPr/>
        </p:nvSpPr>
        <p:spPr>
          <a:xfrm>
            <a:off x="548640" y="4983480"/>
            <a:ext cx="6766560" cy="1188720"/>
          </a:xfrm>
          <a:prstGeom prst="roundRect">
            <a:avLst>
              <a:gd name="adj" fmla="val 9231"/>
            </a:avLst>
          </a:prstGeom>
          <a:solidFill>
            <a:schemeClr val="bg2"/>
          </a:solidFill>
          <a:ln w="12700">
            <a:solidFill>
              <a:schemeClr val="bg2"/>
            </a:solidFill>
            <a:prstDash val="solid"/>
          </a:ln>
        </p:spPr>
      </p:sp>
      <p:sp>
        <p:nvSpPr>
          <p:cNvPr id="42" name="Text 39"/>
          <p:cNvSpPr txBox="1"/>
          <p:nvPr/>
        </p:nvSpPr>
        <p:spPr>
          <a:xfrm>
            <a:off x="777240" y="4983480"/>
            <a:ext cx="6309360" cy="1188720"/>
          </a:xfrm>
          <a:prstGeom prst="rect">
            <a:avLst/>
          </a:prstGeom>
          <a:noFill/>
          <a:ln/>
        </p:spPr>
        <p:txBody>
          <a:bodyPr wrap="square" lIns="0" tIns="0" rIns="0" bIns="0" rtlCol="0" anchor="ctr"/>
          <a:lstStyle/>
          <a:p>
            <a:pPr indent="0" marL="0">
              <a:buNone/>
            </a:pPr>
            <a:r>
              <a:rPr lang="en-US" sz="1500" b="1" dirty="0">
                <a:solidFill>
                  <a:schemeClr val="tx1"/>
                </a:solidFill>
              </a:rPr>
              <a:t>In memory: </a:t>
            </a:r>
            <a:r>
              <a:rPr lang="en-US" sz="1500" dirty="0">
                <a:solidFill>
                  <a:schemeClr val="tx1"/>
                </a:solidFill>
              </a:rPr>
              <a:t>one 4-bit code per weight + one scale per block. </a:t>
            </a:r>
            <a:endParaRPr lang="en-US" sz="1500" dirty="0"/>
          </a:p>
          <a:p>
            <a:pPr indent="0" marL="0">
              <a:buNone/>
            </a:pPr>
            <a:r>
              <a:rPr lang="en-US" sz="1500" dirty="0">
                <a:solidFill>
                  <a:schemeClr val="tx2"/>
                </a:solidFill>
              </a:rPr>
              <a:t>Nothing else about the original weights is kept.</a:t>
            </a:r>
            <a:endParaRPr lang="en-US" sz="1500" dirty="0"/>
          </a:p>
        </p:txBody>
      </p:sp>
      <p:sp>
        <p:nvSpPr>
          <p:cNvPr id="43" name="consequence"/>
          <p:cNvSpPr/>
          <p:nvPr/>
        </p:nvSpPr>
        <p:spPr>
          <a:xfrm>
            <a:off x="7589520" y="4983480"/>
            <a:ext cx="4023360" cy="1188720"/>
          </a:xfrm>
          <a:prstGeom prst="roundRect">
            <a:avLst>
              <a:gd name="adj" fmla="val 9231"/>
            </a:avLst>
          </a:prstGeom>
          <a:solidFill>
            <a:schemeClr val="accent5"/>
          </a:solidFill>
          <a:ln w="12700">
            <a:solidFill>
              <a:schemeClr val="accent5"/>
            </a:solidFill>
            <a:prstDash val="solid"/>
          </a:ln>
        </p:spPr>
      </p:sp>
      <p:sp>
        <p:nvSpPr>
          <p:cNvPr id="44" name="Text 41"/>
          <p:cNvSpPr txBox="1"/>
          <p:nvPr/>
        </p:nvSpPr>
        <p:spPr>
          <a:xfrm>
            <a:off x="7818120" y="4983480"/>
            <a:ext cx="3566160" cy="1188720"/>
          </a:xfrm>
          <a:prstGeom prst="rect">
            <a:avLst/>
          </a:prstGeom>
          <a:noFill/>
          <a:ln/>
        </p:spPr>
        <p:txBody>
          <a:bodyPr wrap="square" lIns="0" tIns="0" rIns="0" bIns="0" rtlCol="0" anchor="ctr"/>
          <a:lstStyle/>
          <a:p>
            <a:pPr indent="0" marL="0">
              <a:buNone/>
            </a:pPr>
            <a:r>
              <a:rPr lang="en-US" sz="1500" b="1" dirty="0">
                <a:solidFill>
                  <a:schemeClr val="tx1"/>
                </a:solidFill>
              </a:rPr>
              <a:t>Memory, not speed. </a:t>
            </a:r>
            <a:r>
              <a:rPr lang="en-US" sz="1500" dirty="0">
                <a:solidFill>
                  <a:schemeClr val="tx1"/>
                </a:solidFill>
              </a:rPr>
              <a:t>The matmul still runs in 16-bit, after dequantizing.</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Worked example: one block of four weights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7589520" cy="914400"/>
        </p:xfrm>
        <a:graphic>
          <a:graphicData uri="http://schemas.openxmlformats.org/drawingml/2006/table">
            <a:tbl>
              <a:tblPr/>
              <a:tblGrid>
                <a:gridCol w="3017520"/>
                <a:gridCol w="1143000"/>
                <a:gridCol w="1143000"/>
                <a:gridCol w="1143000"/>
                <a:gridCol w="1143000"/>
              </a:tblGrid>
              <a:tr h="475488">
                <a:tc>
                  <a:txBody>
                    <a:bodyPr/>
                    <a:lstStyle/>
                    <a:p>
                      <a:pPr indent="0" marL="0">
                        <a:buNone/>
                      </a:pPr>
                      <a:r>
                        <a:rPr lang="en-US" sz="1500" b="1" dirty="0">
                          <a:solidFill>
                            <a:schemeClr val="bg1"/>
                          </a:solidFill>
                        </a:rPr>
                        <a:t>Step</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Weight 1</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Weight 2</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Weight 3</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Weight 4</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475488">
                <a:tc>
                  <a:txBody>
                    <a:bodyPr/>
                    <a:lstStyle/>
                    <a:p>
                      <a:pPr indent="0" marL="0">
                        <a:buNone/>
                      </a:pPr>
                      <a:r>
                        <a:rPr lang="en-US" sz="1500" dirty="0">
                          <a:solidFill>
                            <a:schemeClr val="tx1"/>
                          </a:solidFill>
                        </a:rPr>
                        <a:t>Original 16-bit weight</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−0.031</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0.012</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0.044</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−0.007</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75488">
                <a:tc>
                  <a:txBody>
                    <a:bodyPr/>
                    <a:lstStyle/>
                    <a:p>
                      <a:pPr indent="0" marL="0">
                        <a:buNone/>
                      </a:pPr>
                      <a:r>
                        <a:rPr lang="en-US" sz="1500" dirty="0">
                          <a:solidFill>
                            <a:schemeClr val="tx1"/>
                          </a:solidFill>
                        </a:rPr>
                        <a:t>Normalize: weight ÷ 0.044</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rPr>
                        <a:t>−0.705</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rPr>
                        <a:t>0.273</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rPr>
                        <a:t>1.000</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tx1"/>
                          </a:solidFill>
                        </a:rPr>
                        <a:t>−0.159</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75488">
                <a:tc>
                  <a:txBody>
                    <a:bodyPr/>
                    <a:lstStyle/>
                    <a:p>
                      <a:pPr indent="0" marL="0">
                        <a:buNone/>
                      </a:pPr>
                      <a:r>
                        <a:rPr lang="en-US" sz="1500" dirty="0">
                          <a:solidFill>
                            <a:schemeClr val="tx1"/>
                          </a:solidFill>
                        </a:rPr>
                        <a:t>Nearest NF4 level</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−0.696</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0.246</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1.000</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−0.185</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75488">
                <a:tc>
                  <a:txBody>
                    <a:bodyPr/>
                    <a:lstStyle/>
                    <a:p>
                      <a:pPr indent="0" marL="0">
                        <a:buNone/>
                      </a:pPr>
                      <a:r>
                        <a:rPr lang="en-US" sz="1500" b="1" dirty="0">
                          <a:solidFill>
                            <a:schemeClr val="accent1"/>
                          </a:solidFill>
                        </a:rPr>
                        <a:t>Stored 4-bit code (index)</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algn="r" indent="0" marL="0">
                        <a:buNone/>
                      </a:pPr>
                      <a:r>
                        <a:rPr lang="en-US" sz="1300" b="1" dirty="0">
                          <a:solidFill>
                            <a:schemeClr val="accent1"/>
                          </a:solidFill>
                          <a:latin typeface="Courier New" pitchFamily="34" charset="0"/>
                          <a:ea typeface="Courier New" pitchFamily="34" charset="-122"/>
                          <a:cs typeface="Courier New" pitchFamily="34" charset="-120"/>
                        </a:rPr>
                        <a:t>0001 (1)</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algn="r" indent="0" marL="0">
                        <a:buNone/>
                      </a:pPr>
                      <a:r>
                        <a:rPr lang="en-US" sz="1300" b="1" dirty="0">
                          <a:solidFill>
                            <a:schemeClr val="accent1"/>
                          </a:solidFill>
                          <a:latin typeface="Courier New" pitchFamily="34" charset="0"/>
                          <a:ea typeface="Courier New" pitchFamily="34" charset="-122"/>
                          <a:cs typeface="Courier New" pitchFamily="34" charset="-120"/>
                        </a:rPr>
                        <a:t>1010 (10)</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algn="r" indent="0" marL="0">
                        <a:buNone/>
                      </a:pPr>
                      <a:r>
                        <a:rPr lang="en-US" sz="1300" b="1" dirty="0">
                          <a:solidFill>
                            <a:schemeClr val="accent1"/>
                          </a:solidFill>
                          <a:latin typeface="Courier New" pitchFamily="34" charset="0"/>
                          <a:ea typeface="Courier New" pitchFamily="34" charset="-122"/>
                          <a:cs typeface="Courier New" pitchFamily="34" charset="-120"/>
                        </a:rPr>
                        <a:t>1111 (15)</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algn="r" indent="0" marL="0">
                        <a:buNone/>
                      </a:pPr>
                      <a:r>
                        <a:rPr lang="en-US" sz="1300" b="1" dirty="0">
                          <a:solidFill>
                            <a:schemeClr val="accent1"/>
                          </a:solidFill>
                          <a:latin typeface="Courier New" pitchFamily="34" charset="0"/>
                          <a:ea typeface="Courier New" pitchFamily="34" charset="-122"/>
                          <a:cs typeface="Courier New" pitchFamily="34" charset="-120"/>
                        </a:rPr>
                        <a:t>0101 (5)</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75488">
                <a:tc>
                  <a:txBody>
                    <a:bodyPr/>
                    <a:lstStyle/>
                    <a:p>
                      <a:pPr indent="0" marL="0">
                        <a:buNone/>
                      </a:pPr>
                      <a:r>
                        <a:rPr lang="en-US" sz="1500" b="1" dirty="0">
                          <a:solidFill>
                            <a:schemeClr val="accent4"/>
                          </a:solidFill>
                        </a:rPr>
                        <a:t>Dequantize: level × 0.044</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−0.0306</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0.0108</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0.0440</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r" indent="0" marL="0">
                        <a:buNone/>
                      </a:pPr>
                      <a:r>
                        <a:rPr lang="en-US" sz="1500" dirty="0">
                          <a:solidFill>
                            <a:schemeClr val="tx1"/>
                          </a:solidFill>
                        </a:rPr>
                        <a:t>−0.0081</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75488">
                <a:tc>
                  <a:txBody>
                    <a:bodyPr/>
                    <a:lstStyle/>
                    <a:p>
                      <a:pPr indent="0" marL="0">
                        <a:buNone/>
                      </a:pPr>
                      <a:r>
                        <a:rPr lang="en-US" sz="1500" dirty="0">
                          <a:solidFill>
                            <a:schemeClr val="tx1"/>
                          </a:solidFill>
                        </a:rPr>
                        <a:t>Error (dequantized − original)</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accent3"/>
                          </a:solidFill>
                        </a:rPr>
                        <a:t>+0.0004</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accent3"/>
                          </a:solidFill>
                        </a:rPr>
                        <a:t>−0.0012</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algn="r" indent="0" marL="0">
                        <a:buNone/>
                      </a:pPr>
                      <a:r>
                        <a:rPr lang="en-US" sz="1500" b="1" dirty="0">
                          <a:solidFill>
                            <a:schemeClr val="accent1"/>
                          </a:solidFill>
                        </a:rPr>
                        <a:t>0.0000</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algn="r" indent="0" marL="0">
                        <a:buNone/>
                      </a:pPr>
                      <a:r>
                        <a:rPr lang="en-US" sz="1500" dirty="0">
                          <a:solidFill>
                            <a:schemeClr val="accent3"/>
                          </a:solidFill>
                        </a:rPr>
                        <a:t>−0.0011</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bl>
          </a:graphicData>
        </a:graphic>
      </p:graphicFrame>
      <p:sp>
        <p:nvSpPr>
          <p:cNvPr id="5" name="error"/>
          <p:cNvSpPr/>
          <p:nvPr/>
        </p:nvSpPr>
        <p:spPr>
          <a:xfrm>
            <a:off x="548640" y="4846320"/>
            <a:ext cx="7589520" cy="1325880"/>
          </a:xfrm>
          <a:prstGeom prst="roundRect">
            <a:avLst>
              <a:gd name="adj" fmla="val 8276"/>
            </a:avLst>
          </a:prstGeom>
          <a:solidFill>
            <a:schemeClr val="accent5"/>
          </a:solidFill>
          <a:ln w="12700">
            <a:solidFill>
              <a:schemeClr val="accent5"/>
            </a:solidFill>
            <a:prstDash val="solid"/>
          </a:ln>
        </p:spPr>
      </p:sp>
      <p:sp>
        <p:nvSpPr>
          <p:cNvPr id="6" name="Text 2"/>
          <p:cNvSpPr txBox="1"/>
          <p:nvPr/>
        </p:nvSpPr>
        <p:spPr>
          <a:xfrm>
            <a:off x="777240" y="4846320"/>
            <a:ext cx="7132320" cy="1325880"/>
          </a:xfrm>
          <a:prstGeom prst="rect">
            <a:avLst/>
          </a:prstGeom>
          <a:noFill/>
          <a:ln/>
        </p:spPr>
        <p:txBody>
          <a:bodyPr wrap="square" lIns="0" tIns="0" rIns="0" bIns="0" rtlCol="0" anchor="ctr"/>
          <a:lstStyle/>
          <a:p>
            <a:pPr indent="0" marL="0">
              <a:buNone/>
            </a:pPr>
            <a:r>
              <a:rPr lang="en-US" sz="1500" b="1" dirty="0">
                <a:solidFill>
                  <a:schemeClr val="tx1"/>
                </a:solidFill>
              </a:rPr>
              <a:t>The largest weight comes back exactly: </a:t>
            </a:r>
            <a:r>
              <a:rPr lang="en-US" sz="1500" dirty="0">
                <a:solidFill>
                  <a:schemeClr val="tx1"/>
                </a:solidFill>
              </a:rPr>
              <a:t>after normalizing it sits on the level 1.0. The others come back close, not equal. That gap is the </a:t>
            </a:r>
            <a:r>
              <a:rPr lang="en-US" sz="1500" b="1" dirty="0">
                <a:solidFill>
                  <a:schemeClr val="tx1"/>
                </a:solidFill>
              </a:rPr>
              <a:t>rounding error</a:t>
            </a:r>
            <a:r>
              <a:rPr lang="en-US" sz="1500" dirty="0">
                <a:solidFill>
                  <a:schemeClr val="tx1"/>
                </a:solidFill>
              </a:rPr>
              <a:t>, the price of compression.</a:t>
            </a:r>
            <a:endParaRPr lang="en-US" sz="1500" dirty="0"/>
          </a:p>
        </p:txBody>
      </p:sp>
      <p:sp>
        <p:nvSpPr>
          <p:cNvPr id="7" name="Text 3"/>
          <p:cNvSpPr txBox="1"/>
          <p:nvPr/>
        </p:nvSpPr>
        <p:spPr>
          <a:xfrm>
            <a:off x="8412480" y="1280160"/>
            <a:ext cx="3200400" cy="365760"/>
          </a:xfrm>
          <a:prstGeom prst="rect">
            <a:avLst/>
          </a:prstGeom>
          <a:noFill/>
          <a:ln/>
        </p:spPr>
        <p:txBody>
          <a:bodyPr wrap="square" lIns="0" tIns="0" rIns="0" bIns="0" rtlCol="0" anchor="t"/>
          <a:lstStyle/>
          <a:p>
            <a:pPr indent="0" marL="0">
              <a:buNone/>
            </a:pPr>
            <a:r>
              <a:rPr lang="en-US" sz="1600" b="1" dirty="0">
                <a:solidFill>
                  <a:schemeClr val="tx1"/>
                </a:solidFill>
              </a:rPr>
              <a:t>What was saved, per block of 64</a:t>
            </a:r>
            <a:endParaRPr lang="en-US" sz="1600" dirty="0"/>
          </a:p>
        </p:txBody>
      </p:sp>
      <p:sp>
        <p:nvSpPr>
          <p:cNvPr id="8" name="64 weights × 16 bits"/>
          <p:cNvSpPr/>
          <p:nvPr/>
        </p:nvSpPr>
        <p:spPr>
          <a:xfrm>
            <a:off x="8412480" y="1737360"/>
            <a:ext cx="3200400" cy="1280160"/>
          </a:xfrm>
          <a:prstGeom prst="roundRect">
            <a:avLst>
              <a:gd name="adj" fmla="val 8571"/>
            </a:avLst>
          </a:prstGeom>
          <a:solidFill>
            <a:schemeClr val="bg2"/>
          </a:solidFill>
          <a:ln w="12700">
            <a:solidFill>
              <a:schemeClr val="bg2"/>
            </a:solidFill>
            <a:prstDash val="solid"/>
          </a:ln>
        </p:spPr>
      </p:sp>
      <p:sp>
        <p:nvSpPr>
          <p:cNvPr id="9" name="Text 5"/>
          <p:cNvSpPr txBox="1"/>
          <p:nvPr/>
        </p:nvSpPr>
        <p:spPr>
          <a:xfrm>
            <a:off x="8641080" y="1847088"/>
            <a:ext cx="2743200" cy="640080"/>
          </a:xfrm>
          <a:prstGeom prst="rect">
            <a:avLst/>
          </a:prstGeom>
          <a:noFill/>
          <a:ln/>
        </p:spPr>
        <p:txBody>
          <a:bodyPr wrap="square" lIns="0" tIns="0" rIns="0" bIns="0" rtlCol="0" anchor="b"/>
          <a:lstStyle/>
          <a:p>
            <a:pPr indent="0" marL="0">
              <a:buNone/>
            </a:pPr>
            <a:r>
              <a:rPr lang="en-US" sz="2800" b="1" dirty="0">
                <a:solidFill>
                  <a:schemeClr val="tx2"/>
                </a:solidFill>
                <a:latin typeface="Cambria" pitchFamily="34" charset="0"/>
                <a:ea typeface="Cambria" pitchFamily="34" charset="-122"/>
                <a:cs typeface="Cambria" pitchFamily="34" charset="-120"/>
              </a:rPr>
              <a:t>1024 bits</a:t>
            </a:r>
            <a:endParaRPr lang="en-US" sz="2800" dirty="0"/>
          </a:p>
        </p:txBody>
      </p:sp>
      <p:sp>
        <p:nvSpPr>
          <p:cNvPr id="10" name="Text 6"/>
          <p:cNvSpPr txBox="1"/>
          <p:nvPr/>
        </p:nvSpPr>
        <p:spPr>
          <a:xfrm>
            <a:off x="8641080" y="2542032"/>
            <a:ext cx="2743200" cy="384048"/>
          </a:xfrm>
          <a:prstGeom prst="rect">
            <a:avLst/>
          </a:prstGeom>
          <a:noFill/>
          <a:ln/>
        </p:spPr>
        <p:txBody>
          <a:bodyPr wrap="square" lIns="0" tIns="0" rIns="0" bIns="0" rtlCol="0" anchor="t"/>
          <a:lstStyle/>
          <a:p>
            <a:pPr indent="0" marL="0">
              <a:buNone/>
            </a:pPr>
            <a:r>
              <a:rPr lang="en-US" sz="1400" dirty="0">
                <a:solidFill>
                  <a:schemeClr val="tx2"/>
                </a:solidFill>
              </a:rPr>
              <a:t>64 weights × 16 bits</a:t>
            </a:r>
            <a:endParaRPr lang="en-US" sz="1400" dirty="0"/>
          </a:p>
        </p:txBody>
      </p:sp>
      <p:sp>
        <p:nvSpPr>
          <p:cNvPr id="11" name="64 × 4-bit codes + one 32-bit scale"/>
          <p:cNvSpPr/>
          <p:nvPr/>
        </p:nvSpPr>
        <p:spPr>
          <a:xfrm>
            <a:off x="8412480" y="3154680"/>
            <a:ext cx="3200400" cy="1280160"/>
          </a:xfrm>
          <a:prstGeom prst="roundRect">
            <a:avLst>
              <a:gd name="adj" fmla="val 8571"/>
            </a:avLst>
          </a:prstGeom>
          <a:solidFill>
            <a:srgbClr val="DCEFF0"/>
          </a:solidFill>
          <a:ln w="12700">
            <a:solidFill>
              <a:srgbClr val="DCEFF0"/>
            </a:solidFill>
            <a:prstDash val="solid"/>
          </a:ln>
        </p:spPr>
      </p:sp>
      <p:sp>
        <p:nvSpPr>
          <p:cNvPr id="12" name="Text 8"/>
          <p:cNvSpPr txBox="1"/>
          <p:nvPr/>
        </p:nvSpPr>
        <p:spPr>
          <a:xfrm>
            <a:off x="8641080" y="3264408"/>
            <a:ext cx="2743200" cy="640080"/>
          </a:xfrm>
          <a:prstGeom prst="rect">
            <a:avLst/>
          </a:prstGeom>
          <a:noFill/>
          <a:ln/>
        </p:spPr>
        <p:txBody>
          <a:bodyPr wrap="square" lIns="0" tIns="0" rIns="0" bIns="0" rtlCol="0" anchor="b"/>
          <a:lstStyle/>
          <a:p>
            <a:pPr indent="0" marL="0">
              <a:buNone/>
            </a:pPr>
            <a:r>
              <a:rPr lang="en-US" sz="2800" b="1" dirty="0">
                <a:solidFill>
                  <a:schemeClr val="accent1"/>
                </a:solidFill>
                <a:latin typeface="Cambria" pitchFamily="34" charset="0"/>
                <a:ea typeface="Cambria" pitchFamily="34" charset="-122"/>
                <a:cs typeface="Cambria" pitchFamily="34" charset="-120"/>
              </a:rPr>
              <a:t>288 bits</a:t>
            </a:r>
            <a:endParaRPr lang="en-US" sz="2800" dirty="0"/>
          </a:p>
        </p:txBody>
      </p:sp>
      <p:sp>
        <p:nvSpPr>
          <p:cNvPr id="13" name="Text 9"/>
          <p:cNvSpPr txBox="1"/>
          <p:nvPr/>
        </p:nvSpPr>
        <p:spPr>
          <a:xfrm>
            <a:off x="8641080" y="3959352"/>
            <a:ext cx="2743200" cy="384048"/>
          </a:xfrm>
          <a:prstGeom prst="rect">
            <a:avLst/>
          </a:prstGeom>
          <a:noFill/>
          <a:ln/>
        </p:spPr>
        <p:txBody>
          <a:bodyPr wrap="square" lIns="0" tIns="0" rIns="0" bIns="0" rtlCol="0" anchor="t"/>
          <a:lstStyle/>
          <a:p>
            <a:pPr indent="0" marL="0">
              <a:buNone/>
            </a:pPr>
            <a:r>
              <a:rPr lang="en-US" sz="1400" dirty="0">
                <a:solidFill>
                  <a:schemeClr val="tx2"/>
                </a:solidFill>
              </a:rPr>
              <a:t>64 × 4-bit codes + one 32-bit scale</a:t>
            </a:r>
            <a:endParaRPr lang="en-US" sz="1400" dirty="0"/>
          </a:p>
        </p:txBody>
      </p:sp>
      <p:sp>
        <p:nvSpPr>
          <p:cNvPr id="14" name="per weight: the scale adds 0.5 bit; double quantization shrinks that"/>
          <p:cNvSpPr/>
          <p:nvPr/>
        </p:nvSpPr>
        <p:spPr>
          <a:xfrm>
            <a:off x="8412480" y="4572000"/>
            <a:ext cx="3200400" cy="1600200"/>
          </a:xfrm>
          <a:prstGeom prst="roundRect">
            <a:avLst>
              <a:gd name="adj" fmla="val 6857"/>
            </a:avLst>
          </a:prstGeom>
          <a:solidFill>
            <a:schemeClr val="bg2"/>
          </a:solidFill>
          <a:ln w="12700">
            <a:solidFill>
              <a:schemeClr val="bg2"/>
            </a:solidFill>
            <a:prstDash val="solid"/>
          </a:ln>
        </p:spPr>
      </p:sp>
      <p:sp>
        <p:nvSpPr>
          <p:cNvPr id="15" name="Text 11"/>
          <p:cNvSpPr txBox="1"/>
          <p:nvPr/>
        </p:nvSpPr>
        <p:spPr>
          <a:xfrm>
            <a:off x="8641080" y="4681728"/>
            <a:ext cx="2743200" cy="640080"/>
          </a:xfrm>
          <a:prstGeom prst="rect">
            <a:avLst/>
          </a:prstGeom>
          <a:noFill/>
          <a:ln/>
        </p:spPr>
        <p:txBody>
          <a:bodyPr wrap="square" lIns="0" tIns="0" rIns="0" bIns="0" rtlCol="0" anchor="b"/>
          <a:lstStyle/>
          <a:p>
            <a:pPr indent="0" marL="0">
              <a:buNone/>
            </a:pPr>
            <a:r>
              <a:rPr lang="en-US" sz="2800" b="1" dirty="0">
                <a:solidFill>
                  <a:schemeClr val="accent1"/>
                </a:solidFill>
                <a:latin typeface="Cambria" pitchFamily="34" charset="0"/>
                <a:ea typeface="Cambria" pitchFamily="34" charset="-122"/>
                <a:cs typeface="Cambria" pitchFamily="34" charset="-120"/>
              </a:rPr>
              <a:t>4.5 bits</a:t>
            </a:r>
            <a:endParaRPr lang="en-US" sz="2800" dirty="0"/>
          </a:p>
        </p:txBody>
      </p:sp>
      <p:sp>
        <p:nvSpPr>
          <p:cNvPr id="16" name="Text 12"/>
          <p:cNvSpPr txBox="1"/>
          <p:nvPr/>
        </p:nvSpPr>
        <p:spPr>
          <a:xfrm>
            <a:off x="8641080" y="5376672"/>
            <a:ext cx="2743200" cy="704088"/>
          </a:xfrm>
          <a:prstGeom prst="rect">
            <a:avLst/>
          </a:prstGeom>
          <a:noFill/>
          <a:ln/>
        </p:spPr>
        <p:txBody>
          <a:bodyPr wrap="square" lIns="0" tIns="0" rIns="0" bIns="0" rtlCol="0" anchor="t"/>
          <a:lstStyle/>
          <a:p>
            <a:pPr indent="0" marL="0">
              <a:buNone/>
            </a:pPr>
            <a:r>
              <a:rPr lang="en-US" sz="1400" dirty="0">
                <a:solidFill>
                  <a:schemeClr val="tx2"/>
                </a:solidFill>
              </a:rPr>
              <a:t>per weight: the scale adds 0.5 bit; double quantization shrinks that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allowed levels: int8, int4 and NF4</a:t>
            </a:r>
            <a:endParaRPr lang="en-US" sz="3200" dirty="0"/>
          </a:p>
        </p:txBody>
      </p:sp>
      <p:sp>
        <p:nvSpPr>
          <p:cNvPr id="4" name="int8"/>
          <p:cNvSpPr/>
          <p:nvPr/>
        </p:nvSpPr>
        <p:spPr>
          <a:xfrm>
            <a:off x="548640" y="1280160"/>
            <a:ext cx="3474720" cy="1691640"/>
          </a:xfrm>
          <a:prstGeom prst="roundRect">
            <a:avLst>
              <a:gd name="adj" fmla="val 6486"/>
            </a:avLst>
          </a:prstGeom>
          <a:solidFill>
            <a:schemeClr val="bg2"/>
          </a:solidFill>
          <a:ln w="12700">
            <a:solidFill>
              <a:schemeClr val="bg2"/>
            </a:solidFill>
            <a:prstDash val="solid"/>
          </a:ln>
        </p:spPr>
      </p:sp>
      <p:sp>
        <p:nvSpPr>
          <p:cNvPr id="5" name="Text 2"/>
          <p:cNvSpPr txBox="1"/>
          <p:nvPr/>
        </p:nvSpPr>
        <p:spPr>
          <a:xfrm>
            <a:off x="777240" y="1371600"/>
            <a:ext cx="3108960" cy="50292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int8</a:t>
            </a:r>
            <a:r>
              <a:rPr lang="en-US" sz="1400" dirty="0">
                <a:solidFill>
                  <a:schemeClr val="tx2"/>
                </a:solidFill>
              </a:rPr>
              <a:t>   8 bits · 255 levels</a:t>
            </a:r>
            <a:endParaRPr lang="en-US" sz="1600" dirty="0"/>
          </a:p>
        </p:txBody>
      </p:sp>
      <p:sp>
        <p:nvSpPr>
          <p:cNvPr id="6" name="Text 3"/>
          <p:cNvSpPr txBox="1"/>
          <p:nvPr/>
        </p:nvSpPr>
        <p:spPr>
          <a:xfrm>
            <a:off x="777240" y="1920240"/>
            <a:ext cx="3063240" cy="960120"/>
          </a:xfrm>
          <a:prstGeom prst="rect">
            <a:avLst/>
          </a:prstGeom>
          <a:noFill/>
          <a:ln/>
        </p:spPr>
        <p:txBody>
          <a:bodyPr wrap="square" lIns="0" tIns="0" rIns="0" bIns="0" rtlCol="0" anchor="t"/>
          <a:lstStyle/>
          <a:p>
            <a:pPr indent="0" marL="0">
              <a:buNone/>
            </a:pPr>
            <a:r>
              <a:rPr lang="en-US" sz="1500" dirty="0">
                <a:solidFill>
                  <a:schemeClr val="tx1"/>
                </a:solidFill>
              </a:rPr>
              <a:t>Even, about 0.008 apart: so close that the rounding error is small.</a:t>
            </a:r>
            <a:endParaRPr lang="en-US" sz="1500" dirty="0"/>
          </a:p>
        </p:txBody>
      </p:sp>
      <p:sp>
        <p:nvSpPr>
          <p:cNvPr id="7" name="int4"/>
          <p:cNvSpPr/>
          <p:nvPr/>
        </p:nvSpPr>
        <p:spPr>
          <a:xfrm>
            <a:off x="4297680" y="1280160"/>
            <a:ext cx="3474720" cy="1691640"/>
          </a:xfrm>
          <a:prstGeom prst="roundRect">
            <a:avLst>
              <a:gd name="adj" fmla="val 6486"/>
            </a:avLst>
          </a:prstGeom>
          <a:solidFill>
            <a:schemeClr val="accent6"/>
          </a:solidFill>
          <a:ln w="12700">
            <a:solidFill>
              <a:schemeClr val="accent6"/>
            </a:solidFill>
            <a:prstDash val="solid"/>
          </a:ln>
        </p:spPr>
      </p:sp>
      <p:sp>
        <p:nvSpPr>
          <p:cNvPr id="8" name="Text 5"/>
          <p:cNvSpPr txBox="1"/>
          <p:nvPr/>
        </p:nvSpPr>
        <p:spPr>
          <a:xfrm>
            <a:off x="4526280" y="1371600"/>
            <a:ext cx="3108960" cy="502920"/>
          </a:xfrm>
          <a:prstGeom prst="rect">
            <a:avLst/>
          </a:prstGeom>
          <a:noFill/>
          <a:ln/>
        </p:spPr>
        <p:txBody>
          <a:bodyPr wrap="square" lIns="0" tIns="0" rIns="0" bIns="0" rtlCol="0" anchor="ctr"/>
          <a:lstStyle/>
          <a:p>
            <a:pPr indent="0" marL="0">
              <a:buNone/>
            </a:pPr>
            <a:r>
              <a:rPr lang="en-US" sz="2400" b="1" dirty="0">
                <a:solidFill>
                  <a:schemeClr val="accent3"/>
                </a:solidFill>
                <a:latin typeface="Cambria" pitchFamily="34" charset="0"/>
                <a:ea typeface="Cambria" pitchFamily="34" charset="-122"/>
                <a:cs typeface="Cambria" pitchFamily="34" charset="-120"/>
              </a:rPr>
              <a:t>int4</a:t>
            </a:r>
            <a:r>
              <a:rPr lang="en-US" sz="1400" dirty="0">
                <a:solidFill>
                  <a:schemeClr val="tx2"/>
                </a:solidFill>
              </a:rPr>
              <a:t>   4 bits · 15 levels</a:t>
            </a:r>
            <a:endParaRPr lang="en-US" sz="1600" dirty="0"/>
          </a:p>
        </p:txBody>
      </p:sp>
      <p:sp>
        <p:nvSpPr>
          <p:cNvPr id="9" name="Text 6"/>
          <p:cNvSpPr txBox="1"/>
          <p:nvPr/>
        </p:nvSpPr>
        <p:spPr>
          <a:xfrm>
            <a:off x="4526280" y="1920240"/>
            <a:ext cx="3063240" cy="960120"/>
          </a:xfrm>
          <a:prstGeom prst="rect">
            <a:avLst/>
          </a:prstGeom>
          <a:noFill/>
          <a:ln/>
        </p:spPr>
        <p:txBody>
          <a:bodyPr wrap="square" lIns="0" tIns="0" rIns="0" bIns="0" rtlCol="0" anchor="t"/>
          <a:lstStyle/>
          <a:p>
            <a:pPr indent="0" marL="0">
              <a:buNone/>
            </a:pPr>
            <a:r>
              <a:rPr lang="en-US" sz="1500" dirty="0">
                <a:solidFill>
                  <a:schemeClr val="tx1"/>
                </a:solidFill>
              </a:rPr>
              <a:t>Even, about 0.14 apart: gaps about 18× larger than int8.</a:t>
            </a:r>
            <a:endParaRPr lang="en-US" sz="1500" dirty="0"/>
          </a:p>
        </p:txBody>
      </p:sp>
      <p:sp>
        <p:nvSpPr>
          <p:cNvPr id="10" name="NF4"/>
          <p:cNvSpPr/>
          <p:nvPr/>
        </p:nvSpPr>
        <p:spPr>
          <a:xfrm>
            <a:off x="8046720" y="1280160"/>
            <a:ext cx="3474720" cy="1691640"/>
          </a:xfrm>
          <a:prstGeom prst="roundRect">
            <a:avLst>
              <a:gd name="adj" fmla="val 6486"/>
            </a:avLst>
          </a:prstGeom>
          <a:solidFill>
            <a:srgbClr val="DCEFF0"/>
          </a:solidFill>
          <a:ln w="12700">
            <a:solidFill>
              <a:srgbClr val="DCEFF0"/>
            </a:solidFill>
            <a:prstDash val="solid"/>
          </a:ln>
        </p:spPr>
      </p:sp>
      <p:sp>
        <p:nvSpPr>
          <p:cNvPr id="11" name="Text 8"/>
          <p:cNvSpPr txBox="1"/>
          <p:nvPr/>
        </p:nvSpPr>
        <p:spPr>
          <a:xfrm>
            <a:off x="8275320" y="1371600"/>
            <a:ext cx="3108960" cy="5029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NF4</a:t>
            </a:r>
            <a:r>
              <a:rPr lang="en-US" sz="1400" dirty="0">
                <a:solidFill>
                  <a:schemeClr val="tx2"/>
                </a:solidFill>
              </a:rPr>
              <a:t>   4 bits · 16 levels</a:t>
            </a:r>
            <a:endParaRPr lang="en-US" sz="1600" dirty="0"/>
          </a:p>
        </p:txBody>
      </p:sp>
      <p:sp>
        <p:nvSpPr>
          <p:cNvPr id="12" name="Text 9"/>
          <p:cNvSpPr txBox="1"/>
          <p:nvPr/>
        </p:nvSpPr>
        <p:spPr>
          <a:xfrm>
            <a:off x="8275320" y="1920240"/>
            <a:ext cx="3063240" cy="960120"/>
          </a:xfrm>
          <a:prstGeom prst="rect">
            <a:avLst/>
          </a:prstGeom>
          <a:noFill/>
          <a:ln/>
        </p:spPr>
        <p:txBody>
          <a:bodyPr wrap="square" lIns="0" tIns="0" rIns="0" bIns="0" rtlCol="0" anchor="t"/>
          <a:lstStyle/>
          <a:p>
            <a:pPr indent="0" marL="0">
              <a:buNone/>
            </a:pPr>
            <a:r>
              <a:rPr lang="en-US" sz="1500" dirty="0">
                <a:solidFill>
                  <a:schemeClr val="tx1"/>
                </a:solidFill>
              </a:rPr>
              <a:t>Uneven: dense near 0 (≈ 0.08), sparse near ±1 (≈ 0.3).</a:t>
            </a:r>
            <a:endParaRPr lang="en-US" sz="1500" dirty="0"/>
          </a:p>
        </p:txBody>
      </p:sp>
      <p:sp>
        <p:nvSpPr>
          <p:cNvPr id="13" name="Text 10"/>
          <p:cNvSpPr txBox="1"/>
          <p:nvPr/>
        </p:nvSpPr>
        <p:spPr>
          <a:xfrm>
            <a:off x="548640" y="3337560"/>
            <a:ext cx="1097280" cy="457200"/>
          </a:xfrm>
          <a:prstGeom prst="rect">
            <a:avLst/>
          </a:prstGeom>
          <a:noFill/>
          <a:ln/>
        </p:spPr>
        <p:txBody>
          <a:bodyPr wrap="square" lIns="0" tIns="0" rIns="0" bIns="0" rtlCol="0" anchor="ctr"/>
          <a:lstStyle/>
          <a:p>
            <a:pPr indent="0" marL="0">
              <a:buNone/>
            </a:pPr>
            <a:r>
              <a:rPr lang="en-US" sz="1600" b="1" dirty="0">
                <a:solidFill>
                  <a:schemeClr val="tx2"/>
                </a:solidFill>
              </a:rPr>
              <a:t>int8</a:t>
            </a:r>
            <a:endParaRPr lang="en-US" sz="1600" dirty="0"/>
          </a:p>
        </p:txBody>
      </p:sp>
      <p:sp>
        <p:nvSpPr>
          <p:cNvPr id="14" name="Shape 11"/>
          <p:cNvSpPr/>
          <p:nvPr/>
        </p:nvSpPr>
        <p:spPr>
          <a:xfrm>
            <a:off x="1828800" y="3566160"/>
            <a:ext cx="9601200" cy="0"/>
          </a:xfrm>
          <a:prstGeom prst="line">
            <a:avLst/>
          </a:prstGeom>
          <a:noFill/>
          <a:ln w="12700">
            <a:solidFill>
              <a:srgbClr val="C9CFDA"/>
            </a:solidFill>
            <a:prstDash val="solid"/>
          </a:ln>
        </p:spPr>
      </p:sp>
      <p:sp>
        <p:nvSpPr>
          <p:cNvPr id="15" name="Shape 12"/>
          <p:cNvSpPr/>
          <p:nvPr/>
        </p:nvSpPr>
        <p:spPr>
          <a:xfrm>
            <a:off x="1828800" y="3337560"/>
            <a:ext cx="0" cy="457200"/>
          </a:xfrm>
          <a:prstGeom prst="line">
            <a:avLst/>
          </a:prstGeom>
          <a:noFill/>
          <a:ln w="6350">
            <a:solidFill>
              <a:schemeClr val="tx2"/>
            </a:solidFill>
            <a:prstDash val="solid"/>
          </a:ln>
        </p:spPr>
      </p:sp>
      <p:sp>
        <p:nvSpPr>
          <p:cNvPr id="16" name="Shape 13"/>
          <p:cNvSpPr/>
          <p:nvPr/>
        </p:nvSpPr>
        <p:spPr>
          <a:xfrm>
            <a:off x="1866600" y="3337560"/>
            <a:ext cx="0" cy="457200"/>
          </a:xfrm>
          <a:prstGeom prst="line">
            <a:avLst/>
          </a:prstGeom>
          <a:noFill/>
          <a:ln w="6350">
            <a:solidFill>
              <a:schemeClr val="tx2"/>
            </a:solidFill>
            <a:prstDash val="solid"/>
          </a:ln>
        </p:spPr>
      </p:sp>
      <p:sp>
        <p:nvSpPr>
          <p:cNvPr id="17" name="Shape 14"/>
          <p:cNvSpPr/>
          <p:nvPr/>
        </p:nvSpPr>
        <p:spPr>
          <a:xfrm>
            <a:off x="1904400" y="3337560"/>
            <a:ext cx="0" cy="457200"/>
          </a:xfrm>
          <a:prstGeom prst="line">
            <a:avLst/>
          </a:prstGeom>
          <a:noFill/>
          <a:ln w="6350">
            <a:solidFill>
              <a:schemeClr val="tx2"/>
            </a:solidFill>
            <a:prstDash val="solid"/>
          </a:ln>
        </p:spPr>
      </p:sp>
      <p:sp>
        <p:nvSpPr>
          <p:cNvPr id="18" name="Shape 15"/>
          <p:cNvSpPr/>
          <p:nvPr/>
        </p:nvSpPr>
        <p:spPr>
          <a:xfrm>
            <a:off x="1942200" y="3337560"/>
            <a:ext cx="0" cy="457200"/>
          </a:xfrm>
          <a:prstGeom prst="line">
            <a:avLst/>
          </a:prstGeom>
          <a:noFill/>
          <a:ln w="6350">
            <a:solidFill>
              <a:schemeClr val="tx2"/>
            </a:solidFill>
            <a:prstDash val="solid"/>
          </a:ln>
        </p:spPr>
      </p:sp>
      <p:sp>
        <p:nvSpPr>
          <p:cNvPr id="19" name="Shape 16"/>
          <p:cNvSpPr/>
          <p:nvPr/>
        </p:nvSpPr>
        <p:spPr>
          <a:xfrm>
            <a:off x="1980000" y="3337560"/>
            <a:ext cx="0" cy="457200"/>
          </a:xfrm>
          <a:prstGeom prst="line">
            <a:avLst/>
          </a:prstGeom>
          <a:noFill/>
          <a:ln w="6350">
            <a:solidFill>
              <a:schemeClr val="tx2"/>
            </a:solidFill>
            <a:prstDash val="solid"/>
          </a:ln>
        </p:spPr>
      </p:sp>
      <p:sp>
        <p:nvSpPr>
          <p:cNvPr id="20" name="Shape 17"/>
          <p:cNvSpPr/>
          <p:nvPr/>
        </p:nvSpPr>
        <p:spPr>
          <a:xfrm>
            <a:off x="2017800" y="3337560"/>
            <a:ext cx="0" cy="457200"/>
          </a:xfrm>
          <a:prstGeom prst="line">
            <a:avLst/>
          </a:prstGeom>
          <a:noFill/>
          <a:ln w="6350">
            <a:solidFill>
              <a:schemeClr val="tx2"/>
            </a:solidFill>
            <a:prstDash val="solid"/>
          </a:ln>
        </p:spPr>
      </p:sp>
      <p:sp>
        <p:nvSpPr>
          <p:cNvPr id="21" name="Shape 18"/>
          <p:cNvSpPr/>
          <p:nvPr/>
        </p:nvSpPr>
        <p:spPr>
          <a:xfrm>
            <a:off x="2055600" y="3337560"/>
            <a:ext cx="0" cy="457200"/>
          </a:xfrm>
          <a:prstGeom prst="line">
            <a:avLst/>
          </a:prstGeom>
          <a:noFill/>
          <a:ln w="6350">
            <a:solidFill>
              <a:schemeClr val="tx2"/>
            </a:solidFill>
            <a:prstDash val="solid"/>
          </a:ln>
        </p:spPr>
      </p:sp>
      <p:sp>
        <p:nvSpPr>
          <p:cNvPr id="22" name="Shape 19"/>
          <p:cNvSpPr/>
          <p:nvPr/>
        </p:nvSpPr>
        <p:spPr>
          <a:xfrm>
            <a:off x="2093400" y="3337560"/>
            <a:ext cx="0" cy="457200"/>
          </a:xfrm>
          <a:prstGeom prst="line">
            <a:avLst/>
          </a:prstGeom>
          <a:noFill/>
          <a:ln w="6350">
            <a:solidFill>
              <a:schemeClr val="tx2"/>
            </a:solidFill>
            <a:prstDash val="solid"/>
          </a:ln>
        </p:spPr>
      </p:sp>
      <p:sp>
        <p:nvSpPr>
          <p:cNvPr id="23" name="Shape 20"/>
          <p:cNvSpPr/>
          <p:nvPr/>
        </p:nvSpPr>
        <p:spPr>
          <a:xfrm>
            <a:off x="2131200" y="3337560"/>
            <a:ext cx="0" cy="457200"/>
          </a:xfrm>
          <a:prstGeom prst="line">
            <a:avLst/>
          </a:prstGeom>
          <a:noFill/>
          <a:ln w="6350">
            <a:solidFill>
              <a:schemeClr val="tx2"/>
            </a:solidFill>
            <a:prstDash val="solid"/>
          </a:ln>
        </p:spPr>
      </p:sp>
      <p:sp>
        <p:nvSpPr>
          <p:cNvPr id="24" name="Shape 21"/>
          <p:cNvSpPr/>
          <p:nvPr/>
        </p:nvSpPr>
        <p:spPr>
          <a:xfrm>
            <a:off x="2169000" y="3337560"/>
            <a:ext cx="0" cy="457200"/>
          </a:xfrm>
          <a:prstGeom prst="line">
            <a:avLst/>
          </a:prstGeom>
          <a:noFill/>
          <a:ln w="6350">
            <a:solidFill>
              <a:schemeClr val="tx2"/>
            </a:solidFill>
            <a:prstDash val="solid"/>
          </a:ln>
        </p:spPr>
      </p:sp>
      <p:sp>
        <p:nvSpPr>
          <p:cNvPr id="25" name="Shape 22"/>
          <p:cNvSpPr/>
          <p:nvPr/>
        </p:nvSpPr>
        <p:spPr>
          <a:xfrm>
            <a:off x="2206800" y="3337560"/>
            <a:ext cx="0" cy="457200"/>
          </a:xfrm>
          <a:prstGeom prst="line">
            <a:avLst/>
          </a:prstGeom>
          <a:noFill/>
          <a:ln w="6350">
            <a:solidFill>
              <a:schemeClr val="tx2"/>
            </a:solidFill>
            <a:prstDash val="solid"/>
          </a:ln>
        </p:spPr>
      </p:sp>
      <p:sp>
        <p:nvSpPr>
          <p:cNvPr id="26" name="Shape 23"/>
          <p:cNvSpPr/>
          <p:nvPr/>
        </p:nvSpPr>
        <p:spPr>
          <a:xfrm>
            <a:off x="2244600" y="3337560"/>
            <a:ext cx="0" cy="457200"/>
          </a:xfrm>
          <a:prstGeom prst="line">
            <a:avLst/>
          </a:prstGeom>
          <a:noFill/>
          <a:ln w="6350">
            <a:solidFill>
              <a:schemeClr val="tx2"/>
            </a:solidFill>
            <a:prstDash val="solid"/>
          </a:ln>
        </p:spPr>
      </p:sp>
      <p:sp>
        <p:nvSpPr>
          <p:cNvPr id="27" name="Shape 24"/>
          <p:cNvSpPr/>
          <p:nvPr/>
        </p:nvSpPr>
        <p:spPr>
          <a:xfrm>
            <a:off x="2282400" y="3337560"/>
            <a:ext cx="0" cy="457200"/>
          </a:xfrm>
          <a:prstGeom prst="line">
            <a:avLst/>
          </a:prstGeom>
          <a:noFill/>
          <a:ln w="6350">
            <a:solidFill>
              <a:schemeClr val="tx2"/>
            </a:solidFill>
            <a:prstDash val="solid"/>
          </a:ln>
        </p:spPr>
      </p:sp>
      <p:sp>
        <p:nvSpPr>
          <p:cNvPr id="28" name="Shape 25"/>
          <p:cNvSpPr/>
          <p:nvPr/>
        </p:nvSpPr>
        <p:spPr>
          <a:xfrm>
            <a:off x="2320200" y="3337560"/>
            <a:ext cx="0" cy="457200"/>
          </a:xfrm>
          <a:prstGeom prst="line">
            <a:avLst/>
          </a:prstGeom>
          <a:noFill/>
          <a:ln w="6350">
            <a:solidFill>
              <a:schemeClr val="tx2"/>
            </a:solidFill>
            <a:prstDash val="solid"/>
          </a:ln>
        </p:spPr>
      </p:sp>
      <p:sp>
        <p:nvSpPr>
          <p:cNvPr id="29" name="Shape 26"/>
          <p:cNvSpPr/>
          <p:nvPr/>
        </p:nvSpPr>
        <p:spPr>
          <a:xfrm>
            <a:off x="2358000" y="3337560"/>
            <a:ext cx="0" cy="457200"/>
          </a:xfrm>
          <a:prstGeom prst="line">
            <a:avLst/>
          </a:prstGeom>
          <a:noFill/>
          <a:ln w="6350">
            <a:solidFill>
              <a:schemeClr val="tx2"/>
            </a:solidFill>
            <a:prstDash val="solid"/>
          </a:ln>
        </p:spPr>
      </p:sp>
      <p:sp>
        <p:nvSpPr>
          <p:cNvPr id="30" name="Shape 27"/>
          <p:cNvSpPr/>
          <p:nvPr/>
        </p:nvSpPr>
        <p:spPr>
          <a:xfrm>
            <a:off x="2395800" y="3337560"/>
            <a:ext cx="0" cy="457200"/>
          </a:xfrm>
          <a:prstGeom prst="line">
            <a:avLst/>
          </a:prstGeom>
          <a:noFill/>
          <a:ln w="6350">
            <a:solidFill>
              <a:schemeClr val="tx2"/>
            </a:solidFill>
            <a:prstDash val="solid"/>
          </a:ln>
        </p:spPr>
      </p:sp>
      <p:sp>
        <p:nvSpPr>
          <p:cNvPr id="31" name="Shape 28"/>
          <p:cNvSpPr/>
          <p:nvPr/>
        </p:nvSpPr>
        <p:spPr>
          <a:xfrm>
            <a:off x="2433600" y="3337560"/>
            <a:ext cx="0" cy="457200"/>
          </a:xfrm>
          <a:prstGeom prst="line">
            <a:avLst/>
          </a:prstGeom>
          <a:noFill/>
          <a:ln w="6350">
            <a:solidFill>
              <a:schemeClr val="tx2"/>
            </a:solidFill>
            <a:prstDash val="solid"/>
          </a:ln>
        </p:spPr>
      </p:sp>
      <p:sp>
        <p:nvSpPr>
          <p:cNvPr id="32" name="Shape 29"/>
          <p:cNvSpPr/>
          <p:nvPr/>
        </p:nvSpPr>
        <p:spPr>
          <a:xfrm>
            <a:off x="2471400" y="3337560"/>
            <a:ext cx="0" cy="457200"/>
          </a:xfrm>
          <a:prstGeom prst="line">
            <a:avLst/>
          </a:prstGeom>
          <a:noFill/>
          <a:ln w="6350">
            <a:solidFill>
              <a:schemeClr val="tx2"/>
            </a:solidFill>
            <a:prstDash val="solid"/>
          </a:ln>
        </p:spPr>
      </p:sp>
      <p:sp>
        <p:nvSpPr>
          <p:cNvPr id="33" name="Shape 30"/>
          <p:cNvSpPr/>
          <p:nvPr/>
        </p:nvSpPr>
        <p:spPr>
          <a:xfrm>
            <a:off x="2509200" y="3337560"/>
            <a:ext cx="0" cy="457200"/>
          </a:xfrm>
          <a:prstGeom prst="line">
            <a:avLst/>
          </a:prstGeom>
          <a:noFill/>
          <a:ln w="6350">
            <a:solidFill>
              <a:schemeClr val="tx2"/>
            </a:solidFill>
            <a:prstDash val="solid"/>
          </a:ln>
        </p:spPr>
      </p:sp>
      <p:sp>
        <p:nvSpPr>
          <p:cNvPr id="34" name="Shape 31"/>
          <p:cNvSpPr/>
          <p:nvPr/>
        </p:nvSpPr>
        <p:spPr>
          <a:xfrm>
            <a:off x="2547000" y="3337560"/>
            <a:ext cx="0" cy="457200"/>
          </a:xfrm>
          <a:prstGeom prst="line">
            <a:avLst/>
          </a:prstGeom>
          <a:noFill/>
          <a:ln w="6350">
            <a:solidFill>
              <a:schemeClr val="tx2"/>
            </a:solidFill>
            <a:prstDash val="solid"/>
          </a:ln>
        </p:spPr>
      </p:sp>
      <p:sp>
        <p:nvSpPr>
          <p:cNvPr id="35" name="Shape 32"/>
          <p:cNvSpPr/>
          <p:nvPr/>
        </p:nvSpPr>
        <p:spPr>
          <a:xfrm>
            <a:off x="2584800" y="3337560"/>
            <a:ext cx="0" cy="457200"/>
          </a:xfrm>
          <a:prstGeom prst="line">
            <a:avLst/>
          </a:prstGeom>
          <a:noFill/>
          <a:ln w="6350">
            <a:solidFill>
              <a:schemeClr val="tx2"/>
            </a:solidFill>
            <a:prstDash val="solid"/>
          </a:ln>
        </p:spPr>
      </p:sp>
      <p:sp>
        <p:nvSpPr>
          <p:cNvPr id="36" name="Shape 33"/>
          <p:cNvSpPr/>
          <p:nvPr/>
        </p:nvSpPr>
        <p:spPr>
          <a:xfrm>
            <a:off x="2622600" y="3337560"/>
            <a:ext cx="0" cy="457200"/>
          </a:xfrm>
          <a:prstGeom prst="line">
            <a:avLst/>
          </a:prstGeom>
          <a:noFill/>
          <a:ln w="6350">
            <a:solidFill>
              <a:schemeClr val="tx2"/>
            </a:solidFill>
            <a:prstDash val="solid"/>
          </a:ln>
        </p:spPr>
      </p:sp>
      <p:sp>
        <p:nvSpPr>
          <p:cNvPr id="37" name="Shape 34"/>
          <p:cNvSpPr/>
          <p:nvPr/>
        </p:nvSpPr>
        <p:spPr>
          <a:xfrm>
            <a:off x="2660400" y="3337560"/>
            <a:ext cx="0" cy="457200"/>
          </a:xfrm>
          <a:prstGeom prst="line">
            <a:avLst/>
          </a:prstGeom>
          <a:noFill/>
          <a:ln w="6350">
            <a:solidFill>
              <a:schemeClr val="tx2"/>
            </a:solidFill>
            <a:prstDash val="solid"/>
          </a:ln>
        </p:spPr>
      </p:sp>
      <p:sp>
        <p:nvSpPr>
          <p:cNvPr id="38" name="Shape 35"/>
          <p:cNvSpPr/>
          <p:nvPr/>
        </p:nvSpPr>
        <p:spPr>
          <a:xfrm>
            <a:off x="2698200" y="3337560"/>
            <a:ext cx="0" cy="457200"/>
          </a:xfrm>
          <a:prstGeom prst="line">
            <a:avLst/>
          </a:prstGeom>
          <a:noFill/>
          <a:ln w="6350">
            <a:solidFill>
              <a:schemeClr val="tx2"/>
            </a:solidFill>
            <a:prstDash val="solid"/>
          </a:ln>
        </p:spPr>
      </p:sp>
      <p:sp>
        <p:nvSpPr>
          <p:cNvPr id="39" name="Shape 36"/>
          <p:cNvSpPr/>
          <p:nvPr/>
        </p:nvSpPr>
        <p:spPr>
          <a:xfrm>
            <a:off x="2736000" y="3337560"/>
            <a:ext cx="0" cy="457200"/>
          </a:xfrm>
          <a:prstGeom prst="line">
            <a:avLst/>
          </a:prstGeom>
          <a:noFill/>
          <a:ln w="6350">
            <a:solidFill>
              <a:schemeClr val="tx2"/>
            </a:solidFill>
            <a:prstDash val="solid"/>
          </a:ln>
        </p:spPr>
      </p:sp>
      <p:sp>
        <p:nvSpPr>
          <p:cNvPr id="40" name="Shape 37"/>
          <p:cNvSpPr/>
          <p:nvPr/>
        </p:nvSpPr>
        <p:spPr>
          <a:xfrm>
            <a:off x="2773800" y="3337560"/>
            <a:ext cx="0" cy="457200"/>
          </a:xfrm>
          <a:prstGeom prst="line">
            <a:avLst/>
          </a:prstGeom>
          <a:noFill/>
          <a:ln w="6350">
            <a:solidFill>
              <a:schemeClr val="tx2"/>
            </a:solidFill>
            <a:prstDash val="solid"/>
          </a:ln>
        </p:spPr>
      </p:sp>
      <p:sp>
        <p:nvSpPr>
          <p:cNvPr id="41" name="Shape 38"/>
          <p:cNvSpPr/>
          <p:nvPr/>
        </p:nvSpPr>
        <p:spPr>
          <a:xfrm>
            <a:off x="2811600" y="3337560"/>
            <a:ext cx="0" cy="457200"/>
          </a:xfrm>
          <a:prstGeom prst="line">
            <a:avLst/>
          </a:prstGeom>
          <a:noFill/>
          <a:ln w="6350">
            <a:solidFill>
              <a:schemeClr val="tx2"/>
            </a:solidFill>
            <a:prstDash val="solid"/>
          </a:ln>
        </p:spPr>
      </p:sp>
      <p:sp>
        <p:nvSpPr>
          <p:cNvPr id="42" name="Shape 39"/>
          <p:cNvSpPr/>
          <p:nvPr/>
        </p:nvSpPr>
        <p:spPr>
          <a:xfrm>
            <a:off x="2849400" y="3337560"/>
            <a:ext cx="0" cy="457200"/>
          </a:xfrm>
          <a:prstGeom prst="line">
            <a:avLst/>
          </a:prstGeom>
          <a:noFill/>
          <a:ln w="6350">
            <a:solidFill>
              <a:schemeClr val="tx2"/>
            </a:solidFill>
            <a:prstDash val="solid"/>
          </a:ln>
        </p:spPr>
      </p:sp>
      <p:sp>
        <p:nvSpPr>
          <p:cNvPr id="43" name="Shape 40"/>
          <p:cNvSpPr/>
          <p:nvPr/>
        </p:nvSpPr>
        <p:spPr>
          <a:xfrm>
            <a:off x="2887200" y="3337560"/>
            <a:ext cx="0" cy="457200"/>
          </a:xfrm>
          <a:prstGeom prst="line">
            <a:avLst/>
          </a:prstGeom>
          <a:noFill/>
          <a:ln w="6350">
            <a:solidFill>
              <a:schemeClr val="tx2"/>
            </a:solidFill>
            <a:prstDash val="solid"/>
          </a:ln>
        </p:spPr>
      </p:sp>
      <p:sp>
        <p:nvSpPr>
          <p:cNvPr id="44" name="Shape 41"/>
          <p:cNvSpPr/>
          <p:nvPr/>
        </p:nvSpPr>
        <p:spPr>
          <a:xfrm>
            <a:off x="2925000" y="3337560"/>
            <a:ext cx="0" cy="457200"/>
          </a:xfrm>
          <a:prstGeom prst="line">
            <a:avLst/>
          </a:prstGeom>
          <a:noFill/>
          <a:ln w="6350">
            <a:solidFill>
              <a:schemeClr val="tx2"/>
            </a:solidFill>
            <a:prstDash val="solid"/>
          </a:ln>
        </p:spPr>
      </p:sp>
      <p:sp>
        <p:nvSpPr>
          <p:cNvPr id="45" name="Shape 42"/>
          <p:cNvSpPr/>
          <p:nvPr/>
        </p:nvSpPr>
        <p:spPr>
          <a:xfrm>
            <a:off x="2962800" y="3337560"/>
            <a:ext cx="0" cy="457200"/>
          </a:xfrm>
          <a:prstGeom prst="line">
            <a:avLst/>
          </a:prstGeom>
          <a:noFill/>
          <a:ln w="6350">
            <a:solidFill>
              <a:schemeClr val="tx2"/>
            </a:solidFill>
            <a:prstDash val="solid"/>
          </a:ln>
        </p:spPr>
      </p:sp>
      <p:sp>
        <p:nvSpPr>
          <p:cNvPr id="46" name="Shape 43"/>
          <p:cNvSpPr/>
          <p:nvPr/>
        </p:nvSpPr>
        <p:spPr>
          <a:xfrm>
            <a:off x="3000600" y="3337560"/>
            <a:ext cx="0" cy="457200"/>
          </a:xfrm>
          <a:prstGeom prst="line">
            <a:avLst/>
          </a:prstGeom>
          <a:noFill/>
          <a:ln w="6350">
            <a:solidFill>
              <a:schemeClr val="tx2"/>
            </a:solidFill>
            <a:prstDash val="solid"/>
          </a:ln>
        </p:spPr>
      </p:sp>
      <p:sp>
        <p:nvSpPr>
          <p:cNvPr id="47" name="Shape 44"/>
          <p:cNvSpPr/>
          <p:nvPr/>
        </p:nvSpPr>
        <p:spPr>
          <a:xfrm>
            <a:off x="3038400" y="3337560"/>
            <a:ext cx="0" cy="457200"/>
          </a:xfrm>
          <a:prstGeom prst="line">
            <a:avLst/>
          </a:prstGeom>
          <a:noFill/>
          <a:ln w="6350">
            <a:solidFill>
              <a:schemeClr val="tx2"/>
            </a:solidFill>
            <a:prstDash val="solid"/>
          </a:ln>
        </p:spPr>
      </p:sp>
      <p:sp>
        <p:nvSpPr>
          <p:cNvPr id="48" name="Shape 45"/>
          <p:cNvSpPr/>
          <p:nvPr/>
        </p:nvSpPr>
        <p:spPr>
          <a:xfrm>
            <a:off x="3076200" y="3337560"/>
            <a:ext cx="0" cy="457200"/>
          </a:xfrm>
          <a:prstGeom prst="line">
            <a:avLst/>
          </a:prstGeom>
          <a:noFill/>
          <a:ln w="6350">
            <a:solidFill>
              <a:schemeClr val="tx2"/>
            </a:solidFill>
            <a:prstDash val="solid"/>
          </a:ln>
        </p:spPr>
      </p:sp>
      <p:sp>
        <p:nvSpPr>
          <p:cNvPr id="49" name="Shape 46"/>
          <p:cNvSpPr/>
          <p:nvPr/>
        </p:nvSpPr>
        <p:spPr>
          <a:xfrm>
            <a:off x="3114000" y="3337560"/>
            <a:ext cx="0" cy="457200"/>
          </a:xfrm>
          <a:prstGeom prst="line">
            <a:avLst/>
          </a:prstGeom>
          <a:noFill/>
          <a:ln w="6350">
            <a:solidFill>
              <a:schemeClr val="tx2"/>
            </a:solidFill>
            <a:prstDash val="solid"/>
          </a:ln>
        </p:spPr>
      </p:sp>
      <p:sp>
        <p:nvSpPr>
          <p:cNvPr id="50" name="Shape 47"/>
          <p:cNvSpPr/>
          <p:nvPr/>
        </p:nvSpPr>
        <p:spPr>
          <a:xfrm>
            <a:off x="3151800" y="3337560"/>
            <a:ext cx="0" cy="457200"/>
          </a:xfrm>
          <a:prstGeom prst="line">
            <a:avLst/>
          </a:prstGeom>
          <a:noFill/>
          <a:ln w="6350">
            <a:solidFill>
              <a:schemeClr val="tx2"/>
            </a:solidFill>
            <a:prstDash val="solid"/>
          </a:ln>
        </p:spPr>
      </p:sp>
      <p:sp>
        <p:nvSpPr>
          <p:cNvPr id="51" name="Shape 48"/>
          <p:cNvSpPr/>
          <p:nvPr/>
        </p:nvSpPr>
        <p:spPr>
          <a:xfrm>
            <a:off x="3189600" y="3337560"/>
            <a:ext cx="0" cy="457200"/>
          </a:xfrm>
          <a:prstGeom prst="line">
            <a:avLst/>
          </a:prstGeom>
          <a:noFill/>
          <a:ln w="6350">
            <a:solidFill>
              <a:schemeClr val="tx2"/>
            </a:solidFill>
            <a:prstDash val="solid"/>
          </a:ln>
        </p:spPr>
      </p:sp>
      <p:sp>
        <p:nvSpPr>
          <p:cNvPr id="52" name="Shape 49"/>
          <p:cNvSpPr/>
          <p:nvPr/>
        </p:nvSpPr>
        <p:spPr>
          <a:xfrm>
            <a:off x="3227400" y="3337560"/>
            <a:ext cx="0" cy="457200"/>
          </a:xfrm>
          <a:prstGeom prst="line">
            <a:avLst/>
          </a:prstGeom>
          <a:noFill/>
          <a:ln w="6350">
            <a:solidFill>
              <a:schemeClr val="tx2"/>
            </a:solidFill>
            <a:prstDash val="solid"/>
          </a:ln>
        </p:spPr>
      </p:sp>
      <p:sp>
        <p:nvSpPr>
          <p:cNvPr id="53" name="Shape 50"/>
          <p:cNvSpPr/>
          <p:nvPr/>
        </p:nvSpPr>
        <p:spPr>
          <a:xfrm>
            <a:off x="3265200" y="3337560"/>
            <a:ext cx="0" cy="457200"/>
          </a:xfrm>
          <a:prstGeom prst="line">
            <a:avLst/>
          </a:prstGeom>
          <a:noFill/>
          <a:ln w="6350">
            <a:solidFill>
              <a:schemeClr val="tx2"/>
            </a:solidFill>
            <a:prstDash val="solid"/>
          </a:ln>
        </p:spPr>
      </p:sp>
      <p:sp>
        <p:nvSpPr>
          <p:cNvPr id="54" name="Shape 51"/>
          <p:cNvSpPr/>
          <p:nvPr/>
        </p:nvSpPr>
        <p:spPr>
          <a:xfrm>
            <a:off x="3303000" y="3337560"/>
            <a:ext cx="0" cy="457200"/>
          </a:xfrm>
          <a:prstGeom prst="line">
            <a:avLst/>
          </a:prstGeom>
          <a:noFill/>
          <a:ln w="6350">
            <a:solidFill>
              <a:schemeClr val="tx2"/>
            </a:solidFill>
            <a:prstDash val="solid"/>
          </a:ln>
        </p:spPr>
      </p:sp>
      <p:sp>
        <p:nvSpPr>
          <p:cNvPr id="55" name="Shape 52"/>
          <p:cNvSpPr/>
          <p:nvPr/>
        </p:nvSpPr>
        <p:spPr>
          <a:xfrm>
            <a:off x="3340800" y="3337560"/>
            <a:ext cx="0" cy="457200"/>
          </a:xfrm>
          <a:prstGeom prst="line">
            <a:avLst/>
          </a:prstGeom>
          <a:noFill/>
          <a:ln w="6350">
            <a:solidFill>
              <a:schemeClr val="tx2"/>
            </a:solidFill>
            <a:prstDash val="solid"/>
          </a:ln>
        </p:spPr>
      </p:sp>
      <p:sp>
        <p:nvSpPr>
          <p:cNvPr id="56" name="Shape 53"/>
          <p:cNvSpPr/>
          <p:nvPr/>
        </p:nvSpPr>
        <p:spPr>
          <a:xfrm>
            <a:off x="3378600" y="3337560"/>
            <a:ext cx="0" cy="457200"/>
          </a:xfrm>
          <a:prstGeom prst="line">
            <a:avLst/>
          </a:prstGeom>
          <a:noFill/>
          <a:ln w="6350">
            <a:solidFill>
              <a:schemeClr val="tx2"/>
            </a:solidFill>
            <a:prstDash val="solid"/>
          </a:ln>
        </p:spPr>
      </p:sp>
      <p:sp>
        <p:nvSpPr>
          <p:cNvPr id="57" name="Shape 54"/>
          <p:cNvSpPr/>
          <p:nvPr/>
        </p:nvSpPr>
        <p:spPr>
          <a:xfrm>
            <a:off x="3416400" y="3337560"/>
            <a:ext cx="0" cy="457200"/>
          </a:xfrm>
          <a:prstGeom prst="line">
            <a:avLst/>
          </a:prstGeom>
          <a:noFill/>
          <a:ln w="6350">
            <a:solidFill>
              <a:schemeClr val="tx2"/>
            </a:solidFill>
            <a:prstDash val="solid"/>
          </a:ln>
        </p:spPr>
      </p:sp>
      <p:sp>
        <p:nvSpPr>
          <p:cNvPr id="58" name="Shape 55"/>
          <p:cNvSpPr/>
          <p:nvPr/>
        </p:nvSpPr>
        <p:spPr>
          <a:xfrm>
            <a:off x="3454200" y="3337560"/>
            <a:ext cx="0" cy="457200"/>
          </a:xfrm>
          <a:prstGeom prst="line">
            <a:avLst/>
          </a:prstGeom>
          <a:noFill/>
          <a:ln w="6350">
            <a:solidFill>
              <a:schemeClr val="tx2"/>
            </a:solidFill>
            <a:prstDash val="solid"/>
          </a:ln>
        </p:spPr>
      </p:sp>
      <p:sp>
        <p:nvSpPr>
          <p:cNvPr id="59" name="Shape 56"/>
          <p:cNvSpPr/>
          <p:nvPr/>
        </p:nvSpPr>
        <p:spPr>
          <a:xfrm>
            <a:off x="3492000" y="3337560"/>
            <a:ext cx="0" cy="457200"/>
          </a:xfrm>
          <a:prstGeom prst="line">
            <a:avLst/>
          </a:prstGeom>
          <a:noFill/>
          <a:ln w="6350">
            <a:solidFill>
              <a:schemeClr val="tx2"/>
            </a:solidFill>
            <a:prstDash val="solid"/>
          </a:ln>
        </p:spPr>
      </p:sp>
      <p:sp>
        <p:nvSpPr>
          <p:cNvPr id="60" name="Shape 57"/>
          <p:cNvSpPr/>
          <p:nvPr/>
        </p:nvSpPr>
        <p:spPr>
          <a:xfrm>
            <a:off x="3529800" y="3337560"/>
            <a:ext cx="0" cy="457200"/>
          </a:xfrm>
          <a:prstGeom prst="line">
            <a:avLst/>
          </a:prstGeom>
          <a:noFill/>
          <a:ln w="6350">
            <a:solidFill>
              <a:schemeClr val="tx2"/>
            </a:solidFill>
            <a:prstDash val="solid"/>
          </a:ln>
        </p:spPr>
      </p:sp>
      <p:sp>
        <p:nvSpPr>
          <p:cNvPr id="61" name="Shape 58"/>
          <p:cNvSpPr/>
          <p:nvPr/>
        </p:nvSpPr>
        <p:spPr>
          <a:xfrm>
            <a:off x="3567600" y="3337560"/>
            <a:ext cx="0" cy="457200"/>
          </a:xfrm>
          <a:prstGeom prst="line">
            <a:avLst/>
          </a:prstGeom>
          <a:noFill/>
          <a:ln w="6350">
            <a:solidFill>
              <a:schemeClr val="tx2"/>
            </a:solidFill>
            <a:prstDash val="solid"/>
          </a:ln>
        </p:spPr>
      </p:sp>
      <p:sp>
        <p:nvSpPr>
          <p:cNvPr id="62" name="Shape 59"/>
          <p:cNvSpPr/>
          <p:nvPr/>
        </p:nvSpPr>
        <p:spPr>
          <a:xfrm>
            <a:off x="3605400" y="3337560"/>
            <a:ext cx="0" cy="457200"/>
          </a:xfrm>
          <a:prstGeom prst="line">
            <a:avLst/>
          </a:prstGeom>
          <a:noFill/>
          <a:ln w="6350">
            <a:solidFill>
              <a:schemeClr val="tx2"/>
            </a:solidFill>
            <a:prstDash val="solid"/>
          </a:ln>
        </p:spPr>
      </p:sp>
      <p:sp>
        <p:nvSpPr>
          <p:cNvPr id="63" name="Shape 60"/>
          <p:cNvSpPr/>
          <p:nvPr/>
        </p:nvSpPr>
        <p:spPr>
          <a:xfrm>
            <a:off x="3643200" y="3337560"/>
            <a:ext cx="0" cy="457200"/>
          </a:xfrm>
          <a:prstGeom prst="line">
            <a:avLst/>
          </a:prstGeom>
          <a:noFill/>
          <a:ln w="6350">
            <a:solidFill>
              <a:schemeClr val="tx2"/>
            </a:solidFill>
            <a:prstDash val="solid"/>
          </a:ln>
        </p:spPr>
      </p:sp>
      <p:sp>
        <p:nvSpPr>
          <p:cNvPr id="64" name="Shape 61"/>
          <p:cNvSpPr/>
          <p:nvPr/>
        </p:nvSpPr>
        <p:spPr>
          <a:xfrm>
            <a:off x="3681000" y="3337560"/>
            <a:ext cx="0" cy="457200"/>
          </a:xfrm>
          <a:prstGeom prst="line">
            <a:avLst/>
          </a:prstGeom>
          <a:noFill/>
          <a:ln w="6350">
            <a:solidFill>
              <a:schemeClr val="tx2"/>
            </a:solidFill>
            <a:prstDash val="solid"/>
          </a:ln>
        </p:spPr>
      </p:sp>
      <p:sp>
        <p:nvSpPr>
          <p:cNvPr id="65" name="Shape 62"/>
          <p:cNvSpPr/>
          <p:nvPr/>
        </p:nvSpPr>
        <p:spPr>
          <a:xfrm>
            <a:off x="3718800" y="3337560"/>
            <a:ext cx="0" cy="457200"/>
          </a:xfrm>
          <a:prstGeom prst="line">
            <a:avLst/>
          </a:prstGeom>
          <a:noFill/>
          <a:ln w="6350">
            <a:solidFill>
              <a:schemeClr val="tx2"/>
            </a:solidFill>
            <a:prstDash val="solid"/>
          </a:ln>
        </p:spPr>
      </p:sp>
      <p:sp>
        <p:nvSpPr>
          <p:cNvPr id="66" name="Shape 63"/>
          <p:cNvSpPr/>
          <p:nvPr/>
        </p:nvSpPr>
        <p:spPr>
          <a:xfrm>
            <a:off x="3756600" y="3337560"/>
            <a:ext cx="0" cy="457200"/>
          </a:xfrm>
          <a:prstGeom prst="line">
            <a:avLst/>
          </a:prstGeom>
          <a:noFill/>
          <a:ln w="6350">
            <a:solidFill>
              <a:schemeClr val="tx2"/>
            </a:solidFill>
            <a:prstDash val="solid"/>
          </a:ln>
        </p:spPr>
      </p:sp>
      <p:sp>
        <p:nvSpPr>
          <p:cNvPr id="67" name="Shape 64"/>
          <p:cNvSpPr/>
          <p:nvPr/>
        </p:nvSpPr>
        <p:spPr>
          <a:xfrm>
            <a:off x="3794400" y="3337560"/>
            <a:ext cx="0" cy="457200"/>
          </a:xfrm>
          <a:prstGeom prst="line">
            <a:avLst/>
          </a:prstGeom>
          <a:noFill/>
          <a:ln w="6350">
            <a:solidFill>
              <a:schemeClr val="tx2"/>
            </a:solidFill>
            <a:prstDash val="solid"/>
          </a:ln>
        </p:spPr>
      </p:sp>
      <p:sp>
        <p:nvSpPr>
          <p:cNvPr id="68" name="Shape 65"/>
          <p:cNvSpPr/>
          <p:nvPr/>
        </p:nvSpPr>
        <p:spPr>
          <a:xfrm>
            <a:off x="3832200" y="3337560"/>
            <a:ext cx="0" cy="457200"/>
          </a:xfrm>
          <a:prstGeom prst="line">
            <a:avLst/>
          </a:prstGeom>
          <a:noFill/>
          <a:ln w="6350">
            <a:solidFill>
              <a:schemeClr val="tx2"/>
            </a:solidFill>
            <a:prstDash val="solid"/>
          </a:ln>
        </p:spPr>
      </p:sp>
      <p:sp>
        <p:nvSpPr>
          <p:cNvPr id="69" name="Shape 66"/>
          <p:cNvSpPr/>
          <p:nvPr/>
        </p:nvSpPr>
        <p:spPr>
          <a:xfrm>
            <a:off x="3870000" y="3337560"/>
            <a:ext cx="0" cy="457200"/>
          </a:xfrm>
          <a:prstGeom prst="line">
            <a:avLst/>
          </a:prstGeom>
          <a:noFill/>
          <a:ln w="6350">
            <a:solidFill>
              <a:schemeClr val="tx2"/>
            </a:solidFill>
            <a:prstDash val="solid"/>
          </a:ln>
        </p:spPr>
      </p:sp>
      <p:sp>
        <p:nvSpPr>
          <p:cNvPr id="70" name="Shape 67"/>
          <p:cNvSpPr/>
          <p:nvPr/>
        </p:nvSpPr>
        <p:spPr>
          <a:xfrm>
            <a:off x="3907800" y="3337560"/>
            <a:ext cx="0" cy="457200"/>
          </a:xfrm>
          <a:prstGeom prst="line">
            <a:avLst/>
          </a:prstGeom>
          <a:noFill/>
          <a:ln w="6350">
            <a:solidFill>
              <a:schemeClr val="tx2"/>
            </a:solidFill>
            <a:prstDash val="solid"/>
          </a:ln>
        </p:spPr>
      </p:sp>
      <p:sp>
        <p:nvSpPr>
          <p:cNvPr id="71" name="Shape 68"/>
          <p:cNvSpPr/>
          <p:nvPr/>
        </p:nvSpPr>
        <p:spPr>
          <a:xfrm>
            <a:off x="3945600" y="3337560"/>
            <a:ext cx="0" cy="457200"/>
          </a:xfrm>
          <a:prstGeom prst="line">
            <a:avLst/>
          </a:prstGeom>
          <a:noFill/>
          <a:ln w="6350">
            <a:solidFill>
              <a:schemeClr val="tx2"/>
            </a:solidFill>
            <a:prstDash val="solid"/>
          </a:ln>
        </p:spPr>
      </p:sp>
      <p:sp>
        <p:nvSpPr>
          <p:cNvPr id="72" name="Shape 69"/>
          <p:cNvSpPr/>
          <p:nvPr/>
        </p:nvSpPr>
        <p:spPr>
          <a:xfrm>
            <a:off x="3983400" y="3337560"/>
            <a:ext cx="0" cy="457200"/>
          </a:xfrm>
          <a:prstGeom prst="line">
            <a:avLst/>
          </a:prstGeom>
          <a:noFill/>
          <a:ln w="6350">
            <a:solidFill>
              <a:schemeClr val="tx2"/>
            </a:solidFill>
            <a:prstDash val="solid"/>
          </a:ln>
        </p:spPr>
      </p:sp>
      <p:sp>
        <p:nvSpPr>
          <p:cNvPr id="73" name="Shape 70"/>
          <p:cNvSpPr/>
          <p:nvPr/>
        </p:nvSpPr>
        <p:spPr>
          <a:xfrm>
            <a:off x="4021200" y="3337560"/>
            <a:ext cx="0" cy="457200"/>
          </a:xfrm>
          <a:prstGeom prst="line">
            <a:avLst/>
          </a:prstGeom>
          <a:noFill/>
          <a:ln w="6350">
            <a:solidFill>
              <a:schemeClr val="tx2"/>
            </a:solidFill>
            <a:prstDash val="solid"/>
          </a:ln>
        </p:spPr>
      </p:sp>
      <p:sp>
        <p:nvSpPr>
          <p:cNvPr id="74" name="Shape 71"/>
          <p:cNvSpPr/>
          <p:nvPr/>
        </p:nvSpPr>
        <p:spPr>
          <a:xfrm>
            <a:off x="4059000" y="3337560"/>
            <a:ext cx="0" cy="457200"/>
          </a:xfrm>
          <a:prstGeom prst="line">
            <a:avLst/>
          </a:prstGeom>
          <a:noFill/>
          <a:ln w="6350">
            <a:solidFill>
              <a:schemeClr val="tx2"/>
            </a:solidFill>
            <a:prstDash val="solid"/>
          </a:ln>
        </p:spPr>
      </p:sp>
      <p:sp>
        <p:nvSpPr>
          <p:cNvPr id="75" name="Shape 72"/>
          <p:cNvSpPr/>
          <p:nvPr/>
        </p:nvSpPr>
        <p:spPr>
          <a:xfrm>
            <a:off x="4096800" y="3337560"/>
            <a:ext cx="0" cy="457200"/>
          </a:xfrm>
          <a:prstGeom prst="line">
            <a:avLst/>
          </a:prstGeom>
          <a:noFill/>
          <a:ln w="6350">
            <a:solidFill>
              <a:schemeClr val="tx2"/>
            </a:solidFill>
            <a:prstDash val="solid"/>
          </a:ln>
        </p:spPr>
      </p:sp>
      <p:sp>
        <p:nvSpPr>
          <p:cNvPr id="76" name="Shape 73"/>
          <p:cNvSpPr/>
          <p:nvPr/>
        </p:nvSpPr>
        <p:spPr>
          <a:xfrm>
            <a:off x="4134600" y="3337560"/>
            <a:ext cx="0" cy="457200"/>
          </a:xfrm>
          <a:prstGeom prst="line">
            <a:avLst/>
          </a:prstGeom>
          <a:noFill/>
          <a:ln w="6350">
            <a:solidFill>
              <a:schemeClr val="tx2"/>
            </a:solidFill>
            <a:prstDash val="solid"/>
          </a:ln>
        </p:spPr>
      </p:sp>
      <p:sp>
        <p:nvSpPr>
          <p:cNvPr id="77" name="Shape 74"/>
          <p:cNvSpPr/>
          <p:nvPr/>
        </p:nvSpPr>
        <p:spPr>
          <a:xfrm>
            <a:off x="4172400" y="3337560"/>
            <a:ext cx="0" cy="457200"/>
          </a:xfrm>
          <a:prstGeom prst="line">
            <a:avLst/>
          </a:prstGeom>
          <a:noFill/>
          <a:ln w="6350">
            <a:solidFill>
              <a:schemeClr val="tx2"/>
            </a:solidFill>
            <a:prstDash val="solid"/>
          </a:ln>
        </p:spPr>
      </p:sp>
      <p:sp>
        <p:nvSpPr>
          <p:cNvPr id="78" name="Shape 75"/>
          <p:cNvSpPr/>
          <p:nvPr/>
        </p:nvSpPr>
        <p:spPr>
          <a:xfrm>
            <a:off x="4210200" y="3337560"/>
            <a:ext cx="0" cy="457200"/>
          </a:xfrm>
          <a:prstGeom prst="line">
            <a:avLst/>
          </a:prstGeom>
          <a:noFill/>
          <a:ln w="6350">
            <a:solidFill>
              <a:schemeClr val="tx2"/>
            </a:solidFill>
            <a:prstDash val="solid"/>
          </a:ln>
        </p:spPr>
      </p:sp>
      <p:sp>
        <p:nvSpPr>
          <p:cNvPr id="79" name="Shape 76"/>
          <p:cNvSpPr/>
          <p:nvPr/>
        </p:nvSpPr>
        <p:spPr>
          <a:xfrm>
            <a:off x="4248000" y="3337560"/>
            <a:ext cx="0" cy="457200"/>
          </a:xfrm>
          <a:prstGeom prst="line">
            <a:avLst/>
          </a:prstGeom>
          <a:noFill/>
          <a:ln w="6350">
            <a:solidFill>
              <a:schemeClr val="tx2"/>
            </a:solidFill>
            <a:prstDash val="solid"/>
          </a:ln>
        </p:spPr>
      </p:sp>
      <p:sp>
        <p:nvSpPr>
          <p:cNvPr id="80" name="Shape 77"/>
          <p:cNvSpPr/>
          <p:nvPr/>
        </p:nvSpPr>
        <p:spPr>
          <a:xfrm>
            <a:off x="4285800" y="3337560"/>
            <a:ext cx="0" cy="457200"/>
          </a:xfrm>
          <a:prstGeom prst="line">
            <a:avLst/>
          </a:prstGeom>
          <a:noFill/>
          <a:ln w="6350">
            <a:solidFill>
              <a:schemeClr val="tx2"/>
            </a:solidFill>
            <a:prstDash val="solid"/>
          </a:ln>
        </p:spPr>
      </p:sp>
      <p:sp>
        <p:nvSpPr>
          <p:cNvPr id="81" name="Shape 78"/>
          <p:cNvSpPr/>
          <p:nvPr/>
        </p:nvSpPr>
        <p:spPr>
          <a:xfrm>
            <a:off x="4323600" y="3337560"/>
            <a:ext cx="0" cy="457200"/>
          </a:xfrm>
          <a:prstGeom prst="line">
            <a:avLst/>
          </a:prstGeom>
          <a:noFill/>
          <a:ln w="6350">
            <a:solidFill>
              <a:schemeClr val="tx2"/>
            </a:solidFill>
            <a:prstDash val="solid"/>
          </a:ln>
        </p:spPr>
      </p:sp>
      <p:sp>
        <p:nvSpPr>
          <p:cNvPr id="82" name="Shape 79"/>
          <p:cNvSpPr/>
          <p:nvPr/>
        </p:nvSpPr>
        <p:spPr>
          <a:xfrm>
            <a:off x="4361400" y="3337560"/>
            <a:ext cx="0" cy="457200"/>
          </a:xfrm>
          <a:prstGeom prst="line">
            <a:avLst/>
          </a:prstGeom>
          <a:noFill/>
          <a:ln w="6350">
            <a:solidFill>
              <a:schemeClr val="tx2"/>
            </a:solidFill>
            <a:prstDash val="solid"/>
          </a:ln>
        </p:spPr>
      </p:sp>
      <p:sp>
        <p:nvSpPr>
          <p:cNvPr id="83" name="Shape 80"/>
          <p:cNvSpPr/>
          <p:nvPr/>
        </p:nvSpPr>
        <p:spPr>
          <a:xfrm>
            <a:off x="4399200" y="3337560"/>
            <a:ext cx="0" cy="457200"/>
          </a:xfrm>
          <a:prstGeom prst="line">
            <a:avLst/>
          </a:prstGeom>
          <a:noFill/>
          <a:ln w="6350">
            <a:solidFill>
              <a:schemeClr val="tx2"/>
            </a:solidFill>
            <a:prstDash val="solid"/>
          </a:ln>
        </p:spPr>
      </p:sp>
      <p:sp>
        <p:nvSpPr>
          <p:cNvPr id="84" name="Shape 81"/>
          <p:cNvSpPr/>
          <p:nvPr/>
        </p:nvSpPr>
        <p:spPr>
          <a:xfrm>
            <a:off x="4437000" y="3337560"/>
            <a:ext cx="0" cy="457200"/>
          </a:xfrm>
          <a:prstGeom prst="line">
            <a:avLst/>
          </a:prstGeom>
          <a:noFill/>
          <a:ln w="6350">
            <a:solidFill>
              <a:schemeClr val="tx2"/>
            </a:solidFill>
            <a:prstDash val="solid"/>
          </a:ln>
        </p:spPr>
      </p:sp>
      <p:sp>
        <p:nvSpPr>
          <p:cNvPr id="85" name="Shape 82"/>
          <p:cNvSpPr/>
          <p:nvPr/>
        </p:nvSpPr>
        <p:spPr>
          <a:xfrm>
            <a:off x="4474800" y="3337560"/>
            <a:ext cx="0" cy="457200"/>
          </a:xfrm>
          <a:prstGeom prst="line">
            <a:avLst/>
          </a:prstGeom>
          <a:noFill/>
          <a:ln w="6350">
            <a:solidFill>
              <a:schemeClr val="tx2"/>
            </a:solidFill>
            <a:prstDash val="solid"/>
          </a:ln>
        </p:spPr>
      </p:sp>
      <p:sp>
        <p:nvSpPr>
          <p:cNvPr id="86" name="Shape 83"/>
          <p:cNvSpPr/>
          <p:nvPr/>
        </p:nvSpPr>
        <p:spPr>
          <a:xfrm>
            <a:off x="4512600" y="3337560"/>
            <a:ext cx="0" cy="457200"/>
          </a:xfrm>
          <a:prstGeom prst="line">
            <a:avLst/>
          </a:prstGeom>
          <a:noFill/>
          <a:ln w="6350">
            <a:solidFill>
              <a:schemeClr val="tx2"/>
            </a:solidFill>
            <a:prstDash val="solid"/>
          </a:ln>
        </p:spPr>
      </p:sp>
      <p:sp>
        <p:nvSpPr>
          <p:cNvPr id="87" name="Shape 84"/>
          <p:cNvSpPr/>
          <p:nvPr/>
        </p:nvSpPr>
        <p:spPr>
          <a:xfrm>
            <a:off x="4550400" y="3337560"/>
            <a:ext cx="0" cy="457200"/>
          </a:xfrm>
          <a:prstGeom prst="line">
            <a:avLst/>
          </a:prstGeom>
          <a:noFill/>
          <a:ln w="6350">
            <a:solidFill>
              <a:schemeClr val="tx2"/>
            </a:solidFill>
            <a:prstDash val="solid"/>
          </a:ln>
        </p:spPr>
      </p:sp>
      <p:sp>
        <p:nvSpPr>
          <p:cNvPr id="88" name="Shape 85"/>
          <p:cNvSpPr/>
          <p:nvPr/>
        </p:nvSpPr>
        <p:spPr>
          <a:xfrm>
            <a:off x="4588200" y="3337560"/>
            <a:ext cx="0" cy="457200"/>
          </a:xfrm>
          <a:prstGeom prst="line">
            <a:avLst/>
          </a:prstGeom>
          <a:noFill/>
          <a:ln w="6350">
            <a:solidFill>
              <a:schemeClr val="tx2"/>
            </a:solidFill>
            <a:prstDash val="solid"/>
          </a:ln>
        </p:spPr>
      </p:sp>
      <p:sp>
        <p:nvSpPr>
          <p:cNvPr id="89" name="Shape 86"/>
          <p:cNvSpPr/>
          <p:nvPr/>
        </p:nvSpPr>
        <p:spPr>
          <a:xfrm>
            <a:off x="4626000" y="3337560"/>
            <a:ext cx="0" cy="457200"/>
          </a:xfrm>
          <a:prstGeom prst="line">
            <a:avLst/>
          </a:prstGeom>
          <a:noFill/>
          <a:ln w="6350">
            <a:solidFill>
              <a:schemeClr val="tx2"/>
            </a:solidFill>
            <a:prstDash val="solid"/>
          </a:ln>
        </p:spPr>
      </p:sp>
      <p:sp>
        <p:nvSpPr>
          <p:cNvPr id="90" name="Shape 87"/>
          <p:cNvSpPr/>
          <p:nvPr/>
        </p:nvSpPr>
        <p:spPr>
          <a:xfrm>
            <a:off x="4663800" y="3337560"/>
            <a:ext cx="0" cy="457200"/>
          </a:xfrm>
          <a:prstGeom prst="line">
            <a:avLst/>
          </a:prstGeom>
          <a:noFill/>
          <a:ln w="6350">
            <a:solidFill>
              <a:schemeClr val="tx2"/>
            </a:solidFill>
            <a:prstDash val="solid"/>
          </a:ln>
        </p:spPr>
      </p:sp>
      <p:sp>
        <p:nvSpPr>
          <p:cNvPr id="91" name="Shape 88"/>
          <p:cNvSpPr/>
          <p:nvPr/>
        </p:nvSpPr>
        <p:spPr>
          <a:xfrm>
            <a:off x="4701600" y="3337560"/>
            <a:ext cx="0" cy="457200"/>
          </a:xfrm>
          <a:prstGeom prst="line">
            <a:avLst/>
          </a:prstGeom>
          <a:noFill/>
          <a:ln w="6350">
            <a:solidFill>
              <a:schemeClr val="tx2"/>
            </a:solidFill>
            <a:prstDash val="solid"/>
          </a:ln>
        </p:spPr>
      </p:sp>
      <p:sp>
        <p:nvSpPr>
          <p:cNvPr id="92" name="Shape 89"/>
          <p:cNvSpPr/>
          <p:nvPr/>
        </p:nvSpPr>
        <p:spPr>
          <a:xfrm>
            <a:off x="4739400" y="3337560"/>
            <a:ext cx="0" cy="457200"/>
          </a:xfrm>
          <a:prstGeom prst="line">
            <a:avLst/>
          </a:prstGeom>
          <a:noFill/>
          <a:ln w="6350">
            <a:solidFill>
              <a:schemeClr val="tx2"/>
            </a:solidFill>
            <a:prstDash val="solid"/>
          </a:ln>
        </p:spPr>
      </p:sp>
      <p:sp>
        <p:nvSpPr>
          <p:cNvPr id="93" name="Shape 90"/>
          <p:cNvSpPr/>
          <p:nvPr/>
        </p:nvSpPr>
        <p:spPr>
          <a:xfrm>
            <a:off x="4777200" y="3337560"/>
            <a:ext cx="0" cy="457200"/>
          </a:xfrm>
          <a:prstGeom prst="line">
            <a:avLst/>
          </a:prstGeom>
          <a:noFill/>
          <a:ln w="6350">
            <a:solidFill>
              <a:schemeClr val="tx2"/>
            </a:solidFill>
            <a:prstDash val="solid"/>
          </a:ln>
        </p:spPr>
      </p:sp>
      <p:sp>
        <p:nvSpPr>
          <p:cNvPr id="94" name="Shape 91"/>
          <p:cNvSpPr/>
          <p:nvPr/>
        </p:nvSpPr>
        <p:spPr>
          <a:xfrm>
            <a:off x="4815000" y="3337560"/>
            <a:ext cx="0" cy="457200"/>
          </a:xfrm>
          <a:prstGeom prst="line">
            <a:avLst/>
          </a:prstGeom>
          <a:noFill/>
          <a:ln w="6350">
            <a:solidFill>
              <a:schemeClr val="tx2"/>
            </a:solidFill>
            <a:prstDash val="solid"/>
          </a:ln>
        </p:spPr>
      </p:sp>
      <p:sp>
        <p:nvSpPr>
          <p:cNvPr id="95" name="Shape 92"/>
          <p:cNvSpPr/>
          <p:nvPr/>
        </p:nvSpPr>
        <p:spPr>
          <a:xfrm>
            <a:off x="4852800" y="3337560"/>
            <a:ext cx="0" cy="457200"/>
          </a:xfrm>
          <a:prstGeom prst="line">
            <a:avLst/>
          </a:prstGeom>
          <a:noFill/>
          <a:ln w="6350">
            <a:solidFill>
              <a:schemeClr val="tx2"/>
            </a:solidFill>
            <a:prstDash val="solid"/>
          </a:ln>
        </p:spPr>
      </p:sp>
      <p:sp>
        <p:nvSpPr>
          <p:cNvPr id="96" name="Shape 93"/>
          <p:cNvSpPr/>
          <p:nvPr/>
        </p:nvSpPr>
        <p:spPr>
          <a:xfrm>
            <a:off x="4890600" y="3337560"/>
            <a:ext cx="0" cy="457200"/>
          </a:xfrm>
          <a:prstGeom prst="line">
            <a:avLst/>
          </a:prstGeom>
          <a:noFill/>
          <a:ln w="6350">
            <a:solidFill>
              <a:schemeClr val="tx2"/>
            </a:solidFill>
            <a:prstDash val="solid"/>
          </a:ln>
        </p:spPr>
      </p:sp>
      <p:sp>
        <p:nvSpPr>
          <p:cNvPr id="97" name="Shape 94"/>
          <p:cNvSpPr/>
          <p:nvPr/>
        </p:nvSpPr>
        <p:spPr>
          <a:xfrm>
            <a:off x="4928400" y="3337560"/>
            <a:ext cx="0" cy="457200"/>
          </a:xfrm>
          <a:prstGeom prst="line">
            <a:avLst/>
          </a:prstGeom>
          <a:noFill/>
          <a:ln w="6350">
            <a:solidFill>
              <a:schemeClr val="tx2"/>
            </a:solidFill>
            <a:prstDash val="solid"/>
          </a:ln>
        </p:spPr>
      </p:sp>
      <p:sp>
        <p:nvSpPr>
          <p:cNvPr id="98" name="Shape 95"/>
          <p:cNvSpPr/>
          <p:nvPr/>
        </p:nvSpPr>
        <p:spPr>
          <a:xfrm>
            <a:off x="4966200" y="3337560"/>
            <a:ext cx="0" cy="457200"/>
          </a:xfrm>
          <a:prstGeom prst="line">
            <a:avLst/>
          </a:prstGeom>
          <a:noFill/>
          <a:ln w="6350">
            <a:solidFill>
              <a:schemeClr val="tx2"/>
            </a:solidFill>
            <a:prstDash val="solid"/>
          </a:ln>
        </p:spPr>
      </p:sp>
      <p:sp>
        <p:nvSpPr>
          <p:cNvPr id="99" name="Shape 96"/>
          <p:cNvSpPr/>
          <p:nvPr/>
        </p:nvSpPr>
        <p:spPr>
          <a:xfrm>
            <a:off x="5004000" y="3337560"/>
            <a:ext cx="0" cy="457200"/>
          </a:xfrm>
          <a:prstGeom prst="line">
            <a:avLst/>
          </a:prstGeom>
          <a:noFill/>
          <a:ln w="6350">
            <a:solidFill>
              <a:schemeClr val="tx2"/>
            </a:solidFill>
            <a:prstDash val="solid"/>
          </a:ln>
        </p:spPr>
      </p:sp>
      <p:sp>
        <p:nvSpPr>
          <p:cNvPr id="100" name="Shape 97"/>
          <p:cNvSpPr/>
          <p:nvPr/>
        </p:nvSpPr>
        <p:spPr>
          <a:xfrm>
            <a:off x="5041800" y="3337560"/>
            <a:ext cx="0" cy="457200"/>
          </a:xfrm>
          <a:prstGeom prst="line">
            <a:avLst/>
          </a:prstGeom>
          <a:noFill/>
          <a:ln w="6350">
            <a:solidFill>
              <a:schemeClr val="tx2"/>
            </a:solidFill>
            <a:prstDash val="solid"/>
          </a:ln>
        </p:spPr>
      </p:sp>
      <p:sp>
        <p:nvSpPr>
          <p:cNvPr id="101" name="Shape 98"/>
          <p:cNvSpPr/>
          <p:nvPr/>
        </p:nvSpPr>
        <p:spPr>
          <a:xfrm>
            <a:off x="5079600" y="3337560"/>
            <a:ext cx="0" cy="457200"/>
          </a:xfrm>
          <a:prstGeom prst="line">
            <a:avLst/>
          </a:prstGeom>
          <a:noFill/>
          <a:ln w="6350">
            <a:solidFill>
              <a:schemeClr val="tx2"/>
            </a:solidFill>
            <a:prstDash val="solid"/>
          </a:ln>
        </p:spPr>
      </p:sp>
      <p:sp>
        <p:nvSpPr>
          <p:cNvPr id="102" name="Shape 99"/>
          <p:cNvSpPr/>
          <p:nvPr/>
        </p:nvSpPr>
        <p:spPr>
          <a:xfrm>
            <a:off x="5117400" y="3337560"/>
            <a:ext cx="0" cy="457200"/>
          </a:xfrm>
          <a:prstGeom prst="line">
            <a:avLst/>
          </a:prstGeom>
          <a:noFill/>
          <a:ln w="6350">
            <a:solidFill>
              <a:schemeClr val="tx2"/>
            </a:solidFill>
            <a:prstDash val="solid"/>
          </a:ln>
        </p:spPr>
      </p:sp>
      <p:sp>
        <p:nvSpPr>
          <p:cNvPr id="103" name="Shape 100"/>
          <p:cNvSpPr/>
          <p:nvPr/>
        </p:nvSpPr>
        <p:spPr>
          <a:xfrm>
            <a:off x="5155200" y="3337560"/>
            <a:ext cx="0" cy="457200"/>
          </a:xfrm>
          <a:prstGeom prst="line">
            <a:avLst/>
          </a:prstGeom>
          <a:noFill/>
          <a:ln w="6350">
            <a:solidFill>
              <a:schemeClr val="tx2"/>
            </a:solidFill>
            <a:prstDash val="solid"/>
          </a:ln>
        </p:spPr>
      </p:sp>
      <p:sp>
        <p:nvSpPr>
          <p:cNvPr id="104" name="Shape 101"/>
          <p:cNvSpPr/>
          <p:nvPr/>
        </p:nvSpPr>
        <p:spPr>
          <a:xfrm>
            <a:off x="5193000" y="3337560"/>
            <a:ext cx="0" cy="457200"/>
          </a:xfrm>
          <a:prstGeom prst="line">
            <a:avLst/>
          </a:prstGeom>
          <a:noFill/>
          <a:ln w="6350">
            <a:solidFill>
              <a:schemeClr val="tx2"/>
            </a:solidFill>
            <a:prstDash val="solid"/>
          </a:ln>
        </p:spPr>
      </p:sp>
      <p:sp>
        <p:nvSpPr>
          <p:cNvPr id="105" name="Shape 102"/>
          <p:cNvSpPr/>
          <p:nvPr/>
        </p:nvSpPr>
        <p:spPr>
          <a:xfrm>
            <a:off x="5230800" y="3337560"/>
            <a:ext cx="0" cy="457200"/>
          </a:xfrm>
          <a:prstGeom prst="line">
            <a:avLst/>
          </a:prstGeom>
          <a:noFill/>
          <a:ln w="6350">
            <a:solidFill>
              <a:schemeClr val="tx2"/>
            </a:solidFill>
            <a:prstDash val="solid"/>
          </a:ln>
        </p:spPr>
      </p:sp>
      <p:sp>
        <p:nvSpPr>
          <p:cNvPr id="106" name="Shape 103"/>
          <p:cNvSpPr/>
          <p:nvPr/>
        </p:nvSpPr>
        <p:spPr>
          <a:xfrm>
            <a:off x="5268600" y="3337560"/>
            <a:ext cx="0" cy="457200"/>
          </a:xfrm>
          <a:prstGeom prst="line">
            <a:avLst/>
          </a:prstGeom>
          <a:noFill/>
          <a:ln w="6350">
            <a:solidFill>
              <a:schemeClr val="tx2"/>
            </a:solidFill>
            <a:prstDash val="solid"/>
          </a:ln>
        </p:spPr>
      </p:sp>
      <p:sp>
        <p:nvSpPr>
          <p:cNvPr id="107" name="Shape 104"/>
          <p:cNvSpPr/>
          <p:nvPr/>
        </p:nvSpPr>
        <p:spPr>
          <a:xfrm>
            <a:off x="5306400" y="3337560"/>
            <a:ext cx="0" cy="457200"/>
          </a:xfrm>
          <a:prstGeom prst="line">
            <a:avLst/>
          </a:prstGeom>
          <a:noFill/>
          <a:ln w="6350">
            <a:solidFill>
              <a:schemeClr val="tx2"/>
            </a:solidFill>
            <a:prstDash val="solid"/>
          </a:ln>
        </p:spPr>
      </p:sp>
      <p:sp>
        <p:nvSpPr>
          <p:cNvPr id="108" name="Shape 105"/>
          <p:cNvSpPr/>
          <p:nvPr/>
        </p:nvSpPr>
        <p:spPr>
          <a:xfrm>
            <a:off x="5344200" y="3337560"/>
            <a:ext cx="0" cy="457200"/>
          </a:xfrm>
          <a:prstGeom prst="line">
            <a:avLst/>
          </a:prstGeom>
          <a:noFill/>
          <a:ln w="6350">
            <a:solidFill>
              <a:schemeClr val="tx2"/>
            </a:solidFill>
            <a:prstDash val="solid"/>
          </a:ln>
        </p:spPr>
      </p:sp>
      <p:sp>
        <p:nvSpPr>
          <p:cNvPr id="109" name="Shape 106"/>
          <p:cNvSpPr/>
          <p:nvPr/>
        </p:nvSpPr>
        <p:spPr>
          <a:xfrm>
            <a:off x="5382000" y="3337560"/>
            <a:ext cx="0" cy="457200"/>
          </a:xfrm>
          <a:prstGeom prst="line">
            <a:avLst/>
          </a:prstGeom>
          <a:noFill/>
          <a:ln w="6350">
            <a:solidFill>
              <a:schemeClr val="tx2"/>
            </a:solidFill>
            <a:prstDash val="solid"/>
          </a:ln>
        </p:spPr>
      </p:sp>
      <p:sp>
        <p:nvSpPr>
          <p:cNvPr id="110" name="Shape 107"/>
          <p:cNvSpPr/>
          <p:nvPr/>
        </p:nvSpPr>
        <p:spPr>
          <a:xfrm>
            <a:off x="5419800" y="3337560"/>
            <a:ext cx="0" cy="457200"/>
          </a:xfrm>
          <a:prstGeom prst="line">
            <a:avLst/>
          </a:prstGeom>
          <a:noFill/>
          <a:ln w="6350">
            <a:solidFill>
              <a:schemeClr val="tx2"/>
            </a:solidFill>
            <a:prstDash val="solid"/>
          </a:ln>
        </p:spPr>
      </p:sp>
      <p:sp>
        <p:nvSpPr>
          <p:cNvPr id="111" name="Shape 108"/>
          <p:cNvSpPr/>
          <p:nvPr/>
        </p:nvSpPr>
        <p:spPr>
          <a:xfrm>
            <a:off x="5457600" y="3337560"/>
            <a:ext cx="0" cy="457200"/>
          </a:xfrm>
          <a:prstGeom prst="line">
            <a:avLst/>
          </a:prstGeom>
          <a:noFill/>
          <a:ln w="6350">
            <a:solidFill>
              <a:schemeClr val="tx2"/>
            </a:solidFill>
            <a:prstDash val="solid"/>
          </a:ln>
        </p:spPr>
      </p:sp>
      <p:sp>
        <p:nvSpPr>
          <p:cNvPr id="112" name="Shape 109"/>
          <p:cNvSpPr/>
          <p:nvPr/>
        </p:nvSpPr>
        <p:spPr>
          <a:xfrm>
            <a:off x="5495400" y="3337560"/>
            <a:ext cx="0" cy="457200"/>
          </a:xfrm>
          <a:prstGeom prst="line">
            <a:avLst/>
          </a:prstGeom>
          <a:noFill/>
          <a:ln w="6350">
            <a:solidFill>
              <a:schemeClr val="tx2"/>
            </a:solidFill>
            <a:prstDash val="solid"/>
          </a:ln>
        </p:spPr>
      </p:sp>
      <p:sp>
        <p:nvSpPr>
          <p:cNvPr id="113" name="Shape 110"/>
          <p:cNvSpPr/>
          <p:nvPr/>
        </p:nvSpPr>
        <p:spPr>
          <a:xfrm>
            <a:off x="5533200" y="3337560"/>
            <a:ext cx="0" cy="457200"/>
          </a:xfrm>
          <a:prstGeom prst="line">
            <a:avLst/>
          </a:prstGeom>
          <a:noFill/>
          <a:ln w="6350">
            <a:solidFill>
              <a:schemeClr val="tx2"/>
            </a:solidFill>
            <a:prstDash val="solid"/>
          </a:ln>
        </p:spPr>
      </p:sp>
      <p:sp>
        <p:nvSpPr>
          <p:cNvPr id="114" name="Shape 111"/>
          <p:cNvSpPr/>
          <p:nvPr/>
        </p:nvSpPr>
        <p:spPr>
          <a:xfrm>
            <a:off x="5571000" y="3337560"/>
            <a:ext cx="0" cy="457200"/>
          </a:xfrm>
          <a:prstGeom prst="line">
            <a:avLst/>
          </a:prstGeom>
          <a:noFill/>
          <a:ln w="6350">
            <a:solidFill>
              <a:schemeClr val="tx2"/>
            </a:solidFill>
            <a:prstDash val="solid"/>
          </a:ln>
        </p:spPr>
      </p:sp>
      <p:sp>
        <p:nvSpPr>
          <p:cNvPr id="115" name="Shape 112"/>
          <p:cNvSpPr/>
          <p:nvPr/>
        </p:nvSpPr>
        <p:spPr>
          <a:xfrm>
            <a:off x="5608800" y="3337560"/>
            <a:ext cx="0" cy="457200"/>
          </a:xfrm>
          <a:prstGeom prst="line">
            <a:avLst/>
          </a:prstGeom>
          <a:noFill/>
          <a:ln w="6350">
            <a:solidFill>
              <a:schemeClr val="tx2"/>
            </a:solidFill>
            <a:prstDash val="solid"/>
          </a:ln>
        </p:spPr>
      </p:sp>
      <p:sp>
        <p:nvSpPr>
          <p:cNvPr id="116" name="Shape 113"/>
          <p:cNvSpPr/>
          <p:nvPr/>
        </p:nvSpPr>
        <p:spPr>
          <a:xfrm>
            <a:off x="5646600" y="3337560"/>
            <a:ext cx="0" cy="457200"/>
          </a:xfrm>
          <a:prstGeom prst="line">
            <a:avLst/>
          </a:prstGeom>
          <a:noFill/>
          <a:ln w="6350">
            <a:solidFill>
              <a:schemeClr val="tx2"/>
            </a:solidFill>
            <a:prstDash val="solid"/>
          </a:ln>
        </p:spPr>
      </p:sp>
      <p:sp>
        <p:nvSpPr>
          <p:cNvPr id="117" name="Shape 114"/>
          <p:cNvSpPr/>
          <p:nvPr/>
        </p:nvSpPr>
        <p:spPr>
          <a:xfrm>
            <a:off x="5684400" y="3337560"/>
            <a:ext cx="0" cy="457200"/>
          </a:xfrm>
          <a:prstGeom prst="line">
            <a:avLst/>
          </a:prstGeom>
          <a:noFill/>
          <a:ln w="6350">
            <a:solidFill>
              <a:schemeClr val="tx2"/>
            </a:solidFill>
            <a:prstDash val="solid"/>
          </a:ln>
        </p:spPr>
      </p:sp>
      <p:sp>
        <p:nvSpPr>
          <p:cNvPr id="118" name="Shape 115"/>
          <p:cNvSpPr/>
          <p:nvPr/>
        </p:nvSpPr>
        <p:spPr>
          <a:xfrm>
            <a:off x="5722200" y="3337560"/>
            <a:ext cx="0" cy="457200"/>
          </a:xfrm>
          <a:prstGeom prst="line">
            <a:avLst/>
          </a:prstGeom>
          <a:noFill/>
          <a:ln w="6350">
            <a:solidFill>
              <a:schemeClr val="tx2"/>
            </a:solidFill>
            <a:prstDash val="solid"/>
          </a:ln>
        </p:spPr>
      </p:sp>
      <p:sp>
        <p:nvSpPr>
          <p:cNvPr id="119" name="Shape 116"/>
          <p:cNvSpPr/>
          <p:nvPr/>
        </p:nvSpPr>
        <p:spPr>
          <a:xfrm>
            <a:off x="5760000" y="3337560"/>
            <a:ext cx="0" cy="457200"/>
          </a:xfrm>
          <a:prstGeom prst="line">
            <a:avLst/>
          </a:prstGeom>
          <a:noFill/>
          <a:ln w="6350">
            <a:solidFill>
              <a:schemeClr val="tx2"/>
            </a:solidFill>
            <a:prstDash val="solid"/>
          </a:ln>
        </p:spPr>
      </p:sp>
      <p:sp>
        <p:nvSpPr>
          <p:cNvPr id="120" name="Shape 117"/>
          <p:cNvSpPr/>
          <p:nvPr/>
        </p:nvSpPr>
        <p:spPr>
          <a:xfrm>
            <a:off x="5797800" y="3337560"/>
            <a:ext cx="0" cy="457200"/>
          </a:xfrm>
          <a:prstGeom prst="line">
            <a:avLst/>
          </a:prstGeom>
          <a:noFill/>
          <a:ln w="6350">
            <a:solidFill>
              <a:schemeClr val="tx2"/>
            </a:solidFill>
            <a:prstDash val="solid"/>
          </a:ln>
        </p:spPr>
      </p:sp>
      <p:sp>
        <p:nvSpPr>
          <p:cNvPr id="121" name="Shape 118"/>
          <p:cNvSpPr/>
          <p:nvPr/>
        </p:nvSpPr>
        <p:spPr>
          <a:xfrm>
            <a:off x="5835600" y="3337560"/>
            <a:ext cx="0" cy="457200"/>
          </a:xfrm>
          <a:prstGeom prst="line">
            <a:avLst/>
          </a:prstGeom>
          <a:noFill/>
          <a:ln w="6350">
            <a:solidFill>
              <a:schemeClr val="tx2"/>
            </a:solidFill>
            <a:prstDash val="solid"/>
          </a:ln>
        </p:spPr>
      </p:sp>
      <p:sp>
        <p:nvSpPr>
          <p:cNvPr id="122" name="Shape 119"/>
          <p:cNvSpPr/>
          <p:nvPr/>
        </p:nvSpPr>
        <p:spPr>
          <a:xfrm>
            <a:off x="5873400" y="3337560"/>
            <a:ext cx="0" cy="457200"/>
          </a:xfrm>
          <a:prstGeom prst="line">
            <a:avLst/>
          </a:prstGeom>
          <a:noFill/>
          <a:ln w="6350">
            <a:solidFill>
              <a:schemeClr val="tx2"/>
            </a:solidFill>
            <a:prstDash val="solid"/>
          </a:ln>
        </p:spPr>
      </p:sp>
      <p:sp>
        <p:nvSpPr>
          <p:cNvPr id="123" name="Shape 120"/>
          <p:cNvSpPr/>
          <p:nvPr/>
        </p:nvSpPr>
        <p:spPr>
          <a:xfrm>
            <a:off x="5911200" y="3337560"/>
            <a:ext cx="0" cy="457200"/>
          </a:xfrm>
          <a:prstGeom prst="line">
            <a:avLst/>
          </a:prstGeom>
          <a:noFill/>
          <a:ln w="6350">
            <a:solidFill>
              <a:schemeClr val="tx2"/>
            </a:solidFill>
            <a:prstDash val="solid"/>
          </a:ln>
        </p:spPr>
      </p:sp>
      <p:sp>
        <p:nvSpPr>
          <p:cNvPr id="124" name="Shape 121"/>
          <p:cNvSpPr/>
          <p:nvPr/>
        </p:nvSpPr>
        <p:spPr>
          <a:xfrm>
            <a:off x="5949000" y="3337560"/>
            <a:ext cx="0" cy="457200"/>
          </a:xfrm>
          <a:prstGeom prst="line">
            <a:avLst/>
          </a:prstGeom>
          <a:noFill/>
          <a:ln w="6350">
            <a:solidFill>
              <a:schemeClr val="tx2"/>
            </a:solidFill>
            <a:prstDash val="solid"/>
          </a:ln>
        </p:spPr>
      </p:sp>
      <p:sp>
        <p:nvSpPr>
          <p:cNvPr id="125" name="Shape 122"/>
          <p:cNvSpPr/>
          <p:nvPr/>
        </p:nvSpPr>
        <p:spPr>
          <a:xfrm>
            <a:off x="5986800" y="3337560"/>
            <a:ext cx="0" cy="457200"/>
          </a:xfrm>
          <a:prstGeom prst="line">
            <a:avLst/>
          </a:prstGeom>
          <a:noFill/>
          <a:ln w="6350">
            <a:solidFill>
              <a:schemeClr val="tx2"/>
            </a:solidFill>
            <a:prstDash val="solid"/>
          </a:ln>
        </p:spPr>
      </p:sp>
      <p:sp>
        <p:nvSpPr>
          <p:cNvPr id="126" name="Shape 123"/>
          <p:cNvSpPr/>
          <p:nvPr/>
        </p:nvSpPr>
        <p:spPr>
          <a:xfrm>
            <a:off x="6024600" y="3337560"/>
            <a:ext cx="0" cy="457200"/>
          </a:xfrm>
          <a:prstGeom prst="line">
            <a:avLst/>
          </a:prstGeom>
          <a:noFill/>
          <a:ln w="6350">
            <a:solidFill>
              <a:schemeClr val="tx2"/>
            </a:solidFill>
            <a:prstDash val="solid"/>
          </a:ln>
        </p:spPr>
      </p:sp>
      <p:sp>
        <p:nvSpPr>
          <p:cNvPr id="127" name="Shape 124"/>
          <p:cNvSpPr/>
          <p:nvPr/>
        </p:nvSpPr>
        <p:spPr>
          <a:xfrm>
            <a:off x="6062400" y="3337560"/>
            <a:ext cx="0" cy="457200"/>
          </a:xfrm>
          <a:prstGeom prst="line">
            <a:avLst/>
          </a:prstGeom>
          <a:noFill/>
          <a:ln w="6350">
            <a:solidFill>
              <a:schemeClr val="tx2"/>
            </a:solidFill>
            <a:prstDash val="solid"/>
          </a:ln>
        </p:spPr>
      </p:sp>
      <p:sp>
        <p:nvSpPr>
          <p:cNvPr id="128" name="Shape 125"/>
          <p:cNvSpPr/>
          <p:nvPr/>
        </p:nvSpPr>
        <p:spPr>
          <a:xfrm>
            <a:off x="6100200" y="3337560"/>
            <a:ext cx="0" cy="457200"/>
          </a:xfrm>
          <a:prstGeom prst="line">
            <a:avLst/>
          </a:prstGeom>
          <a:noFill/>
          <a:ln w="6350">
            <a:solidFill>
              <a:schemeClr val="tx2"/>
            </a:solidFill>
            <a:prstDash val="solid"/>
          </a:ln>
        </p:spPr>
      </p:sp>
      <p:sp>
        <p:nvSpPr>
          <p:cNvPr id="129" name="Shape 126"/>
          <p:cNvSpPr/>
          <p:nvPr/>
        </p:nvSpPr>
        <p:spPr>
          <a:xfrm>
            <a:off x="6138000" y="3337560"/>
            <a:ext cx="0" cy="457200"/>
          </a:xfrm>
          <a:prstGeom prst="line">
            <a:avLst/>
          </a:prstGeom>
          <a:noFill/>
          <a:ln w="6350">
            <a:solidFill>
              <a:schemeClr val="tx2"/>
            </a:solidFill>
            <a:prstDash val="solid"/>
          </a:ln>
        </p:spPr>
      </p:sp>
      <p:sp>
        <p:nvSpPr>
          <p:cNvPr id="130" name="Shape 127"/>
          <p:cNvSpPr/>
          <p:nvPr/>
        </p:nvSpPr>
        <p:spPr>
          <a:xfrm>
            <a:off x="6175800" y="3337560"/>
            <a:ext cx="0" cy="457200"/>
          </a:xfrm>
          <a:prstGeom prst="line">
            <a:avLst/>
          </a:prstGeom>
          <a:noFill/>
          <a:ln w="6350">
            <a:solidFill>
              <a:schemeClr val="tx2"/>
            </a:solidFill>
            <a:prstDash val="solid"/>
          </a:ln>
        </p:spPr>
      </p:sp>
      <p:sp>
        <p:nvSpPr>
          <p:cNvPr id="131" name="Shape 128"/>
          <p:cNvSpPr/>
          <p:nvPr/>
        </p:nvSpPr>
        <p:spPr>
          <a:xfrm>
            <a:off x="6213600" y="3337560"/>
            <a:ext cx="0" cy="457200"/>
          </a:xfrm>
          <a:prstGeom prst="line">
            <a:avLst/>
          </a:prstGeom>
          <a:noFill/>
          <a:ln w="6350">
            <a:solidFill>
              <a:schemeClr val="tx2"/>
            </a:solidFill>
            <a:prstDash val="solid"/>
          </a:ln>
        </p:spPr>
      </p:sp>
      <p:sp>
        <p:nvSpPr>
          <p:cNvPr id="132" name="Shape 129"/>
          <p:cNvSpPr/>
          <p:nvPr/>
        </p:nvSpPr>
        <p:spPr>
          <a:xfrm>
            <a:off x="6251400" y="3337560"/>
            <a:ext cx="0" cy="457200"/>
          </a:xfrm>
          <a:prstGeom prst="line">
            <a:avLst/>
          </a:prstGeom>
          <a:noFill/>
          <a:ln w="6350">
            <a:solidFill>
              <a:schemeClr val="tx2"/>
            </a:solidFill>
            <a:prstDash val="solid"/>
          </a:ln>
        </p:spPr>
      </p:sp>
      <p:sp>
        <p:nvSpPr>
          <p:cNvPr id="133" name="Shape 130"/>
          <p:cNvSpPr/>
          <p:nvPr/>
        </p:nvSpPr>
        <p:spPr>
          <a:xfrm>
            <a:off x="6289200" y="3337560"/>
            <a:ext cx="0" cy="457200"/>
          </a:xfrm>
          <a:prstGeom prst="line">
            <a:avLst/>
          </a:prstGeom>
          <a:noFill/>
          <a:ln w="6350">
            <a:solidFill>
              <a:schemeClr val="tx2"/>
            </a:solidFill>
            <a:prstDash val="solid"/>
          </a:ln>
        </p:spPr>
      </p:sp>
      <p:sp>
        <p:nvSpPr>
          <p:cNvPr id="134" name="Shape 131"/>
          <p:cNvSpPr/>
          <p:nvPr/>
        </p:nvSpPr>
        <p:spPr>
          <a:xfrm>
            <a:off x="6327000" y="3337560"/>
            <a:ext cx="0" cy="457200"/>
          </a:xfrm>
          <a:prstGeom prst="line">
            <a:avLst/>
          </a:prstGeom>
          <a:noFill/>
          <a:ln w="6350">
            <a:solidFill>
              <a:schemeClr val="tx2"/>
            </a:solidFill>
            <a:prstDash val="solid"/>
          </a:ln>
        </p:spPr>
      </p:sp>
      <p:sp>
        <p:nvSpPr>
          <p:cNvPr id="135" name="Shape 132"/>
          <p:cNvSpPr/>
          <p:nvPr/>
        </p:nvSpPr>
        <p:spPr>
          <a:xfrm>
            <a:off x="6364800" y="3337560"/>
            <a:ext cx="0" cy="457200"/>
          </a:xfrm>
          <a:prstGeom prst="line">
            <a:avLst/>
          </a:prstGeom>
          <a:noFill/>
          <a:ln w="6350">
            <a:solidFill>
              <a:schemeClr val="tx2"/>
            </a:solidFill>
            <a:prstDash val="solid"/>
          </a:ln>
        </p:spPr>
      </p:sp>
      <p:sp>
        <p:nvSpPr>
          <p:cNvPr id="136" name="Shape 133"/>
          <p:cNvSpPr/>
          <p:nvPr/>
        </p:nvSpPr>
        <p:spPr>
          <a:xfrm>
            <a:off x="6402600" y="3337560"/>
            <a:ext cx="0" cy="457200"/>
          </a:xfrm>
          <a:prstGeom prst="line">
            <a:avLst/>
          </a:prstGeom>
          <a:noFill/>
          <a:ln w="6350">
            <a:solidFill>
              <a:schemeClr val="tx2"/>
            </a:solidFill>
            <a:prstDash val="solid"/>
          </a:ln>
        </p:spPr>
      </p:sp>
      <p:sp>
        <p:nvSpPr>
          <p:cNvPr id="137" name="Shape 134"/>
          <p:cNvSpPr/>
          <p:nvPr/>
        </p:nvSpPr>
        <p:spPr>
          <a:xfrm>
            <a:off x="6440400" y="3337560"/>
            <a:ext cx="0" cy="457200"/>
          </a:xfrm>
          <a:prstGeom prst="line">
            <a:avLst/>
          </a:prstGeom>
          <a:noFill/>
          <a:ln w="6350">
            <a:solidFill>
              <a:schemeClr val="tx2"/>
            </a:solidFill>
            <a:prstDash val="solid"/>
          </a:ln>
        </p:spPr>
      </p:sp>
      <p:sp>
        <p:nvSpPr>
          <p:cNvPr id="138" name="Shape 135"/>
          <p:cNvSpPr/>
          <p:nvPr/>
        </p:nvSpPr>
        <p:spPr>
          <a:xfrm>
            <a:off x="6478200" y="3337560"/>
            <a:ext cx="0" cy="457200"/>
          </a:xfrm>
          <a:prstGeom prst="line">
            <a:avLst/>
          </a:prstGeom>
          <a:noFill/>
          <a:ln w="6350">
            <a:solidFill>
              <a:schemeClr val="tx2"/>
            </a:solidFill>
            <a:prstDash val="solid"/>
          </a:ln>
        </p:spPr>
      </p:sp>
      <p:sp>
        <p:nvSpPr>
          <p:cNvPr id="139" name="Shape 136"/>
          <p:cNvSpPr/>
          <p:nvPr/>
        </p:nvSpPr>
        <p:spPr>
          <a:xfrm>
            <a:off x="6516000" y="3337560"/>
            <a:ext cx="0" cy="457200"/>
          </a:xfrm>
          <a:prstGeom prst="line">
            <a:avLst/>
          </a:prstGeom>
          <a:noFill/>
          <a:ln w="6350">
            <a:solidFill>
              <a:schemeClr val="tx2"/>
            </a:solidFill>
            <a:prstDash val="solid"/>
          </a:ln>
        </p:spPr>
      </p:sp>
      <p:sp>
        <p:nvSpPr>
          <p:cNvPr id="140" name="Shape 137"/>
          <p:cNvSpPr/>
          <p:nvPr/>
        </p:nvSpPr>
        <p:spPr>
          <a:xfrm>
            <a:off x="6553800" y="3337560"/>
            <a:ext cx="0" cy="457200"/>
          </a:xfrm>
          <a:prstGeom prst="line">
            <a:avLst/>
          </a:prstGeom>
          <a:noFill/>
          <a:ln w="6350">
            <a:solidFill>
              <a:schemeClr val="tx2"/>
            </a:solidFill>
            <a:prstDash val="solid"/>
          </a:ln>
        </p:spPr>
      </p:sp>
      <p:sp>
        <p:nvSpPr>
          <p:cNvPr id="141" name="Shape 138"/>
          <p:cNvSpPr/>
          <p:nvPr/>
        </p:nvSpPr>
        <p:spPr>
          <a:xfrm>
            <a:off x="6591600" y="3337560"/>
            <a:ext cx="0" cy="457200"/>
          </a:xfrm>
          <a:prstGeom prst="line">
            <a:avLst/>
          </a:prstGeom>
          <a:noFill/>
          <a:ln w="6350">
            <a:solidFill>
              <a:schemeClr val="tx2"/>
            </a:solidFill>
            <a:prstDash val="solid"/>
          </a:ln>
        </p:spPr>
      </p:sp>
      <p:sp>
        <p:nvSpPr>
          <p:cNvPr id="142" name="Shape 139"/>
          <p:cNvSpPr/>
          <p:nvPr/>
        </p:nvSpPr>
        <p:spPr>
          <a:xfrm>
            <a:off x="6629400" y="3337560"/>
            <a:ext cx="0" cy="457200"/>
          </a:xfrm>
          <a:prstGeom prst="line">
            <a:avLst/>
          </a:prstGeom>
          <a:noFill/>
          <a:ln w="6350">
            <a:solidFill>
              <a:schemeClr val="tx2"/>
            </a:solidFill>
            <a:prstDash val="solid"/>
          </a:ln>
        </p:spPr>
      </p:sp>
      <p:sp>
        <p:nvSpPr>
          <p:cNvPr id="143" name="Shape 140"/>
          <p:cNvSpPr/>
          <p:nvPr/>
        </p:nvSpPr>
        <p:spPr>
          <a:xfrm>
            <a:off x="6667200" y="3337560"/>
            <a:ext cx="0" cy="457200"/>
          </a:xfrm>
          <a:prstGeom prst="line">
            <a:avLst/>
          </a:prstGeom>
          <a:noFill/>
          <a:ln w="6350">
            <a:solidFill>
              <a:schemeClr val="tx2"/>
            </a:solidFill>
            <a:prstDash val="solid"/>
          </a:ln>
        </p:spPr>
      </p:sp>
      <p:sp>
        <p:nvSpPr>
          <p:cNvPr id="144" name="Shape 141"/>
          <p:cNvSpPr/>
          <p:nvPr/>
        </p:nvSpPr>
        <p:spPr>
          <a:xfrm>
            <a:off x="6705000" y="3337560"/>
            <a:ext cx="0" cy="457200"/>
          </a:xfrm>
          <a:prstGeom prst="line">
            <a:avLst/>
          </a:prstGeom>
          <a:noFill/>
          <a:ln w="6350">
            <a:solidFill>
              <a:schemeClr val="tx2"/>
            </a:solidFill>
            <a:prstDash val="solid"/>
          </a:ln>
        </p:spPr>
      </p:sp>
      <p:sp>
        <p:nvSpPr>
          <p:cNvPr id="145" name="Shape 142"/>
          <p:cNvSpPr/>
          <p:nvPr/>
        </p:nvSpPr>
        <p:spPr>
          <a:xfrm>
            <a:off x="6742800" y="3337560"/>
            <a:ext cx="0" cy="457200"/>
          </a:xfrm>
          <a:prstGeom prst="line">
            <a:avLst/>
          </a:prstGeom>
          <a:noFill/>
          <a:ln w="6350">
            <a:solidFill>
              <a:schemeClr val="tx2"/>
            </a:solidFill>
            <a:prstDash val="solid"/>
          </a:ln>
        </p:spPr>
      </p:sp>
      <p:sp>
        <p:nvSpPr>
          <p:cNvPr id="146" name="Shape 143"/>
          <p:cNvSpPr/>
          <p:nvPr/>
        </p:nvSpPr>
        <p:spPr>
          <a:xfrm>
            <a:off x="6780600" y="3337560"/>
            <a:ext cx="0" cy="457200"/>
          </a:xfrm>
          <a:prstGeom prst="line">
            <a:avLst/>
          </a:prstGeom>
          <a:noFill/>
          <a:ln w="6350">
            <a:solidFill>
              <a:schemeClr val="tx2"/>
            </a:solidFill>
            <a:prstDash val="solid"/>
          </a:ln>
        </p:spPr>
      </p:sp>
      <p:sp>
        <p:nvSpPr>
          <p:cNvPr id="147" name="Shape 144"/>
          <p:cNvSpPr/>
          <p:nvPr/>
        </p:nvSpPr>
        <p:spPr>
          <a:xfrm>
            <a:off x="6818400" y="3337560"/>
            <a:ext cx="0" cy="457200"/>
          </a:xfrm>
          <a:prstGeom prst="line">
            <a:avLst/>
          </a:prstGeom>
          <a:noFill/>
          <a:ln w="6350">
            <a:solidFill>
              <a:schemeClr val="tx2"/>
            </a:solidFill>
            <a:prstDash val="solid"/>
          </a:ln>
        </p:spPr>
      </p:sp>
      <p:sp>
        <p:nvSpPr>
          <p:cNvPr id="148" name="Shape 145"/>
          <p:cNvSpPr/>
          <p:nvPr/>
        </p:nvSpPr>
        <p:spPr>
          <a:xfrm>
            <a:off x="6856200" y="3337560"/>
            <a:ext cx="0" cy="457200"/>
          </a:xfrm>
          <a:prstGeom prst="line">
            <a:avLst/>
          </a:prstGeom>
          <a:noFill/>
          <a:ln w="6350">
            <a:solidFill>
              <a:schemeClr val="tx2"/>
            </a:solidFill>
            <a:prstDash val="solid"/>
          </a:ln>
        </p:spPr>
      </p:sp>
      <p:sp>
        <p:nvSpPr>
          <p:cNvPr id="149" name="Shape 146"/>
          <p:cNvSpPr/>
          <p:nvPr/>
        </p:nvSpPr>
        <p:spPr>
          <a:xfrm>
            <a:off x="6894000" y="3337560"/>
            <a:ext cx="0" cy="457200"/>
          </a:xfrm>
          <a:prstGeom prst="line">
            <a:avLst/>
          </a:prstGeom>
          <a:noFill/>
          <a:ln w="6350">
            <a:solidFill>
              <a:schemeClr val="tx2"/>
            </a:solidFill>
            <a:prstDash val="solid"/>
          </a:ln>
        </p:spPr>
      </p:sp>
      <p:sp>
        <p:nvSpPr>
          <p:cNvPr id="150" name="Shape 147"/>
          <p:cNvSpPr/>
          <p:nvPr/>
        </p:nvSpPr>
        <p:spPr>
          <a:xfrm>
            <a:off x="6931800" y="3337560"/>
            <a:ext cx="0" cy="457200"/>
          </a:xfrm>
          <a:prstGeom prst="line">
            <a:avLst/>
          </a:prstGeom>
          <a:noFill/>
          <a:ln w="6350">
            <a:solidFill>
              <a:schemeClr val="tx2"/>
            </a:solidFill>
            <a:prstDash val="solid"/>
          </a:ln>
        </p:spPr>
      </p:sp>
      <p:sp>
        <p:nvSpPr>
          <p:cNvPr id="151" name="Shape 148"/>
          <p:cNvSpPr/>
          <p:nvPr/>
        </p:nvSpPr>
        <p:spPr>
          <a:xfrm>
            <a:off x="6969600" y="3337560"/>
            <a:ext cx="0" cy="457200"/>
          </a:xfrm>
          <a:prstGeom prst="line">
            <a:avLst/>
          </a:prstGeom>
          <a:noFill/>
          <a:ln w="6350">
            <a:solidFill>
              <a:schemeClr val="tx2"/>
            </a:solidFill>
            <a:prstDash val="solid"/>
          </a:ln>
        </p:spPr>
      </p:sp>
      <p:sp>
        <p:nvSpPr>
          <p:cNvPr id="152" name="Shape 149"/>
          <p:cNvSpPr/>
          <p:nvPr/>
        </p:nvSpPr>
        <p:spPr>
          <a:xfrm>
            <a:off x="7007400" y="3337560"/>
            <a:ext cx="0" cy="457200"/>
          </a:xfrm>
          <a:prstGeom prst="line">
            <a:avLst/>
          </a:prstGeom>
          <a:noFill/>
          <a:ln w="6350">
            <a:solidFill>
              <a:schemeClr val="tx2"/>
            </a:solidFill>
            <a:prstDash val="solid"/>
          </a:ln>
        </p:spPr>
      </p:sp>
      <p:sp>
        <p:nvSpPr>
          <p:cNvPr id="153" name="Shape 150"/>
          <p:cNvSpPr/>
          <p:nvPr/>
        </p:nvSpPr>
        <p:spPr>
          <a:xfrm>
            <a:off x="7045200" y="3337560"/>
            <a:ext cx="0" cy="457200"/>
          </a:xfrm>
          <a:prstGeom prst="line">
            <a:avLst/>
          </a:prstGeom>
          <a:noFill/>
          <a:ln w="6350">
            <a:solidFill>
              <a:schemeClr val="tx2"/>
            </a:solidFill>
            <a:prstDash val="solid"/>
          </a:ln>
        </p:spPr>
      </p:sp>
      <p:sp>
        <p:nvSpPr>
          <p:cNvPr id="154" name="Shape 151"/>
          <p:cNvSpPr/>
          <p:nvPr/>
        </p:nvSpPr>
        <p:spPr>
          <a:xfrm>
            <a:off x="7083000" y="3337560"/>
            <a:ext cx="0" cy="457200"/>
          </a:xfrm>
          <a:prstGeom prst="line">
            <a:avLst/>
          </a:prstGeom>
          <a:noFill/>
          <a:ln w="6350">
            <a:solidFill>
              <a:schemeClr val="tx2"/>
            </a:solidFill>
            <a:prstDash val="solid"/>
          </a:ln>
        </p:spPr>
      </p:sp>
      <p:sp>
        <p:nvSpPr>
          <p:cNvPr id="155" name="Shape 152"/>
          <p:cNvSpPr/>
          <p:nvPr/>
        </p:nvSpPr>
        <p:spPr>
          <a:xfrm>
            <a:off x="7120800" y="3337560"/>
            <a:ext cx="0" cy="457200"/>
          </a:xfrm>
          <a:prstGeom prst="line">
            <a:avLst/>
          </a:prstGeom>
          <a:noFill/>
          <a:ln w="6350">
            <a:solidFill>
              <a:schemeClr val="tx2"/>
            </a:solidFill>
            <a:prstDash val="solid"/>
          </a:ln>
        </p:spPr>
      </p:sp>
      <p:sp>
        <p:nvSpPr>
          <p:cNvPr id="156" name="Shape 153"/>
          <p:cNvSpPr/>
          <p:nvPr/>
        </p:nvSpPr>
        <p:spPr>
          <a:xfrm>
            <a:off x="7158600" y="3337560"/>
            <a:ext cx="0" cy="457200"/>
          </a:xfrm>
          <a:prstGeom prst="line">
            <a:avLst/>
          </a:prstGeom>
          <a:noFill/>
          <a:ln w="6350">
            <a:solidFill>
              <a:schemeClr val="tx2"/>
            </a:solidFill>
            <a:prstDash val="solid"/>
          </a:ln>
        </p:spPr>
      </p:sp>
      <p:sp>
        <p:nvSpPr>
          <p:cNvPr id="157" name="Shape 154"/>
          <p:cNvSpPr/>
          <p:nvPr/>
        </p:nvSpPr>
        <p:spPr>
          <a:xfrm>
            <a:off x="7196400" y="3337560"/>
            <a:ext cx="0" cy="457200"/>
          </a:xfrm>
          <a:prstGeom prst="line">
            <a:avLst/>
          </a:prstGeom>
          <a:noFill/>
          <a:ln w="6350">
            <a:solidFill>
              <a:schemeClr val="tx2"/>
            </a:solidFill>
            <a:prstDash val="solid"/>
          </a:ln>
        </p:spPr>
      </p:sp>
      <p:sp>
        <p:nvSpPr>
          <p:cNvPr id="158" name="Shape 155"/>
          <p:cNvSpPr/>
          <p:nvPr/>
        </p:nvSpPr>
        <p:spPr>
          <a:xfrm>
            <a:off x="7234200" y="3337560"/>
            <a:ext cx="0" cy="457200"/>
          </a:xfrm>
          <a:prstGeom prst="line">
            <a:avLst/>
          </a:prstGeom>
          <a:noFill/>
          <a:ln w="6350">
            <a:solidFill>
              <a:schemeClr val="tx2"/>
            </a:solidFill>
            <a:prstDash val="solid"/>
          </a:ln>
        </p:spPr>
      </p:sp>
      <p:sp>
        <p:nvSpPr>
          <p:cNvPr id="159" name="Shape 156"/>
          <p:cNvSpPr/>
          <p:nvPr/>
        </p:nvSpPr>
        <p:spPr>
          <a:xfrm>
            <a:off x="7272000" y="3337560"/>
            <a:ext cx="0" cy="457200"/>
          </a:xfrm>
          <a:prstGeom prst="line">
            <a:avLst/>
          </a:prstGeom>
          <a:noFill/>
          <a:ln w="6350">
            <a:solidFill>
              <a:schemeClr val="tx2"/>
            </a:solidFill>
            <a:prstDash val="solid"/>
          </a:ln>
        </p:spPr>
      </p:sp>
      <p:sp>
        <p:nvSpPr>
          <p:cNvPr id="160" name="Shape 157"/>
          <p:cNvSpPr/>
          <p:nvPr/>
        </p:nvSpPr>
        <p:spPr>
          <a:xfrm>
            <a:off x="7309800" y="3337560"/>
            <a:ext cx="0" cy="457200"/>
          </a:xfrm>
          <a:prstGeom prst="line">
            <a:avLst/>
          </a:prstGeom>
          <a:noFill/>
          <a:ln w="6350">
            <a:solidFill>
              <a:schemeClr val="tx2"/>
            </a:solidFill>
            <a:prstDash val="solid"/>
          </a:ln>
        </p:spPr>
      </p:sp>
      <p:sp>
        <p:nvSpPr>
          <p:cNvPr id="161" name="Shape 158"/>
          <p:cNvSpPr/>
          <p:nvPr/>
        </p:nvSpPr>
        <p:spPr>
          <a:xfrm>
            <a:off x="7347600" y="3337560"/>
            <a:ext cx="0" cy="457200"/>
          </a:xfrm>
          <a:prstGeom prst="line">
            <a:avLst/>
          </a:prstGeom>
          <a:noFill/>
          <a:ln w="6350">
            <a:solidFill>
              <a:schemeClr val="tx2"/>
            </a:solidFill>
            <a:prstDash val="solid"/>
          </a:ln>
        </p:spPr>
      </p:sp>
      <p:sp>
        <p:nvSpPr>
          <p:cNvPr id="162" name="Shape 159"/>
          <p:cNvSpPr/>
          <p:nvPr/>
        </p:nvSpPr>
        <p:spPr>
          <a:xfrm>
            <a:off x="7385400" y="3337560"/>
            <a:ext cx="0" cy="457200"/>
          </a:xfrm>
          <a:prstGeom prst="line">
            <a:avLst/>
          </a:prstGeom>
          <a:noFill/>
          <a:ln w="6350">
            <a:solidFill>
              <a:schemeClr val="tx2"/>
            </a:solidFill>
            <a:prstDash val="solid"/>
          </a:ln>
        </p:spPr>
      </p:sp>
      <p:sp>
        <p:nvSpPr>
          <p:cNvPr id="163" name="Shape 160"/>
          <p:cNvSpPr/>
          <p:nvPr/>
        </p:nvSpPr>
        <p:spPr>
          <a:xfrm>
            <a:off x="7423200" y="3337560"/>
            <a:ext cx="0" cy="457200"/>
          </a:xfrm>
          <a:prstGeom prst="line">
            <a:avLst/>
          </a:prstGeom>
          <a:noFill/>
          <a:ln w="6350">
            <a:solidFill>
              <a:schemeClr val="tx2"/>
            </a:solidFill>
            <a:prstDash val="solid"/>
          </a:ln>
        </p:spPr>
      </p:sp>
      <p:sp>
        <p:nvSpPr>
          <p:cNvPr id="164" name="Shape 161"/>
          <p:cNvSpPr/>
          <p:nvPr/>
        </p:nvSpPr>
        <p:spPr>
          <a:xfrm>
            <a:off x="7461000" y="3337560"/>
            <a:ext cx="0" cy="457200"/>
          </a:xfrm>
          <a:prstGeom prst="line">
            <a:avLst/>
          </a:prstGeom>
          <a:noFill/>
          <a:ln w="6350">
            <a:solidFill>
              <a:schemeClr val="tx2"/>
            </a:solidFill>
            <a:prstDash val="solid"/>
          </a:ln>
        </p:spPr>
      </p:sp>
      <p:sp>
        <p:nvSpPr>
          <p:cNvPr id="165" name="Shape 162"/>
          <p:cNvSpPr/>
          <p:nvPr/>
        </p:nvSpPr>
        <p:spPr>
          <a:xfrm>
            <a:off x="7498800" y="3337560"/>
            <a:ext cx="0" cy="457200"/>
          </a:xfrm>
          <a:prstGeom prst="line">
            <a:avLst/>
          </a:prstGeom>
          <a:noFill/>
          <a:ln w="6350">
            <a:solidFill>
              <a:schemeClr val="tx2"/>
            </a:solidFill>
            <a:prstDash val="solid"/>
          </a:ln>
        </p:spPr>
      </p:sp>
      <p:sp>
        <p:nvSpPr>
          <p:cNvPr id="166" name="Shape 163"/>
          <p:cNvSpPr/>
          <p:nvPr/>
        </p:nvSpPr>
        <p:spPr>
          <a:xfrm>
            <a:off x="7536600" y="3337560"/>
            <a:ext cx="0" cy="457200"/>
          </a:xfrm>
          <a:prstGeom prst="line">
            <a:avLst/>
          </a:prstGeom>
          <a:noFill/>
          <a:ln w="6350">
            <a:solidFill>
              <a:schemeClr val="tx2"/>
            </a:solidFill>
            <a:prstDash val="solid"/>
          </a:ln>
        </p:spPr>
      </p:sp>
      <p:sp>
        <p:nvSpPr>
          <p:cNvPr id="167" name="Shape 164"/>
          <p:cNvSpPr/>
          <p:nvPr/>
        </p:nvSpPr>
        <p:spPr>
          <a:xfrm>
            <a:off x="7574400" y="3337560"/>
            <a:ext cx="0" cy="457200"/>
          </a:xfrm>
          <a:prstGeom prst="line">
            <a:avLst/>
          </a:prstGeom>
          <a:noFill/>
          <a:ln w="6350">
            <a:solidFill>
              <a:schemeClr val="tx2"/>
            </a:solidFill>
            <a:prstDash val="solid"/>
          </a:ln>
        </p:spPr>
      </p:sp>
      <p:sp>
        <p:nvSpPr>
          <p:cNvPr id="168" name="Shape 165"/>
          <p:cNvSpPr/>
          <p:nvPr/>
        </p:nvSpPr>
        <p:spPr>
          <a:xfrm>
            <a:off x="7612200" y="3337560"/>
            <a:ext cx="0" cy="457200"/>
          </a:xfrm>
          <a:prstGeom prst="line">
            <a:avLst/>
          </a:prstGeom>
          <a:noFill/>
          <a:ln w="6350">
            <a:solidFill>
              <a:schemeClr val="tx2"/>
            </a:solidFill>
            <a:prstDash val="solid"/>
          </a:ln>
        </p:spPr>
      </p:sp>
      <p:sp>
        <p:nvSpPr>
          <p:cNvPr id="169" name="Shape 166"/>
          <p:cNvSpPr/>
          <p:nvPr/>
        </p:nvSpPr>
        <p:spPr>
          <a:xfrm>
            <a:off x="7650000" y="3337560"/>
            <a:ext cx="0" cy="457200"/>
          </a:xfrm>
          <a:prstGeom prst="line">
            <a:avLst/>
          </a:prstGeom>
          <a:noFill/>
          <a:ln w="6350">
            <a:solidFill>
              <a:schemeClr val="tx2"/>
            </a:solidFill>
            <a:prstDash val="solid"/>
          </a:ln>
        </p:spPr>
      </p:sp>
      <p:sp>
        <p:nvSpPr>
          <p:cNvPr id="170" name="Shape 167"/>
          <p:cNvSpPr/>
          <p:nvPr/>
        </p:nvSpPr>
        <p:spPr>
          <a:xfrm>
            <a:off x="7687800" y="3337560"/>
            <a:ext cx="0" cy="457200"/>
          </a:xfrm>
          <a:prstGeom prst="line">
            <a:avLst/>
          </a:prstGeom>
          <a:noFill/>
          <a:ln w="6350">
            <a:solidFill>
              <a:schemeClr val="tx2"/>
            </a:solidFill>
            <a:prstDash val="solid"/>
          </a:ln>
        </p:spPr>
      </p:sp>
      <p:sp>
        <p:nvSpPr>
          <p:cNvPr id="171" name="Shape 168"/>
          <p:cNvSpPr/>
          <p:nvPr/>
        </p:nvSpPr>
        <p:spPr>
          <a:xfrm>
            <a:off x="7725600" y="3337560"/>
            <a:ext cx="0" cy="457200"/>
          </a:xfrm>
          <a:prstGeom prst="line">
            <a:avLst/>
          </a:prstGeom>
          <a:noFill/>
          <a:ln w="6350">
            <a:solidFill>
              <a:schemeClr val="tx2"/>
            </a:solidFill>
            <a:prstDash val="solid"/>
          </a:ln>
        </p:spPr>
      </p:sp>
      <p:sp>
        <p:nvSpPr>
          <p:cNvPr id="172" name="Shape 169"/>
          <p:cNvSpPr/>
          <p:nvPr/>
        </p:nvSpPr>
        <p:spPr>
          <a:xfrm>
            <a:off x="7763400" y="3337560"/>
            <a:ext cx="0" cy="457200"/>
          </a:xfrm>
          <a:prstGeom prst="line">
            <a:avLst/>
          </a:prstGeom>
          <a:noFill/>
          <a:ln w="6350">
            <a:solidFill>
              <a:schemeClr val="tx2"/>
            </a:solidFill>
            <a:prstDash val="solid"/>
          </a:ln>
        </p:spPr>
      </p:sp>
      <p:sp>
        <p:nvSpPr>
          <p:cNvPr id="173" name="Shape 170"/>
          <p:cNvSpPr/>
          <p:nvPr/>
        </p:nvSpPr>
        <p:spPr>
          <a:xfrm>
            <a:off x="7801200" y="3337560"/>
            <a:ext cx="0" cy="457200"/>
          </a:xfrm>
          <a:prstGeom prst="line">
            <a:avLst/>
          </a:prstGeom>
          <a:noFill/>
          <a:ln w="6350">
            <a:solidFill>
              <a:schemeClr val="tx2"/>
            </a:solidFill>
            <a:prstDash val="solid"/>
          </a:ln>
        </p:spPr>
      </p:sp>
      <p:sp>
        <p:nvSpPr>
          <p:cNvPr id="174" name="Shape 171"/>
          <p:cNvSpPr/>
          <p:nvPr/>
        </p:nvSpPr>
        <p:spPr>
          <a:xfrm>
            <a:off x="7839000" y="3337560"/>
            <a:ext cx="0" cy="457200"/>
          </a:xfrm>
          <a:prstGeom prst="line">
            <a:avLst/>
          </a:prstGeom>
          <a:noFill/>
          <a:ln w="6350">
            <a:solidFill>
              <a:schemeClr val="tx2"/>
            </a:solidFill>
            <a:prstDash val="solid"/>
          </a:ln>
        </p:spPr>
      </p:sp>
      <p:sp>
        <p:nvSpPr>
          <p:cNvPr id="175" name="Shape 172"/>
          <p:cNvSpPr/>
          <p:nvPr/>
        </p:nvSpPr>
        <p:spPr>
          <a:xfrm>
            <a:off x="7876800" y="3337560"/>
            <a:ext cx="0" cy="457200"/>
          </a:xfrm>
          <a:prstGeom prst="line">
            <a:avLst/>
          </a:prstGeom>
          <a:noFill/>
          <a:ln w="6350">
            <a:solidFill>
              <a:schemeClr val="tx2"/>
            </a:solidFill>
            <a:prstDash val="solid"/>
          </a:ln>
        </p:spPr>
      </p:sp>
      <p:sp>
        <p:nvSpPr>
          <p:cNvPr id="176" name="Shape 173"/>
          <p:cNvSpPr/>
          <p:nvPr/>
        </p:nvSpPr>
        <p:spPr>
          <a:xfrm>
            <a:off x="7914600" y="3337560"/>
            <a:ext cx="0" cy="457200"/>
          </a:xfrm>
          <a:prstGeom prst="line">
            <a:avLst/>
          </a:prstGeom>
          <a:noFill/>
          <a:ln w="6350">
            <a:solidFill>
              <a:schemeClr val="tx2"/>
            </a:solidFill>
            <a:prstDash val="solid"/>
          </a:ln>
        </p:spPr>
      </p:sp>
      <p:sp>
        <p:nvSpPr>
          <p:cNvPr id="177" name="Shape 174"/>
          <p:cNvSpPr/>
          <p:nvPr/>
        </p:nvSpPr>
        <p:spPr>
          <a:xfrm>
            <a:off x="7952400" y="3337560"/>
            <a:ext cx="0" cy="457200"/>
          </a:xfrm>
          <a:prstGeom prst="line">
            <a:avLst/>
          </a:prstGeom>
          <a:noFill/>
          <a:ln w="6350">
            <a:solidFill>
              <a:schemeClr val="tx2"/>
            </a:solidFill>
            <a:prstDash val="solid"/>
          </a:ln>
        </p:spPr>
      </p:sp>
      <p:sp>
        <p:nvSpPr>
          <p:cNvPr id="178" name="Shape 175"/>
          <p:cNvSpPr/>
          <p:nvPr/>
        </p:nvSpPr>
        <p:spPr>
          <a:xfrm>
            <a:off x="7990200" y="3337560"/>
            <a:ext cx="0" cy="457200"/>
          </a:xfrm>
          <a:prstGeom prst="line">
            <a:avLst/>
          </a:prstGeom>
          <a:noFill/>
          <a:ln w="6350">
            <a:solidFill>
              <a:schemeClr val="tx2"/>
            </a:solidFill>
            <a:prstDash val="solid"/>
          </a:ln>
        </p:spPr>
      </p:sp>
      <p:sp>
        <p:nvSpPr>
          <p:cNvPr id="179" name="Shape 176"/>
          <p:cNvSpPr/>
          <p:nvPr/>
        </p:nvSpPr>
        <p:spPr>
          <a:xfrm>
            <a:off x="8028000" y="3337560"/>
            <a:ext cx="0" cy="457200"/>
          </a:xfrm>
          <a:prstGeom prst="line">
            <a:avLst/>
          </a:prstGeom>
          <a:noFill/>
          <a:ln w="6350">
            <a:solidFill>
              <a:schemeClr val="tx2"/>
            </a:solidFill>
            <a:prstDash val="solid"/>
          </a:ln>
        </p:spPr>
      </p:sp>
      <p:sp>
        <p:nvSpPr>
          <p:cNvPr id="180" name="Shape 177"/>
          <p:cNvSpPr/>
          <p:nvPr/>
        </p:nvSpPr>
        <p:spPr>
          <a:xfrm>
            <a:off x="8065800" y="3337560"/>
            <a:ext cx="0" cy="457200"/>
          </a:xfrm>
          <a:prstGeom prst="line">
            <a:avLst/>
          </a:prstGeom>
          <a:noFill/>
          <a:ln w="6350">
            <a:solidFill>
              <a:schemeClr val="tx2"/>
            </a:solidFill>
            <a:prstDash val="solid"/>
          </a:ln>
        </p:spPr>
      </p:sp>
      <p:sp>
        <p:nvSpPr>
          <p:cNvPr id="181" name="Shape 178"/>
          <p:cNvSpPr/>
          <p:nvPr/>
        </p:nvSpPr>
        <p:spPr>
          <a:xfrm>
            <a:off x="8103600" y="3337560"/>
            <a:ext cx="0" cy="457200"/>
          </a:xfrm>
          <a:prstGeom prst="line">
            <a:avLst/>
          </a:prstGeom>
          <a:noFill/>
          <a:ln w="6350">
            <a:solidFill>
              <a:schemeClr val="tx2"/>
            </a:solidFill>
            <a:prstDash val="solid"/>
          </a:ln>
        </p:spPr>
      </p:sp>
      <p:sp>
        <p:nvSpPr>
          <p:cNvPr id="182" name="Shape 179"/>
          <p:cNvSpPr/>
          <p:nvPr/>
        </p:nvSpPr>
        <p:spPr>
          <a:xfrm>
            <a:off x="8141400" y="3337560"/>
            <a:ext cx="0" cy="457200"/>
          </a:xfrm>
          <a:prstGeom prst="line">
            <a:avLst/>
          </a:prstGeom>
          <a:noFill/>
          <a:ln w="6350">
            <a:solidFill>
              <a:schemeClr val="tx2"/>
            </a:solidFill>
            <a:prstDash val="solid"/>
          </a:ln>
        </p:spPr>
      </p:sp>
      <p:sp>
        <p:nvSpPr>
          <p:cNvPr id="183" name="Shape 180"/>
          <p:cNvSpPr/>
          <p:nvPr/>
        </p:nvSpPr>
        <p:spPr>
          <a:xfrm>
            <a:off x="8179200" y="3337560"/>
            <a:ext cx="0" cy="457200"/>
          </a:xfrm>
          <a:prstGeom prst="line">
            <a:avLst/>
          </a:prstGeom>
          <a:noFill/>
          <a:ln w="6350">
            <a:solidFill>
              <a:schemeClr val="tx2"/>
            </a:solidFill>
            <a:prstDash val="solid"/>
          </a:ln>
        </p:spPr>
      </p:sp>
      <p:sp>
        <p:nvSpPr>
          <p:cNvPr id="184" name="Shape 181"/>
          <p:cNvSpPr/>
          <p:nvPr/>
        </p:nvSpPr>
        <p:spPr>
          <a:xfrm>
            <a:off x="8217000" y="3337560"/>
            <a:ext cx="0" cy="457200"/>
          </a:xfrm>
          <a:prstGeom prst="line">
            <a:avLst/>
          </a:prstGeom>
          <a:noFill/>
          <a:ln w="6350">
            <a:solidFill>
              <a:schemeClr val="tx2"/>
            </a:solidFill>
            <a:prstDash val="solid"/>
          </a:ln>
        </p:spPr>
      </p:sp>
      <p:sp>
        <p:nvSpPr>
          <p:cNvPr id="185" name="Shape 182"/>
          <p:cNvSpPr/>
          <p:nvPr/>
        </p:nvSpPr>
        <p:spPr>
          <a:xfrm>
            <a:off x="8254800" y="3337560"/>
            <a:ext cx="0" cy="457200"/>
          </a:xfrm>
          <a:prstGeom prst="line">
            <a:avLst/>
          </a:prstGeom>
          <a:noFill/>
          <a:ln w="6350">
            <a:solidFill>
              <a:schemeClr val="tx2"/>
            </a:solidFill>
            <a:prstDash val="solid"/>
          </a:ln>
        </p:spPr>
      </p:sp>
      <p:sp>
        <p:nvSpPr>
          <p:cNvPr id="186" name="Shape 183"/>
          <p:cNvSpPr/>
          <p:nvPr/>
        </p:nvSpPr>
        <p:spPr>
          <a:xfrm>
            <a:off x="8292600" y="3337560"/>
            <a:ext cx="0" cy="457200"/>
          </a:xfrm>
          <a:prstGeom prst="line">
            <a:avLst/>
          </a:prstGeom>
          <a:noFill/>
          <a:ln w="6350">
            <a:solidFill>
              <a:schemeClr val="tx2"/>
            </a:solidFill>
            <a:prstDash val="solid"/>
          </a:ln>
        </p:spPr>
      </p:sp>
      <p:sp>
        <p:nvSpPr>
          <p:cNvPr id="187" name="Shape 184"/>
          <p:cNvSpPr/>
          <p:nvPr/>
        </p:nvSpPr>
        <p:spPr>
          <a:xfrm>
            <a:off x="8330400" y="3337560"/>
            <a:ext cx="0" cy="457200"/>
          </a:xfrm>
          <a:prstGeom prst="line">
            <a:avLst/>
          </a:prstGeom>
          <a:noFill/>
          <a:ln w="6350">
            <a:solidFill>
              <a:schemeClr val="tx2"/>
            </a:solidFill>
            <a:prstDash val="solid"/>
          </a:ln>
        </p:spPr>
      </p:sp>
      <p:sp>
        <p:nvSpPr>
          <p:cNvPr id="188" name="Shape 185"/>
          <p:cNvSpPr/>
          <p:nvPr/>
        </p:nvSpPr>
        <p:spPr>
          <a:xfrm>
            <a:off x="8368200" y="3337560"/>
            <a:ext cx="0" cy="457200"/>
          </a:xfrm>
          <a:prstGeom prst="line">
            <a:avLst/>
          </a:prstGeom>
          <a:noFill/>
          <a:ln w="6350">
            <a:solidFill>
              <a:schemeClr val="tx2"/>
            </a:solidFill>
            <a:prstDash val="solid"/>
          </a:ln>
        </p:spPr>
      </p:sp>
      <p:sp>
        <p:nvSpPr>
          <p:cNvPr id="189" name="Shape 186"/>
          <p:cNvSpPr/>
          <p:nvPr/>
        </p:nvSpPr>
        <p:spPr>
          <a:xfrm>
            <a:off x="8406000" y="3337560"/>
            <a:ext cx="0" cy="457200"/>
          </a:xfrm>
          <a:prstGeom prst="line">
            <a:avLst/>
          </a:prstGeom>
          <a:noFill/>
          <a:ln w="6350">
            <a:solidFill>
              <a:schemeClr val="tx2"/>
            </a:solidFill>
            <a:prstDash val="solid"/>
          </a:ln>
        </p:spPr>
      </p:sp>
      <p:sp>
        <p:nvSpPr>
          <p:cNvPr id="190" name="Shape 187"/>
          <p:cNvSpPr/>
          <p:nvPr/>
        </p:nvSpPr>
        <p:spPr>
          <a:xfrm>
            <a:off x="8443800" y="3337560"/>
            <a:ext cx="0" cy="457200"/>
          </a:xfrm>
          <a:prstGeom prst="line">
            <a:avLst/>
          </a:prstGeom>
          <a:noFill/>
          <a:ln w="6350">
            <a:solidFill>
              <a:schemeClr val="tx2"/>
            </a:solidFill>
            <a:prstDash val="solid"/>
          </a:ln>
        </p:spPr>
      </p:sp>
      <p:sp>
        <p:nvSpPr>
          <p:cNvPr id="191" name="Shape 188"/>
          <p:cNvSpPr/>
          <p:nvPr/>
        </p:nvSpPr>
        <p:spPr>
          <a:xfrm>
            <a:off x="8481600" y="3337560"/>
            <a:ext cx="0" cy="457200"/>
          </a:xfrm>
          <a:prstGeom prst="line">
            <a:avLst/>
          </a:prstGeom>
          <a:noFill/>
          <a:ln w="6350">
            <a:solidFill>
              <a:schemeClr val="tx2"/>
            </a:solidFill>
            <a:prstDash val="solid"/>
          </a:ln>
        </p:spPr>
      </p:sp>
      <p:sp>
        <p:nvSpPr>
          <p:cNvPr id="192" name="Shape 189"/>
          <p:cNvSpPr/>
          <p:nvPr/>
        </p:nvSpPr>
        <p:spPr>
          <a:xfrm>
            <a:off x="8519400" y="3337560"/>
            <a:ext cx="0" cy="457200"/>
          </a:xfrm>
          <a:prstGeom prst="line">
            <a:avLst/>
          </a:prstGeom>
          <a:noFill/>
          <a:ln w="6350">
            <a:solidFill>
              <a:schemeClr val="tx2"/>
            </a:solidFill>
            <a:prstDash val="solid"/>
          </a:ln>
        </p:spPr>
      </p:sp>
      <p:sp>
        <p:nvSpPr>
          <p:cNvPr id="193" name="Shape 190"/>
          <p:cNvSpPr/>
          <p:nvPr/>
        </p:nvSpPr>
        <p:spPr>
          <a:xfrm>
            <a:off x="8557200" y="3337560"/>
            <a:ext cx="0" cy="457200"/>
          </a:xfrm>
          <a:prstGeom prst="line">
            <a:avLst/>
          </a:prstGeom>
          <a:noFill/>
          <a:ln w="6350">
            <a:solidFill>
              <a:schemeClr val="tx2"/>
            </a:solidFill>
            <a:prstDash val="solid"/>
          </a:ln>
        </p:spPr>
      </p:sp>
      <p:sp>
        <p:nvSpPr>
          <p:cNvPr id="194" name="Shape 191"/>
          <p:cNvSpPr/>
          <p:nvPr/>
        </p:nvSpPr>
        <p:spPr>
          <a:xfrm>
            <a:off x="8595000" y="3337560"/>
            <a:ext cx="0" cy="457200"/>
          </a:xfrm>
          <a:prstGeom prst="line">
            <a:avLst/>
          </a:prstGeom>
          <a:noFill/>
          <a:ln w="6350">
            <a:solidFill>
              <a:schemeClr val="tx2"/>
            </a:solidFill>
            <a:prstDash val="solid"/>
          </a:ln>
        </p:spPr>
      </p:sp>
      <p:sp>
        <p:nvSpPr>
          <p:cNvPr id="195" name="Shape 192"/>
          <p:cNvSpPr/>
          <p:nvPr/>
        </p:nvSpPr>
        <p:spPr>
          <a:xfrm>
            <a:off x="8632800" y="3337560"/>
            <a:ext cx="0" cy="457200"/>
          </a:xfrm>
          <a:prstGeom prst="line">
            <a:avLst/>
          </a:prstGeom>
          <a:noFill/>
          <a:ln w="6350">
            <a:solidFill>
              <a:schemeClr val="tx2"/>
            </a:solidFill>
            <a:prstDash val="solid"/>
          </a:ln>
        </p:spPr>
      </p:sp>
      <p:sp>
        <p:nvSpPr>
          <p:cNvPr id="196" name="Shape 193"/>
          <p:cNvSpPr/>
          <p:nvPr/>
        </p:nvSpPr>
        <p:spPr>
          <a:xfrm>
            <a:off x="8670600" y="3337560"/>
            <a:ext cx="0" cy="457200"/>
          </a:xfrm>
          <a:prstGeom prst="line">
            <a:avLst/>
          </a:prstGeom>
          <a:noFill/>
          <a:ln w="6350">
            <a:solidFill>
              <a:schemeClr val="tx2"/>
            </a:solidFill>
            <a:prstDash val="solid"/>
          </a:ln>
        </p:spPr>
      </p:sp>
      <p:sp>
        <p:nvSpPr>
          <p:cNvPr id="197" name="Shape 194"/>
          <p:cNvSpPr/>
          <p:nvPr/>
        </p:nvSpPr>
        <p:spPr>
          <a:xfrm>
            <a:off x="8708400" y="3337560"/>
            <a:ext cx="0" cy="457200"/>
          </a:xfrm>
          <a:prstGeom prst="line">
            <a:avLst/>
          </a:prstGeom>
          <a:noFill/>
          <a:ln w="6350">
            <a:solidFill>
              <a:schemeClr val="tx2"/>
            </a:solidFill>
            <a:prstDash val="solid"/>
          </a:ln>
        </p:spPr>
      </p:sp>
      <p:sp>
        <p:nvSpPr>
          <p:cNvPr id="198" name="Shape 195"/>
          <p:cNvSpPr/>
          <p:nvPr/>
        </p:nvSpPr>
        <p:spPr>
          <a:xfrm>
            <a:off x="8746200" y="3337560"/>
            <a:ext cx="0" cy="457200"/>
          </a:xfrm>
          <a:prstGeom prst="line">
            <a:avLst/>
          </a:prstGeom>
          <a:noFill/>
          <a:ln w="6350">
            <a:solidFill>
              <a:schemeClr val="tx2"/>
            </a:solidFill>
            <a:prstDash val="solid"/>
          </a:ln>
        </p:spPr>
      </p:sp>
      <p:sp>
        <p:nvSpPr>
          <p:cNvPr id="199" name="Shape 196"/>
          <p:cNvSpPr/>
          <p:nvPr/>
        </p:nvSpPr>
        <p:spPr>
          <a:xfrm>
            <a:off x="8784000" y="3337560"/>
            <a:ext cx="0" cy="457200"/>
          </a:xfrm>
          <a:prstGeom prst="line">
            <a:avLst/>
          </a:prstGeom>
          <a:noFill/>
          <a:ln w="6350">
            <a:solidFill>
              <a:schemeClr val="tx2"/>
            </a:solidFill>
            <a:prstDash val="solid"/>
          </a:ln>
        </p:spPr>
      </p:sp>
      <p:sp>
        <p:nvSpPr>
          <p:cNvPr id="200" name="Shape 197"/>
          <p:cNvSpPr/>
          <p:nvPr/>
        </p:nvSpPr>
        <p:spPr>
          <a:xfrm>
            <a:off x="8821800" y="3337560"/>
            <a:ext cx="0" cy="457200"/>
          </a:xfrm>
          <a:prstGeom prst="line">
            <a:avLst/>
          </a:prstGeom>
          <a:noFill/>
          <a:ln w="6350">
            <a:solidFill>
              <a:schemeClr val="tx2"/>
            </a:solidFill>
            <a:prstDash val="solid"/>
          </a:ln>
        </p:spPr>
      </p:sp>
      <p:sp>
        <p:nvSpPr>
          <p:cNvPr id="201" name="Shape 198"/>
          <p:cNvSpPr/>
          <p:nvPr/>
        </p:nvSpPr>
        <p:spPr>
          <a:xfrm>
            <a:off x="8859600" y="3337560"/>
            <a:ext cx="0" cy="457200"/>
          </a:xfrm>
          <a:prstGeom prst="line">
            <a:avLst/>
          </a:prstGeom>
          <a:noFill/>
          <a:ln w="6350">
            <a:solidFill>
              <a:schemeClr val="tx2"/>
            </a:solidFill>
            <a:prstDash val="solid"/>
          </a:ln>
        </p:spPr>
      </p:sp>
      <p:sp>
        <p:nvSpPr>
          <p:cNvPr id="202" name="Shape 199"/>
          <p:cNvSpPr/>
          <p:nvPr/>
        </p:nvSpPr>
        <p:spPr>
          <a:xfrm>
            <a:off x="8897400" y="3337560"/>
            <a:ext cx="0" cy="457200"/>
          </a:xfrm>
          <a:prstGeom prst="line">
            <a:avLst/>
          </a:prstGeom>
          <a:noFill/>
          <a:ln w="6350">
            <a:solidFill>
              <a:schemeClr val="tx2"/>
            </a:solidFill>
            <a:prstDash val="solid"/>
          </a:ln>
        </p:spPr>
      </p:sp>
      <p:sp>
        <p:nvSpPr>
          <p:cNvPr id="203" name="Shape 200"/>
          <p:cNvSpPr/>
          <p:nvPr/>
        </p:nvSpPr>
        <p:spPr>
          <a:xfrm>
            <a:off x="8935200" y="3337560"/>
            <a:ext cx="0" cy="457200"/>
          </a:xfrm>
          <a:prstGeom prst="line">
            <a:avLst/>
          </a:prstGeom>
          <a:noFill/>
          <a:ln w="6350">
            <a:solidFill>
              <a:schemeClr val="tx2"/>
            </a:solidFill>
            <a:prstDash val="solid"/>
          </a:ln>
        </p:spPr>
      </p:sp>
      <p:sp>
        <p:nvSpPr>
          <p:cNvPr id="204" name="Shape 201"/>
          <p:cNvSpPr/>
          <p:nvPr/>
        </p:nvSpPr>
        <p:spPr>
          <a:xfrm>
            <a:off x="8973000" y="3337560"/>
            <a:ext cx="0" cy="457200"/>
          </a:xfrm>
          <a:prstGeom prst="line">
            <a:avLst/>
          </a:prstGeom>
          <a:noFill/>
          <a:ln w="6350">
            <a:solidFill>
              <a:schemeClr val="tx2"/>
            </a:solidFill>
            <a:prstDash val="solid"/>
          </a:ln>
        </p:spPr>
      </p:sp>
      <p:sp>
        <p:nvSpPr>
          <p:cNvPr id="205" name="Shape 202"/>
          <p:cNvSpPr/>
          <p:nvPr/>
        </p:nvSpPr>
        <p:spPr>
          <a:xfrm>
            <a:off x="9010800" y="3337560"/>
            <a:ext cx="0" cy="457200"/>
          </a:xfrm>
          <a:prstGeom prst="line">
            <a:avLst/>
          </a:prstGeom>
          <a:noFill/>
          <a:ln w="6350">
            <a:solidFill>
              <a:schemeClr val="tx2"/>
            </a:solidFill>
            <a:prstDash val="solid"/>
          </a:ln>
        </p:spPr>
      </p:sp>
      <p:sp>
        <p:nvSpPr>
          <p:cNvPr id="206" name="Shape 203"/>
          <p:cNvSpPr/>
          <p:nvPr/>
        </p:nvSpPr>
        <p:spPr>
          <a:xfrm>
            <a:off x="9048600" y="3337560"/>
            <a:ext cx="0" cy="457200"/>
          </a:xfrm>
          <a:prstGeom prst="line">
            <a:avLst/>
          </a:prstGeom>
          <a:noFill/>
          <a:ln w="6350">
            <a:solidFill>
              <a:schemeClr val="tx2"/>
            </a:solidFill>
            <a:prstDash val="solid"/>
          </a:ln>
        </p:spPr>
      </p:sp>
      <p:sp>
        <p:nvSpPr>
          <p:cNvPr id="207" name="Shape 204"/>
          <p:cNvSpPr/>
          <p:nvPr/>
        </p:nvSpPr>
        <p:spPr>
          <a:xfrm>
            <a:off x="9086400" y="3337560"/>
            <a:ext cx="0" cy="457200"/>
          </a:xfrm>
          <a:prstGeom prst="line">
            <a:avLst/>
          </a:prstGeom>
          <a:noFill/>
          <a:ln w="6350">
            <a:solidFill>
              <a:schemeClr val="tx2"/>
            </a:solidFill>
            <a:prstDash val="solid"/>
          </a:ln>
        </p:spPr>
      </p:sp>
      <p:sp>
        <p:nvSpPr>
          <p:cNvPr id="208" name="Shape 205"/>
          <p:cNvSpPr/>
          <p:nvPr/>
        </p:nvSpPr>
        <p:spPr>
          <a:xfrm>
            <a:off x="9124200" y="3337560"/>
            <a:ext cx="0" cy="457200"/>
          </a:xfrm>
          <a:prstGeom prst="line">
            <a:avLst/>
          </a:prstGeom>
          <a:noFill/>
          <a:ln w="6350">
            <a:solidFill>
              <a:schemeClr val="tx2"/>
            </a:solidFill>
            <a:prstDash val="solid"/>
          </a:ln>
        </p:spPr>
      </p:sp>
      <p:sp>
        <p:nvSpPr>
          <p:cNvPr id="209" name="Shape 206"/>
          <p:cNvSpPr/>
          <p:nvPr/>
        </p:nvSpPr>
        <p:spPr>
          <a:xfrm>
            <a:off x="9162000" y="3337560"/>
            <a:ext cx="0" cy="457200"/>
          </a:xfrm>
          <a:prstGeom prst="line">
            <a:avLst/>
          </a:prstGeom>
          <a:noFill/>
          <a:ln w="6350">
            <a:solidFill>
              <a:schemeClr val="tx2"/>
            </a:solidFill>
            <a:prstDash val="solid"/>
          </a:ln>
        </p:spPr>
      </p:sp>
      <p:sp>
        <p:nvSpPr>
          <p:cNvPr id="210" name="Shape 207"/>
          <p:cNvSpPr/>
          <p:nvPr/>
        </p:nvSpPr>
        <p:spPr>
          <a:xfrm>
            <a:off x="9199800" y="3337560"/>
            <a:ext cx="0" cy="457200"/>
          </a:xfrm>
          <a:prstGeom prst="line">
            <a:avLst/>
          </a:prstGeom>
          <a:noFill/>
          <a:ln w="6350">
            <a:solidFill>
              <a:schemeClr val="tx2"/>
            </a:solidFill>
            <a:prstDash val="solid"/>
          </a:ln>
        </p:spPr>
      </p:sp>
      <p:sp>
        <p:nvSpPr>
          <p:cNvPr id="211" name="Shape 208"/>
          <p:cNvSpPr/>
          <p:nvPr/>
        </p:nvSpPr>
        <p:spPr>
          <a:xfrm>
            <a:off x="9237600" y="3337560"/>
            <a:ext cx="0" cy="457200"/>
          </a:xfrm>
          <a:prstGeom prst="line">
            <a:avLst/>
          </a:prstGeom>
          <a:noFill/>
          <a:ln w="6350">
            <a:solidFill>
              <a:schemeClr val="tx2"/>
            </a:solidFill>
            <a:prstDash val="solid"/>
          </a:ln>
        </p:spPr>
      </p:sp>
      <p:sp>
        <p:nvSpPr>
          <p:cNvPr id="212" name="Shape 209"/>
          <p:cNvSpPr/>
          <p:nvPr/>
        </p:nvSpPr>
        <p:spPr>
          <a:xfrm>
            <a:off x="9275400" y="3337560"/>
            <a:ext cx="0" cy="457200"/>
          </a:xfrm>
          <a:prstGeom prst="line">
            <a:avLst/>
          </a:prstGeom>
          <a:noFill/>
          <a:ln w="6350">
            <a:solidFill>
              <a:schemeClr val="tx2"/>
            </a:solidFill>
            <a:prstDash val="solid"/>
          </a:ln>
        </p:spPr>
      </p:sp>
      <p:sp>
        <p:nvSpPr>
          <p:cNvPr id="213" name="Shape 210"/>
          <p:cNvSpPr/>
          <p:nvPr/>
        </p:nvSpPr>
        <p:spPr>
          <a:xfrm>
            <a:off x="9313200" y="3337560"/>
            <a:ext cx="0" cy="457200"/>
          </a:xfrm>
          <a:prstGeom prst="line">
            <a:avLst/>
          </a:prstGeom>
          <a:noFill/>
          <a:ln w="6350">
            <a:solidFill>
              <a:schemeClr val="tx2"/>
            </a:solidFill>
            <a:prstDash val="solid"/>
          </a:ln>
        </p:spPr>
      </p:sp>
      <p:sp>
        <p:nvSpPr>
          <p:cNvPr id="214" name="Shape 211"/>
          <p:cNvSpPr/>
          <p:nvPr/>
        </p:nvSpPr>
        <p:spPr>
          <a:xfrm>
            <a:off x="9351000" y="3337560"/>
            <a:ext cx="0" cy="457200"/>
          </a:xfrm>
          <a:prstGeom prst="line">
            <a:avLst/>
          </a:prstGeom>
          <a:noFill/>
          <a:ln w="6350">
            <a:solidFill>
              <a:schemeClr val="tx2"/>
            </a:solidFill>
            <a:prstDash val="solid"/>
          </a:ln>
        </p:spPr>
      </p:sp>
      <p:sp>
        <p:nvSpPr>
          <p:cNvPr id="215" name="Shape 212"/>
          <p:cNvSpPr/>
          <p:nvPr/>
        </p:nvSpPr>
        <p:spPr>
          <a:xfrm>
            <a:off x="9388800" y="3337560"/>
            <a:ext cx="0" cy="457200"/>
          </a:xfrm>
          <a:prstGeom prst="line">
            <a:avLst/>
          </a:prstGeom>
          <a:noFill/>
          <a:ln w="6350">
            <a:solidFill>
              <a:schemeClr val="tx2"/>
            </a:solidFill>
            <a:prstDash val="solid"/>
          </a:ln>
        </p:spPr>
      </p:sp>
      <p:sp>
        <p:nvSpPr>
          <p:cNvPr id="216" name="Shape 213"/>
          <p:cNvSpPr/>
          <p:nvPr/>
        </p:nvSpPr>
        <p:spPr>
          <a:xfrm>
            <a:off x="9426600" y="3337560"/>
            <a:ext cx="0" cy="457200"/>
          </a:xfrm>
          <a:prstGeom prst="line">
            <a:avLst/>
          </a:prstGeom>
          <a:noFill/>
          <a:ln w="6350">
            <a:solidFill>
              <a:schemeClr val="tx2"/>
            </a:solidFill>
            <a:prstDash val="solid"/>
          </a:ln>
        </p:spPr>
      </p:sp>
      <p:sp>
        <p:nvSpPr>
          <p:cNvPr id="217" name="Shape 214"/>
          <p:cNvSpPr/>
          <p:nvPr/>
        </p:nvSpPr>
        <p:spPr>
          <a:xfrm>
            <a:off x="9464400" y="3337560"/>
            <a:ext cx="0" cy="457200"/>
          </a:xfrm>
          <a:prstGeom prst="line">
            <a:avLst/>
          </a:prstGeom>
          <a:noFill/>
          <a:ln w="6350">
            <a:solidFill>
              <a:schemeClr val="tx2"/>
            </a:solidFill>
            <a:prstDash val="solid"/>
          </a:ln>
        </p:spPr>
      </p:sp>
      <p:sp>
        <p:nvSpPr>
          <p:cNvPr id="218" name="Shape 215"/>
          <p:cNvSpPr/>
          <p:nvPr/>
        </p:nvSpPr>
        <p:spPr>
          <a:xfrm>
            <a:off x="9502200" y="3337560"/>
            <a:ext cx="0" cy="457200"/>
          </a:xfrm>
          <a:prstGeom prst="line">
            <a:avLst/>
          </a:prstGeom>
          <a:noFill/>
          <a:ln w="6350">
            <a:solidFill>
              <a:schemeClr val="tx2"/>
            </a:solidFill>
            <a:prstDash val="solid"/>
          </a:ln>
        </p:spPr>
      </p:sp>
      <p:sp>
        <p:nvSpPr>
          <p:cNvPr id="219" name="Shape 216"/>
          <p:cNvSpPr/>
          <p:nvPr/>
        </p:nvSpPr>
        <p:spPr>
          <a:xfrm>
            <a:off x="9540000" y="3337560"/>
            <a:ext cx="0" cy="457200"/>
          </a:xfrm>
          <a:prstGeom prst="line">
            <a:avLst/>
          </a:prstGeom>
          <a:noFill/>
          <a:ln w="6350">
            <a:solidFill>
              <a:schemeClr val="tx2"/>
            </a:solidFill>
            <a:prstDash val="solid"/>
          </a:ln>
        </p:spPr>
      </p:sp>
      <p:sp>
        <p:nvSpPr>
          <p:cNvPr id="220" name="Shape 217"/>
          <p:cNvSpPr/>
          <p:nvPr/>
        </p:nvSpPr>
        <p:spPr>
          <a:xfrm>
            <a:off x="9577800" y="3337560"/>
            <a:ext cx="0" cy="457200"/>
          </a:xfrm>
          <a:prstGeom prst="line">
            <a:avLst/>
          </a:prstGeom>
          <a:noFill/>
          <a:ln w="6350">
            <a:solidFill>
              <a:schemeClr val="tx2"/>
            </a:solidFill>
            <a:prstDash val="solid"/>
          </a:ln>
        </p:spPr>
      </p:sp>
      <p:sp>
        <p:nvSpPr>
          <p:cNvPr id="221" name="Shape 218"/>
          <p:cNvSpPr/>
          <p:nvPr/>
        </p:nvSpPr>
        <p:spPr>
          <a:xfrm>
            <a:off x="9615600" y="3337560"/>
            <a:ext cx="0" cy="457200"/>
          </a:xfrm>
          <a:prstGeom prst="line">
            <a:avLst/>
          </a:prstGeom>
          <a:noFill/>
          <a:ln w="6350">
            <a:solidFill>
              <a:schemeClr val="tx2"/>
            </a:solidFill>
            <a:prstDash val="solid"/>
          </a:ln>
        </p:spPr>
      </p:sp>
      <p:sp>
        <p:nvSpPr>
          <p:cNvPr id="222" name="Shape 219"/>
          <p:cNvSpPr/>
          <p:nvPr/>
        </p:nvSpPr>
        <p:spPr>
          <a:xfrm>
            <a:off x="9653400" y="3337560"/>
            <a:ext cx="0" cy="457200"/>
          </a:xfrm>
          <a:prstGeom prst="line">
            <a:avLst/>
          </a:prstGeom>
          <a:noFill/>
          <a:ln w="6350">
            <a:solidFill>
              <a:schemeClr val="tx2"/>
            </a:solidFill>
            <a:prstDash val="solid"/>
          </a:ln>
        </p:spPr>
      </p:sp>
      <p:sp>
        <p:nvSpPr>
          <p:cNvPr id="223" name="Shape 220"/>
          <p:cNvSpPr/>
          <p:nvPr/>
        </p:nvSpPr>
        <p:spPr>
          <a:xfrm>
            <a:off x="9691200" y="3337560"/>
            <a:ext cx="0" cy="457200"/>
          </a:xfrm>
          <a:prstGeom prst="line">
            <a:avLst/>
          </a:prstGeom>
          <a:noFill/>
          <a:ln w="6350">
            <a:solidFill>
              <a:schemeClr val="tx2"/>
            </a:solidFill>
            <a:prstDash val="solid"/>
          </a:ln>
        </p:spPr>
      </p:sp>
      <p:sp>
        <p:nvSpPr>
          <p:cNvPr id="224" name="Shape 221"/>
          <p:cNvSpPr/>
          <p:nvPr/>
        </p:nvSpPr>
        <p:spPr>
          <a:xfrm>
            <a:off x="9729000" y="3337560"/>
            <a:ext cx="0" cy="457200"/>
          </a:xfrm>
          <a:prstGeom prst="line">
            <a:avLst/>
          </a:prstGeom>
          <a:noFill/>
          <a:ln w="6350">
            <a:solidFill>
              <a:schemeClr val="tx2"/>
            </a:solidFill>
            <a:prstDash val="solid"/>
          </a:ln>
        </p:spPr>
      </p:sp>
      <p:sp>
        <p:nvSpPr>
          <p:cNvPr id="225" name="Shape 222"/>
          <p:cNvSpPr/>
          <p:nvPr/>
        </p:nvSpPr>
        <p:spPr>
          <a:xfrm>
            <a:off x="9766800" y="3337560"/>
            <a:ext cx="0" cy="457200"/>
          </a:xfrm>
          <a:prstGeom prst="line">
            <a:avLst/>
          </a:prstGeom>
          <a:noFill/>
          <a:ln w="6350">
            <a:solidFill>
              <a:schemeClr val="tx2"/>
            </a:solidFill>
            <a:prstDash val="solid"/>
          </a:ln>
        </p:spPr>
      </p:sp>
      <p:sp>
        <p:nvSpPr>
          <p:cNvPr id="226" name="Shape 223"/>
          <p:cNvSpPr/>
          <p:nvPr/>
        </p:nvSpPr>
        <p:spPr>
          <a:xfrm>
            <a:off x="9804600" y="3337560"/>
            <a:ext cx="0" cy="457200"/>
          </a:xfrm>
          <a:prstGeom prst="line">
            <a:avLst/>
          </a:prstGeom>
          <a:noFill/>
          <a:ln w="6350">
            <a:solidFill>
              <a:schemeClr val="tx2"/>
            </a:solidFill>
            <a:prstDash val="solid"/>
          </a:ln>
        </p:spPr>
      </p:sp>
      <p:sp>
        <p:nvSpPr>
          <p:cNvPr id="227" name="Shape 224"/>
          <p:cNvSpPr/>
          <p:nvPr/>
        </p:nvSpPr>
        <p:spPr>
          <a:xfrm>
            <a:off x="9842400" y="3337560"/>
            <a:ext cx="0" cy="457200"/>
          </a:xfrm>
          <a:prstGeom prst="line">
            <a:avLst/>
          </a:prstGeom>
          <a:noFill/>
          <a:ln w="6350">
            <a:solidFill>
              <a:schemeClr val="tx2"/>
            </a:solidFill>
            <a:prstDash val="solid"/>
          </a:ln>
        </p:spPr>
      </p:sp>
      <p:sp>
        <p:nvSpPr>
          <p:cNvPr id="228" name="Shape 225"/>
          <p:cNvSpPr/>
          <p:nvPr/>
        </p:nvSpPr>
        <p:spPr>
          <a:xfrm>
            <a:off x="9880200" y="3337560"/>
            <a:ext cx="0" cy="457200"/>
          </a:xfrm>
          <a:prstGeom prst="line">
            <a:avLst/>
          </a:prstGeom>
          <a:noFill/>
          <a:ln w="6350">
            <a:solidFill>
              <a:schemeClr val="tx2"/>
            </a:solidFill>
            <a:prstDash val="solid"/>
          </a:ln>
        </p:spPr>
      </p:sp>
      <p:sp>
        <p:nvSpPr>
          <p:cNvPr id="229" name="Shape 226"/>
          <p:cNvSpPr/>
          <p:nvPr/>
        </p:nvSpPr>
        <p:spPr>
          <a:xfrm>
            <a:off x="9918000" y="3337560"/>
            <a:ext cx="0" cy="457200"/>
          </a:xfrm>
          <a:prstGeom prst="line">
            <a:avLst/>
          </a:prstGeom>
          <a:noFill/>
          <a:ln w="6350">
            <a:solidFill>
              <a:schemeClr val="tx2"/>
            </a:solidFill>
            <a:prstDash val="solid"/>
          </a:ln>
        </p:spPr>
      </p:sp>
      <p:sp>
        <p:nvSpPr>
          <p:cNvPr id="230" name="Shape 227"/>
          <p:cNvSpPr/>
          <p:nvPr/>
        </p:nvSpPr>
        <p:spPr>
          <a:xfrm>
            <a:off x="9955800" y="3337560"/>
            <a:ext cx="0" cy="457200"/>
          </a:xfrm>
          <a:prstGeom prst="line">
            <a:avLst/>
          </a:prstGeom>
          <a:noFill/>
          <a:ln w="6350">
            <a:solidFill>
              <a:schemeClr val="tx2"/>
            </a:solidFill>
            <a:prstDash val="solid"/>
          </a:ln>
        </p:spPr>
      </p:sp>
      <p:sp>
        <p:nvSpPr>
          <p:cNvPr id="231" name="Shape 228"/>
          <p:cNvSpPr/>
          <p:nvPr/>
        </p:nvSpPr>
        <p:spPr>
          <a:xfrm>
            <a:off x="9993600" y="3337560"/>
            <a:ext cx="0" cy="457200"/>
          </a:xfrm>
          <a:prstGeom prst="line">
            <a:avLst/>
          </a:prstGeom>
          <a:noFill/>
          <a:ln w="6350">
            <a:solidFill>
              <a:schemeClr val="tx2"/>
            </a:solidFill>
            <a:prstDash val="solid"/>
          </a:ln>
        </p:spPr>
      </p:sp>
      <p:sp>
        <p:nvSpPr>
          <p:cNvPr id="232" name="Shape 229"/>
          <p:cNvSpPr/>
          <p:nvPr/>
        </p:nvSpPr>
        <p:spPr>
          <a:xfrm>
            <a:off x="10031400" y="3337560"/>
            <a:ext cx="0" cy="457200"/>
          </a:xfrm>
          <a:prstGeom prst="line">
            <a:avLst/>
          </a:prstGeom>
          <a:noFill/>
          <a:ln w="6350">
            <a:solidFill>
              <a:schemeClr val="tx2"/>
            </a:solidFill>
            <a:prstDash val="solid"/>
          </a:ln>
        </p:spPr>
      </p:sp>
      <p:sp>
        <p:nvSpPr>
          <p:cNvPr id="233" name="Shape 230"/>
          <p:cNvSpPr/>
          <p:nvPr/>
        </p:nvSpPr>
        <p:spPr>
          <a:xfrm>
            <a:off x="10069200" y="3337560"/>
            <a:ext cx="0" cy="457200"/>
          </a:xfrm>
          <a:prstGeom prst="line">
            <a:avLst/>
          </a:prstGeom>
          <a:noFill/>
          <a:ln w="6350">
            <a:solidFill>
              <a:schemeClr val="tx2"/>
            </a:solidFill>
            <a:prstDash val="solid"/>
          </a:ln>
        </p:spPr>
      </p:sp>
      <p:sp>
        <p:nvSpPr>
          <p:cNvPr id="234" name="Shape 231"/>
          <p:cNvSpPr/>
          <p:nvPr/>
        </p:nvSpPr>
        <p:spPr>
          <a:xfrm>
            <a:off x="10107000" y="3337560"/>
            <a:ext cx="0" cy="457200"/>
          </a:xfrm>
          <a:prstGeom prst="line">
            <a:avLst/>
          </a:prstGeom>
          <a:noFill/>
          <a:ln w="6350">
            <a:solidFill>
              <a:schemeClr val="tx2"/>
            </a:solidFill>
            <a:prstDash val="solid"/>
          </a:ln>
        </p:spPr>
      </p:sp>
      <p:sp>
        <p:nvSpPr>
          <p:cNvPr id="235" name="Shape 232"/>
          <p:cNvSpPr/>
          <p:nvPr/>
        </p:nvSpPr>
        <p:spPr>
          <a:xfrm>
            <a:off x="10144800" y="3337560"/>
            <a:ext cx="0" cy="457200"/>
          </a:xfrm>
          <a:prstGeom prst="line">
            <a:avLst/>
          </a:prstGeom>
          <a:noFill/>
          <a:ln w="6350">
            <a:solidFill>
              <a:schemeClr val="tx2"/>
            </a:solidFill>
            <a:prstDash val="solid"/>
          </a:ln>
        </p:spPr>
      </p:sp>
      <p:sp>
        <p:nvSpPr>
          <p:cNvPr id="236" name="Shape 233"/>
          <p:cNvSpPr/>
          <p:nvPr/>
        </p:nvSpPr>
        <p:spPr>
          <a:xfrm>
            <a:off x="10182600" y="3337560"/>
            <a:ext cx="0" cy="457200"/>
          </a:xfrm>
          <a:prstGeom prst="line">
            <a:avLst/>
          </a:prstGeom>
          <a:noFill/>
          <a:ln w="6350">
            <a:solidFill>
              <a:schemeClr val="tx2"/>
            </a:solidFill>
            <a:prstDash val="solid"/>
          </a:ln>
        </p:spPr>
      </p:sp>
      <p:sp>
        <p:nvSpPr>
          <p:cNvPr id="237" name="Shape 234"/>
          <p:cNvSpPr/>
          <p:nvPr/>
        </p:nvSpPr>
        <p:spPr>
          <a:xfrm>
            <a:off x="10220400" y="3337560"/>
            <a:ext cx="0" cy="457200"/>
          </a:xfrm>
          <a:prstGeom prst="line">
            <a:avLst/>
          </a:prstGeom>
          <a:noFill/>
          <a:ln w="6350">
            <a:solidFill>
              <a:schemeClr val="tx2"/>
            </a:solidFill>
            <a:prstDash val="solid"/>
          </a:ln>
        </p:spPr>
      </p:sp>
      <p:sp>
        <p:nvSpPr>
          <p:cNvPr id="238" name="Shape 235"/>
          <p:cNvSpPr/>
          <p:nvPr/>
        </p:nvSpPr>
        <p:spPr>
          <a:xfrm>
            <a:off x="10258200" y="3337560"/>
            <a:ext cx="0" cy="457200"/>
          </a:xfrm>
          <a:prstGeom prst="line">
            <a:avLst/>
          </a:prstGeom>
          <a:noFill/>
          <a:ln w="6350">
            <a:solidFill>
              <a:schemeClr val="tx2"/>
            </a:solidFill>
            <a:prstDash val="solid"/>
          </a:ln>
        </p:spPr>
      </p:sp>
      <p:sp>
        <p:nvSpPr>
          <p:cNvPr id="239" name="Shape 236"/>
          <p:cNvSpPr/>
          <p:nvPr/>
        </p:nvSpPr>
        <p:spPr>
          <a:xfrm>
            <a:off x="10296000" y="3337560"/>
            <a:ext cx="0" cy="457200"/>
          </a:xfrm>
          <a:prstGeom prst="line">
            <a:avLst/>
          </a:prstGeom>
          <a:noFill/>
          <a:ln w="6350">
            <a:solidFill>
              <a:schemeClr val="tx2"/>
            </a:solidFill>
            <a:prstDash val="solid"/>
          </a:ln>
        </p:spPr>
      </p:sp>
      <p:sp>
        <p:nvSpPr>
          <p:cNvPr id="240" name="Shape 237"/>
          <p:cNvSpPr/>
          <p:nvPr/>
        </p:nvSpPr>
        <p:spPr>
          <a:xfrm>
            <a:off x="10333800" y="3337560"/>
            <a:ext cx="0" cy="457200"/>
          </a:xfrm>
          <a:prstGeom prst="line">
            <a:avLst/>
          </a:prstGeom>
          <a:noFill/>
          <a:ln w="6350">
            <a:solidFill>
              <a:schemeClr val="tx2"/>
            </a:solidFill>
            <a:prstDash val="solid"/>
          </a:ln>
        </p:spPr>
      </p:sp>
      <p:sp>
        <p:nvSpPr>
          <p:cNvPr id="241" name="Shape 238"/>
          <p:cNvSpPr/>
          <p:nvPr/>
        </p:nvSpPr>
        <p:spPr>
          <a:xfrm>
            <a:off x="10371600" y="3337560"/>
            <a:ext cx="0" cy="457200"/>
          </a:xfrm>
          <a:prstGeom prst="line">
            <a:avLst/>
          </a:prstGeom>
          <a:noFill/>
          <a:ln w="6350">
            <a:solidFill>
              <a:schemeClr val="tx2"/>
            </a:solidFill>
            <a:prstDash val="solid"/>
          </a:ln>
        </p:spPr>
      </p:sp>
      <p:sp>
        <p:nvSpPr>
          <p:cNvPr id="242" name="Shape 239"/>
          <p:cNvSpPr/>
          <p:nvPr/>
        </p:nvSpPr>
        <p:spPr>
          <a:xfrm>
            <a:off x="10409400" y="3337560"/>
            <a:ext cx="0" cy="457200"/>
          </a:xfrm>
          <a:prstGeom prst="line">
            <a:avLst/>
          </a:prstGeom>
          <a:noFill/>
          <a:ln w="6350">
            <a:solidFill>
              <a:schemeClr val="tx2"/>
            </a:solidFill>
            <a:prstDash val="solid"/>
          </a:ln>
        </p:spPr>
      </p:sp>
      <p:sp>
        <p:nvSpPr>
          <p:cNvPr id="243" name="Shape 240"/>
          <p:cNvSpPr/>
          <p:nvPr/>
        </p:nvSpPr>
        <p:spPr>
          <a:xfrm>
            <a:off x="10447200" y="3337560"/>
            <a:ext cx="0" cy="457200"/>
          </a:xfrm>
          <a:prstGeom prst="line">
            <a:avLst/>
          </a:prstGeom>
          <a:noFill/>
          <a:ln w="6350">
            <a:solidFill>
              <a:schemeClr val="tx2"/>
            </a:solidFill>
            <a:prstDash val="solid"/>
          </a:ln>
        </p:spPr>
      </p:sp>
      <p:sp>
        <p:nvSpPr>
          <p:cNvPr id="244" name="Shape 241"/>
          <p:cNvSpPr/>
          <p:nvPr/>
        </p:nvSpPr>
        <p:spPr>
          <a:xfrm>
            <a:off x="10485000" y="3337560"/>
            <a:ext cx="0" cy="457200"/>
          </a:xfrm>
          <a:prstGeom prst="line">
            <a:avLst/>
          </a:prstGeom>
          <a:noFill/>
          <a:ln w="6350">
            <a:solidFill>
              <a:schemeClr val="tx2"/>
            </a:solidFill>
            <a:prstDash val="solid"/>
          </a:ln>
        </p:spPr>
      </p:sp>
      <p:sp>
        <p:nvSpPr>
          <p:cNvPr id="245" name="Shape 242"/>
          <p:cNvSpPr/>
          <p:nvPr/>
        </p:nvSpPr>
        <p:spPr>
          <a:xfrm>
            <a:off x="10522800" y="3337560"/>
            <a:ext cx="0" cy="457200"/>
          </a:xfrm>
          <a:prstGeom prst="line">
            <a:avLst/>
          </a:prstGeom>
          <a:noFill/>
          <a:ln w="6350">
            <a:solidFill>
              <a:schemeClr val="tx2"/>
            </a:solidFill>
            <a:prstDash val="solid"/>
          </a:ln>
        </p:spPr>
      </p:sp>
      <p:sp>
        <p:nvSpPr>
          <p:cNvPr id="246" name="Shape 243"/>
          <p:cNvSpPr/>
          <p:nvPr/>
        </p:nvSpPr>
        <p:spPr>
          <a:xfrm>
            <a:off x="10560600" y="3337560"/>
            <a:ext cx="0" cy="457200"/>
          </a:xfrm>
          <a:prstGeom prst="line">
            <a:avLst/>
          </a:prstGeom>
          <a:noFill/>
          <a:ln w="6350">
            <a:solidFill>
              <a:schemeClr val="tx2"/>
            </a:solidFill>
            <a:prstDash val="solid"/>
          </a:ln>
        </p:spPr>
      </p:sp>
      <p:sp>
        <p:nvSpPr>
          <p:cNvPr id="247" name="Shape 244"/>
          <p:cNvSpPr/>
          <p:nvPr/>
        </p:nvSpPr>
        <p:spPr>
          <a:xfrm>
            <a:off x="10598400" y="3337560"/>
            <a:ext cx="0" cy="457200"/>
          </a:xfrm>
          <a:prstGeom prst="line">
            <a:avLst/>
          </a:prstGeom>
          <a:noFill/>
          <a:ln w="6350">
            <a:solidFill>
              <a:schemeClr val="tx2"/>
            </a:solidFill>
            <a:prstDash val="solid"/>
          </a:ln>
        </p:spPr>
      </p:sp>
      <p:sp>
        <p:nvSpPr>
          <p:cNvPr id="248" name="Shape 245"/>
          <p:cNvSpPr/>
          <p:nvPr/>
        </p:nvSpPr>
        <p:spPr>
          <a:xfrm>
            <a:off x="10636200" y="3337560"/>
            <a:ext cx="0" cy="457200"/>
          </a:xfrm>
          <a:prstGeom prst="line">
            <a:avLst/>
          </a:prstGeom>
          <a:noFill/>
          <a:ln w="6350">
            <a:solidFill>
              <a:schemeClr val="tx2"/>
            </a:solidFill>
            <a:prstDash val="solid"/>
          </a:ln>
        </p:spPr>
      </p:sp>
      <p:sp>
        <p:nvSpPr>
          <p:cNvPr id="249" name="Shape 246"/>
          <p:cNvSpPr/>
          <p:nvPr/>
        </p:nvSpPr>
        <p:spPr>
          <a:xfrm>
            <a:off x="10674000" y="3337560"/>
            <a:ext cx="0" cy="457200"/>
          </a:xfrm>
          <a:prstGeom prst="line">
            <a:avLst/>
          </a:prstGeom>
          <a:noFill/>
          <a:ln w="6350">
            <a:solidFill>
              <a:schemeClr val="tx2"/>
            </a:solidFill>
            <a:prstDash val="solid"/>
          </a:ln>
        </p:spPr>
      </p:sp>
      <p:sp>
        <p:nvSpPr>
          <p:cNvPr id="250" name="Shape 247"/>
          <p:cNvSpPr/>
          <p:nvPr/>
        </p:nvSpPr>
        <p:spPr>
          <a:xfrm>
            <a:off x="10711800" y="3337560"/>
            <a:ext cx="0" cy="457200"/>
          </a:xfrm>
          <a:prstGeom prst="line">
            <a:avLst/>
          </a:prstGeom>
          <a:noFill/>
          <a:ln w="6350">
            <a:solidFill>
              <a:schemeClr val="tx2"/>
            </a:solidFill>
            <a:prstDash val="solid"/>
          </a:ln>
        </p:spPr>
      </p:sp>
      <p:sp>
        <p:nvSpPr>
          <p:cNvPr id="251" name="Shape 248"/>
          <p:cNvSpPr/>
          <p:nvPr/>
        </p:nvSpPr>
        <p:spPr>
          <a:xfrm>
            <a:off x="10749600" y="3337560"/>
            <a:ext cx="0" cy="457200"/>
          </a:xfrm>
          <a:prstGeom prst="line">
            <a:avLst/>
          </a:prstGeom>
          <a:noFill/>
          <a:ln w="6350">
            <a:solidFill>
              <a:schemeClr val="tx2"/>
            </a:solidFill>
            <a:prstDash val="solid"/>
          </a:ln>
        </p:spPr>
      </p:sp>
      <p:sp>
        <p:nvSpPr>
          <p:cNvPr id="252" name="Shape 249"/>
          <p:cNvSpPr/>
          <p:nvPr/>
        </p:nvSpPr>
        <p:spPr>
          <a:xfrm>
            <a:off x="10787400" y="3337560"/>
            <a:ext cx="0" cy="457200"/>
          </a:xfrm>
          <a:prstGeom prst="line">
            <a:avLst/>
          </a:prstGeom>
          <a:noFill/>
          <a:ln w="6350">
            <a:solidFill>
              <a:schemeClr val="tx2"/>
            </a:solidFill>
            <a:prstDash val="solid"/>
          </a:ln>
        </p:spPr>
      </p:sp>
      <p:sp>
        <p:nvSpPr>
          <p:cNvPr id="253" name="Shape 250"/>
          <p:cNvSpPr/>
          <p:nvPr/>
        </p:nvSpPr>
        <p:spPr>
          <a:xfrm>
            <a:off x="10825200" y="3337560"/>
            <a:ext cx="0" cy="457200"/>
          </a:xfrm>
          <a:prstGeom prst="line">
            <a:avLst/>
          </a:prstGeom>
          <a:noFill/>
          <a:ln w="6350">
            <a:solidFill>
              <a:schemeClr val="tx2"/>
            </a:solidFill>
            <a:prstDash val="solid"/>
          </a:ln>
        </p:spPr>
      </p:sp>
      <p:sp>
        <p:nvSpPr>
          <p:cNvPr id="254" name="Shape 251"/>
          <p:cNvSpPr/>
          <p:nvPr/>
        </p:nvSpPr>
        <p:spPr>
          <a:xfrm>
            <a:off x="10863000" y="3337560"/>
            <a:ext cx="0" cy="457200"/>
          </a:xfrm>
          <a:prstGeom prst="line">
            <a:avLst/>
          </a:prstGeom>
          <a:noFill/>
          <a:ln w="6350">
            <a:solidFill>
              <a:schemeClr val="tx2"/>
            </a:solidFill>
            <a:prstDash val="solid"/>
          </a:ln>
        </p:spPr>
      </p:sp>
      <p:sp>
        <p:nvSpPr>
          <p:cNvPr id="255" name="Shape 252"/>
          <p:cNvSpPr/>
          <p:nvPr/>
        </p:nvSpPr>
        <p:spPr>
          <a:xfrm>
            <a:off x="10900800" y="3337560"/>
            <a:ext cx="0" cy="457200"/>
          </a:xfrm>
          <a:prstGeom prst="line">
            <a:avLst/>
          </a:prstGeom>
          <a:noFill/>
          <a:ln w="6350">
            <a:solidFill>
              <a:schemeClr val="tx2"/>
            </a:solidFill>
            <a:prstDash val="solid"/>
          </a:ln>
        </p:spPr>
      </p:sp>
      <p:sp>
        <p:nvSpPr>
          <p:cNvPr id="256" name="Shape 253"/>
          <p:cNvSpPr/>
          <p:nvPr/>
        </p:nvSpPr>
        <p:spPr>
          <a:xfrm>
            <a:off x="10938600" y="3337560"/>
            <a:ext cx="0" cy="457200"/>
          </a:xfrm>
          <a:prstGeom prst="line">
            <a:avLst/>
          </a:prstGeom>
          <a:noFill/>
          <a:ln w="6350">
            <a:solidFill>
              <a:schemeClr val="tx2"/>
            </a:solidFill>
            <a:prstDash val="solid"/>
          </a:ln>
        </p:spPr>
      </p:sp>
      <p:sp>
        <p:nvSpPr>
          <p:cNvPr id="257" name="Shape 254"/>
          <p:cNvSpPr/>
          <p:nvPr/>
        </p:nvSpPr>
        <p:spPr>
          <a:xfrm>
            <a:off x="10976400" y="3337560"/>
            <a:ext cx="0" cy="457200"/>
          </a:xfrm>
          <a:prstGeom prst="line">
            <a:avLst/>
          </a:prstGeom>
          <a:noFill/>
          <a:ln w="6350">
            <a:solidFill>
              <a:schemeClr val="tx2"/>
            </a:solidFill>
            <a:prstDash val="solid"/>
          </a:ln>
        </p:spPr>
      </p:sp>
      <p:sp>
        <p:nvSpPr>
          <p:cNvPr id="258" name="Shape 255"/>
          <p:cNvSpPr/>
          <p:nvPr/>
        </p:nvSpPr>
        <p:spPr>
          <a:xfrm>
            <a:off x="11014200" y="3337560"/>
            <a:ext cx="0" cy="457200"/>
          </a:xfrm>
          <a:prstGeom prst="line">
            <a:avLst/>
          </a:prstGeom>
          <a:noFill/>
          <a:ln w="6350">
            <a:solidFill>
              <a:schemeClr val="tx2"/>
            </a:solidFill>
            <a:prstDash val="solid"/>
          </a:ln>
        </p:spPr>
      </p:sp>
      <p:sp>
        <p:nvSpPr>
          <p:cNvPr id="259" name="Shape 256"/>
          <p:cNvSpPr/>
          <p:nvPr/>
        </p:nvSpPr>
        <p:spPr>
          <a:xfrm>
            <a:off x="11052000" y="3337560"/>
            <a:ext cx="0" cy="457200"/>
          </a:xfrm>
          <a:prstGeom prst="line">
            <a:avLst/>
          </a:prstGeom>
          <a:noFill/>
          <a:ln w="6350">
            <a:solidFill>
              <a:schemeClr val="tx2"/>
            </a:solidFill>
            <a:prstDash val="solid"/>
          </a:ln>
        </p:spPr>
      </p:sp>
      <p:sp>
        <p:nvSpPr>
          <p:cNvPr id="260" name="Shape 257"/>
          <p:cNvSpPr/>
          <p:nvPr/>
        </p:nvSpPr>
        <p:spPr>
          <a:xfrm>
            <a:off x="11089800" y="3337560"/>
            <a:ext cx="0" cy="457200"/>
          </a:xfrm>
          <a:prstGeom prst="line">
            <a:avLst/>
          </a:prstGeom>
          <a:noFill/>
          <a:ln w="6350">
            <a:solidFill>
              <a:schemeClr val="tx2"/>
            </a:solidFill>
            <a:prstDash val="solid"/>
          </a:ln>
        </p:spPr>
      </p:sp>
      <p:sp>
        <p:nvSpPr>
          <p:cNvPr id="261" name="Shape 258"/>
          <p:cNvSpPr/>
          <p:nvPr/>
        </p:nvSpPr>
        <p:spPr>
          <a:xfrm>
            <a:off x="11127600" y="3337560"/>
            <a:ext cx="0" cy="457200"/>
          </a:xfrm>
          <a:prstGeom prst="line">
            <a:avLst/>
          </a:prstGeom>
          <a:noFill/>
          <a:ln w="6350">
            <a:solidFill>
              <a:schemeClr val="tx2"/>
            </a:solidFill>
            <a:prstDash val="solid"/>
          </a:ln>
        </p:spPr>
      </p:sp>
      <p:sp>
        <p:nvSpPr>
          <p:cNvPr id="262" name="Shape 259"/>
          <p:cNvSpPr/>
          <p:nvPr/>
        </p:nvSpPr>
        <p:spPr>
          <a:xfrm>
            <a:off x="11165400" y="3337560"/>
            <a:ext cx="0" cy="457200"/>
          </a:xfrm>
          <a:prstGeom prst="line">
            <a:avLst/>
          </a:prstGeom>
          <a:noFill/>
          <a:ln w="6350">
            <a:solidFill>
              <a:schemeClr val="tx2"/>
            </a:solidFill>
            <a:prstDash val="solid"/>
          </a:ln>
        </p:spPr>
      </p:sp>
      <p:sp>
        <p:nvSpPr>
          <p:cNvPr id="263" name="Shape 260"/>
          <p:cNvSpPr/>
          <p:nvPr/>
        </p:nvSpPr>
        <p:spPr>
          <a:xfrm>
            <a:off x="11203200" y="3337560"/>
            <a:ext cx="0" cy="457200"/>
          </a:xfrm>
          <a:prstGeom prst="line">
            <a:avLst/>
          </a:prstGeom>
          <a:noFill/>
          <a:ln w="6350">
            <a:solidFill>
              <a:schemeClr val="tx2"/>
            </a:solidFill>
            <a:prstDash val="solid"/>
          </a:ln>
        </p:spPr>
      </p:sp>
      <p:sp>
        <p:nvSpPr>
          <p:cNvPr id="264" name="Shape 261"/>
          <p:cNvSpPr/>
          <p:nvPr/>
        </p:nvSpPr>
        <p:spPr>
          <a:xfrm>
            <a:off x="11241000" y="3337560"/>
            <a:ext cx="0" cy="457200"/>
          </a:xfrm>
          <a:prstGeom prst="line">
            <a:avLst/>
          </a:prstGeom>
          <a:noFill/>
          <a:ln w="6350">
            <a:solidFill>
              <a:schemeClr val="tx2"/>
            </a:solidFill>
            <a:prstDash val="solid"/>
          </a:ln>
        </p:spPr>
      </p:sp>
      <p:sp>
        <p:nvSpPr>
          <p:cNvPr id="265" name="Shape 262"/>
          <p:cNvSpPr/>
          <p:nvPr/>
        </p:nvSpPr>
        <p:spPr>
          <a:xfrm>
            <a:off x="11278800" y="3337560"/>
            <a:ext cx="0" cy="457200"/>
          </a:xfrm>
          <a:prstGeom prst="line">
            <a:avLst/>
          </a:prstGeom>
          <a:noFill/>
          <a:ln w="6350">
            <a:solidFill>
              <a:schemeClr val="tx2"/>
            </a:solidFill>
            <a:prstDash val="solid"/>
          </a:ln>
        </p:spPr>
      </p:sp>
      <p:sp>
        <p:nvSpPr>
          <p:cNvPr id="266" name="Shape 263"/>
          <p:cNvSpPr/>
          <p:nvPr/>
        </p:nvSpPr>
        <p:spPr>
          <a:xfrm>
            <a:off x="11316600" y="3337560"/>
            <a:ext cx="0" cy="457200"/>
          </a:xfrm>
          <a:prstGeom prst="line">
            <a:avLst/>
          </a:prstGeom>
          <a:noFill/>
          <a:ln w="6350">
            <a:solidFill>
              <a:schemeClr val="tx2"/>
            </a:solidFill>
            <a:prstDash val="solid"/>
          </a:ln>
        </p:spPr>
      </p:sp>
      <p:sp>
        <p:nvSpPr>
          <p:cNvPr id="267" name="Shape 264"/>
          <p:cNvSpPr/>
          <p:nvPr/>
        </p:nvSpPr>
        <p:spPr>
          <a:xfrm>
            <a:off x="11354400" y="3337560"/>
            <a:ext cx="0" cy="457200"/>
          </a:xfrm>
          <a:prstGeom prst="line">
            <a:avLst/>
          </a:prstGeom>
          <a:noFill/>
          <a:ln w="6350">
            <a:solidFill>
              <a:schemeClr val="tx2"/>
            </a:solidFill>
            <a:prstDash val="solid"/>
          </a:ln>
        </p:spPr>
      </p:sp>
      <p:sp>
        <p:nvSpPr>
          <p:cNvPr id="268" name="Shape 265"/>
          <p:cNvSpPr/>
          <p:nvPr/>
        </p:nvSpPr>
        <p:spPr>
          <a:xfrm>
            <a:off x="11392200" y="3337560"/>
            <a:ext cx="0" cy="457200"/>
          </a:xfrm>
          <a:prstGeom prst="line">
            <a:avLst/>
          </a:prstGeom>
          <a:noFill/>
          <a:ln w="6350">
            <a:solidFill>
              <a:schemeClr val="tx2"/>
            </a:solidFill>
            <a:prstDash val="solid"/>
          </a:ln>
        </p:spPr>
      </p:sp>
      <p:sp>
        <p:nvSpPr>
          <p:cNvPr id="269" name="Shape 266"/>
          <p:cNvSpPr/>
          <p:nvPr/>
        </p:nvSpPr>
        <p:spPr>
          <a:xfrm>
            <a:off x="11430000" y="3337560"/>
            <a:ext cx="0" cy="457200"/>
          </a:xfrm>
          <a:prstGeom prst="line">
            <a:avLst/>
          </a:prstGeom>
          <a:noFill/>
          <a:ln w="6350">
            <a:solidFill>
              <a:schemeClr val="tx2"/>
            </a:solidFill>
            <a:prstDash val="solid"/>
          </a:ln>
        </p:spPr>
      </p:sp>
      <p:sp>
        <p:nvSpPr>
          <p:cNvPr id="270" name="Text 267"/>
          <p:cNvSpPr txBox="1"/>
          <p:nvPr/>
        </p:nvSpPr>
        <p:spPr>
          <a:xfrm>
            <a:off x="548640" y="4069080"/>
            <a:ext cx="1097280" cy="457200"/>
          </a:xfrm>
          <a:prstGeom prst="rect">
            <a:avLst/>
          </a:prstGeom>
          <a:noFill/>
          <a:ln/>
        </p:spPr>
        <p:txBody>
          <a:bodyPr wrap="square" lIns="0" tIns="0" rIns="0" bIns="0" rtlCol="0" anchor="ctr"/>
          <a:lstStyle/>
          <a:p>
            <a:pPr indent="0" marL="0">
              <a:buNone/>
            </a:pPr>
            <a:r>
              <a:rPr lang="en-US" sz="1600" b="1" dirty="0">
                <a:solidFill>
                  <a:schemeClr val="accent3"/>
                </a:solidFill>
              </a:rPr>
              <a:t>int4</a:t>
            </a:r>
            <a:endParaRPr lang="en-US" sz="1600" dirty="0"/>
          </a:p>
        </p:txBody>
      </p:sp>
      <p:sp>
        <p:nvSpPr>
          <p:cNvPr id="271" name="Shape 268"/>
          <p:cNvSpPr/>
          <p:nvPr/>
        </p:nvSpPr>
        <p:spPr>
          <a:xfrm>
            <a:off x="1828800" y="4297680"/>
            <a:ext cx="9601200" cy="0"/>
          </a:xfrm>
          <a:prstGeom prst="line">
            <a:avLst/>
          </a:prstGeom>
          <a:noFill/>
          <a:ln w="12700">
            <a:solidFill>
              <a:srgbClr val="C9CFDA"/>
            </a:solidFill>
            <a:prstDash val="solid"/>
          </a:ln>
        </p:spPr>
      </p:sp>
      <p:sp>
        <p:nvSpPr>
          <p:cNvPr id="272" name="Shape 269"/>
          <p:cNvSpPr/>
          <p:nvPr/>
        </p:nvSpPr>
        <p:spPr>
          <a:xfrm>
            <a:off x="1828800" y="4069080"/>
            <a:ext cx="0" cy="457200"/>
          </a:xfrm>
          <a:prstGeom prst="line">
            <a:avLst/>
          </a:prstGeom>
          <a:noFill/>
          <a:ln w="25400">
            <a:solidFill>
              <a:schemeClr val="accent3"/>
            </a:solidFill>
            <a:prstDash val="solid"/>
          </a:ln>
        </p:spPr>
      </p:sp>
      <p:sp>
        <p:nvSpPr>
          <p:cNvPr id="273" name="Shape 270"/>
          <p:cNvSpPr/>
          <p:nvPr/>
        </p:nvSpPr>
        <p:spPr>
          <a:xfrm>
            <a:off x="2514600" y="4069080"/>
            <a:ext cx="0" cy="457200"/>
          </a:xfrm>
          <a:prstGeom prst="line">
            <a:avLst/>
          </a:prstGeom>
          <a:noFill/>
          <a:ln w="25400">
            <a:solidFill>
              <a:schemeClr val="accent3"/>
            </a:solidFill>
            <a:prstDash val="solid"/>
          </a:ln>
        </p:spPr>
      </p:sp>
      <p:sp>
        <p:nvSpPr>
          <p:cNvPr id="274" name="Shape 271"/>
          <p:cNvSpPr/>
          <p:nvPr/>
        </p:nvSpPr>
        <p:spPr>
          <a:xfrm>
            <a:off x="3200400" y="4069080"/>
            <a:ext cx="0" cy="457200"/>
          </a:xfrm>
          <a:prstGeom prst="line">
            <a:avLst/>
          </a:prstGeom>
          <a:noFill/>
          <a:ln w="25400">
            <a:solidFill>
              <a:schemeClr val="accent3"/>
            </a:solidFill>
            <a:prstDash val="solid"/>
          </a:ln>
        </p:spPr>
      </p:sp>
      <p:sp>
        <p:nvSpPr>
          <p:cNvPr id="275" name="Shape 272"/>
          <p:cNvSpPr/>
          <p:nvPr/>
        </p:nvSpPr>
        <p:spPr>
          <a:xfrm>
            <a:off x="3886200" y="4069080"/>
            <a:ext cx="0" cy="457200"/>
          </a:xfrm>
          <a:prstGeom prst="line">
            <a:avLst/>
          </a:prstGeom>
          <a:noFill/>
          <a:ln w="25400">
            <a:solidFill>
              <a:schemeClr val="accent3"/>
            </a:solidFill>
            <a:prstDash val="solid"/>
          </a:ln>
        </p:spPr>
      </p:sp>
      <p:sp>
        <p:nvSpPr>
          <p:cNvPr id="276" name="Shape 273"/>
          <p:cNvSpPr/>
          <p:nvPr/>
        </p:nvSpPr>
        <p:spPr>
          <a:xfrm>
            <a:off x="4572000" y="4069080"/>
            <a:ext cx="0" cy="457200"/>
          </a:xfrm>
          <a:prstGeom prst="line">
            <a:avLst/>
          </a:prstGeom>
          <a:noFill/>
          <a:ln w="25400">
            <a:solidFill>
              <a:schemeClr val="accent3"/>
            </a:solidFill>
            <a:prstDash val="solid"/>
          </a:ln>
        </p:spPr>
      </p:sp>
      <p:sp>
        <p:nvSpPr>
          <p:cNvPr id="277" name="Shape 274"/>
          <p:cNvSpPr/>
          <p:nvPr/>
        </p:nvSpPr>
        <p:spPr>
          <a:xfrm>
            <a:off x="5257800" y="4069080"/>
            <a:ext cx="0" cy="457200"/>
          </a:xfrm>
          <a:prstGeom prst="line">
            <a:avLst/>
          </a:prstGeom>
          <a:noFill/>
          <a:ln w="25400">
            <a:solidFill>
              <a:schemeClr val="accent3"/>
            </a:solidFill>
            <a:prstDash val="solid"/>
          </a:ln>
        </p:spPr>
      </p:sp>
      <p:sp>
        <p:nvSpPr>
          <p:cNvPr id="278" name="Shape 275"/>
          <p:cNvSpPr/>
          <p:nvPr/>
        </p:nvSpPr>
        <p:spPr>
          <a:xfrm>
            <a:off x="5943600" y="4069080"/>
            <a:ext cx="0" cy="457200"/>
          </a:xfrm>
          <a:prstGeom prst="line">
            <a:avLst/>
          </a:prstGeom>
          <a:noFill/>
          <a:ln w="25400">
            <a:solidFill>
              <a:schemeClr val="accent3"/>
            </a:solidFill>
            <a:prstDash val="solid"/>
          </a:ln>
        </p:spPr>
      </p:sp>
      <p:sp>
        <p:nvSpPr>
          <p:cNvPr id="279" name="Shape 276"/>
          <p:cNvSpPr/>
          <p:nvPr/>
        </p:nvSpPr>
        <p:spPr>
          <a:xfrm>
            <a:off x="6629400" y="4069080"/>
            <a:ext cx="0" cy="457200"/>
          </a:xfrm>
          <a:prstGeom prst="line">
            <a:avLst/>
          </a:prstGeom>
          <a:noFill/>
          <a:ln w="25400">
            <a:solidFill>
              <a:schemeClr val="accent3"/>
            </a:solidFill>
            <a:prstDash val="solid"/>
          </a:ln>
        </p:spPr>
      </p:sp>
      <p:sp>
        <p:nvSpPr>
          <p:cNvPr id="280" name="Shape 277"/>
          <p:cNvSpPr/>
          <p:nvPr/>
        </p:nvSpPr>
        <p:spPr>
          <a:xfrm>
            <a:off x="7315200" y="4069080"/>
            <a:ext cx="0" cy="457200"/>
          </a:xfrm>
          <a:prstGeom prst="line">
            <a:avLst/>
          </a:prstGeom>
          <a:noFill/>
          <a:ln w="25400">
            <a:solidFill>
              <a:schemeClr val="accent3"/>
            </a:solidFill>
            <a:prstDash val="solid"/>
          </a:ln>
        </p:spPr>
      </p:sp>
      <p:sp>
        <p:nvSpPr>
          <p:cNvPr id="281" name="Shape 278"/>
          <p:cNvSpPr/>
          <p:nvPr/>
        </p:nvSpPr>
        <p:spPr>
          <a:xfrm>
            <a:off x="8001000" y="4069080"/>
            <a:ext cx="0" cy="457200"/>
          </a:xfrm>
          <a:prstGeom prst="line">
            <a:avLst/>
          </a:prstGeom>
          <a:noFill/>
          <a:ln w="25400">
            <a:solidFill>
              <a:schemeClr val="accent3"/>
            </a:solidFill>
            <a:prstDash val="solid"/>
          </a:ln>
        </p:spPr>
      </p:sp>
      <p:sp>
        <p:nvSpPr>
          <p:cNvPr id="282" name="Shape 279"/>
          <p:cNvSpPr/>
          <p:nvPr/>
        </p:nvSpPr>
        <p:spPr>
          <a:xfrm>
            <a:off x="8686800" y="4069080"/>
            <a:ext cx="0" cy="457200"/>
          </a:xfrm>
          <a:prstGeom prst="line">
            <a:avLst/>
          </a:prstGeom>
          <a:noFill/>
          <a:ln w="25400">
            <a:solidFill>
              <a:schemeClr val="accent3"/>
            </a:solidFill>
            <a:prstDash val="solid"/>
          </a:ln>
        </p:spPr>
      </p:sp>
      <p:sp>
        <p:nvSpPr>
          <p:cNvPr id="283" name="Shape 280"/>
          <p:cNvSpPr/>
          <p:nvPr/>
        </p:nvSpPr>
        <p:spPr>
          <a:xfrm>
            <a:off x="9372600" y="4069080"/>
            <a:ext cx="0" cy="457200"/>
          </a:xfrm>
          <a:prstGeom prst="line">
            <a:avLst/>
          </a:prstGeom>
          <a:noFill/>
          <a:ln w="25400">
            <a:solidFill>
              <a:schemeClr val="accent3"/>
            </a:solidFill>
            <a:prstDash val="solid"/>
          </a:ln>
        </p:spPr>
      </p:sp>
      <p:sp>
        <p:nvSpPr>
          <p:cNvPr id="284" name="Shape 281"/>
          <p:cNvSpPr/>
          <p:nvPr/>
        </p:nvSpPr>
        <p:spPr>
          <a:xfrm>
            <a:off x="10058400" y="4069080"/>
            <a:ext cx="0" cy="457200"/>
          </a:xfrm>
          <a:prstGeom prst="line">
            <a:avLst/>
          </a:prstGeom>
          <a:noFill/>
          <a:ln w="25400">
            <a:solidFill>
              <a:schemeClr val="accent3"/>
            </a:solidFill>
            <a:prstDash val="solid"/>
          </a:ln>
        </p:spPr>
      </p:sp>
      <p:sp>
        <p:nvSpPr>
          <p:cNvPr id="285" name="Shape 282"/>
          <p:cNvSpPr/>
          <p:nvPr/>
        </p:nvSpPr>
        <p:spPr>
          <a:xfrm>
            <a:off x="10744200" y="4069080"/>
            <a:ext cx="0" cy="457200"/>
          </a:xfrm>
          <a:prstGeom prst="line">
            <a:avLst/>
          </a:prstGeom>
          <a:noFill/>
          <a:ln w="25400">
            <a:solidFill>
              <a:schemeClr val="accent3"/>
            </a:solidFill>
            <a:prstDash val="solid"/>
          </a:ln>
        </p:spPr>
      </p:sp>
      <p:sp>
        <p:nvSpPr>
          <p:cNvPr id="286" name="Shape 283"/>
          <p:cNvSpPr/>
          <p:nvPr/>
        </p:nvSpPr>
        <p:spPr>
          <a:xfrm>
            <a:off x="11430000" y="4069080"/>
            <a:ext cx="0" cy="457200"/>
          </a:xfrm>
          <a:prstGeom prst="line">
            <a:avLst/>
          </a:prstGeom>
          <a:noFill/>
          <a:ln w="25400">
            <a:solidFill>
              <a:schemeClr val="accent3"/>
            </a:solidFill>
            <a:prstDash val="solid"/>
          </a:ln>
        </p:spPr>
      </p:sp>
      <p:sp>
        <p:nvSpPr>
          <p:cNvPr id="287" name="Text 284"/>
          <p:cNvSpPr txBox="1"/>
          <p:nvPr/>
        </p:nvSpPr>
        <p:spPr>
          <a:xfrm>
            <a:off x="548640" y="4800600"/>
            <a:ext cx="1097280" cy="457200"/>
          </a:xfrm>
          <a:prstGeom prst="rect">
            <a:avLst/>
          </a:prstGeom>
          <a:noFill/>
          <a:ln/>
        </p:spPr>
        <p:txBody>
          <a:bodyPr wrap="square" lIns="0" tIns="0" rIns="0" bIns="0" rtlCol="0" anchor="ctr"/>
          <a:lstStyle/>
          <a:p>
            <a:pPr indent="0" marL="0">
              <a:buNone/>
            </a:pPr>
            <a:r>
              <a:rPr lang="en-US" sz="1600" b="1" dirty="0">
                <a:solidFill>
                  <a:schemeClr val="accent1"/>
                </a:solidFill>
              </a:rPr>
              <a:t>NF4</a:t>
            </a:r>
            <a:endParaRPr lang="en-US" sz="1600" dirty="0"/>
          </a:p>
        </p:txBody>
      </p:sp>
      <p:sp>
        <p:nvSpPr>
          <p:cNvPr id="288" name="Shape 285"/>
          <p:cNvSpPr/>
          <p:nvPr/>
        </p:nvSpPr>
        <p:spPr>
          <a:xfrm>
            <a:off x="1828800" y="5029200"/>
            <a:ext cx="9601200" cy="0"/>
          </a:xfrm>
          <a:prstGeom prst="line">
            <a:avLst/>
          </a:prstGeom>
          <a:noFill/>
          <a:ln w="12700">
            <a:solidFill>
              <a:srgbClr val="C9CFDA"/>
            </a:solidFill>
            <a:prstDash val="solid"/>
          </a:ln>
        </p:spPr>
      </p:sp>
      <p:sp>
        <p:nvSpPr>
          <p:cNvPr id="289" name="Shape 286"/>
          <p:cNvSpPr/>
          <p:nvPr/>
        </p:nvSpPr>
        <p:spPr>
          <a:xfrm>
            <a:off x="1828800" y="4800600"/>
            <a:ext cx="0" cy="457200"/>
          </a:xfrm>
          <a:prstGeom prst="line">
            <a:avLst/>
          </a:prstGeom>
          <a:noFill/>
          <a:ln w="25400">
            <a:solidFill>
              <a:schemeClr val="accent1"/>
            </a:solidFill>
            <a:prstDash val="solid"/>
          </a:ln>
        </p:spPr>
      </p:sp>
      <p:sp>
        <p:nvSpPr>
          <p:cNvPr id="290" name="Shape 287"/>
          <p:cNvSpPr/>
          <p:nvPr/>
        </p:nvSpPr>
        <p:spPr>
          <a:xfrm>
            <a:off x="3287257" y="4800600"/>
            <a:ext cx="0" cy="457200"/>
          </a:xfrm>
          <a:prstGeom prst="line">
            <a:avLst/>
          </a:prstGeom>
          <a:noFill/>
          <a:ln w="25400">
            <a:solidFill>
              <a:schemeClr val="accent1"/>
            </a:solidFill>
            <a:prstDash val="solid"/>
          </a:ln>
        </p:spPr>
      </p:sp>
      <p:sp>
        <p:nvSpPr>
          <p:cNvPr id="291" name="Shape 288"/>
          <p:cNvSpPr/>
          <p:nvPr/>
        </p:nvSpPr>
        <p:spPr>
          <a:xfrm>
            <a:off x="4108734" y="4800600"/>
            <a:ext cx="0" cy="457200"/>
          </a:xfrm>
          <a:prstGeom prst="line">
            <a:avLst/>
          </a:prstGeom>
          <a:noFill/>
          <a:ln w="25400">
            <a:solidFill>
              <a:schemeClr val="accent1"/>
            </a:solidFill>
            <a:prstDash val="solid"/>
          </a:ln>
        </p:spPr>
      </p:sp>
      <p:sp>
        <p:nvSpPr>
          <p:cNvPr id="292" name="Shape 289"/>
          <p:cNvSpPr/>
          <p:nvPr/>
        </p:nvSpPr>
        <p:spPr>
          <a:xfrm>
            <a:off x="4733559" y="4800600"/>
            <a:ext cx="0" cy="457200"/>
          </a:xfrm>
          <a:prstGeom prst="line">
            <a:avLst/>
          </a:prstGeom>
          <a:noFill/>
          <a:ln w="25400">
            <a:solidFill>
              <a:schemeClr val="accent1"/>
            </a:solidFill>
            <a:prstDash val="solid"/>
          </a:ln>
        </p:spPr>
      </p:sp>
      <p:sp>
        <p:nvSpPr>
          <p:cNvPr id="293" name="Shape 290"/>
          <p:cNvSpPr/>
          <p:nvPr/>
        </p:nvSpPr>
        <p:spPr>
          <a:xfrm>
            <a:off x="5263911" y="4800600"/>
            <a:ext cx="0" cy="457200"/>
          </a:xfrm>
          <a:prstGeom prst="line">
            <a:avLst/>
          </a:prstGeom>
          <a:noFill/>
          <a:ln w="25400">
            <a:solidFill>
              <a:schemeClr val="accent1"/>
            </a:solidFill>
            <a:prstDash val="solid"/>
          </a:ln>
        </p:spPr>
      </p:sp>
      <p:sp>
        <p:nvSpPr>
          <p:cNvPr id="294" name="Shape 291"/>
          <p:cNvSpPr/>
          <p:nvPr/>
        </p:nvSpPr>
        <p:spPr>
          <a:xfrm>
            <a:off x="5742377" y="4800600"/>
            <a:ext cx="0" cy="457200"/>
          </a:xfrm>
          <a:prstGeom prst="line">
            <a:avLst/>
          </a:prstGeom>
          <a:noFill/>
          <a:ln w="25400">
            <a:solidFill>
              <a:schemeClr val="accent1"/>
            </a:solidFill>
            <a:prstDash val="solid"/>
          </a:ln>
        </p:spPr>
      </p:sp>
      <p:sp>
        <p:nvSpPr>
          <p:cNvPr id="295" name="Shape 292"/>
          <p:cNvSpPr/>
          <p:nvPr/>
        </p:nvSpPr>
        <p:spPr>
          <a:xfrm>
            <a:off x="6192305" y="4800600"/>
            <a:ext cx="0" cy="457200"/>
          </a:xfrm>
          <a:prstGeom prst="line">
            <a:avLst/>
          </a:prstGeom>
          <a:noFill/>
          <a:ln w="25400">
            <a:solidFill>
              <a:schemeClr val="accent1"/>
            </a:solidFill>
            <a:prstDash val="solid"/>
          </a:ln>
        </p:spPr>
      </p:sp>
      <p:sp>
        <p:nvSpPr>
          <p:cNvPr id="296" name="Shape 293"/>
          <p:cNvSpPr/>
          <p:nvPr/>
        </p:nvSpPr>
        <p:spPr>
          <a:xfrm>
            <a:off x="6629400" y="4800600"/>
            <a:ext cx="0" cy="457200"/>
          </a:xfrm>
          <a:prstGeom prst="line">
            <a:avLst/>
          </a:prstGeom>
          <a:noFill/>
          <a:ln w="25400">
            <a:solidFill>
              <a:schemeClr val="accent1"/>
            </a:solidFill>
            <a:prstDash val="solid"/>
          </a:ln>
        </p:spPr>
      </p:sp>
      <p:sp>
        <p:nvSpPr>
          <p:cNvPr id="297" name="Shape 294"/>
          <p:cNvSpPr/>
          <p:nvPr/>
        </p:nvSpPr>
        <p:spPr>
          <a:xfrm>
            <a:off x="7011433" y="4800600"/>
            <a:ext cx="0" cy="457200"/>
          </a:xfrm>
          <a:prstGeom prst="line">
            <a:avLst/>
          </a:prstGeom>
          <a:noFill/>
          <a:ln w="25400">
            <a:solidFill>
              <a:schemeClr val="accent1"/>
            </a:solidFill>
            <a:prstDash val="solid"/>
          </a:ln>
        </p:spPr>
      </p:sp>
      <p:sp>
        <p:nvSpPr>
          <p:cNvPr id="298" name="Shape 295"/>
          <p:cNvSpPr/>
          <p:nvPr/>
        </p:nvSpPr>
        <p:spPr>
          <a:xfrm>
            <a:off x="7401962" y="4800600"/>
            <a:ext cx="0" cy="457200"/>
          </a:xfrm>
          <a:prstGeom prst="line">
            <a:avLst/>
          </a:prstGeom>
          <a:noFill/>
          <a:ln w="25400">
            <a:solidFill>
              <a:schemeClr val="accent1"/>
            </a:solidFill>
            <a:prstDash val="solid"/>
          </a:ln>
        </p:spPr>
      </p:sp>
      <p:sp>
        <p:nvSpPr>
          <p:cNvPr id="299" name="Shape 296"/>
          <p:cNvSpPr/>
          <p:nvPr/>
        </p:nvSpPr>
        <p:spPr>
          <a:xfrm>
            <a:off x="7810887" y="4800600"/>
            <a:ext cx="0" cy="457200"/>
          </a:xfrm>
          <a:prstGeom prst="line">
            <a:avLst/>
          </a:prstGeom>
          <a:noFill/>
          <a:ln w="25400">
            <a:solidFill>
              <a:schemeClr val="accent1"/>
            </a:solidFill>
            <a:prstDash val="solid"/>
          </a:ln>
        </p:spPr>
      </p:sp>
      <p:sp>
        <p:nvSpPr>
          <p:cNvPr id="300" name="Shape 297"/>
          <p:cNvSpPr/>
          <p:nvPr/>
        </p:nvSpPr>
        <p:spPr>
          <a:xfrm>
            <a:off x="8251596" y="4800600"/>
            <a:ext cx="0" cy="457200"/>
          </a:xfrm>
          <a:prstGeom prst="line">
            <a:avLst/>
          </a:prstGeom>
          <a:noFill/>
          <a:ln w="25400">
            <a:solidFill>
              <a:schemeClr val="accent1"/>
            </a:solidFill>
            <a:prstDash val="solid"/>
          </a:ln>
        </p:spPr>
      </p:sp>
      <p:sp>
        <p:nvSpPr>
          <p:cNvPr id="301" name="Shape 298"/>
          <p:cNvSpPr/>
          <p:nvPr/>
        </p:nvSpPr>
        <p:spPr>
          <a:xfrm>
            <a:off x="8745071" y="4800600"/>
            <a:ext cx="0" cy="457200"/>
          </a:xfrm>
          <a:prstGeom prst="line">
            <a:avLst/>
          </a:prstGeom>
          <a:noFill/>
          <a:ln w="25400">
            <a:solidFill>
              <a:schemeClr val="accent1"/>
            </a:solidFill>
            <a:prstDash val="solid"/>
          </a:ln>
        </p:spPr>
      </p:sp>
      <p:sp>
        <p:nvSpPr>
          <p:cNvPr id="302" name="Shape 299"/>
          <p:cNvSpPr/>
          <p:nvPr/>
        </p:nvSpPr>
        <p:spPr>
          <a:xfrm>
            <a:off x="9330299" y="4800600"/>
            <a:ext cx="0" cy="457200"/>
          </a:xfrm>
          <a:prstGeom prst="line">
            <a:avLst/>
          </a:prstGeom>
          <a:noFill/>
          <a:ln w="25400">
            <a:solidFill>
              <a:schemeClr val="accent1"/>
            </a:solidFill>
            <a:prstDash val="solid"/>
          </a:ln>
        </p:spPr>
      </p:sp>
      <p:sp>
        <p:nvSpPr>
          <p:cNvPr id="303" name="Shape 300"/>
          <p:cNvSpPr/>
          <p:nvPr/>
        </p:nvSpPr>
        <p:spPr>
          <a:xfrm>
            <a:off x="10100026" y="4800600"/>
            <a:ext cx="0" cy="457200"/>
          </a:xfrm>
          <a:prstGeom prst="line">
            <a:avLst/>
          </a:prstGeom>
          <a:noFill/>
          <a:ln w="25400">
            <a:solidFill>
              <a:schemeClr val="accent1"/>
            </a:solidFill>
            <a:prstDash val="solid"/>
          </a:ln>
        </p:spPr>
      </p:sp>
      <p:sp>
        <p:nvSpPr>
          <p:cNvPr id="304" name="Shape 301"/>
          <p:cNvSpPr/>
          <p:nvPr/>
        </p:nvSpPr>
        <p:spPr>
          <a:xfrm>
            <a:off x="11430000" y="4800600"/>
            <a:ext cx="0" cy="457200"/>
          </a:xfrm>
          <a:prstGeom prst="line">
            <a:avLst/>
          </a:prstGeom>
          <a:noFill/>
          <a:ln w="25400">
            <a:solidFill>
              <a:schemeClr val="accent1"/>
            </a:solidFill>
            <a:prstDash val="solid"/>
          </a:ln>
        </p:spPr>
      </p:sp>
      <p:sp>
        <p:nvSpPr>
          <p:cNvPr id="305" name="Text 302"/>
          <p:cNvSpPr txBox="1"/>
          <p:nvPr/>
        </p:nvSpPr>
        <p:spPr>
          <a:xfrm>
            <a:off x="1463040" y="5532120"/>
            <a:ext cx="731520" cy="274320"/>
          </a:xfrm>
          <a:prstGeom prst="rect">
            <a:avLst/>
          </a:prstGeom>
          <a:noFill/>
          <a:ln/>
        </p:spPr>
        <p:txBody>
          <a:bodyPr wrap="square" lIns="0" tIns="0" rIns="0" bIns="0" rtlCol="0" anchor="t"/>
          <a:lstStyle/>
          <a:p>
            <a:pPr algn="ctr" indent="0" marL="0">
              <a:buNone/>
            </a:pPr>
            <a:r>
              <a:rPr lang="en-US" sz="1300" dirty="0">
                <a:solidFill>
                  <a:schemeClr val="tx2"/>
                </a:solidFill>
              </a:rPr>
              <a:t>−1</a:t>
            </a:r>
            <a:endParaRPr lang="en-US" sz="1300" dirty="0"/>
          </a:p>
        </p:txBody>
      </p:sp>
      <p:sp>
        <p:nvSpPr>
          <p:cNvPr id="306" name="Text 303"/>
          <p:cNvSpPr txBox="1"/>
          <p:nvPr/>
        </p:nvSpPr>
        <p:spPr>
          <a:xfrm>
            <a:off x="3863340" y="5532120"/>
            <a:ext cx="731520" cy="274320"/>
          </a:xfrm>
          <a:prstGeom prst="rect">
            <a:avLst/>
          </a:prstGeom>
          <a:noFill/>
          <a:ln/>
        </p:spPr>
        <p:txBody>
          <a:bodyPr wrap="square" lIns="0" tIns="0" rIns="0" bIns="0" rtlCol="0" anchor="t"/>
          <a:lstStyle/>
          <a:p>
            <a:pPr algn="ctr" indent="0" marL="0">
              <a:buNone/>
            </a:pPr>
            <a:r>
              <a:rPr lang="en-US" sz="1300" dirty="0">
                <a:solidFill>
                  <a:schemeClr val="tx2"/>
                </a:solidFill>
              </a:rPr>
              <a:t>−0.5</a:t>
            </a:r>
            <a:endParaRPr lang="en-US" sz="1300" dirty="0"/>
          </a:p>
        </p:txBody>
      </p:sp>
      <p:sp>
        <p:nvSpPr>
          <p:cNvPr id="307" name="Text 304"/>
          <p:cNvSpPr txBox="1"/>
          <p:nvPr/>
        </p:nvSpPr>
        <p:spPr>
          <a:xfrm>
            <a:off x="6263640" y="5532120"/>
            <a:ext cx="731520" cy="274320"/>
          </a:xfrm>
          <a:prstGeom prst="rect">
            <a:avLst/>
          </a:prstGeom>
          <a:noFill/>
          <a:ln/>
        </p:spPr>
        <p:txBody>
          <a:bodyPr wrap="square" lIns="0" tIns="0" rIns="0" bIns="0" rtlCol="0" anchor="t"/>
          <a:lstStyle/>
          <a:p>
            <a:pPr algn="ctr" indent="0" marL="0">
              <a:buNone/>
            </a:pPr>
            <a:r>
              <a:rPr lang="en-US" sz="1300" dirty="0">
                <a:solidFill>
                  <a:schemeClr val="tx2"/>
                </a:solidFill>
              </a:rPr>
              <a:t>0</a:t>
            </a:r>
            <a:endParaRPr lang="en-US" sz="1300" dirty="0"/>
          </a:p>
        </p:txBody>
      </p:sp>
      <p:sp>
        <p:nvSpPr>
          <p:cNvPr id="308" name="Text 305"/>
          <p:cNvSpPr txBox="1"/>
          <p:nvPr/>
        </p:nvSpPr>
        <p:spPr>
          <a:xfrm>
            <a:off x="8663940" y="5532120"/>
            <a:ext cx="731520" cy="274320"/>
          </a:xfrm>
          <a:prstGeom prst="rect">
            <a:avLst/>
          </a:prstGeom>
          <a:noFill/>
          <a:ln/>
        </p:spPr>
        <p:txBody>
          <a:bodyPr wrap="square" lIns="0" tIns="0" rIns="0" bIns="0" rtlCol="0" anchor="t"/>
          <a:lstStyle/>
          <a:p>
            <a:pPr algn="ctr" indent="0" marL="0">
              <a:buNone/>
            </a:pPr>
            <a:r>
              <a:rPr lang="en-US" sz="1300" dirty="0">
                <a:solidFill>
                  <a:schemeClr val="tx2"/>
                </a:solidFill>
              </a:rPr>
              <a:t>0.5</a:t>
            </a:r>
            <a:endParaRPr lang="en-US" sz="1300" dirty="0"/>
          </a:p>
        </p:txBody>
      </p:sp>
      <p:sp>
        <p:nvSpPr>
          <p:cNvPr id="309" name="Text 306"/>
          <p:cNvSpPr txBox="1"/>
          <p:nvPr/>
        </p:nvSpPr>
        <p:spPr>
          <a:xfrm>
            <a:off x="11064240" y="5532120"/>
            <a:ext cx="731520" cy="274320"/>
          </a:xfrm>
          <a:prstGeom prst="rect">
            <a:avLst/>
          </a:prstGeom>
          <a:noFill/>
          <a:ln/>
        </p:spPr>
        <p:txBody>
          <a:bodyPr wrap="square" lIns="0" tIns="0" rIns="0" bIns="0" rtlCol="0" anchor="t"/>
          <a:lstStyle/>
          <a:p>
            <a:pPr algn="ctr" indent="0" marL="0">
              <a:buNone/>
            </a:pPr>
            <a:r>
              <a:rPr lang="en-US" sz="1300" dirty="0">
                <a:solidFill>
                  <a:schemeClr val="tx2"/>
                </a:solidFill>
              </a:rPr>
              <a:t>1</a:t>
            </a:r>
            <a:endParaRPr lang="en-US" sz="1300" dirty="0"/>
          </a:p>
        </p:txBody>
      </p:sp>
      <p:sp>
        <p:nvSpPr>
          <p:cNvPr id="310" name="Text 307"/>
          <p:cNvSpPr txBox="1"/>
          <p:nvPr/>
        </p:nvSpPr>
        <p:spPr>
          <a:xfrm>
            <a:off x="1828800" y="5852160"/>
            <a:ext cx="9601200" cy="320040"/>
          </a:xfrm>
          <a:prstGeom prst="rect">
            <a:avLst/>
          </a:prstGeom>
          <a:noFill/>
          <a:ln/>
        </p:spPr>
        <p:txBody>
          <a:bodyPr wrap="square" lIns="0" tIns="0" rIns="0" bIns="0" rtlCol="0" anchor="t"/>
          <a:lstStyle/>
          <a:p>
            <a:pPr algn="ctr" indent="0" marL="0">
              <a:buNone/>
            </a:pPr>
            <a:r>
              <a:rPr lang="en-US" sz="1300" dirty="0">
                <a:solidFill>
                  <a:schemeClr val="tx2"/>
                </a:solidFill>
              </a:rPr>
              <a:t>value after dividing by the block scale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NF4 puts its levels where the weights are</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cells 8, 9</a:t>
            </a:r>
            <a:endParaRPr lang="en-US" sz="1400" dirty="0"/>
          </a:p>
        </p:txBody>
      </p:sp>
      <p:sp>
        <p:nvSpPr>
          <p:cNvPr id="6" name="Shape 3"/>
          <p:cNvSpPr/>
          <p:nvPr/>
        </p:nvSpPr>
        <p:spPr>
          <a:xfrm>
            <a:off x="1737360" y="4242118"/>
            <a:ext cx="125730" cy="467042"/>
          </a:xfrm>
          <a:prstGeom prst="rect">
            <a:avLst/>
          </a:prstGeom>
          <a:solidFill>
            <a:srgbClr val="C9CFDA"/>
          </a:solidFill>
          <a:ln w="6350">
            <a:solidFill>
              <a:schemeClr val="bg1"/>
            </a:solidFill>
            <a:prstDash val="solid"/>
          </a:ln>
        </p:spPr>
      </p:sp>
      <p:sp>
        <p:nvSpPr>
          <p:cNvPr id="7" name="Shape 4"/>
          <p:cNvSpPr/>
          <p:nvPr/>
        </p:nvSpPr>
        <p:spPr>
          <a:xfrm>
            <a:off x="1863090" y="4551569"/>
            <a:ext cx="125730" cy="157591"/>
          </a:xfrm>
          <a:prstGeom prst="rect">
            <a:avLst/>
          </a:prstGeom>
          <a:solidFill>
            <a:srgbClr val="C9CFDA"/>
          </a:solidFill>
          <a:ln w="6350">
            <a:solidFill>
              <a:schemeClr val="bg1"/>
            </a:solidFill>
            <a:prstDash val="solid"/>
          </a:ln>
        </p:spPr>
      </p:sp>
      <p:sp>
        <p:nvSpPr>
          <p:cNvPr id="8" name="Shape 5"/>
          <p:cNvSpPr/>
          <p:nvPr/>
        </p:nvSpPr>
        <p:spPr>
          <a:xfrm>
            <a:off x="1988820" y="4568761"/>
            <a:ext cx="125730" cy="140399"/>
          </a:xfrm>
          <a:prstGeom prst="rect">
            <a:avLst/>
          </a:prstGeom>
          <a:solidFill>
            <a:srgbClr val="C9CFDA"/>
          </a:solidFill>
          <a:ln w="6350">
            <a:solidFill>
              <a:schemeClr val="bg1"/>
            </a:solidFill>
            <a:prstDash val="solid"/>
          </a:ln>
        </p:spPr>
      </p:sp>
      <p:sp>
        <p:nvSpPr>
          <p:cNvPr id="9" name="Shape 6"/>
          <p:cNvSpPr/>
          <p:nvPr/>
        </p:nvSpPr>
        <p:spPr>
          <a:xfrm>
            <a:off x="2114550" y="4528647"/>
            <a:ext cx="125730" cy="180513"/>
          </a:xfrm>
          <a:prstGeom prst="rect">
            <a:avLst/>
          </a:prstGeom>
          <a:solidFill>
            <a:srgbClr val="C9CFDA"/>
          </a:solidFill>
          <a:ln w="6350">
            <a:solidFill>
              <a:schemeClr val="bg1"/>
            </a:solidFill>
            <a:prstDash val="solid"/>
          </a:ln>
        </p:spPr>
      </p:sp>
      <p:sp>
        <p:nvSpPr>
          <p:cNvPr id="10" name="Shape 7"/>
          <p:cNvSpPr/>
          <p:nvPr/>
        </p:nvSpPr>
        <p:spPr>
          <a:xfrm>
            <a:off x="2240280" y="4514321"/>
            <a:ext cx="125730" cy="194839"/>
          </a:xfrm>
          <a:prstGeom prst="rect">
            <a:avLst/>
          </a:prstGeom>
          <a:solidFill>
            <a:srgbClr val="C9CFDA"/>
          </a:solidFill>
          <a:ln w="6350">
            <a:solidFill>
              <a:schemeClr val="bg1"/>
            </a:solidFill>
            <a:prstDash val="solid"/>
          </a:ln>
        </p:spPr>
      </p:sp>
      <p:sp>
        <p:nvSpPr>
          <p:cNvPr id="11" name="Shape 8"/>
          <p:cNvSpPr/>
          <p:nvPr/>
        </p:nvSpPr>
        <p:spPr>
          <a:xfrm>
            <a:off x="2366010" y="4454150"/>
            <a:ext cx="125730" cy="255010"/>
          </a:xfrm>
          <a:prstGeom prst="rect">
            <a:avLst/>
          </a:prstGeom>
          <a:solidFill>
            <a:srgbClr val="C9CFDA"/>
          </a:solidFill>
          <a:ln w="6350">
            <a:solidFill>
              <a:schemeClr val="bg1"/>
            </a:solidFill>
            <a:prstDash val="solid"/>
          </a:ln>
        </p:spPr>
      </p:sp>
      <p:sp>
        <p:nvSpPr>
          <p:cNvPr id="12" name="Shape 9"/>
          <p:cNvSpPr/>
          <p:nvPr/>
        </p:nvSpPr>
        <p:spPr>
          <a:xfrm>
            <a:off x="2491740" y="4336673"/>
            <a:ext cx="125730" cy="372487"/>
          </a:xfrm>
          <a:prstGeom prst="rect">
            <a:avLst/>
          </a:prstGeom>
          <a:solidFill>
            <a:srgbClr val="C9CFDA"/>
          </a:solidFill>
          <a:ln w="6350">
            <a:solidFill>
              <a:schemeClr val="bg1"/>
            </a:solidFill>
            <a:prstDash val="solid"/>
          </a:ln>
        </p:spPr>
      </p:sp>
      <p:sp>
        <p:nvSpPr>
          <p:cNvPr id="13" name="Shape 10"/>
          <p:cNvSpPr/>
          <p:nvPr/>
        </p:nvSpPr>
        <p:spPr>
          <a:xfrm>
            <a:off x="2617470" y="4325212"/>
            <a:ext cx="125730" cy="383948"/>
          </a:xfrm>
          <a:prstGeom prst="rect">
            <a:avLst/>
          </a:prstGeom>
          <a:solidFill>
            <a:srgbClr val="C9CFDA"/>
          </a:solidFill>
          <a:ln w="6350">
            <a:solidFill>
              <a:schemeClr val="bg1"/>
            </a:solidFill>
            <a:prstDash val="solid"/>
          </a:ln>
        </p:spPr>
      </p:sp>
      <p:sp>
        <p:nvSpPr>
          <p:cNvPr id="14" name="Shape 11"/>
          <p:cNvSpPr/>
          <p:nvPr/>
        </p:nvSpPr>
        <p:spPr>
          <a:xfrm>
            <a:off x="2743200" y="4187678"/>
            <a:ext cx="125730" cy="521482"/>
          </a:xfrm>
          <a:prstGeom prst="rect">
            <a:avLst/>
          </a:prstGeom>
          <a:solidFill>
            <a:srgbClr val="C9CFDA"/>
          </a:solidFill>
          <a:ln w="6350">
            <a:solidFill>
              <a:schemeClr val="bg1"/>
            </a:solidFill>
            <a:prstDash val="solid"/>
          </a:ln>
        </p:spPr>
      </p:sp>
      <p:sp>
        <p:nvSpPr>
          <p:cNvPr id="15" name="Shape 12"/>
          <p:cNvSpPr/>
          <p:nvPr/>
        </p:nvSpPr>
        <p:spPr>
          <a:xfrm>
            <a:off x="2868930" y="4193409"/>
            <a:ext cx="125730" cy="515751"/>
          </a:xfrm>
          <a:prstGeom prst="rect">
            <a:avLst/>
          </a:prstGeom>
          <a:solidFill>
            <a:srgbClr val="C9CFDA"/>
          </a:solidFill>
          <a:ln w="6350">
            <a:solidFill>
              <a:schemeClr val="bg1"/>
            </a:solidFill>
            <a:prstDash val="solid"/>
          </a:ln>
        </p:spPr>
      </p:sp>
      <p:sp>
        <p:nvSpPr>
          <p:cNvPr id="16" name="Shape 13"/>
          <p:cNvSpPr/>
          <p:nvPr/>
        </p:nvSpPr>
        <p:spPr>
          <a:xfrm>
            <a:off x="2994660" y="4067336"/>
            <a:ext cx="125730" cy="641824"/>
          </a:xfrm>
          <a:prstGeom prst="rect">
            <a:avLst/>
          </a:prstGeom>
          <a:solidFill>
            <a:srgbClr val="C9CFDA"/>
          </a:solidFill>
          <a:ln w="6350">
            <a:solidFill>
              <a:schemeClr val="bg1"/>
            </a:solidFill>
            <a:prstDash val="solid"/>
          </a:ln>
        </p:spPr>
      </p:sp>
      <p:sp>
        <p:nvSpPr>
          <p:cNvPr id="17" name="Shape 14"/>
          <p:cNvSpPr/>
          <p:nvPr/>
        </p:nvSpPr>
        <p:spPr>
          <a:xfrm>
            <a:off x="3120390" y="3912610"/>
            <a:ext cx="125730" cy="796550"/>
          </a:xfrm>
          <a:prstGeom prst="rect">
            <a:avLst/>
          </a:prstGeom>
          <a:solidFill>
            <a:srgbClr val="C9CFDA"/>
          </a:solidFill>
          <a:ln w="6350">
            <a:solidFill>
              <a:schemeClr val="bg1"/>
            </a:solidFill>
            <a:prstDash val="solid"/>
          </a:ln>
        </p:spPr>
      </p:sp>
      <p:sp>
        <p:nvSpPr>
          <p:cNvPr id="18" name="Shape 15"/>
          <p:cNvSpPr/>
          <p:nvPr/>
        </p:nvSpPr>
        <p:spPr>
          <a:xfrm>
            <a:off x="3246120" y="3775077"/>
            <a:ext cx="125730" cy="934083"/>
          </a:xfrm>
          <a:prstGeom prst="rect">
            <a:avLst/>
          </a:prstGeom>
          <a:solidFill>
            <a:srgbClr val="C9CFDA"/>
          </a:solidFill>
          <a:ln w="6350">
            <a:solidFill>
              <a:schemeClr val="bg1"/>
            </a:solidFill>
            <a:prstDash val="solid"/>
          </a:ln>
        </p:spPr>
      </p:sp>
      <p:sp>
        <p:nvSpPr>
          <p:cNvPr id="19" name="Shape 16"/>
          <p:cNvSpPr/>
          <p:nvPr/>
        </p:nvSpPr>
        <p:spPr>
          <a:xfrm>
            <a:off x="3371850" y="3606025"/>
            <a:ext cx="125730" cy="1103135"/>
          </a:xfrm>
          <a:prstGeom prst="rect">
            <a:avLst/>
          </a:prstGeom>
          <a:solidFill>
            <a:srgbClr val="C9CFDA"/>
          </a:solidFill>
          <a:ln w="6350">
            <a:solidFill>
              <a:schemeClr val="bg1"/>
            </a:solidFill>
            <a:prstDash val="solid"/>
          </a:ln>
        </p:spPr>
      </p:sp>
      <p:sp>
        <p:nvSpPr>
          <p:cNvPr id="20" name="Shape 17"/>
          <p:cNvSpPr/>
          <p:nvPr/>
        </p:nvSpPr>
        <p:spPr>
          <a:xfrm>
            <a:off x="3497580" y="3508605"/>
            <a:ext cx="125730" cy="1200555"/>
          </a:xfrm>
          <a:prstGeom prst="rect">
            <a:avLst/>
          </a:prstGeom>
          <a:solidFill>
            <a:srgbClr val="C9CFDA"/>
          </a:solidFill>
          <a:ln w="6350">
            <a:solidFill>
              <a:schemeClr val="bg1"/>
            </a:solidFill>
            <a:prstDash val="solid"/>
          </a:ln>
        </p:spPr>
      </p:sp>
      <p:sp>
        <p:nvSpPr>
          <p:cNvPr id="21" name="Shape 18"/>
          <p:cNvSpPr/>
          <p:nvPr/>
        </p:nvSpPr>
        <p:spPr>
          <a:xfrm>
            <a:off x="3623310" y="3396859"/>
            <a:ext cx="125730" cy="1312301"/>
          </a:xfrm>
          <a:prstGeom prst="rect">
            <a:avLst/>
          </a:prstGeom>
          <a:solidFill>
            <a:srgbClr val="C9CFDA"/>
          </a:solidFill>
          <a:ln w="6350">
            <a:solidFill>
              <a:schemeClr val="bg1"/>
            </a:solidFill>
            <a:prstDash val="solid"/>
          </a:ln>
        </p:spPr>
      </p:sp>
      <p:sp>
        <p:nvSpPr>
          <p:cNvPr id="22" name="Shape 19"/>
          <p:cNvSpPr/>
          <p:nvPr/>
        </p:nvSpPr>
        <p:spPr>
          <a:xfrm>
            <a:off x="3749040" y="3293709"/>
            <a:ext cx="125730" cy="1415451"/>
          </a:xfrm>
          <a:prstGeom prst="rect">
            <a:avLst/>
          </a:prstGeom>
          <a:solidFill>
            <a:srgbClr val="C9CFDA"/>
          </a:solidFill>
          <a:ln w="6350">
            <a:solidFill>
              <a:schemeClr val="bg1"/>
            </a:solidFill>
            <a:prstDash val="solid"/>
          </a:ln>
        </p:spPr>
      </p:sp>
      <p:sp>
        <p:nvSpPr>
          <p:cNvPr id="23" name="Shape 20"/>
          <p:cNvSpPr/>
          <p:nvPr/>
        </p:nvSpPr>
        <p:spPr>
          <a:xfrm>
            <a:off x="3874770" y="3210615"/>
            <a:ext cx="125730" cy="1498545"/>
          </a:xfrm>
          <a:prstGeom prst="rect">
            <a:avLst/>
          </a:prstGeom>
          <a:solidFill>
            <a:srgbClr val="C9CFDA"/>
          </a:solidFill>
          <a:ln w="6350">
            <a:solidFill>
              <a:schemeClr val="bg1"/>
            </a:solidFill>
            <a:prstDash val="solid"/>
          </a:ln>
        </p:spPr>
      </p:sp>
      <p:sp>
        <p:nvSpPr>
          <p:cNvPr id="24" name="Shape 21"/>
          <p:cNvSpPr/>
          <p:nvPr/>
        </p:nvSpPr>
        <p:spPr>
          <a:xfrm>
            <a:off x="4000500" y="3176232"/>
            <a:ext cx="125730" cy="1532928"/>
          </a:xfrm>
          <a:prstGeom prst="rect">
            <a:avLst/>
          </a:prstGeom>
          <a:solidFill>
            <a:srgbClr val="C9CFDA"/>
          </a:solidFill>
          <a:ln w="6350">
            <a:solidFill>
              <a:schemeClr val="bg1"/>
            </a:solidFill>
            <a:prstDash val="solid"/>
          </a:ln>
        </p:spPr>
      </p:sp>
      <p:sp>
        <p:nvSpPr>
          <p:cNvPr id="25" name="Shape 22"/>
          <p:cNvSpPr/>
          <p:nvPr/>
        </p:nvSpPr>
        <p:spPr>
          <a:xfrm>
            <a:off x="4126230" y="2932683"/>
            <a:ext cx="125730" cy="1776477"/>
          </a:xfrm>
          <a:prstGeom prst="rect">
            <a:avLst/>
          </a:prstGeom>
          <a:solidFill>
            <a:srgbClr val="C9CFDA"/>
          </a:solidFill>
          <a:ln w="6350">
            <a:solidFill>
              <a:schemeClr val="bg1"/>
            </a:solidFill>
            <a:prstDash val="solid"/>
          </a:ln>
        </p:spPr>
      </p:sp>
      <p:sp>
        <p:nvSpPr>
          <p:cNvPr id="26" name="Shape 23"/>
          <p:cNvSpPr/>
          <p:nvPr/>
        </p:nvSpPr>
        <p:spPr>
          <a:xfrm>
            <a:off x="4251960" y="2826667"/>
            <a:ext cx="125730" cy="1882493"/>
          </a:xfrm>
          <a:prstGeom prst="rect">
            <a:avLst/>
          </a:prstGeom>
          <a:solidFill>
            <a:srgbClr val="C9CFDA"/>
          </a:solidFill>
          <a:ln w="6350">
            <a:solidFill>
              <a:schemeClr val="bg1"/>
            </a:solidFill>
            <a:prstDash val="solid"/>
          </a:ln>
        </p:spPr>
      </p:sp>
      <p:sp>
        <p:nvSpPr>
          <p:cNvPr id="27" name="Shape 24"/>
          <p:cNvSpPr/>
          <p:nvPr/>
        </p:nvSpPr>
        <p:spPr>
          <a:xfrm>
            <a:off x="4377690" y="2732113"/>
            <a:ext cx="125730" cy="1977047"/>
          </a:xfrm>
          <a:prstGeom prst="rect">
            <a:avLst/>
          </a:prstGeom>
          <a:solidFill>
            <a:srgbClr val="C9CFDA"/>
          </a:solidFill>
          <a:ln w="6350">
            <a:solidFill>
              <a:schemeClr val="bg1"/>
            </a:solidFill>
            <a:prstDash val="solid"/>
          </a:ln>
        </p:spPr>
      </p:sp>
      <p:sp>
        <p:nvSpPr>
          <p:cNvPr id="28" name="Shape 25"/>
          <p:cNvSpPr/>
          <p:nvPr/>
        </p:nvSpPr>
        <p:spPr>
          <a:xfrm>
            <a:off x="4503420" y="2838128"/>
            <a:ext cx="125730" cy="1871032"/>
          </a:xfrm>
          <a:prstGeom prst="rect">
            <a:avLst/>
          </a:prstGeom>
          <a:solidFill>
            <a:srgbClr val="C9CFDA"/>
          </a:solidFill>
          <a:ln w="6350">
            <a:solidFill>
              <a:schemeClr val="bg1"/>
            </a:solidFill>
            <a:prstDash val="solid"/>
          </a:ln>
        </p:spPr>
      </p:sp>
      <p:sp>
        <p:nvSpPr>
          <p:cNvPr id="29" name="Shape 26"/>
          <p:cNvSpPr/>
          <p:nvPr/>
        </p:nvSpPr>
        <p:spPr>
          <a:xfrm>
            <a:off x="4629150" y="2700594"/>
            <a:ext cx="125730" cy="2008566"/>
          </a:xfrm>
          <a:prstGeom prst="rect">
            <a:avLst/>
          </a:prstGeom>
          <a:solidFill>
            <a:srgbClr val="C9CFDA"/>
          </a:solidFill>
          <a:ln w="6350">
            <a:solidFill>
              <a:schemeClr val="bg1"/>
            </a:solidFill>
            <a:prstDash val="solid"/>
          </a:ln>
        </p:spPr>
      </p:sp>
      <p:sp>
        <p:nvSpPr>
          <p:cNvPr id="30" name="Shape 27"/>
          <p:cNvSpPr/>
          <p:nvPr/>
        </p:nvSpPr>
        <p:spPr>
          <a:xfrm>
            <a:off x="4754880" y="2606040"/>
            <a:ext cx="125730" cy="2103120"/>
          </a:xfrm>
          <a:prstGeom prst="rect">
            <a:avLst/>
          </a:prstGeom>
          <a:solidFill>
            <a:srgbClr val="C9CFDA"/>
          </a:solidFill>
          <a:ln w="6350">
            <a:solidFill>
              <a:schemeClr val="bg1"/>
            </a:solidFill>
            <a:prstDash val="solid"/>
          </a:ln>
        </p:spPr>
      </p:sp>
      <p:sp>
        <p:nvSpPr>
          <p:cNvPr id="31" name="Shape 28"/>
          <p:cNvSpPr/>
          <p:nvPr/>
        </p:nvSpPr>
        <p:spPr>
          <a:xfrm>
            <a:off x="4880610" y="2628962"/>
            <a:ext cx="125730" cy="2080198"/>
          </a:xfrm>
          <a:prstGeom prst="rect">
            <a:avLst/>
          </a:prstGeom>
          <a:solidFill>
            <a:srgbClr val="C9CFDA"/>
          </a:solidFill>
          <a:ln w="6350">
            <a:solidFill>
              <a:schemeClr val="bg1"/>
            </a:solidFill>
            <a:prstDash val="solid"/>
          </a:ln>
        </p:spPr>
      </p:sp>
      <p:sp>
        <p:nvSpPr>
          <p:cNvPr id="32" name="Shape 29"/>
          <p:cNvSpPr/>
          <p:nvPr/>
        </p:nvSpPr>
        <p:spPr>
          <a:xfrm>
            <a:off x="5006340" y="2849589"/>
            <a:ext cx="125730" cy="1859571"/>
          </a:xfrm>
          <a:prstGeom prst="rect">
            <a:avLst/>
          </a:prstGeom>
          <a:solidFill>
            <a:srgbClr val="C9CFDA"/>
          </a:solidFill>
          <a:ln w="6350">
            <a:solidFill>
              <a:schemeClr val="bg1"/>
            </a:solidFill>
            <a:prstDash val="solid"/>
          </a:ln>
        </p:spPr>
      </p:sp>
      <p:sp>
        <p:nvSpPr>
          <p:cNvPr id="33" name="Shape 30"/>
          <p:cNvSpPr/>
          <p:nvPr/>
        </p:nvSpPr>
        <p:spPr>
          <a:xfrm>
            <a:off x="5132070" y="2726382"/>
            <a:ext cx="125730" cy="1982778"/>
          </a:xfrm>
          <a:prstGeom prst="rect">
            <a:avLst/>
          </a:prstGeom>
          <a:solidFill>
            <a:srgbClr val="C9CFDA"/>
          </a:solidFill>
          <a:ln w="6350">
            <a:solidFill>
              <a:schemeClr val="bg1"/>
            </a:solidFill>
            <a:prstDash val="solid"/>
          </a:ln>
        </p:spPr>
      </p:sp>
      <p:sp>
        <p:nvSpPr>
          <p:cNvPr id="34" name="Shape 31"/>
          <p:cNvSpPr/>
          <p:nvPr/>
        </p:nvSpPr>
        <p:spPr>
          <a:xfrm>
            <a:off x="5257800" y="2975662"/>
            <a:ext cx="125730" cy="1733498"/>
          </a:xfrm>
          <a:prstGeom prst="rect">
            <a:avLst/>
          </a:prstGeom>
          <a:solidFill>
            <a:srgbClr val="C9CFDA"/>
          </a:solidFill>
          <a:ln w="6350">
            <a:solidFill>
              <a:schemeClr val="bg1"/>
            </a:solidFill>
            <a:prstDash val="solid"/>
          </a:ln>
        </p:spPr>
      </p:sp>
      <p:sp>
        <p:nvSpPr>
          <p:cNvPr id="35" name="Shape 32"/>
          <p:cNvSpPr/>
          <p:nvPr/>
        </p:nvSpPr>
        <p:spPr>
          <a:xfrm>
            <a:off x="5383530" y="2947009"/>
            <a:ext cx="125730" cy="1762151"/>
          </a:xfrm>
          <a:prstGeom prst="rect">
            <a:avLst/>
          </a:prstGeom>
          <a:solidFill>
            <a:srgbClr val="C9CFDA"/>
          </a:solidFill>
          <a:ln w="6350">
            <a:solidFill>
              <a:schemeClr val="bg1"/>
            </a:solidFill>
            <a:prstDash val="solid"/>
          </a:ln>
        </p:spPr>
      </p:sp>
      <p:sp>
        <p:nvSpPr>
          <p:cNvPr id="36" name="Shape 33"/>
          <p:cNvSpPr/>
          <p:nvPr/>
        </p:nvSpPr>
        <p:spPr>
          <a:xfrm>
            <a:off x="5509260" y="3156175"/>
            <a:ext cx="125730" cy="1552985"/>
          </a:xfrm>
          <a:prstGeom prst="rect">
            <a:avLst/>
          </a:prstGeom>
          <a:solidFill>
            <a:srgbClr val="C9CFDA"/>
          </a:solidFill>
          <a:ln w="6350">
            <a:solidFill>
              <a:schemeClr val="bg1"/>
            </a:solidFill>
            <a:prstDash val="solid"/>
          </a:ln>
        </p:spPr>
      </p:sp>
      <p:sp>
        <p:nvSpPr>
          <p:cNvPr id="37" name="Shape 34"/>
          <p:cNvSpPr/>
          <p:nvPr/>
        </p:nvSpPr>
        <p:spPr>
          <a:xfrm>
            <a:off x="5634990" y="3457030"/>
            <a:ext cx="125730" cy="1252130"/>
          </a:xfrm>
          <a:prstGeom prst="rect">
            <a:avLst/>
          </a:prstGeom>
          <a:solidFill>
            <a:srgbClr val="C9CFDA"/>
          </a:solidFill>
          <a:ln w="6350">
            <a:solidFill>
              <a:schemeClr val="bg1"/>
            </a:solidFill>
            <a:prstDash val="solid"/>
          </a:ln>
        </p:spPr>
      </p:sp>
      <p:sp>
        <p:nvSpPr>
          <p:cNvPr id="38" name="Shape 35"/>
          <p:cNvSpPr/>
          <p:nvPr/>
        </p:nvSpPr>
        <p:spPr>
          <a:xfrm>
            <a:off x="5760720" y="3296574"/>
            <a:ext cx="125730" cy="1412586"/>
          </a:xfrm>
          <a:prstGeom prst="rect">
            <a:avLst/>
          </a:prstGeom>
          <a:solidFill>
            <a:srgbClr val="C9CFDA"/>
          </a:solidFill>
          <a:ln w="6350">
            <a:solidFill>
              <a:schemeClr val="bg1"/>
            </a:solidFill>
            <a:prstDash val="solid"/>
          </a:ln>
        </p:spPr>
      </p:sp>
      <p:sp>
        <p:nvSpPr>
          <p:cNvPr id="39" name="Shape 36"/>
          <p:cNvSpPr/>
          <p:nvPr/>
        </p:nvSpPr>
        <p:spPr>
          <a:xfrm>
            <a:off x="5886450" y="3557315"/>
            <a:ext cx="125730" cy="1151845"/>
          </a:xfrm>
          <a:prstGeom prst="rect">
            <a:avLst/>
          </a:prstGeom>
          <a:solidFill>
            <a:srgbClr val="C9CFDA"/>
          </a:solidFill>
          <a:ln w="6350">
            <a:solidFill>
              <a:schemeClr val="bg1"/>
            </a:solidFill>
            <a:prstDash val="solid"/>
          </a:ln>
        </p:spPr>
      </p:sp>
      <p:sp>
        <p:nvSpPr>
          <p:cNvPr id="40" name="Shape 37"/>
          <p:cNvSpPr/>
          <p:nvPr/>
        </p:nvSpPr>
        <p:spPr>
          <a:xfrm>
            <a:off x="6012180" y="3686253"/>
            <a:ext cx="125730" cy="1022907"/>
          </a:xfrm>
          <a:prstGeom prst="rect">
            <a:avLst/>
          </a:prstGeom>
          <a:solidFill>
            <a:srgbClr val="C9CFDA"/>
          </a:solidFill>
          <a:ln w="6350">
            <a:solidFill>
              <a:schemeClr val="bg1"/>
            </a:solidFill>
            <a:prstDash val="solid"/>
          </a:ln>
        </p:spPr>
      </p:sp>
      <p:sp>
        <p:nvSpPr>
          <p:cNvPr id="41" name="Shape 38"/>
          <p:cNvSpPr/>
          <p:nvPr/>
        </p:nvSpPr>
        <p:spPr>
          <a:xfrm>
            <a:off x="6137910" y="3720636"/>
            <a:ext cx="125730" cy="988524"/>
          </a:xfrm>
          <a:prstGeom prst="rect">
            <a:avLst/>
          </a:prstGeom>
          <a:solidFill>
            <a:srgbClr val="C9CFDA"/>
          </a:solidFill>
          <a:ln w="6350">
            <a:solidFill>
              <a:schemeClr val="bg1"/>
            </a:solidFill>
            <a:prstDash val="solid"/>
          </a:ln>
        </p:spPr>
      </p:sp>
      <p:sp>
        <p:nvSpPr>
          <p:cNvPr id="42" name="Shape 39"/>
          <p:cNvSpPr/>
          <p:nvPr/>
        </p:nvSpPr>
        <p:spPr>
          <a:xfrm>
            <a:off x="6263640" y="3861035"/>
            <a:ext cx="125730" cy="848125"/>
          </a:xfrm>
          <a:prstGeom prst="rect">
            <a:avLst/>
          </a:prstGeom>
          <a:solidFill>
            <a:srgbClr val="C9CFDA"/>
          </a:solidFill>
          <a:ln w="6350">
            <a:solidFill>
              <a:schemeClr val="bg1"/>
            </a:solidFill>
            <a:prstDash val="solid"/>
          </a:ln>
        </p:spPr>
      </p:sp>
      <p:sp>
        <p:nvSpPr>
          <p:cNvPr id="43" name="Shape 40"/>
          <p:cNvSpPr/>
          <p:nvPr/>
        </p:nvSpPr>
        <p:spPr>
          <a:xfrm>
            <a:off x="6389370" y="3952724"/>
            <a:ext cx="125730" cy="756436"/>
          </a:xfrm>
          <a:prstGeom prst="rect">
            <a:avLst/>
          </a:prstGeom>
          <a:solidFill>
            <a:srgbClr val="C9CFDA"/>
          </a:solidFill>
          <a:ln w="6350">
            <a:solidFill>
              <a:schemeClr val="bg1"/>
            </a:solidFill>
            <a:prstDash val="solid"/>
          </a:ln>
        </p:spPr>
      </p:sp>
      <p:sp>
        <p:nvSpPr>
          <p:cNvPr id="44" name="Shape 41"/>
          <p:cNvSpPr/>
          <p:nvPr/>
        </p:nvSpPr>
        <p:spPr>
          <a:xfrm>
            <a:off x="6515100" y="4147564"/>
            <a:ext cx="125730" cy="561596"/>
          </a:xfrm>
          <a:prstGeom prst="rect">
            <a:avLst/>
          </a:prstGeom>
          <a:solidFill>
            <a:srgbClr val="C9CFDA"/>
          </a:solidFill>
          <a:ln w="6350">
            <a:solidFill>
              <a:schemeClr val="bg1"/>
            </a:solidFill>
            <a:prstDash val="solid"/>
          </a:ln>
        </p:spPr>
      </p:sp>
      <p:sp>
        <p:nvSpPr>
          <p:cNvPr id="45" name="Shape 42"/>
          <p:cNvSpPr/>
          <p:nvPr/>
        </p:nvSpPr>
        <p:spPr>
          <a:xfrm>
            <a:off x="6640830" y="4170486"/>
            <a:ext cx="125730" cy="538674"/>
          </a:xfrm>
          <a:prstGeom prst="rect">
            <a:avLst/>
          </a:prstGeom>
          <a:solidFill>
            <a:srgbClr val="C9CFDA"/>
          </a:solidFill>
          <a:ln w="6350">
            <a:solidFill>
              <a:schemeClr val="bg1"/>
            </a:solidFill>
            <a:prstDash val="solid"/>
          </a:ln>
        </p:spPr>
      </p:sp>
      <p:sp>
        <p:nvSpPr>
          <p:cNvPr id="46" name="Shape 43"/>
          <p:cNvSpPr/>
          <p:nvPr/>
        </p:nvSpPr>
        <p:spPr>
          <a:xfrm>
            <a:off x="6766560" y="4273637"/>
            <a:ext cx="125730" cy="435523"/>
          </a:xfrm>
          <a:prstGeom prst="rect">
            <a:avLst/>
          </a:prstGeom>
          <a:solidFill>
            <a:srgbClr val="C9CFDA"/>
          </a:solidFill>
          <a:ln w="6350">
            <a:solidFill>
              <a:schemeClr val="bg1"/>
            </a:solidFill>
            <a:prstDash val="solid"/>
          </a:ln>
        </p:spPr>
      </p:sp>
      <p:sp>
        <p:nvSpPr>
          <p:cNvPr id="47" name="Shape 44"/>
          <p:cNvSpPr/>
          <p:nvPr/>
        </p:nvSpPr>
        <p:spPr>
          <a:xfrm>
            <a:off x="6892290" y="4350999"/>
            <a:ext cx="125730" cy="358161"/>
          </a:xfrm>
          <a:prstGeom prst="rect">
            <a:avLst/>
          </a:prstGeom>
          <a:solidFill>
            <a:srgbClr val="C9CFDA"/>
          </a:solidFill>
          <a:ln w="6350">
            <a:solidFill>
              <a:schemeClr val="bg1"/>
            </a:solidFill>
            <a:prstDash val="solid"/>
          </a:ln>
        </p:spPr>
      </p:sp>
      <p:sp>
        <p:nvSpPr>
          <p:cNvPr id="48" name="Shape 45"/>
          <p:cNvSpPr/>
          <p:nvPr/>
        </p:nvSpPr>
        <p:spPr>
          <a:xfrm>
            <a:off x="7018020" y="4388248"/>
            <a:ext cx="125730" cy="320912"/>
          </a:xfrm>
          <a:prstGeom prst="rect">
            <a:avLst/>
          </a:prstGeom>
          <a:solidFill>
            <a:srgbClr val="C9CFDA"/>
          </a:solidFill>
          <a:ln w="6350">
            <a:solidFill>
              <a:schemeClr val="bg1"/>
            </a:solidFill>
            <a:prstDash val="solid"/>
          </a:ln>
        </p:spPr>
      </p:sp>
      <p:sp>
        <p:nvSpPr>
          <p:cNvPr id="49" name="Shape 46"/>
          <p:cNvSpPr/>
          <p:nvPr/>
        </p:nvSpPr>
        <p:spPr>
          <a:xfrm>
            <a:off x="7143750" y="4488533"/>
            <a:ext cx="125730" cy="220627"/>
          </a:xfrm>
          <a:prstGeom prst="rect">
            <a:avLst/>
          </a:prstGeom>
          <a:solidFill>
            <a:srgbClr val="C9CFDA"/>
          </a:solidFill>
          <a:ln w="6350">
            <a:solidFill>
              <a:schemeClr val="bg1"/>
            </a:solidFill>
            <a:prstDash val="solid"/>
          </a:ln>
        </p:spPr>
      </p:sp>
      <p:sp>
        <p:nvSpPr>
          <p:cNvPr id="50" name="Shape 47"/>
          <p:cNvSpPr/>
          <p:nvPr/>
        </p:nvSpPr>
        <p:spPr>
          <a:xfrm>
            <a:off x="7269480" y="4537243"/>
            <a:ext cx="125730" cy="171917"/>
          </a:xfrm>
          <a:prstGeom prst="rect">
            <a:avLst/>
          </a:prstGeom>
          <a:solidFill>
            <a:srgbClr val="C9CFDA"/>
          </a:solidFill>
          <a:ln w="6350">
            <a:solidFill>
              <a:schemeClr val="bg1"/>
            </a:solidFill>
            <a:prstDash val="solid"/>
          </a:ln>
        </p:spPr>
      </p:sp>
      <p:sp>
        <p:nvSpPr>
          <p:cNvPr id="51" name="Shape 48"/>
          <p:cNvSpPr/>
          <p:nvPr/>
        </p:nvSpPr>
        <p:spPr>
          <a:xfrm>
            <a:off x="7395210" y="4580222"/>
            <a:ext cx="125730" cy="128938"/>
          </a:xfrm>
          <a:prstGeom prst="rect">
            <a:avLst/>
          </a:prstGeom>
          <a:solidFill>
            <a:srgbClr val="C9CFDA"/>
          </a:solidFill>
          <a:ln w="6350">
            <a:solidFill>
              <a:schemeClr val="bg1"/>
            </a:solidFill>
            <a:prstDash val="solid"/>
          </a:ln>
        </p:spPr>
      </p:sp>
      <p:sp>
        <p:nvSpPr>
          <p:cNvPr id="52" name="Shape 49"/>
          <p:cNvSpPr/>
          <p:nvPr/>
        </p:nvSpPr>
        <p:spPr>
          <a:xfrm>
            <a:off x="7520940" y="4611740"/>
            <a:ext cx="125730" cy="97420"/>
          </a:xfrm>
          <a:prstGeom prst="rect">
            <a:avLst/>
          </a:prstGeom>
          <a:solidFill>
            <a:srgbClr val="C9CFDA"/>
          </a:solidFill>
          <a:ln w="6350">
            <a:solidFill>
              <a:schemeClr val="bg1"/>
            </a:solidFill>
            <a:prstDash val="solid"/>
          </a:ln>
        </p:spPr>
      </p:sp>
      <p:sp>
        <p:nvSpPr>
          <p:cNvPr id="53" name="Shape 50"/>
          <p:cNvSpPr/>
          <p:nvPr/>
        </p:nvSpPr>
        <p:spPr>
          <a:xfrm>
            <a:off x="7646670" y="4244984"/>
            <a:ext cx="125730" cy="464176"/>
          </a:xfrm>
          <a:prstGeom prst="rect">
            <a:avLst/>
          </a:prstGeom>
          <a:solidFill>
            <a:srgbClr val="C9CFDA"/>
          </a:solidFill>
          <a:ln w="6350">
            <a:solidFill>
              <a:schemeClr val="bg1"/>
            </a:solidFill>
            <a:prstDash val="solid"/>
          </a:ln>
        </p:spPr>
      </p:sp>
      <p:sp>
        <p:nvSpPr>
          <p:cNvPr id="54" name="Shape 51"/>
          <p:cNvSpPr/>
          <p:nvPr/>
        </p:nvSpPr>
        <p:spPr>
          <a:xfrm>
            <a:off x="1737360" y="4709160"/>
            <a:ext cx="6035040" cy="0"/>
          </a:xfrm>
          <a:prstGeom prst="line">
            <a:avLst/>
          </a:prstGeom>
          <a:noFill/>
          <a:ln w="12700">
            <a:solidFill>
              <a:schemeClr val="tx2"/>
            </a:solidFill>
            <a:prstDash val="solid"/>
          </a:ln>
        </p:spPr>
      </p:sp>
      <p:sp>
        <p:nvSpPr>
          <p:cNvPr id="55" name="Shape 52"/>
          <p:cNvSpPr/>
          <p:nvPr/>
        </p:nvSpPr>
        <p:spPr>
          <a:xfrm>
            <a:off x="1737360" y="1463040"/>
            <a:ext cx="0" cy="502920"/>
          </a:xfrm>
          <a:prstGeom prst="line">
            <a:avLst/>
          </a:prstGeom>
          <a:noFill/>
          <a:ln w="28575">
            <a:solidFill>
              <a:schemeClr val="accent1"/>
            </a:solidFill>
            <a:prstDash val="solid"/>
          </a:ln>
        </p:spPr>
      </p:sp>
      <p:sp>
        <p:nvSpPr>
          <p:cNvPr id="56" name="Shape 53"/>
          <p:cNvSpPr/>
          <p:nvPr/>
        </p:nvSpPr>
        <p:spPr>
          <a:xfrm>
            <a:off x="2654104" y="1463040"/>
            <a:ext cx="0" cy="502920"/>
          </a:xfrm>
          <a:prstGeom prst="line">
            <a:avLst/>
          </a:prstGeom>
          <a:noFill/>
          <a:ln w="28575">
            <a:solidFill>
              <a:schemeClr val="accent1"/>
            </a:solidFill>
            <a:prstDash val="solid"/>
          </a:ln>
        </p:spPr>
      </p:sp>
      <p:sp>
        <p:nvSpPr>
          <p:cNvPr id="57" name="Shape 54"/>
          <p:cNvSpPr/>
          <p:nvPr/>
        </p:nvSpPr>
        <p:spPr>
          <a:xfrm>
            <a:off x="3170461" y="1463040"/>
            <a:ext cx="0" cy="502920"/>
          </a:xfrm>
          <a:prstGeom prst="line">
            <a:avLst/>
          </a:prstGeom>
          <a:noFill/>
          <a:ln w="28575">
            <a:solidFill>
              <a:schemeClr val="accent1"/>
            </a:solidFill>
            <a:prstDash val="solid"/>
          </a:ln>
        </p:spPr>
      </p:sp>
      <p:sp>
        <p:nvSpPr>
          <p:cNvPr id="58" name="Shape 55"/>
          <p:cNvSpPr/>
          <p:nvPr/>
        </p:nvSpPr>
        <p:spPr>
          <a:xfrm>
            <a:off x="3563209" y="1463040"/>
            <a:ext cx="0" cy="502920"/>
          </a:xfrm>
          <a:prstGeom prst="line">
            <a:avLst/>
          </a:prstGeom>
          <a:noFill/>
          <a:ln w="28575">
            <a:solidFill>
              <a:schemeClr val="accent1"/>
            </a:solidFill>
            <a:prstDash val="solid"/>
          </a:ln>
        </p:spPr>
      </p:sp>
      <p:sp>
        <p:nvSpPr>
          <p:cNvPr id="59" name="Shape 56"/>
          <p:cNvSpPr/>
          <p:nvPr/>
        </p:nvSpPr>
        <p:spPr>
          <a:xfrm>
            <a:off x="3896572" y="1463040"/>
            <a:ext cx="0" cy="502920"/>
          </a:xfrm>
          <a:prstGeom prst="line">
            <a:avLst/>
          </a:prstGeom>
          <a:noFill/>
          <a:ln w="28575">
            <a:solidFill>
              <a:schemeClr val="accent1"/>
            </a:solidFill>
            <a:prstDash val="solid"/>
          </a:ln>
        </p:spPr>
      </p:sp>
      <p:sp>
        <p:nvSpPr>
          <p:cNvPr id="60" name="Shape 57"/>
          <p:cNvSpPr/>
          <p:nvPr/>
        </p:nvSpPr>
        <p:spPr>
          <a:xfrm>
            <a:off x="4197323" y="1463040"/>
            <a:ext cx="0" cy="502920"/>
          </a:xfrm>
          <a:prstGeom prst="line">
            <a:avLst/>
          </a:prstGeom>
          <a:noFill/>
          <a:ln w="28575">
            <a:solidFill>
              <a:schemeClr val="accent1"/>
            </a:solidFill>
            <a:prstDash val="solid"/>
          </a:ln>
        </p:spPr>
      </p:sp>
      <p:sp>
        <p:nvSpPr>
          <p:cNvPr id="61" name="Shape 58"/>
          <p:cNvSpPr/>
          <p:nvPr/>
        </p:nvSpPr>
        <p:spPr>
          <a:xfrm>
            <a:off x="4480135" y="1463040"/>
            <a:ext cx="0" cy="502920"/>
          </a:xfrm>
          <a:prstGeom prst="line">
            <a:avLst/>
          </a:prstGeom>
          <a:noFill/>
          <a:ln w="28575">
            <a:solidFill>
              <a:schemeClr val="accent1"/>
            </a:solidFill>
            <a:prstDash val="solid"/>
          </a:ln>
        </p:spPr>
      </p:sp>
      <p:sp>
        <p:nvSpPr>
          <p:cNvPr id="62" name="Shape 59"/>
          <p:cNvSpPr/>
          <p:nvPr/>
        </p:nvSpPr>
        <p:spPr>
          <a:xfrm>
            <a:off x="4754880" y="1463040"/>
            <a:ext cx="0" cy="502920"/>
          </a:xfrm>
          <a:prstGeom prst="line">
            <a:avLst/>
          </a:prstGeom>
          <a:noFill/>
          <a:ln w="28575">
            <a:solidFill>
              <a:schemeClr val="accent1"/>
            </a:solidFill>
            <a:prstDash val="solid"/>
          </a:ln>
        </p:spPr>
      </p:sp>
      <p:sp>
        <p:nvSpPr>
          <p:cNvPr id="63" name="Shape 60"/>
          <p:cNvSpPr/>
          <p:nvPr/>
        </p:nvSpPr>
        <p:spPr>
          <a:xfrm>
            <a:off x="4995015" y="1463040"/>
            <a:ext cx="0" cy="502920"/>
          </a:xfrm>
          <a:prstGeom prst="line">
            <a:avLst/>
          </a:prstGeom>
          <a:noFill/>
          <a:ln w="28575">
            <a:solidFill>
              <a:schemeClr val="accent1"/>
            </a:solidFill>
            <a:prstDash val="solid"/>
          </a:ln>
        </p:spPr>
      </p:sp>
      <p:sp>
        <p:nvSpPr>
          <p:cNvPr id="64" name="Shape 61"/>
          <p:cNvSpPr/>
          <p:nvPr/>
        </p:nvSpPr>
        <p:spPr>
          <a:xfrm>
            <a:off x="5240490" y="1463040"/>
            <a:ext cx="0" cy="502920"/>
          </a:xfrm>
          <a:prstGeom prst="line">
            <a:avLst/>
          </a:prstGeom>
          <a:noFill/>
          <a:ln w="28575">
            <a:solidFill>
              <a:schemeClr val="accent1"/>
            </a:solidFill>
            <a:prstDash val="solid"/>
          </a:ln>
        </p:spPr>
      </p:sp>
      <p:sp>
        <p:nvSpPr>
          <p:cNvPr id="65" name="Shape 62"/>
          <p:cNvSpPr/>
          <p:nvPr/>
        </p:nvSpPr>
        <p:spPr>
          <a:xfrm>
            <a:off x="5497529" y="1463040"/>
            <a:ext cx="0" cy="502920"/>
          </a:xfrm>
          <a:prstGeom prst="line">
            <a:avLst/>
          </a:prstGeom>
          <a:noFill/>
          <a:ln w="28575">
            <a:solidFill>
              <a:schemeClr val="accent1"/>
            </a:solidFill>
            <a:prstDash val="solid"/>
          </a:ln>
        </p:spPr>
      </p:sp>
      <p:sp>
        <p:nvSpPr>
          <p:cNvPr id="66" name="Shape 63"/>
          <p:cNvSpPr/>
          <p:nvPr/>
        </p:nvSpPr>
        <p:spPr>
          <a:xfrm>
            <a:off x="5774546" y="1463040"/>
            <a:ext cx="0" cy="502920"/>
          </a:xfrm>
          <a:prstGeom prst="line">
            <a:avLst/>
          </a:prstGeom>
          <a:noFill/>
          <a:ln w="28575">
            <a:solidFill>
              <a:schemeClr val="accent1"/>
            </a:solidFill>
            <a:prstDash val="solid"/>
          </a:ln>
        </p:spPr>
      </p:sp>
      <p:sp>
        <p:nvSpPr>
          <p:cNvPr id="67" name="Shape 64"/>
          <p:cNvSpPr/>
          <p:nvPr/>
        </p:nvSpPr>
        <p:spPr>
          <a:xfrm>
            <a:off x="6084731" y="1463040"/>
            <a:ext cx="0" cy="502920"/>
          </a:xfrm>
          <a:prstGeom prst="line">
            <a:avLst/>
          </a:prstGeom>
          <a:noFill/>
          <a:ln w="28575">
            <a:solidFill>
              <a:schemeClr val="accent1"/>
            </a:solidFill>
            <a:prstDash val="solid"/>
          </a:ln>
        </p:spPr>
      </p:sp>
      <p:sp>
        <p:nvSpPr>
          <p:cNvPr id="68" name="Shape 65"/>
          <p:cNvSpPr/>
          <p:nvPr/>
        </p:nvSpPr>
        <p:spPr>
          <a:xfrm>
            <a:off x="6452588" y="1463040"/>
            <a:ext cx="0" cy="502920"/>
          </a:xfrm>
          <a:prstGeom prst="line">
            <a:avLst/>
          </a:prstGeom>
          <a:noFill/>
          <a:ln w="28575">
            <a:solidFill>
              <a:schemeClr val="accent1"/>
            </a:solidFill>
            <a:prstDash val="solid"/>
          </a:ln>
        </p:spPr>
      </p:sp>
      <p:sp>
        <p:nvSpPr>
          <p:cNvPr id="69" name="Shape 66"/>
          <p:cNvSpPr/>
          <p:nvPr/>
        </p:nvSpPr>
        <p:spPr>
          <a:xfrm>
            <a:off x="6936417" y="1463040"/>
            <a:ext cx="0" cy="502920"/>
          </a:xfrm>
          <a:prstGeom prst="line">
            <a:avLst/>
          </a:prstGeom>
          <a:noFill/>
          <a:ln w="28575">
            <a:solidFill>
              <a:schemeClr val="accent1"/>
            </a:solidFill>
            <a:prstDash val="solid"/>
          </a:ln>
        </p:spPr>
      </p:sp>
      <p:sp>
        <p:nvSpPr>
          <p:cNvPr id="70" name="Shape 67"/>
          <p:cNvSpPr/>
          <p:nvPr/>
        </p:nvSpPr>
        <p:spPr>
          <a:xfrm>
            <a:off x="7772400" y="1463040"/>
            <a:ext cx="0" cy="502920"/>
          </a:xfrm>
          <a:prstGeom prst="line">
            <a:avLst/>
          </a:prstGeom>
          <a:noFill/>
          <a:ln w="28575">
            <a:solidFill>
              <a:schemeClr val="accent1"/>
            </a:solidFill>
            <a:prstDash val="solid"/>
          </a:ln>
        </p:spPr>
      </p:sp>
      <p:sp>
        <p:nvSpPr>
          <p:cNvPr id="71" name="Shape 68"/>
          <p:cNvSpPr/>
          <p:nvPr/>
        </p:nvSpPr>
        <p:spPr>
          <a:xfrm>
            <a:off x="1737360" y="4800600"/>
            <a:ext cx="0" cy="457200"/>
          </a:xfrm>
          <a:prstGeom prst="line">
            <a:avLst/>
          </a:prstGeom>
          <a:noFill/>
          <a:ln w="28575">
            <a:solidFill>
              <a:schemeClr val="accent3"/>
            </a:solidFill>
            <a:prstDash val="solid"/>
          </a:ln>
        </p:spPr>
      </p:sp>
      <p:sp>
        <p:nvSpPr>
          <p:cNvPr id="72" name="Shape 69"/>
          <p:cNvSpPr/>
          <p:nvPr/>
        </p:nvSpPr>
        <p:spPr>
          <a:xfrm>
            <a:off x="2168434" y="4800600"/>
            <a:ext cx="0" cy="457200"/>
          </a:xfrm>
          <a:prstGeom prst="line">
            <a:avLst/>
          </a:prstGeom>
          <a:noFill/>
          <a:ln w="28575">
            <a:solidFill>
              <a:schemeClr val="accent3"/>
            </a:solidFill>
            <a:prstDash val="solid"/>
          </a:ln>
        </p:spPr>
      </p:sp>
      <p:sp>
        <p:nvSpPr>
          <p:cNvPr id="73" name="Shape 70"/>
          <p:cNvSpPr/>
          <p:nvPr/>
        </p:nvSpPr>
        <p:spPr>
          <a:xfrm>
            <a:off x="2599509" y="4800600"/>
            <a:ext cx="0" cy="457200"/>
          </a:xfrm>
          <a:prstGeom prst="line">
            <a:avLst/>
          </a:prstGeom>
          <a:noFill/>
          <a:ln w="28575">
            <a:solidFill>
              <a:schemeClr val="accent3"/>
            </a:solidFill>
            <a:prstDash val="solid"/>
          </a:ln>
        </p:spPr>
      </p:sp>
      <p:sp>
        <p:nvSpPr>
          <p:cNvPr id="74" name="Shape 71"/>
          <p:cNvSpPr/>
          <p:nvPr/>
        </p:nvSpPr>
        <p:spPr>
          <a:xfrm>
            <a:off x="3030583" y="4800600"/>
            <a:ext cx="0" cy="457200"/>
          </a:xfrm>
          <a:prstGeom prst="line">
            <a:avLst/>
          </a:prstGeom>
          <a:noFill/>
          <a:ln w="28575">
            <a:solidFill>
              <a:schemeClr val="accent3"/>
            </a:solidFill>
            <a:prstDash val="solid"/>
          </a:ln>
        </p:spPr>
      </p:sp>
      <p:sp>
        <p:nvSpPr>
          <p:cNvPr id="75" name="Shape 72"/>
          <p:cNvSpPr/>
          <p:nvPr/>
        </p:nvSpPr>
        <p:spPr>
          <a:xfrm>
            <a:off x="3461657" y="4800600"/>
            <a:ext cx="0" cy="457200"/>
          </a:xfrm>
          <a:prstGeom prst="line">
            <a:avLst/>
          </a:prstGeom>
          <a:noFill/>
          <a:ln w="28575">
            <a:solidFill>
              <a:schemeClr val="accent3"/>
            </a:solidFill>
            <a:prstDash val="solid"/>
          </a:ln>
        </p:spPr>
      </p:sp>
      <p:sp>
        <p:nvSpPr>
          <p:cNvPr id="76" name="Shape 73"/>
          <p:cNvSpPr/>
          <p:nvPr/>
        </p:nvSpPr>
        <p:spPr>
          <a:xfrm>
            <a:off x="3892731" y="4800600"/>
            <a:ext cx="0" cy="457200"/>
          </a:xfrm>
          <a:prstGeom prst="line">
            <a:avLst/>
          </a:prstGeom>
          <a:noFill/>
          <a:ln w="28575">
            <a:solidFill>
              <a:schemeClr val="accent3"/>
            </a:solidFill>
            <a:prstDash val="solid"/>
          </a:ln>
        </p:spPr>
      </p:sp>
      <p:sp>
        <p:nvSpPr>
          <p:cNvPr id="77" name="Shape 74"/>
          <p:cNvSpPr/>
          <p:nvPr/>
        </p:nvSpPr>
        <p:spPr>
          <a:xfrm>
            <a:off x="4323806" y="4800600"/>
            <a:ext cx="0" cy="457200"/>
          </a:xfrm>
          <a:prstGeom prst="line">
            <a:avLst/>
          </a:prstGeom>
          <a:noFill/>
          <a:ln w="28575">
            <a:solidFill>
              <a:schemeClr val="accent3"/>
            </a:solidFill>
            <a:prstDash val="solid"/>
          </a:ln>
        </p:spPr>
      </p:sp>
      <p:sp>
        <p:nvSpPr>
          <p:cNvPr id="78" name="Shape 75"/>
          <p:cNvSpPr/>
          <p:nvPr/>
        </p:nvSpPr>
        <p:spPr>
          <a:xfrm>
            <a:off x="4754880" y="4800600"/>
            <a:ext cx="0" cy="457200"/>
          </a:xfrm>
          <a:prstGeom prst="line">
            <a:avLst/>
          </a:prstGeom>
          <a:noFill/>
          <a:ln w="28575">
            <a:solidFill>
              <a:schemeClr val="accent3"/>
            </a:solidFill>
            <a:prstDash val="solid"/>
          </a:ln>
        </p:spPr>
      </p:sp>
      <p:sp>
        <p:nvSpPr>
          <p:cNvPr id="79" name="Shape 76"/>
          <p:cNvSpPr/>
          <p:nvPr/>
        </p:nvSpPr>
        <p:spPr>
          <a:xfrm>
            <a:off x="5185954" y="4800600"/>
            <a:ext cx="0" cy="457200"/>
          </a:xfrm>
          <a:prstGeom prst="line">
            <a:avLst/>
          </a:prstGeom>
          <a:noFill/>
          <a:ln w="28575">
            <a:solidFill>
              <a:schemeClr val="accent3"/>
            </a:solidFill>
            <a:prstDash val="solid"/>
          </a:ln>
        </p:spPr>
      </p:sp>
      <p:sp>
        <p:nvSpPr>
          <p:cNvPr id="80" name="Shape 77"/>
          <p:cNvSpPr/>
          <p:nvPr/>
        </p:nvSpPr>
        <p:spPr>
          <a:xfrm>
            <a:off x="5617029" y="4800600"/>
            <a:ext cx="0" cy="457200"/>
          </a:xfrm>
          <a:prstGeom prst="line">
            <a:avLst/>
          </a:prstGeom>
          <a:noFill/>
          <a:ln w="28575">
            <a:solidFill>
              <a:schemeClr val="accent3"/>
            </a:solidFill>
            <a:prstDash val="solid"/>
          </a:ln>
        </p:spPr>
      </p:sp>
      <p:sp>
        <p:nvSpPr>
          <p:cNvPr id="81" name="Shape 78"/>
          <p:cNvSpPr/>
          <p:nvPr/>
        </p:nvSpPr>
        <p:spPr>
          <a:xfrm>
            <a:off x="6048103" y="4800600"/>
            <a:ext cx="0" cy="457200"/>
          </a:xfrm>
          <a:prstGeom prst="line">
            <a:avLst/>
          </a:prstGeom>
          <a:noFill/>
          <a:ln w="28575">
            <a:solidFill>
              <a:schemeClr val="accent3"/>
            </a:solidFill>
            <a:prstDash val="solid"/>
          </a:ln>
        </p:spPr>
      </p:sp>
      <p:sp>
        <p:nvSpPr>
          <p:cNvPr id="82" name="Shape 79"/>
          <p:cNvSpPr/>
          <p:nvPr/>
        </p:nvSpPr>
        <p:spPr>
          <a:xfrm>
            <a:off x="6479177" y="4800600"/>
            <a:ext cx="0" cy="457200"/>
          </a:xfrm>
          <a:prstGeom prst="line">
            <a:avLst/>
          </a:prstGeom>
          <a:noFill/>
          <a:ln w="28575">
            <a:solidFill>
              <a:schemeClr val="accent3"/>
            </a:solidFill>
            <a:prstDash val="solid"/>
          </a:ln>
        </p:spPr>
      </p:sp>
      <p:sp>
        <p:nvSpPr>
          <p:cNvPr id="83" name="Shape 80"/>
          <p:cNvSpPr/>
          <p:nvPr/>
        </p:nvSpPr>
        <p:spPr>
          <a:xfrm>
            <a:off x="6910251" y="4800600"/>
            <a:ext cx="0" cy="457200"/>
          </a:xfrm>
          <a:prstGeom prst="line">
            <a:avLst/>
          </a:prstGeom>
          <a:noFill/>
          <a:ln w="28575">
            <a:solidFill>
              <a:schemeClr val="accent3"/>
            </a:solidFill>
            <a:prstDash val="solid"/>
          </a:ln>
        </p:spPr>
      </p:sp>
      <p:sp>
        <p:nvSpPr>
          <p:cNvPr id="84" name="Shape 81"/>
          <p:cNvSpPr/>
          <p:nvPr/>
        </p:nvSpPr>
        <p:spPr>
          <a:xfrm>
            <a:off x="7341326" y="4800600"/>
            <a:ext cx="0" cy="457200"/>
          </a:xfrm>
          <a:prstGeom prst="line">
            <a:avLst/>
          </a:prstGeom>
          <a:noFill/>
          <a:ln w="28575">
            <a:solidFill>
              <a:schemeClr val="accent3"/>
            </a:solidFill>
            <a:prstDash val="solid"/>
          </a:ln>
        </p:spPr>
      </p:sp>
      <p:sp>
        <p:nvSpPr>
          <p:cNvPr id="85" name="Shape 82"/>
          <p:cNvSpPr/>
          <p:nvPr/>
        </p:nvSpPr>
        <p:spPr>
          <a:xfrm>
            <a:off x="7772400" y="4800600"/>
            <a:ext cx="0" cy="457200"/>
          </a:xfrm>
          <a:prstGeom prst="line">
            <a:avLst/>
          </a:prstGeom>
          <a:noFill/>
          <a:ln w="28575">
            <a:solidFill>
              <a:schemeClr val="accent3"/>
            </a:solidFill>
            <a:prstDash val="solid"/>
          </a:ln>
        </p:spPr>
      </p:sp>
      <p:sp>
        <p:nvSpPr>
          <p:cNvPr id="86" name="Text 83"/>
          <p:cNvSpPr txBox="1"/>
          <p:nvPr/>
        </p:nvSpPr>
        <p:spPr>
          <a:xfrm>
            <a:off x="548640" y="1417320"/>
            <a:ext cx="1097280" cy="594360"/>
          </a:xfrm>
          <a:prstGeom prst="rect">
            <a:avLst/>
          </a:prstGeom>
          <a:noFill/>
          <a:ln/>
        </p:spPr>
        <p:txBody>
          <a:bodyPr wrap="square" lIns="0" tIns="0" rIns="0" bIns="0" rtlCol="0" anchor="t"/>
          <a:lstStyle/>
          <a:p>
            <a:pPr indent="0" marL="0">
              <a:buNone/>
            </a:pPr>
            <a:r>
              <a:rPr lang="en-US" sz="1500" b="1" dirty="0">
                <a:solidFill>
                  <a:schemeClr val="accent1"/>
                </a:solidFill>
              </a:rPr>
              <a:t>NF4</a:t>
            </a:r>
            <a:endParaRPr lang="en-US" sz="1500" dirty="0"/>
          </a:p>
          <a:p>
            <a:pPr indent="0" marL="0">
              <a:buNone/>
            </a:pPr>
            <a:r>
              <a:rPr lang="en-US" sz="1300" dirty="0">
                <a:solidFill>
                  <a:schemeClr val="accent1"/>
                </a:solidFill>
              </a:rPr>
              <a:t>dense near 0</a:t>
            </a:r>
            <a:endParaRPr lang="en-US" sz="1500" dirty="0"/>
          </a:p>
        </p:txBody>
      </p:sp>
      <p:sp>
        <p:nvSpPr>
          <p:cNvPr id="87" name="Text 84"/>
          <p:cNvSpPr txBox="1"/>
          <p:nvPr/>
        </p:nvSpPr>
        <p:spPr>
          <a:xfrm>
            <a:off x="548640" y="4754880"/>
            <a:ext cx="1097280" cy="594360"/>
          </a:xfrm>
          <a:prstGeom prst="rect">
            <a:avLst/>
          </a:prstGeom>
          <a:noFill/>
          <a:ln/>
        </p:spPr>
        <p:txBody>
          <a:bodyPr wrap="square" lIns="0" tIns="0" rIns="0" bIns="0" rtlCol="0" anchor="t"/>
          <a:lstStyle/>
          <a:p>
            <a:pPr indent="0" marL="0">
              <a:buNone/>
            </a:pPr>
            <a:r>
              <a:rPr lang="en-US" sz="1500" b="1" dirty="0">
                <a:solidFill>
                  <a:schemeClr val="accent3"/>
                </a:solidFill>
              </a:rPr>
              <a:t>int4</a:t>
            </a:r>
            <a:endParaRPr lang="en-US" sz="1500" dirty="0"/>
          </a:p>
          <a:p>
            <a:pPr indent="0" marL="0">
              <a:buNone/>
            </a:pPr>
            <a:r>
              <a:rPr lang="en-US" sz="1300" dirty="0">
                <a:solidFill>
                  <a:schemeClr val="accent3"/>
                </a:solidFill>
              </a:rPr>
              <a:t>evenly spaced</a:t>
            </a:r>
            <a:endParaRPr lang="en-US" sz="1500" dirty="0"/>
          </a:p>
        </p:txBody>
      </p:sp>
      <p:sp>
        <p:nvSpPr>
          <p:cNvPr id="88" name="Text 85"/>
          <p:cNvSpPr txBox="1"/>
          <p:nvPr/>
        </p:nvSpPr>
        <p:spPr>
          <a:xfrm>
            <a:off x="1463040" y="5303520"/>
            <a:ext cx="548640" cy="274320"/>
          </a:xfrm>
          <a:prstGeom prst="rect">
            <a:avLst/>
          </a:prstGeom>
          <a:noFill/>
          <a:ln/>
        </p:spPr>
        <p:txBody>
          <a:bodyPr wrap="square" lIns="0" tIns="0" rIns="0" bIns="0" rtlCol="0" anchor="t"/>
          <a:lstStyle/>
          <a:p>
            <a:pPr algn="ctr" indent="0" marL="0">
              <a:buNone/>
            </a:pPr>
            <a:r>
              <a:rPr lang="en-US" sz="1300" dirty="0">
                <a:solidFill>
                  <a:schemeClr val="tx2"/>
                </a:solidFill>
              </a:rPr>
              <a:t>−1</a:t>
            </a:r>
            <a:endParaRPr lang="en-US" sz="1300" dirty="0"/>
          </a:p>
        </p:txBody>
      </p:sp>
      <p:sp>
        <p:nvSpPr>
          <p:cNvPr id="89" name="Text 86"/>
          <p:cNvSpPr txBox="1"/>
          <p:nvPr/>
        </p:nvSpPr>
        <p:spPr>
          <a:xfrm>
            <a:off x="4480560" y="5303520"/>
            <a:ext cx="548640" cy="274320"/>
          </a:xfrm>
          <a:prstGeom prst="rect">
            <a:avLst/>
          </a:prstGeom>
          <a:noFill/>
          <a:ln/>
        </p:spPr>
        <p:txBody>
          <a:bodyPr wrap="square" lIns="0" tIns="0" rIns="0" bIns="0" rtlCol="0" anchor="t"/>
          <a:lstStyle/>
          <a:p>
            <a:pPr algn="ctr" indent="0" marL="0">
              <a:buNone/>
            </a:pPr>
            <a:r>
              <a:rPr lang="en-US" sz="1300" dirty="0">
                <a:solidFill>
                  <a:schemeClr val="tx2"/>
                </a:solidFill>
              </a:rPr>
              <a:t>0</a:t>
            </a:r>
            <a:endParaRPr lang="en-US" sz="1300" dirty="0"/>
          </a:p>
        </p:txBody>
      </p:sp>
      <p:sp>
        <p:nvSpPr>
          <p:cNvPr id="90" name="Text 87"/>
          <p:cNvSpPr txBox="1"/>
          <p:nvPr/>
        </p:nvSpPr>
        <p:spPr>
          <a:xfrm>
            <a:off x="7498080" y="5303520"/>
            <a:ext cx="548640" cy="274320"/>
          </a:xfrm>
          <a:prstGeom prst="rect">
            <a:avLst/>
          </a:prstGeom>
          <a:noFill/>
          <a:ln/>
        </p:spPr>
        <p:txBody>
          <a:bodyPr wrap="square" lIns="0" tIns="0" rIns="0" bIns="0" rtlCol="0" anchor="t"/>
          <a:lstStyle/>
          <a:p>
            <a:pPr algn="ctr" indent="0" marL="0">
              <a:buNone/>
            </a:pPr>
            <a:r>
              <a:rPr lang="en-US" sz="1300" dirty="0">
                <a:solidFill>
                  <a:schemeClr val="tx2"/>
                </a:solidFill>
              </a:rPr>
              <a:t>1</a:t>
            </a:r>
            <a:endParaRPr lang="en-US" sz="1300" dirty="0"/>
          </a:p>
        </p:txBody>
      </p:sp>
      <p:sp>
        <p:nvSpPr>
          <p:cNvPr id="91" name="Text 88"/>
          <p:cNvSpPr txBox="1"/>
          <p:nvPr/>
        </p:nvSpPr>
        <p:spPr>
          <a:xfrm>
            <a:off x="1737360" y="5669280"/>
            <a:ext cx="6035040" cy="320040"/>
          </a:xfrm>
          <a:prstGeom prst="rect">
            <a:avLst/>
          </a:prstGeom>
          <a:noFill/>
          <a:ln/>
        </p:spPr>
        <p:txBody>
          <a:bodyPr wrap="square" lIns="0" tIns="0" rIns="0" bIns="0" rtlCol="0" anchor="t"/>
          <a:lstStyle/>
          <a:p>
            <a:pPr algn="ctr" indent="0" marL="0">
              <a:buNone/>
            </a:pPr>
            <a:r>
              <a:rPr lang="en-US" sz="1300" dirty="0">
                <a:solidFill>
                  <a:schemeClr val="tx2"/>
                </a:solidFill>
              </a:rPr>
              <a:t>grey: normal weights ÷ their block's largest |w| (blocks of 64)</a:t>
            </a:r>
            <a:endParaRPr lang="en-US" sz="1300" dirty="0"/>
          </a:p>
        </p:txBody>
      </p:sp>
      <p:sp>
        <p:nvSpPr>
          <p:cNvPr id="92" name="Text 89"/>
          <p:cNvSpPr txBox="1"/>
          <p:nvPr/>
        </p:nvSpPr>
        <p:spPr>
          <a:xfrm>
            <a:off x="8229600" y="1280160"/>
            <a:ext cx="3383280" cy="365760"/>
          </a:xfrm>
          <a:prstGeom prst="rect">
            <a:avLst/>
          </a:prstGeom>
          <a:noFill/>
          <a:ln/>
        </p:spPr>
        <p:txBody>
          <a:bodyPr wrap="square" lIns="0" tIns="0" rIns="0" bIns="0" rtlCol="0" anchor="t"/>
          <a:lstStyle/>
          <a:p>
            <a:pPr indent="0" marL="0">
              <a:buNone/>
            </a:pPr>
            <a:r>
              <a:rPr lang="en-US" sz="1600" b="1" dirty="0">
                <a:solidFill>
                  <a:schemeClr val="tx1"/>
                </a:solidFill>
              </a:rPr>
              <a:t>Relative error, 65,536 weights</a:t>
            </a:r>
            <a:endParaRPr lang="en-US" sz="1600" dirty="0"/>
          </a:p>
        </p:txBody>
      </p:sp>
      <p:sp>
        <p:nvSpPr>
          <p:cNvPr id="93" name="int8: 255 levels"/>
          <p:cNvSpPr/>
          <p:nvPr/>
        </p:nvSpPr>
        <p:spPr>
          <a:xfrm>
            <a:off x="8229600" y="1737360"/>
            <a:ext cx="3383280" cy="1097280"/>
          </a:xfrm>
          <a:prstGeom prst="roundRect">
            <a:avLst>
              <a:gd name="adj" fmla="val 10000"/>
            </a:avLst>
          </a:prstGeom>
          <a:solidFill>
            <a:schemeClr val="bg2"/>
          </a:solidFill>
          <a:ln w="12700">
            <a:solidFill>
              <a:schemeClr val="bg2"/>
            </a:solidFill>
            <a:prstDash val="solid"/>
          </a:ln>
        </p:spPr>
      </p:sp>
      <p:sp>
        <p:nvSpPr>
          <p:cNvPr id="94" name="Text 91"/>
          <p:cNvSpPr txBox="1"/>
          <p:nvPr/>
        </p:nvSpPr>
        <p:spPr>
          <a:xfrm>
            <a:off x="8458200" y="1847088"/>
            <a:ext cx="2926080" cy="640080"/>
          </a:xfrm>
          <a:prstGeom prst="rect">
            <a:avLst/>
          </a:prstGeom>
          <a:noFill/>
          <a:ln/>
        </p:spPr>
        <p:txBody>
          <a:bodyPr wrap="square" lIns="0" tIns="0" rIns="0" bIns="0" rtlCol="0" anchor="b"/>
          <a:lstStyle/>
          <a:p>
            <a:pPr indent="0" marL="0">
              <a:buNone/>
            </a:pPr>
            <a:r>
              <a:rPr lang="en-US" sz="2600" b="1" dirty="0">
                <a:solidFill>
                  <a:schemeClr val="tx2"/>
                </a:solidFill>
                <a:latin typeface="Cambria" pitchFamily="34" charset="0"/>
                <a:ea typeface="Cambria" pitchFamily="34" charset="-122"/>
                <a:cs typeface="Cambria" pitchFamily="34" charset="-120"/>
              </a:rPr>
              <a:t>0.0059</a:t>
            </a:r>
            <a:endParaRPr lang="en-US" sz="2600" dirty="0"/>
          </a:p>
        </p:txBody>
      </p:sp>
      <p:sp>
        <p:nvSpPr>
          <p:cNvPr id="95" name="Text 92"/>
          <p:cNvSpPr txBox="1"/>
          <p:nvPr/>
        </p:nvSpPr>
        <p:spPr>
          <a:xfrm>
            <a:off x="8458200" y="2542032"/>
            <a:ext cx="2926080" cy="201168"/>
          </a:xfrm>
          <a:prstGeom prst="rect">
            <a:avLst/>
          </a:prstGeom>
          <a:noFill/>
          <a:ln/>
        </p:spPr>
        <p:txBody>
          <a:bodyPr wrap="square" lIns="0" tIns="0" rIns="0" bIns="0" rtlCol="0" anchor="t"/>
          <a:lstStyle/>
          <a:p>
            <a:pPr indent="0" marL="0">
              <a:buNone/>
            </a:pPr>
            <a:r>
              <a:rPr lang="en-US" sz="1400" dirty="0">
                <a:solidFill>
                  <a:schemeClr val="tx2"/>
                </a:solidFill>
              </a:rPr>
              <a:t>int8: 255 levels</a:t>
            </a:r>
            <a:endParaRPr lang="en-US" sz="1400" dirty="0"/>
          </a:p>
        </p:txBody>
      </p:sp>
      <p:sp>
        <p:nvSpPr>
          <p:cNvPr id="96" name="int4: 15 even levels"/>
          <p:cNvSpPr/>
          <p:nvPr/>
        </p:nvSpPr>
        <p:spPr>
          <a:xfrm>
            <a:off x="8229600" y="2944368"/>
            <a:ext cx="3383280" cy="1097280"/>
          </a:xfrm>
          <a:prstGeom prst="roundRect">
            <a:avLst>
              <a:gd name="adj" fmla="val 10000"/>
            </a:avLst>
          </a:prstGeom>
          <a:solidFill>
            <a:schemeClr val="accent6"/>
          </a:solidFill>
          <a:ln w="12700">
            <a:solidFill>
              <a:schemeClr val="accent6"/>
            </a:solidFill>
            <a:prstDash val="solid"/>
          </a:ln>
        </p:spPr>
      </p:sp>
      <p:sp>
        <p:nvSpPr>
          <p:cNvPr id="97" name="Text 94"/>
          <p:cNvSpPr txBox="1"/>
          <p:nvPr/>
        </p:nvSpPr>
        <p:spPr>
          <a:xfrm>
            <a:off x="8458200" y="3054096"/>
            <a:ext cx="2926080" cy="640080"/>
          </a:xfrm>
          <a:prstGeom prst="rect">
            <a:avLst/>
          </a:prstGeom>
          <a:noFill/>
          <a:ln/>
        </p:spPr>
        <p:txBody>
          <a:bodyPr wrap="square" lIns="0" tIns="0" rIns="0" bIns="0" rtlCol="0" anchor="b"/>
          <a:lstStyle/>
          <a:p>
            <a:pPr indent="0" marL="0">
              <a:buNone/>
            </a:pPr>
            <a:r>
              <a:rPr lang="en-US" sz="2600" b="1" dirty="0">
                <a:solidFill>
                  <a:schemeClr val="accent3"/>
                </a:solidFill>
                <a:latin typeface="Cambria" pitchFamily="34" charset="0"/>
                <a:ea typeface="Cambria" pitchFamily="34" charset="-122"/>
                <a:cs typeface="Cambria" pitchFamily="34" charset="-120"/>
              </a:rPr>
              <a:t>0.1074</a:t>
            </a:r>
            <a:endParaRPr lang="en-US" sz="2600" dirty="0"/>
          </a:p>
        </p:txBody>
      </p:sp>
      <p:sp>
        <p:nvSpPr>
          <p:cNvPr id="98" name="Text 95"/>
          <p:cNvSpPr txBox="1"/>
          <p:nvPr/>
        </p:nvSpPr>
        <p:spPr>
          <a:xfrm>
            <a:off x="8458200" y="3749040"/>
            <a:ext cx="2926080" cy="201168"/>
          </a:xfrm>
          <a:prstGeom prst="rect">
            <a:avLst/>
          </a:prstGeom>
          <a:noFill/>
          <a:ln/>
        </p:spPr>
        <p:txBody>
          <a:bodyPr wrap="square" lIns="0" tIns="0" rIns="0" bIns="0" rtlCol="0" anchor="t"/>
          <a:lstStyle/>
          <a:p>
            <a:pPr indent="0" marL="0">
              <a:buNone/>
            </a:pPr>
            <a:r>
              <a:rPr lang="en-US" sz="1400" dirty="0">
                <a:solidFill>
                  <a:schemeClr val="tx2"/>
                </a:solidFill>
              </a:rPr>
              <a:t>int4: 15 even levels</a:t>
            </a:r>
            <a:endParaRPr lang="en-US" sz="1400" dirty="0"/>
          </a:p>
        </p:txBody>
      </p:sp>
      <p:sp>
        <p:nvSpPr>
          <p:cNvPr id="99" name="NF4: 16 levels, same 4 bits"/>
          <p:cNvSpPr/>
          <p:nvPr/>
        </p:nvSpPr>
        <p:spPr>
          <a:xfrm>
            <a:off x="8229600" y="4151376"/>
            <a:ext cx="3383280" cy="1097280"/>
          </a:xfrm>
          <a:prstGeom prst="roundRect">
            <a:avLst>
              <a:gd name="adj" fmla="val 10000"/>
            </a:avLst>
          </a:prstGeom>
          <a:solidFill>
            <a:srgbClr val="DCEFF0"/>
          </a:solidFill>
          <a:ln w="12700">
            <a:solidFill>
              <a:srgbClr val="DCEFF0"/>
            </a:solidFill>
            <a:prstDash val="solid"/>
          </a:ln>
        </p:spPr>
      </p:sp>
      <p:sp>
        <p:nvSpPr>
          <p:cNvPr id="100" name="Text 97"/>
          <p:cNvSpPr txBox="1"/>
          <p:nvPr/>
        </p:nvSpPr>
        <p:spPr>
          <a:xfrm>
            <a:off x="8458200" y="4261104"/>
            <a:ext cx="2926080" cy="640080"/>
          </a:xfrm>
          <a:prstGeom prst="rect">
            <a:avLst/>
          </a:prstGeom>
          <a:noFill/>
          <a:ln/>
        </p:spPr>
        <p:txBody>
          <a:bodyPr wrap="square" lIns="0" tIns="0" rIns="0" bIns="0" rtlCol="0" anchor="b"/>
          <a:lstStyle/>
          <a:p>
            <a:pPr indent="0" marL="0">
              <a:buNone/>
            </a:pPr>
            <a:r>
              <a:rPr lang="en-US" sz="2600" b="1" dirty="0">
                <a:solidFill>
                  <a:schemeClr val="accent1"/>
                </a:solidFill>
                <a:latin typeface="Cambria" pitchFamily="34" charset="0"/>
                <a:ea typeface="Cambria" pitchFamily="34" charset="-122"/>
                <a:cs typeface="Cambria" pitchFamily="34" charset="-120"/>
              </a:rPr>
              <a:t>0.0920</a:t>
            </a:r>
            <a:endParaRPr lang="en-US" sz="2600" dirty="0"/>
          </a:p>
        </p:txBody>
      </p:sp>
      <p:sp>
        <p:nvSpPr>
          <p:cNvPr id="101" name="Text 98"/>
          <p:cNvSpPr txBox="1"/>
          <p:nvPr/>
        </p:nvSpPr>
        <p:spPr>
          <a:xfrm>
            <a:off x="8458200" y="4956048"/>
            <a:ext cx="2926080" cy="201168"/>
          </a:xfrm>
          <a:prstGeom prst="rect">
            <a:avLst/>
          </a:prstGeom>
          <a:noFill/>
          <a:ln/>
        </p:spPr>
        <p:txBody>
          <a:bodyPr wrap="square" lIns="0" tIns="0" rIns="0" bIns="0" rtlCol="0" anchor="t"/>
          <a:lstStyle/>
          <a:p>
            <a:pPr indent="0" marL="0">
              <a:buNone/>
            </a:pPr>
            <a:r>
              <a:rPr lang="en-US" sz="1400" dirty="0">
                <a:solidFill>
                  <a:schemeClr val="tx2"/>
                </a:solidFill>
              </a:rPr>
              <a:t>NF4: 16 levels, same 4 bits</a:t>
            </a:r>
            <a:endParaRPr lang="en-US" sz="1400" dirty="0"/>
          </a:p>
        </p:txBody>
      </p:sp>
      <p:sp>
        <p:nvSpPr>
          <p:cNvPr id="102" name="use nf4"/>
          <p:cNvSpPr/>
          <p:nvPr/>
        </p:nvSpPr>
        <p:spPr>
          <a:xfrm>
            <a:off x="8229600" y="5394960"/>
            <a:ext cx="3383280" cy="777240"/>
          </a:xfrm>
          <a:prstGeom prst="roundRect">
            <a:avLst>
              <a:gd name="adj" fmla="val 14118"/>
            </a:avLst>
          </a:prstGeom>
          <a:solidFill>
            <a:schemeClr val="accent5"/>
          </a:solidFill>
          <a:ln w="12700">
            <a:solidFill>
              <a:schemeClr val="accent5"/>
            </a:solidFill>
            <a:prstDash val="solid"/>
          </a:ln>
        </p:spPr>
      </p:sp>
      <p:sp>
        <p:nvSpPr>
          <p:cNvPr id="103" name="Text 100"/>
          <p:cNvSpPr txBox="1"/>
          <p:nvPr/>
        </p:nvSpPr>
        <p:spPr>
          <a:xfrm>
            <a:off x="8412480" y="5394960"/>
            <a:ext cx="3108960" cy="777240"/>
          </a:xfrm>
          <a:prstGeom prst="rect">
            <a:avLst/>
          </a:prstGeom>
          <a:noFill/>
          <a:ln/>
        </p:spPr>
        <p:txBody>
          <a:bodyPr wrap="square" lIns="0" tIns="0" rIns="0" bIns="0" rtlCol="0" anchor="ctr"/>
          <a:lstStyle/>
          <a:p>
            <a:pPr indent="0" marL="0">
              <a:buNone/>
            </a:pPr>
            <a:r>
              <a:rPr lang="en-US" sz="1500" b="1" dirty="0">
                <a:solidFill>
                  <a:schemeClr val="tx1"/>
                </a:solidFill>
              </a:rPr>
              <a:t>For QLoRA: </a:t>
            </a:r>
            <a:r>
              <a:rPr lang="en-US" sz="1300" dirty="0">
                <a:solidFill>
                  <a:schemeClr val="tx1"/>
                </a:solidFill>
                <a:latin typeface="Courier New" pitchFamily="34" charset="0"/>
                <a:ea typeface="Courier New" pitchFamily="34" charset="-122"/>
                <a:cs typeface="Courier New" pitchFamily="34" charset="-120"/>
              </a:rPr>
              <a:t>bnb_4bit_quant_type="nf4"</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Why blocks: outliers</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12</a:t>
            </a:r>
            <a:endParaRPr lang="en-US" sz="1400" dirty="0"/>
          </a:p>
        </p:txBody>
      </p:sp>
      <p:sp>
        <p:nvSpPr>
          <p:cNvPr id="6" name="Text 3"/>
          <p:cNvSpPr txBox="1"/>
          <p:nvPr/>
        </p:nvSpPr>
        <p:spPr>
          <a:xfrm>
            <a:off x="548640" y="1280160"/>
            <a:ext cx="5760720" cy="365760"/>
          </a:xfrm>
          <a:prstGeom prst="rect">
            <a:avLst/>
          </a:prstGeom>
          <a:noFill/>
          <a:ln/>
        </p:spPr>
        <p:txBody>
          <a:bodyPr wrap="square" lIns="0" tIns="0" rIns="0" bIns="0" rtlCol="0" anchor="t"/>
          <a:lstStyle/>
          <a:p>
            <a:pPr indent="0" marL="0">
              <a:buNone/>
            </a:pPr>
            <a:r>
              <a:rPr lang="en-US" sz="1500" b="1" dirty="0">
                <a:solidFill>
                  <a:schemeClr val="tx1"/>
                </a:solidFill>
              </a:rPr>
              <a:t>One scale for the whole tensor</a:t>
            </a:r>
            <a:endParaRPr lang="en-US" sz="1500" dirty="0"/>
          </a:p>
        </p:txBody>
      </p:sp>
      <p:sp>
        <p:nvSpPr>
          <p:cNvPr id="7" name="warn "/>
          <p:cNvSpPr/>
          <p:nvPr/>
        </p:nvSpPr>
        <p:spPr>
          <a:xfrm>
            <a:off x="548640" y="1691640"/>
            <a:ext cx="658368" cy="658368"/>
          </a:xfrm>
          <a:prstGeom prst="rect">
            <a:avLst/>
          </a:prstGeom>
          <a:solidFill>
            <a:schemeClr val="accent6"/>
          </a:solidFill>
          <a:ln w="15875">
            <a:solidFill>
              <a:schemeClr val="accent3"/>
            </a:solidFill>
            <a:prstDash val="solid"/>
          </a:ln>
        </p:spPr>
      </p:sp>
      <p:sp>
        <p:nvSpPr>
          <p:cNvPr id="8" name="Text 5"/>
          <p:cNvSpPr txBox="1"/>
          <p:nvPr/>
        </p:nvSpPr>
        <p:spPr>
          <a:xfrm>
            <a:off x="548640" y="1691640"/>
            <a:ext cx="658368" cy="658368"/>
          </a:xfrm>
          <a:prstGeom prst="rect">
            <a:avLst/>
          </a:prstGeom>
          <a:noFill/>
          <a:ln/>
        </p:spPr>
        <p:txBody>
          <a:bodyPr wrap="square" lIns="0" tIns="0" rIns="0" bIns="0" rtlCol="0" anchor="ctr"/>
          <a:lstStyle/>
          <a:p>
            <a:pPr algn="ctr" indent="0" marL="0">
              <a:buNone/>
            </a:pPr>
            <a:endParaRPr lang="en-US" sz="1300" dirty="0"/>
          </a:p>
        </p:txBody>
      </p:sp>
      <p:sp>
        <p:nvSpPr>
          <p:cNvPr id="9" name="warn "/>
          <p:cNvSpPr/>
          <p:nvPr/>
        </p:nvSpPr>
        <p:spPr>
          <a:xfrm>
            <a:off x="1261872" y="1691640"/>
            <a:ext cx="658368" cy="658368"/>
          </a:xfrm>
          <a:prstGeom prst="rect">
            <a:avLst/>
          </a:prstGeom>
          <a:solidFill>
            <a:schemeClr val="accent6"/>
          </a:solidFill>
          <a:ln w="15875">
            <a:solidFill>
              <a:schemeClr val="accent3"/>
            </a:solidFill>
            <a:prstDash val="solid"/>
          </a:ln>
        </p:spPr>
      </p:sp>
      <p:sp>
        <p:nvSpPr>
          <p:cNvPr id="10" name="Text 7"/>
          <p:cNvSpPr txBox="1"/>
          <p:nvPr/>
        </p:nvSpPr>
        <p:spPr>
          <a:xfrm>
            <a:off x="1261872" y="1691640"/>
            <a:ext cx="658368" cy="658368"/>
          </a:xfrm>
          <a:prstGeom prst="rect">
            <a:avLst/>
          </a:prstGeom>
          <a:noFill/>
          <a:ln/>
        </p:spPr>
        <p:txBody>
          <a:bodyPr wrap="square" lIns="0" tIns="0" rIns="0" bIns="0" rtlCol="0" anchor="ctr"/>
          <a:lstStyle/>
          <a:p>
            <a:pPr algn="ctr" indent="0" marL="0">
              <a:buNone/>
            </a:pPr>
            <a:endParaRPr lang="en-US" sz="1300" dirty="0"/>
          </a:p>
        </p:txBody>
      </p:sp>
      <p:sp>
        <p:nvSpPr>
          <p:cNvPr id="11" name="warn 1.0"/>
          <p:cNvSpPr/>
          <p:nvPr/>
        </p:nvSpPr>
        <p:spPr>
          <a:xfrm>
            <a:off x="1975104" y="1691640"/>
            <a:ext cx="658368" cy="658368"/>
          </a:xfrm>
          <a:prstGeom prst="rect">
            <a:avLst/>
          </a:prstGeom>
          <a:solidFill>
            <a:schemeClr val="accent6"/>
          </a:solidFill>
          <a:ln w="15875">
            <a:solidFill>
              <a:schemeClr val="accent3"/>
            </a:solidFill>
            <a:prstDash val="solid"/>
          </a:ln>
        </p:spPr>
      </p:sp>
      <p:sp>
        <p:nvSpPr>
          <p:cNvPr id="12" name="Text 9"/>
          <p:cNvSpPr txBox="1"/>
          <p:nvPr/>
        </p:nvSpPr>
        <p:spPr>
          <a:xfrm>
            <a:off x="1975104" y="1691640"/>
            <a:ext cx="658368" cy="658368"/>
          </a:xfrm>
          <a:prstGeom prst="rect">
            <a:avLst/>
          </a:prstGeom>
          <a:noFill/>
          <a:ln/>
        </p:spPr>
        <p:txBody>
          <a:bodyPr wrap="square" lIns="0" tIns="0" rIns="0" bIns="0" rtlCol="0" anchor="ctr"/>
          <a:lstStyle/>
          <a:p>
            <a:pPr algn="ctr" indent="0" marL="0">
              <a:buNone/>
            </a:pPr>
            <a:r>
              <a:rPr lang="en-US" sz="1300" dirty="0">
                <a:solidFill>
                  <a:schemeClr val="tx1"/>
                </a:solidFill>
              </a:rPr>
              <a:t>1.0</a:t>
            </a:r>
            <a:endParaRPr lang="en-US" sz="1300" dirty="0"/>
          </a:p>
        </p:txBody>
      </p:sp>
      <p:sp>
        <p:nvSpPr>
          <p:cNvPr id="13" name="warn "/>
          <p:cNvSpPr/>
          <p:nvPr/>
        </p:nvSpPr>
        <p:spPr>
          <a:xfrm>
            <a:off x="2688336" y="1691640"/>
            <a:ext cx="658368" cy="658368"/>
          </a:xfrm>
          <a:prstGeom prst="rect">
            <a:avLst/>
          </a:prstGeom>
          <a:solidFill>
            <a:schemeClr val="accent6"/>
          </a:solidFill>
          <a:ln w="15875">
            <a:solidFill>
              <a:schemeClr val="accent3"/>
            </a:solidFill>
            <a:prstDash val="solid"/>
          </a:ln>
        </p:spPr>
      </p:sp>
      <p:sp>
        <p:nvSpPr>
          <p:cNvPr id="14" name="Text 11"/>
          <p:cNvSpPr txBox="1"/>
          <p:nvPr/>
        </p:nvSpPr>
        <p:spPr>
          <a:xfrm>
            <a:off x="2688336" y="1691640"/>
            <a:ext cx="658368" cy="658368"/>
          </a:xfrm>
          <a:prstGeom prst="rect">
            <a:avLst/>
          </a:prstGeom>
          <a:noFill/>
          <a:ln/>
        </p:spPr>
        <p:txBody>
          <a:bodyPr wrap="square" lIns="0" tIns="0" rIns="0" bIns="0" rtlCol="0" anchor="ctr"/>
          <a:lstStyle/>
          <a:p>
            <a:pPr algn="ctr" indent="0" marL="0">
              <a:buNone/>
            </a:pPr>
            <a:endParaRPr lang="en-US" sz="1300" dirty="0"/>
          </a:p>
        </p:txBody>
      </p:sp>
      <p:sp>
        <p:nvSpPr>
          <p:cNvPr id="15" name="warn "/>
          <p:cNvSpPr/>
          <p:nvPr/>
        </p:nvSpPr>
        <p:spPr>
          <a:xfrm>
            <a:off x="3401568" y="1691640"/>
            <a:ext cx="658368" cy="658368"/>
          </a:xfrm>
          <a:prstGeom prst="rect">
            <a:avLst/>
          </a:prstGeom>
          <a:solidFill>
            <a:schemeClr val="accent6"/>
          </a:solidFill>
          <a:ln w="15875">
            <a:solidFill>
              <a:schemeClr val="accent3"/>
            </a:solidFill>
            <a:prstDash val="solid"/>
          </a:ln>
        </p:spPr>
      </p:sp>
      <p:sp>
        <p:nvSpPr>
          <p:cNvPr id="16" name="Text 13"/>
          <p:cNvSpPr txBox="1"/>
          <p:nvPr/>
        </p:nvSpPr>
        <p:spPr>
          <a:xfrm>
            <a:off x="3401568" y="1691640"/>
            <a:ext cx="658368" cy="658368"/>
          </a:xfrm>
          <a:prstGeom prst="rect">
            <a:avLst/>
          </a:prstGeom>
          <a:noFill/>
          <a:ln/>
        </p:spPr>
        <p:txBody>
          <a:bodyPr wrap="square" lIns="0" tIns="0" rIns="0" bIns="0" rtlCol="0" anchor="ctr"/>
          <a:lstStyle/>
          <a:p>
            <a:pPr algn="ctr" indent="0" marL="0">
              <a:buNone/>
            </a:pPr>
            <a:endParaRPr lang="en-US" sz="1300" dirty="0"/>
          </a:p>
        </p:txBody>
      </p:sp>
      <p:sp>
        <p:nvSpPr>
          <p:cNvPr id="17" name="warn "/>
          <p:cNvSpPr/>
          <p:nvPr/>
        </p:nvSpPr>
        <p:spPr>
          <a:xfrm>
            <a:off x="4114800" y="1691640"/>
            <a:ext cx="658368" cy="658368"/>
          </a:xfrm>
          <a:prstGeom prst="rect">
            <a:avLst/>
          </a:prstGeom>
          <a:solidFill>
            <a:schemeClr val="accent6"/>
          </a:solidFill>
          <a:ln w="15875">
            <a:solidFill>
              <a:schemeClr val="accent3"/>
            </a:solidFill>
            <a:prstDash val="solid"/>
          </a:ln>
        </p:spPr>
      </p:sp>
      <p:sp>
        <p:nvSpPr>
          <p:cNvPr id="18" name="Text 15"/>
          <p:cNvSpPr txBox="1"/>
          <p:nvPr/>
        </p:nvSpPr>
        <p:spPr>
          <a:xfrm>
            <a:off x="4114800" y="1691640"/>
            <a:ext cx="658368" cy="658368"/>
          </a:xfrm>
          <a:prstGeom prst="rect">
            <a:avLst/>
          </a:prstGeom>
          <a:noFill/>
          <a:ln/>
        </p:spPr>
        <p:txBody>
          <a:bodyPr wrap="square" lIns="0" tIns="0" rIns="0" bIns="0" rtlCol="0" anchor="ctr"/>
          <a:lstStyle/>
          <a:p>
            <a:pPr algn="ctr" indent="0" marL="0">
              <a:buNone/>
            </a:pPr>
            <a:endParaRPr lang="en-US" sz="1300" dirty="0"/>
          </a:p>
        </p:txBody>
      </p:sp>
      <p:sp>
        <p:nvSpPr>
          <p:cNvPr id="19" name="warn "/>
          <p:cNvSpPr/>
          <p:nvPr/>
        </p:nvSpPr>
        <p:spPr>
          <a:xfrm>
            <a:off x="4828032" y="1691640"/>
            <a:ext cx="658368" cy="658368"/>
          </a:xfrm>
          <a:prstGeom prst="rect">
            <a:avLst/>
          </a:prstGeom>
          <a:solidFill>
            <a:schemeClr val="accent6"/>
          </a:solidFill>
          <a:ln w="15875">
            <a:solidFill>
              <a:schemeClr val="accent3"/>
            </a:solidFill>
            <a:prstDash val="solid"/>
          </a:ln>
        </p:spPr>
      </p:sp>
      <p:sp>
        <p:nvSpPr>
          <p:cNvPr id="20" name="Text 17"/>
          <p:cNvSpPr txBox="1"/>
          <p:nvPr/>
        </p:nvSpPr>
        <p:spPr>
          <a:xfrm>
            <a:off x="4828032" y="1691640"/>
            <a:ext cx="658368" cy="658368"/>
          </a:xfrm>
          <a:prstGeom prst="rect">
            <a:avLst/>
          </a:prstGeom>
          <a:noFill/>
          <a:ln/>
        </p:spPr>
        <p:txBody>
          <a:bodyPr wrap="square" lIns="0" tIns="0" rIns="0" bIns="0" rtlCol="0" anchor="ctr"/>
          <a:lstStyle/>
          <a:p>
            <a:pPr algn="ctr" indent="0" marL="0">
              <a:buNone/>
            </a:pPr>
            <a:endParaRPr lang="en-US" sz="1300" dirty="0"/>
          </a:p>
        </p:txBody>
      </p:sp>
      <p:sp>
        <p:nvSpPr>
          <p:cNvPr id="21" name="warn "/>
          <p:cNvSpPr/>
          <p:nvPr/>
        </p:nvSpPr>
        <p:spPr>
          <a:xfrm>
            <a:off x="5541264" y="1691640"/>
            <a:ext cx="658368" cy="658368"/>
          </a:xfrm>
          <a:prstGeom prst="rect">
            <a:avLst/>
          </a:prstGeom>
          <a:solidFill>
            <a:schemeClr val="accent6"/>
          </a:solidFill>
          <a:ln w="15875">
            <a:solidFill>
              <a:schemeClr val="accent3"/>
            </a:solidFill>
            <a:prstDash val="solid"/>
          </a:ln>
        </p:spPr>
      </p:sp>
      <p:sp>
        <p:nvSpPr>
          <p:cNvPr id="22" name="Text 19"/>
          <p:cNvSpPr txBox="1"/>
          <p:nvPr/>
        </p:nvSpPr>
        <p:spPr>
          <a:xfrm>
            <a:off x="5541264" y="1691640"/>
            <a:ext cx="658368" cy="658368"/>
          </a:xfrm>
          <a:prstGeom prst="rect">
            <a:avLst/>
          </a:prstGeom>
          <a:noFill/>
          <a:ln/>
        </p:spPr>
        <p:txBody>
          <a:bodyPr wrap="square" lIns="0" tIns="0" rIns="0" bIns="0" rtlCol="0" anchor="ctr"/>
          <a:lstStyle/>
          <a:p>
            <a:pPr algn="ctr" indent="0" marL="0">
              <a:buNone/>
            </a:pPr>
            <a:endParaRPr lang="en-US" sz="1300" dirty="0"/>
          </a:p>
        </p:txBody>
      </p:sp>
      <p:sp>
        <p:nvSpPr>
          <p:cNvPr id="23" name="Text 20"/>
          <p:cNvSpPr txBox="1"/>
          <p:nvPr/>
        </p:nvSpPr>
        <p:spPr>
          <a:xfrm>
            <a:off x="548640" y="2423160"/>
            <a:ext cx="5760720" cy="365760"/>
          </a:xfrm>
          <a:prstGeom prst="rect">
            <a:avLst/>
          </a:prstGeom>
          <a:noFill/>
          <a:ln/>
        </p:spPr>
        <p:txBody>
          <a:bodyPr wrap="square" lIns="0" tIns="0" rIns="0" bIns="0" rtlCol="0" anchor="t"/>
          <a:lstStyle/>
          <a:p>
            <a:pPr indent="0" marL="0">
              <a:buNone/>
            </a:pPr>
            <a:r>
              <a:rPr lang="en-US" sz="1400" dirty="0">
                <a:solidFill>
                  <a:schemeClr val="accent3"/>
                </a:solidFill>
              </a:rPr>
              <a:t>scale = 1.0 for everyone: 0.02 ÷ 1.0 = 0.02 → nearest NF4 level is 0</a:t>
            </a:r>
            <a:endParaRPr lang="en-US" sz="1400" dirty="0"/>
          </a:p>
        </p:txBody>
      </p:sp>
      <p:sp>
        <p:nvSpPr>
          <p:cNvPr id="24" name="Text 21"/>
          <p:cNvSpPr txBox="1"/>
          <p:nvPr/>
        </p:nvSpPr>
        <p:spPr>
          <a:xfrm>
            <a:off x="548640" y="2971800"/>
            <a:ext cx="5760720" cy="365760"/>
          </a:xfrm>
          <a:prstGeom prst="rect">
            <a:avLst/>
          </a:prstGeom>
          <a:noFill/>
          <a:ln/>
        </p:spPr>
        <p:txBody>
          <a:bodyPr wrap="square" lIns="0" tIns="0" rIns="0" bIns="0" rtlCol="0" anchor="t"/>
          <a:lstStyle/>
          <a:p>
            <a:pPr indent="0" marL="0">
              <a:buNone/>
            </a:pPr>
            <a:r>
              <a:rPr lang="en-US" sz="1500" b="1" dirty="0">
                <a:solidFill>
                  <a:schemeClr val="tx1"/>
                </a:solidFill>
              </a:rPr>
              <a:t>One scale per block of 64</a:t>
            </a:r>
            <a:endParaRPr lang="en-US" sz="1500" dirty="0"/>
          </a:p>
        </p:txBody>
      </p:sp>
      <p:sp>
        <p:nvSpPr>
          <p:cNvPr id="25" name="quant "/>
          <p:cNvSpPr/>
          <p:nvPr/>
        </p:nvSpPr>
        <p:spPr>
          <a:xfrm>
            <a:off x="548640" y="3383280"/>
            <a:ext cx="658368" cy="658368"/>
          </a:xfrm>
          <a:prstGeom prst="rect">
            <a:avLst/>
          </a:prstGeom>
          <a:solidFill>
            <a:srgbClr val="DCEFF0"/>
          </a:solidFill>
          <a:ln w="15875">
            <a:solidFill>
              <a:schemeClr val="accent1"/>
            </a:solidFill>
            <a:prstDash val="solid"/>
          </a:ln>
        </p:spPr>
      </p:sp>
      <p:sp>
        <p:nvSpPr>
          <p:cNvPr id="26" name="Text 23"/>
          <p:cNvSpPr txBox="1"/>
          <p:nvPr/>
        </p:nvSpPr>
        <p:spPr>
          <a:xfrm>
            <a:off x="548640" y="3383280"/>
            <a:ext cx="658368" cy="658368"/>
          </a:xfrm>
          <a:prstGeom prst="rect">
            <a:avLst/>
          </a:prstGeom>
          <a:noFill/>
          <a:ln/>
        </p:spPr>
        <p:txBody>
          <a:bodyPr wrap="square" lIns="0" tIns="0" rIns="0" bIns="0" rtlCol="0" anchor="ctr"/>
          <a:lstStyle/>
          <a:p>
            <a:pPr algn="ctr" indent="0" marL="0">
              <a:buNone/>
            </a:pPr>
            <a:endParaRPr lang="en-US" sz="1300" dirty="0"/>
          </a:p>
        </p:txBody>
      </p:sp>
      <p:sp>
        <p:nvSpPr>
          <p:cNvPr id="27" name="quant "/>
          <p:cNvSpPr/>
          <p:nvPr/>
        </p:nvSpPr>
        <p:spPr>
          <a:xfrm>
            <a:off x="1261872" y="3383280"/>
            <a:ext cx="658368" cy="658368"/>
          </a:xfrm>
          <a:prstGeom prst="rect">
            <a:avLst/>
          </a:prstGeom>
          <a:solidFill>
            <a:srgbClr val="DCEFF0"/>
          </a:solidFill>
          <a:ln w="15875">
            <a:solidFill>
              <a:schemeClr val="accent1"/>
            </a:solidFill>
            <a:prstDash val="solid"/>
          </a:ln>
        </p:spPr>
      </p:sp>
      <p:sp>
        <p:nvSpPr>
          <p:cNvPr id="28" name="Text 25"/>
          <p:cNvSpPr txBox="1"/>
          <p:nvPr/>
        </p:nvSpPr>
        <p:spPr>
          <a:xfrm>
            <a:off x="1261872" y="3383280"/>
            <a:ext cx="658368" cy="658368"/>
          </a:xfrm>
          <a:prstGeom prst="rect">
            <a:avLst/>
          </a:prstGeom>
          <a:noFill/>
          <a:ln/>
        </p:spPr>
        <p:txBody>
          <a:bodyPr wrap="square" lIns="0" tIns="0" rIns="0" bIns="0" rtlCol="0" anchor="ctr"/>
          <a:lstStyle/>
          <a:p>
            <a:pPr algn="ctr" indent="0" marL="0">
              <a:buNone/>
            </a:pPr>
            <a:endParaRPr lang="en-US" sz="1300" dirty="0"/>
          </a:p>
        </p:txBody>
      </p:sp>
      <p:sp>
        <p:nvSpPr>
          <p:cNvPr id="29" name="warn 1.0"/>
          <p:cNvSpPr/>
          <p:nvPr/>
        </p:nvSpPr>
        <p:spPr>
          <a:xfrm>
            <a:off x="1975104" y="3383280"/>
            <a:ext cx="658368" cy="658368"/>
          </a:xfrm>
          <a:prstGeom prst="rect">
            <a:avLst/>
          </a:prstGeom>
          <a:solidFill>
            <a:schemeClr val="accent6"/>
          </a:solidFill>
          <a:ln w="15875">
            <a:solidFill>
              <a:schemeClr val="accent3"/>
            </a:solidFill>
            <a:prstDash val="solid"/>
          </a:ln>
        </p:spPr>
      </p:sp>
      <p:sp>
        <p:nvSpPr>
          <p:cNvPr id="30" name="Text 27"/>
          <p:cNvSpPr txBox="1"/>
          <p:nvPr/>
        </p:nvSpPr>
        <p:spPr>
          <a:xfrm>
            <a:off x="1975104" y="3383280"/>
            <a:ext cx="658368" cy="658368"/>
          </a:xfrm>
          <a:prstGeom prst="rect">
            <a:avLst/>
          </a:prstGeom>
          <a:noFill/>
          <a:ln/>
        </p:spPr>
        <p:txBody>
          <a:bodyPr wrap="square" lIns="0" tIns="0" rIns="0" bIns="0" rtlCol="0" anchor="ctr"/>
          <a:lstStyle/>
          <a:p>
            <a:pPr algn="ctr" indent="0" marL="0">
              <a:buNone/>
            </a:pPr>
            <a:r>
              <a:rPr lang="en-US" sz="1300" dirty="0">
                <a:solidFill>
                  <a:schemeClr val="tx1"/>
                </a:solidFill>
              </a:rPr>
              <a:t>1.0</a:t>
            </a:r>
            <a:endParaRPr lang="en-US" sz="1300" dirty="0"/>
          </a:p>
        </p:txBody>
      </p:sp>
      <p:sp>
        <p:nvSpPr>
          <p:cNvPr id="31" name="quant "/>
          <p:cNvSpPr/>
          <p:nvPr/>
        </p:nvSpPr>
        <p:spPr>
          <a:xfrm>
            <a:off x="2688336" y="3383280"/>
            <a:ext cx="658368" cy="658368"/>
          </a:xfrm>
          <a:prstGeom prst="rect">
            <a:avLst/>
          </a:prstGeom>
          <a:solidFill>
            <a:srgbClr val="DCEFF0"/>
          </a:solidFill>
          <a:ln w="15875">
            <a:solidFill>
              <a:schemeClr val="accent1"/>
            </a:solidFill>
            <a:prstDash val="solid"/>
          </a:ln>
        </p:spPr>
      </p:sp>
      <p:sp>
        <p:nvSpPr>
          <p:cNvPr id="32" name="Text 29"/>
          <p:cNvSpPr txBox="1"/>
          <p:nvPr/>
        </p:nvSpPr>
        <p:spPr>
          <a:xfrm>
            <a:off x="2688336" y="3383280"/>
            <a:ext cx="658368" cy="658368"/>
          </a:xfrm>
          <a:prstGeom prst="rect">
            <a:avLst/>
          </a:prstGeom>
          <a:noFill/>
          <a:ln/>
        </p:spPr>
        <p:txBody>
          <a:bodyPr wrap="square" lIns="0" tIns="0" rIns="0" bIns="0" rtlCol="0" anchor="ctr"/>
          <a:lstStyle/>
          <a:p>
            <a:pPr algn="ctr" indent="0" marL="0">
              <a:buNone/>
            </a:pPr>
            <a:endParaRPr lang="en-US" sz="1300" dirty="0"/>
          </a:p>
        </p:txBody>
      </p:sp>
      <p:sp>
        <p:nvSpPr>
          <p:cNvPr id="33" name="quant "/>
          <p:cNvSpPr/>
          <p:nvPr/>
        </p:nvSpPr>
        <p:spPr>
          <a:xfrm>
            <a:off x="3401568" y="3383280"/>
            <a:ext cx="658368" cy="658368"/>
          </a:xfrm>
          <a:prstGeom prst="rect">
            <a:avLst/>
          </a:prstGeom>
          <a:solidFill>
            <a:srgbClr val="DCEFF0"/>
          </a:solidFill>
          <a:ln w="15875">
            <a:solidFill>
              <a:schemeClr val="accent1"/>
            </a:solidFill>
            <a:prstDash val="solid"/>
          </a:ln>
        </p:spPr>
      </p:sp>
      <p:sp>
        <p:nvSpPr>
          <p:cNvPr id="34" name="Text 31"/>
          <p:cNvSpPr txBox="1"/>
          <p:nvPr/>
        </p:nvSpPr>
        <p:spPr>
          <a:xfrm>
            <a:off x="3401568" y="3383280"/>
            <a:ext cx="658368" cy="658368"/>
          </a:xfrm>
          <a:prstGeom prst="rect">
            <a:avLst/>
          </a:prstGeom>
          <a:noFill/>
          <a:ln/>
        </p:spPr>
        <p:txBody>
          <a:bodyPr wrap="square" lIns="0" tIns="0" rIns="0" bIns="0" rtlCol="0" anchor="ctr"/>
          <a:lstStyle/>
          <a:p>
            <a:pPr algn="ctr" indent="0" marL="0">
              <a:buNone/>
            </a:pPr>
            <a:endParaRPr lang="en-US" sz="1300" dirty="0"/>
          </a:p>
        </p:txBody>
      </p:sp>
      <p:sp>
        <p:nvSpPr>
          <p:cNvPr id="35" name="quant "/>
          <p:cNvSpPr/>
          <p:nvPr/>
        </p:nvSpPr>
        <p:spPr>
          <a:xfrm>
            <a:off x="4114800" y="3383280"/>
            <a:ext cx="658368" cy="658368"/>
          </a:xfrm>
          <a:prstGeom prst="rect">
            <a:avLst/>
          </a:prstGeom>
          <a:solidFill>
            <a:srgbClr val="DCEFF0"/>
          </a:solidFill>
          <a:ln w="15875">
            <a:solidFill>
              <a:schemeClr val="accent1"/>
            </a:solidFill>
            <a:prstDash val="solid"/>
          </a:ln>
        </p:spPr>
      </p:sp>
      <p:sp>
        <p:nvSpPr>
          <p:cNvPr id="36" name="Text 33"/>
          <p:cNvSpPr txBox="1"/>
          <p:nvPr/>
        </p:nvSpPr>
        <p:spPr>
          <a:xfrm>
            <a:off x="4114800" y="3383280"/>
            <a:ext cx="658368" cy="658368"/>
          </a:xfrm>
          <a:prstGeom prst="rect">
            <a:avLst/>
          </a:prstGeom>
          <a:noFill/>
          <a:ln/>
        </p:spPr>
        <p:txBody>
          <a:bodyPr wrap="square" lIns="0" tIns="0" rIns="0" bIns="0" rtlCol="0" anchor="ctr"/>
          <a:lstStyle/>
          <a:p>
            <a:pPr algn="ctr" indent="0" marL="0">
              <a:buNone/>
            </a:pPr>
            <a:endParaRPr lang="en-US" sz="1300" dirty="0"/>
          </a:p>
        </p:txBody>
      </p:sp>
      <p:sp>
        <p:nvSpPr>
          <p:cNvPr id="37" name="quant "/>
          <p:cNvSpPr/>
          <p:nvPr/>
        </p:nvSpPr>
        <p:spPr>
          <a:xfrm>
            <a:off x="4828032" y="3383280"/>
            <a:ext cx="658368" cy="658368"/>
          </a:xfrm>
          <a:prstGeom prst="rect">
            <a:avLst/>
          </a:prstGeom>
          <a:solidFill>
            <a:srgbClr val="DCEFF0"/>
          </a:solidFill>
          <a:ln w="15875">
            <a:solidFill>
              <a:schemeClr val="accent1"/>
            </a:solidFill>
            <a:prstDash val="solid"/>
          </a:ln>
        </p:spPr>
      </p:sp>
      <p:sp>
        <p:nvSpPr>
          <p:cNvPr id="38" name="Text 35"/>
          <p:cNvSpPr txBox="1"/>
          <p:nvPr/>
        </p:nvSpPr>
        <p:spPr>
          <a:xfrm>
            <a:off x="4828032" y="3383280"/>
            <a:ext cx="658368" cy="658368"/>
          </a:xfrm>
          <a:prstGeom prst="rect">
            <a:avLst/>
          </a:prstGeom>
          <a:noFill/>
          <a:ln/>
        </p:spPr>
        <p:txBody>
          <a:bodyPr wrap="square" lIns="0" tIns="0" rIns="0" bIns="0" rtlCol="0" anchor="ctr"/>
          <a:lstStyle/>
          <a:p>
            <a:pPr algn="ctr" indent="0" marL="0">
              <a:buNone/>
            </a:pPr>
            <a:endParaRPr lang="en-US" sz="1300" dirty="0"/>
          </a:p>
        </p:txBody>
      </p:sp>
      <p:sp>
        <p:nvSpPr>
          <p:cNvPr id="39" name="quant "/>
          <p:cNvSpPr/>
          <p:nvPr/>
        </p:nvSpPr>
        <p:spPr>
          <a:xfrm>
            <a:off x="5541264" y="3383280"/>
            <a:ext cx="658368" cy="658368"/>
          </a:xfrm>
          <a:prstGeom prst="rect">
            <a:avLst/>
          </a:prstGeom>
          <a:solidFill>
            <a:srgbClr val="DCEFF0"/>
          </a:solidFill>
          <a:ln w="15875">
            <a:solidFill>
              <a:schemeClr val="accent1"/>
            </a:solidFill>
            <a:prstDash val="solid"/>
          </a:ln>
        </p:spPr>
      </p:sp>
      <p:sp>
        <p:nvSpPr>
          <p:cNvPr id="40" name="Text 37"/>
          <p:cNvSpPr txBox="1"/>
          <p:nvPr/>
        </p:nvSpPr>
        <p:spPr>
          <a:xfrm>
            <a:off x="5541264" y="3383280"/>
            <a:ext cx="658368" cy="658368"/>
          </a:xfrm>
          <a:prstGeom prst="rect">
            <a:avLst/>
          </a:prstGeom>
          <a:noFill/>
          <a:ln/>
        </p:spPr>
        <p:txBody>
          <a:bodyPr wrap="square" lIns="0" tIns="0" rIns="0" bIns="0" rtlCol="0" anchor="ctr"/>
          <a:lstStyle/>
          <a:p>
            <a:pPr algn="ctr" indent="0" marL="0">
              <a:buNone/>
            </a:pPr>
            <a:endParaRPr lang="en-US" sz="1300" dirty="0"/>
          </a:p>
        </p:txBody>
      </p:sp>
      <p:sp>
        <p:nvSpPr>
          <p:cNvPr id="41" name="Text 38"/>
          <p:cNvSpPr txBox="1"/>
          <p:nvPr/>
        </p:nvSpPr>
        <p:spPr>
          <a:xfrm>
            <a:off x="548640" y="4114800"/>
            <a:ext cx="5760720" cy="365760"/>
          </a:xfrm>
          <a:prstGeom prst="rect">
            <a:avLst/>
          </a:prstGeom>
          <a:noFill/>
          <a:ln/>
        </p:spPr>
        <p:txBody>
          <a:bodyPr wrap="square" lIns="0" tIns="0" rIns="0" bIns="0" rtlCol="0" anchor="t"/>
          <a:lstStyle/>
          <a:p>
            <a:pPr indent="0" marL="0">
              <a:buNone/>
            </a:pPr>
            <a:r>
              <a:rPr lang="en-US" sz="1400" dirty="0">
                <a:solidFill>
                  <a:schemeClr val="accent1"/>
                </a:solidFill>
              </a:rPr>
              <a:t>only the outlier's block is squeezed; the other blocks keep their own scale</a:t>
            </a:r>
            <a:endParaRPr lang="en-US" sz="1400" dirty="0"/>
          </a:p>
        </p:txBody>
      </p:sp>
      <p:sp>
        <p:nvSpPr>
          <p:cNvPr id="42" name="Text 39"/>
          <p:cNvSpPr txBox="1"/>
          <p:nvPr/>
        </p:nvSpPr>
        <p:spPr>
          <a:xfrm>
            <a:off x="548640" y="4572000"/>
            <a:ext cx="5760720" cy="320040"/>
          </a:xfrm>
          <a:prstGeom prst="rect">
            <a:avLst/>
          </a:prstGeom>
          <a:noFill/>
          <a:ln/>
        </p:spPr>
        <p:txBody>
          <a:bodyPr wrap="square" lIns="0" tIns="0" rIns="0" bIns="0" rtlCol="0" anchor="t"/>
          <a:lstStyle/>
          <a:p>
            <a:pPr indent="0" marL="0">
              <a:buNone/>
            </a:pPr>
            <a:r>
              <a:rPr lang="en-US" sz="1300" dirty="0">
                <a:solidFill>
                  <a:schemeClr val="tx2"/>
                </a:solidFill>
              </a:rPr>
              <a:t>each square = a block of 64 weights   ·   </a:t>
            </a:r>
            <a:r>
              <a:rPr lang="en-US" sz="1300" b="1" dirty="0">
                <a:solidFill>
                  <a:schemeClr val="tx2"/>
                </a:solidFill>
              </a:rPr>
              <a:t>1.0</a:t>
            </a:r>
            <a:r>
              <a:rPr lang="en-US" sz="1300" dirty="0">
                <a:solidFill>
                  <a:schemeClr val="tx2"/>
                </a:solidFill>
              </a:rPr>
              <a:t> = the outlier</a:t>
            </a:r>
            <a:endParaRPr lang="en-US" sz="1300" dirty="0"/>
          </a:p>
        </p:txBody>
      </p:sp>
      <p:sp>
        <p:nvSpPr>
          <p:cNvPr id="43" name="Text 40"/>
          <p:cNvSpPr txBox="1"/>
          <p:nvPr/>
        </p:nvSpPr>
        <p:spPr>
          <a:xfrm>
            <a:off x="6675120" y="1280160"/>
            <a:ext cx="4937760" cy="365760"/>
          </a:xfrm>
          <a:prstGeom prst="rect">
            <a:avLst/>
          </a:prstGeom>
          <a:noFill/>
          <a:ln/>
        </p:spPr>
        <p:txBody>
          <a:bodyPr wrap="square" lIns="0" tIns="0" rIns="0" bIns="0" rtlCol="0" anchor="t"/>
          <a:lstStyle/>
          <a:p>
            <a:pPr indent="0" marL="0">
              <a:buNone/>
            </a:pPr>
            <a:r>
              <a:rPr lang="en-US" sz="1600" b="1" dirty="0">
                <a:solidFill>
                  <a:schemeClr val="tx1"/>
                </a:solidFill>
              </a:rPr>
              <a:t>Relative error with NF4 levels</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75120" y="1737360"/>
          <a:ext cx="4937760" cy="914400"/>
        </p:xfrm>
        <a:graphic>
          <a:graphicData uri="http://schemas.openxmlformats.org/drawingml/2006/table">
            <a:tbl>
              <a:tblPr/>
              <a:tblGrid>
                <a:gridCol w="2377440"/>
                <a:gridCol w="1280160"/>
                <a:gridCol w="1280160"/>
              </a:tblGrid>
              <a:tr h="502920">
                <a:tc>
                  <a:txBody>
                    <a:bodyPr/>
                    <a:lstStyle/>
                    <a:p>
                      <a:pPr algn="ctr" indent="0" marL="0">
                        <a:buNone/>
                      </a:pP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no outlier</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one outlier</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502920">
                <a:tc>
                  <a:txBody>
                    <a:bodyPr/>
                    <a:lstStyle/>
                    <a:p>
                      <a:pPr algn="ctr" indent="0" marL="0">
                        <a:buNone/>
                      </a:pPr>
                      <a:r>
                        <a:rPr lang="en-US" sz="1500" b="1" dirty="0">
                          <a:solidFill>
                            <a:schemeClr val="tx1"/>
                          </a:solidFill>
                        </a:rPr>
                        <a:t>one scale for the tensor</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0.1238</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3"/>
                          </a:solidFill>
                        </a:rPr>
                        <a:t>0.9285</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02920">
                <a:tc>
                  <a:txBody>
                    <a:bodyPr/>
                    <a:lstStyle/>
                    <a:p>
                      <a:pPr algn="ctr" indent="0" marL="0">
                        <a:buNone/>
                      </a:pPr>
                      <a:r>
                        <a:rPr lang="en-US" sz="1500" b="1" dirty="0">
                          <a:solidFill>
                            <a:schemeClr val="tx1"/>
                          </a:solidFill>
                        </a:rPr>
                        <a:t>one scale per block of 64</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0.0920</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accent1"/>
                          </a:solidFill>
                        </a:rPr>
                        <a:t>0.0945</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bl>
          </a:graphicData>
        </a:graphic>
      </p:graphicFrame>
      <p:sp>
        <p:nvSpPr>
          <p:cNvPr id="45" name="block size"/>
          <p:cNvSpPr/>
          <p:nvPr/>
        </p:nvSpPr>
        <p:spPr>
          <a:xfrm>
            <a:off x="6675120" y="3520440"/>
            <a:ext cx="4937760" cy="1371600"/>
          </a:xfrm>
          <a:prstGeom prst="roundRect">
            <a:avLst>
              <a:gd name="adj" fmla="val 8000"/>
            </a:avLst>
          </a:prstGeom>
          <a:solidFill>
            <a:schemeClr val="accent5"/>
          </a:solidFill>
          <a:ln w="12700">
            <a:solidFill>
              <a:schemeClr val="accent5"/>
            </a:solidFill>
            <a:prstDash val="solid"/>
          </a:ln>
        </p:spPr>
      </p:sp>
      <p:sp>
        <p:nvSpPr>
          <p:cNvPr id="46" name="Text 42"/>
          <p:cNvSpPr txBox="1"/>
          <p:nvPr/>
        </p:nvSpPr>
        <p:spPr>
          <a:xfrm>
            <a:off x="6903720" y="3520440"/>
            <a:ext cx="4480560" cy="1371600"/>
          </a:xfrm>
          <a:prstGeom prst="rect">
            <a:avLst/>
          </a:prstGeom>
          <a:noFill/>
          <a:ln/>
        </p:spPr>
        <p:txBody>
          <a:bodyPr wrap="square" lIns="0" tIns="0" rIns="0" bIns="0" rtlCol="0" anchor="ctr"/>
          <a:lstStyle/>
          <a:p>
            <a:pPr indent="0" marL="0">
              <a:buNone/>
            </a:pPr>
            <a:r>
              <a:rPr lang="en-US" sz="1500" b="1" dirty="0">
                <a:solidFill>
                  <a:schemeClr val="tx1"/>
                </a:solidFill>
              </a:rPr>
              <a:t>Block size is a trade-off. </a:t>
            </a:r>
            <a:r>
              <a:rPr lang="en-US" sz="1500" dirty="0">
                <a:solidFill>
                  <a:schemeClr val="tx1"/>
                </a:solidFill>
              </a:rPr>
              <a:t>Smaller blocks track the weights better, but store more scales. QLoRA uses 64.</a:t>
            </a:r>
            <a:endParaRPr lang="en-US" sz="1500" dirty="0"/>
          </a:p>
        </p:txBody>
      </p:sp>
      <p:sp>
        <p:nvSpPr>
          <p:cNvPr id="47" name="lesson"/>
          <p:cNvSpPr/>
          <p:nvPr/>
        </p:nvSpPr>
        <p:spPr>
          <a:xfrm>
            <a:off x="548640" y="5120640"/>
            <a:ext cx="11064240" cy="1051560"/>
          </a:xfrm>
          <a:prstGeom prst="roundRect">
            <a:avLst>
              <a:gd name="adj" fmla="val 10435"/>
            </a:avLst>
          </a:prstGeom>
          <a:solidFill>
            <a:schemeClr val="bg2"/>
          </a:solidFill>
          <a:ln w="12700">
            <a:solidFill>
              <a:schemeClr val="bg2"/>
            </a:solidFill>
            <a:prstDash val="solid"/>
          </a:ln>
        </p:spPr>
      </p:sp>
      <p:sp>
        <p:nvSpPr>
          <p:cNvPr id="48" name="Text 44"/>
          <p:cNvSpPr txBox="1"/>
          <p:nvPr/>
        </p:nvSpPr>
        <p:spPr>
          <a:xfrm>
            <a:off x="777240" y="5120640"/>
            <a:ext cx="10607040" cy="1051560"/>
          </a:xfrm>
          <a:prstGeom prst="rect">
            <a:avLst/>
          </a:prstGeom>
          <a:noFill/>
          <a:ln/>
        </p:spPr>
        <p:txBody>
          <a:bodyPr wrap="square" lIns="0" tIns="0" rIns="0" bIns="0" rtlCol="0" anchor="ctr"/>
          <a:lstStyle/>
          <a:p>
            <a:pPr indent="0" marL="0">
              <a:buNone/>
            </a:pPr>
            <a:r>
              <a:rPr lang="en-US" sz="1500" b="1" dirty="0">
                <a:solidFill>
                  <a:schemeClr val="tx1"/>
                </a:solidFill>
              </a:rPr>
              <a:t>A scale per small block confines the damage of an outlier to its own block. </a:t>
            </a:r>
            <a:r>
              <a:rPr lang="en-US" sz="1500" dirty="0">
                <a:solidFill>
                  <a:schemeClr val="tx2"/>
                </a:solidFill>
              </a:rPr>
              <a:t>That is why every practical 4-bit format stores scales per block, not per tensor.</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Double quantization: cheaper scales</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12</a:t>
            </a:r>
            <a:endParaRPr lang="en-US" sz="1400" dirty="0"/>
          </a:p>
        </p:txBody>
      </p:sp>
      <p:graphicFrame>
        <p:nvGraphicFramePr>
          <p:cNvPr id="6" name="Chart 0" descr=""/>
          <p:cNvGraphicFramePr/>
          <p:nvPr/>
        </p:nvGraphicFramePr>
        <p:xfrm>
          <a:off x="548640" y="1234440"/>
          <a:ext cx="5486400" cy="365760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548640" y="5029200"/>
            <a:ext cx="5486400" cy="685800"/>
          </a:xfrm>
          <a:prstGeom prst="rect">
            <a:avLst/>
          </a:prstGeom>
          <a:noFill/>
          <a:ln/>
        </p:spPr>
        <p:txBody>
          <a:bodyPr wrap="square" lIns="0" tIns="0" rIns="0" bIns="0" rtlCol="0" anchor="t"/>
          <a:lstStyle/>
          <a:p>
            <a:pPr indent="0" marL="0">
              <a:buNone/>
            </a:pPr>
            <a:r>
              <a:rPr lang="en-US" sz="1500" b="1" dirty="0">
                <a:solidFill>
                  <a:schemeClr val="tx1"/>
                </a:solidFill>
              </a:rPr>
              <a:t>4-bit format at block 64: </a:t>
            </a:r>
            <a:r>
              <a:rPr lang="en-US" sz="1500" dirty="0">
                <a:solidFill>
                  <a:schemeClr val="tx1"/>
                </a:solidFill>
              </a:rPr>
              <a:t>4 + 0.5 = 4.5 bits per weight; with double quantization 4 + 0.127.</a:t>
            </a:r>
            <a:endParaRPr lang="en-US" sz="1500" dirty="0"/>
          </a:p>
        </p:txBody>
      </p:sp>
      <p:sp>
        <p:nvSpPr>
          <p:cNvPr id="8" name="Text 4"/>
          <p:cNvSpPr txBox="1"/>
          <p:nvPr/>
        </p:nvSpPr>
        <p:spPr>
          <a:xfrm>
            <a:off x="6400800" y="1280160"/>
            <a:ext cx="5212080" cy="365760"/>
          </a:xfrm>
          <a:prstGeom prst="rect">
            <a:avLst/>
          </a:prstGeom>
          <a:noFill/>
          <a:ln/>
        </p:spPr>
        <p:txBody>
          <a:bodyPr wrap="square" lIns="0" tIns="0" rIns="0" bIns="0" rtlCol="0" anchor="t"/>
          <a:lstStyle/>
          <a:p>
            <a:pPr indent="0" marL="0">
              <a:buNone/>
            </a:pPr>
            <a:r>
              <a:rPr lang="en-US" sz="1600" b="1" dirty="0">
                <a:solidFill>
                  <a:schemeClr val="tx1"/>
                </a:solidFill>
              </a:rPr>
              <a:t>Double quantization: quantize the scales too</a:t>
            </a:r>
            <a:endParaRPr lang="en-US" sz="1600" dirty="0"/>
          </a:p>
        </p:txBody>
      </p:sp>
      <p:sp>
        <p:nvSpPr>
          <p:cNvPr id="9" name="quant 64 weights → 64 × 4-bit codes"/>
          <p:cNvSpPr/>
          <p:nvPr/>
        </p:nvSpPr>
        <p:spPr>
          <a:xfrm>
            <a:off x="6400800" y="1783080"/>
            <a:ext cx="5212080" cy="640080"/>
          </a:xfrm>
          <a:prstGeom prst="rect">
            <a:avLst/>
          </a:prstGeom>
          <a:solidFill>
            <a:srgbClr val="DCEFF0"/>
          </a:solidFill>
          <a:ln w="15875">
            <a:solidFill>
              <a:schemeClr val="accent1"/>
            </a:solidFill>
            <a:prstDash val="solid"/>
          </a:ln>
        </p:spPr>
      </p:sp>
      <p:sp>
        <p:nvSpPr>
          <p:cNvPr id="10" name="Text 6"/>
          <p:cNvSpPr txBox="1"/>
          <p:nvPr/>
        </p:nvSpPr>
        <p:spPr>
          <a:xfrm>
            <a:off x="6400800" y="1783080"/>
            <a:ext cx="5212080" cy="640080"/>
          </a:xfrm>
          <a:prstGeom prst="rect">
            <a:avLst/>
          </a:prstGeom>
          <a:noFill/>
          <a:ln/>
        </p:spPr>
        <p:txBody>
          <a:bodyPr wrap="square" lIns="0" tIns="0" rIns="0" bIns="0" rtlCol="0" anchor="ctr"/>
          <a:lstStyle/>
          <a:p>
            <a:pPr algn="ctr" indent="0" marL="0">
              <a:buNone/>
            </a:pPr>
            <a:r>
              <a:rPr lang="en-US" sz="1500" dirty="0">
                <a:solidFill>
                  <a:schemeClr val="tx1"/>
                </a:solidFill>
              </a:rPr>
              <a:t>64 weights → 64 × 4-bit codes</a:t>
            </a:r>
            <a:endParaRPr lang="en-US" sz="1500" dirty="0"/>
          </a:p>
        </p:txBody>
      </p:sp>
      <p:sp>
        <p:nvSpPr>
          <p:cNvPr id="11" name="Shape 7"/>
          <p:cNvSpPr/>
          <p:nvPr/>
        </p:nvSpPr>
        <p:spPr>
          <a:xfrm>
            <a:off x="9006840" y="2423160"/>
            <a:ext cx="0" cy="320040"/>
          </a:xfrm>
          <a:prstGeom prst="line">
            <a:avLst/>
          </a:prstGeom>
          <a:noFill/>
          <a:ln w="22225">
            <a:solidFill>
              <a:schemeClr val="tx2"/>
            </a:solidFill>
            <a:prstDash val="solid"/>
            <a:tailEnd type="triangle"/>
          </a:ln>
        </p:spPr>
      </p:sp>
      <p:sp>
        <p:nvSpPr>
          <p:cNvPr id="12" name="quant one scale per block → stored as an 8-bit code"/>
          <p:cNvSpPr/>
          <p:nvPr/>
        </p:nvSpPr>
        <p:spPr>
          <a:xfrm>
            <a:off x="6400800" y="2743200"/>
            <a:ext cx="5212080" cy="640080"/>
          </a:xfrm>
          <a:prstGeom prst="rect">
            <a:avLst/>
          </a:prstGeom>
          <a:solidFill>
            <a:srgbClr val="DCEFF0"/>
          </a:solidFill>
          <a:ln w="15875">
            <a:solidFill>
              <a:schemeClr val="accent1"/>
            </a:solidFill>
            <a:prstDash val="solid"/>
          </a:ln>
        </p:spPr>
      </p:sp>
      <p:sp>
        <p:nvSpPr>
          <p:cNvPr id="13" name="Text 9"/>
          <p:cNvSpPr txBox="1"/>
          <p:nvPr/>
        </p:nvSpPr>
        <p:spPr>
          <a:xfrm>
            <a:off x="6400800" y="2743200"/>
            <a:ext cx="5212080" cy="640080"/>
          </a:xfrm>
          <a:prstGeom prst="rect">
            <a:avLst/>
          </a:prstGeom>
          <a:noFill/>
          <a:ln/>
        </p:spPr>
        <p:txBody>
          <a:bodyPr wrap="square" lIns="0" tIns="0" rIns="0" bIns="0" rtlCol="0" anchor="ctr"/>
          <a:lstStyle/>
          <a:p>
            <a:pPr algn="ctr" indent="0" marL="0">
              <a:buNone/>
            </a:pPr>
            <a:r>
              <a:rPr lang="en-US" sz="1500" dirty="0">
                <a:solidFill>
                  <a:schemeClr val="tx1"/>
                </a:solidFill>
              </a:rPr>
              <a:t>one scale per block → stored as an 8-bit code</a:t>
            </a:r>
            <a:endParaRPr lang="en-US" sz="1500" dirty="0"/>
          </a:p>
        </p:txBody>
      </p:sp>
      <p:sp>
        <p:nvSpPr>
          <p:cNvPr id="14" name="Shape 10"/>
          <p:cNvSpPr/>
          <p:nvPr/>
        </p:nvSpPr>
        <p:spPr>
          <a:xfrm>
            <a:off x="9006840" y="3383280"/>
            <a:ext cx="0" cy="320040"/>
          </a:xfrm>
          <a:prstGeom prst="line">
            <a:avLst/>
          </a:prstGeom>
          <a:noFill/>
          <a:ln w="22225">
            <a:solidFill>
              <a:schemeClr val="tx2"/>
            </a:solidFill>
            <a:prstDash val="solid"/>
            <a:tailEnd type="triangle"/>
          </a:ln>
        </p:spPr>
      </p:sp>
      <p:sp>
        <p:nvSpPr>
          <p:cNvPr id="15" name="frozen one 32-bit scale per 256 block scales"/>
          <p:cNvSpPr/>
          <p:nvPr/>
        </p:nvSpPr>
        <p:spPr>
          <a:xfrm>
            <a:off x="6400800" y="3703320"/>
            <a:ext cx="5212080" cy="640080"/>
          </a:xfrm>
          <a:prstGeom prst="rect">
            <a:avLst/>
          </a:prstGeom>
          <a:solidFill>
            <a:schemeClr val="bg2"/>
          </a:solidFill>
          <a:ln w="15875">
            <a:solidFill>
              <a:schemeClr val="tx2"/>
            </a:solidFill>
            <a:prstDash val="solid"/>
          </a:ln>
        </p:spPr>
      </p:sp>
      <p:sp>
        <p:nvSpPr>
          <p:cNvPr id="16" name="Text 12"/>
          <p:cNvSpPr txBox="1"/>
          <p:nvPr/>
        </p:nvSpPr>
        <p:spPr>
          <a:xfrm>
            <a:off x="6400800" y="3703320"/>
            <a:ext cx="5212080" cy="640080"/>
          </a:xfrm>
          <a:prstGeom prst="rect">
            <a:avLst/>
          </a:prstGeom>
          <a:noFill/>
          <a:ln/>
        </p:spPr>
        <p:txBody>
          <a:bodyPr wrap="square" lIns="0" tIns="0" rIns="0" bIns="0" rtlCol="0" anchor="ctr"/>
          <a:lstStyle/>
          <a:p>
            <a:pPr algn="ctr" indent="0" marL="0">
              <a:buNone/>
            </a:pPr>
            <a:r>
              <a:rPr lang="en-US" sz="1500" dirty="0">
                <a:solidFill>
                  <a:schemeClr val="tx1"/>
                </a:solidFill>
              </a:rPr>
              <a:t>one 32-bit scale per 256 block scales</a:t>
            </a:r>
            <a:endParaRPr lang="en-US" sz="1500" dirty="0"/>
          </a:p>
        </p:txBody>
      </p:sp>
      <p:sp>
        <p:nvSpPr>
          <p:cNvPr id="17" name="arithmetic"/>
          <p:cNvSpPr/>
          <p:nvPr/>
        </p:nvSpPr>
        <p:spPr>
          <a:xfrm>
            <a:off x="6400800" y="4572000"/>
            <a:ext cx="5212080" cy="1600200"/>
          </a:xfrm>
          <a:prstGeom prst="roundRect">
            <a:avLst>
              <a:gd name="adj" fmla="val 6857"/>
            </a:avLst>
          </a:prstGeom>
          <a:solidFill>
            <a:schemeClr val="tx1"/>
          </a:solidFill>
          <a:ln w="12700">
            <a:solidFill>
              <a:schemeClr val="tx1"/>
            </a:solidFill>
            <a:prstDash val="solid"/>
          </a:ln>
        </p:spPr>
      </p:sp>
      <p:sp>
        <p:nvSpPr>
          <p:cNvPr id="18" name="Text 14"/>
          <p:cNvSpPr txBox="1"/>
          <p:nvPr/>
        </p:nvSpPr>
        <p:spPr>
          <a:xfrm>
            <a:off x="6629400" y="4572000"/>
            <a:ext cx="4754880" cy="1600200"/>
          </a:xfrm>
          <a:prstGeom prst="rect">
            <a:avLst/>
          </a:prstGeom>
          <a:noFill/>
          <a:ln/>
        </p:spPr>
        <p:txBody>
          <a:bodyPr wrap="square" lIns="0" tIns="0" rIns="0" bIns="0" rtlCol="0" anchor="ctr"/>
          <a:lstStyle/>
          <a:p>
            <a:pPr indent="0" marL="0">
              <a:buNone/>
            </a:pPr>
            <a:r>
              <a:rPr lang="en-US" sz="2000" dirty="0">
                <a:solidFill>
                  <a:schemeClr val="bg1"/>
                </a:solidFill>
                <a:latin typeface="Cambria" pitchFamily="34" charset="0"/>
                <a:ea typeface="Cambria" pitchFamily="34" charset="-122"/>
                <a:cs typeface="Cambria" pitchFamily="34" charset="-120"/>
              </a:rPr>
              <a:t>8/64 + 32/(64 × 256)</a:t>
            </a:r>
            <a:endParaRPr lang="en-US" sz="2000" dirty="0"/>
          </a:p>
          <a:p>
            <a:pPr indent="0" marL="0">
              <a:buNone/>
            </a:pPr>
            <a:r>
              <a:rPr lang="en-US" sz="2000" dirty="0">
                <a:solidFill>
                  <a:schemeClr val="bg1"/>
                </a:solidFill>
                <a:latin typeface="Cambria" pitchFamily="34" charset="0"/>
                <a:ea typeface="Cambria" pitchFamily="34" charset="-122"/>
                <a:cs typeface="Cambria" pitchFamily="34" charset="-120"/>
              </a:rPr>
              <a:t>= 0.125 + 0.002 ≈ </a:t>
            </a:r>
            <a:r>
              <a:rPr lang="en-US" sz="2000" b="1" dirty="0">
                <a:solidFill>
                  <a:schemeClr val="accent2"/>
                </a:solidFill>
                <a:latin typeface="Cambria" pitchFamily="34" charset="0"/>
                <a:ea typeface="Cambria" pitchFamily="34" charset="-122"/>
                <a:cs typeface="Cambria" pitchFamily="34" charset="-120"/>
              </a:rPr>
              <a:t>0.127 bits</a:t>
            </a:r>
            <a:r>
              <a:rPr lang="en-US" sz="2000" dirty="0">
                <a:solidFill>
                  <a:schemeClr val="bg1"/>
                </a:solidFill>
                <a:latin typeface="Cambria" pitchFamily="34" charset="0"/>
                <a:ea typeface="Cambria" pitchFamily="34" charset="-122"/>
                <a:cs typeface="Cambria" pitchFamily="34" charset="-120"/>
              </a:rPr>
              <a:t> per weight, not 0.5</a:t>
            </a:r>
            <a:endParaRPr lang="en-US" sz="2000" dirty="0"/>
          </a:p>
        </p:txBody>
      </p:sp>
      <p:sp>
        <p:nvSpPr>
          <p:cNvPr id="19" name="Text 15"/>
          <p:cNvSpPr txBox="1"/>
          <p:nvPr/>
        </p:nvSpPr>
        <p:spPr>
          <a:xfrm>
            <a:off x="548640" y="5760720"/>
            <a:ext cx="5486400" cy="411480"/>
          </a:xfrm>
          <a:prstGeom prst="rect">
            <a:avLst/>
          </a:prstGeom>
          <a:noFill/>
          <a:ln/>
        </p:spPr>
        <p:txBody>
          <a:bodyPr wrap="square" lIns="0" tIns="0" rIns="0" bIns="0" rtlCol="0" anchor="ctr"/>
          <a:lstStyle/>
          <a:p>
            <a:pPr indent="0" marL="0">
              <a:buNone/>
            </a:pPr>
            <a:r>
              <a:rPr lang="en-US" sz="1400" dirty="0">
                <a:solidFill>
                  <a:schemeClr val="tx2"/>
                </a:solidFill>
              </a:rPr>
              <a:t>Setting: </a:t>
            </a:r>
            <a:r>
              <a:rPr lang="en-US" sz="1300" dirty="0">
                <a:solidFill>
                  <a:schemeClr val="tx2"/>
                </a:solidFill>
                <a:latin typeface="Courier New" pitchFamily="34" charset="0"/>
                <a:ea typeface="Courier New" pitchFamily="34" charset="-122"/>
                <a:cs typeface="Courier New" pitchFamily="34" charset="-120"/>
              </a:rPr>
              <a:t>bnb_4bit_use_double_quant=True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Which format for which job</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017520"/>
                <a:gridCol w="3108960"/>
                <a:gridCol w="2743200"/>
                <a:gridCol w="2194560"/>
              </a:tblGrid>
              <a:tr h="502920">
                <a:tc>
                  <a:txBody>
                    <a:bodyPr/>
                    <a:lstStyle/>
                    <a:p>
                      <a:pPr indent="0" marL="0">
                        <a:buNone/>
                      </a:pPr>
                      <a:r>
                        <a:rPr lang="en-US" sz="1400" b="1" dirty="0">
                          <a:solidFill>
                            <a:schemeClr val="bg1"/>
                          </a:solidFill>
                        </a:rPr>
                        <a:t>Your job</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Typical choice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When it is quantized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Runs with</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502920">
                <a:tc>
                  <a:txBody>
                    <a:bodyPr/>
                    <a:lstStyle/>
                    <a:p>
                      <a:pPr indent="0" marL="0">
                        <a:buNone/>
                      </a:pPr>
                      <a:r>
                        <a:rPr lang="en-US" sz="1400" dirty="0">
                          <a:solidFill>
                            <a:schemeClr val="tx1"/>
                          </a:solidFill>
                        </a:rPr>
                        <a:t>Fine-tune a model too big for your GPU</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bitsandbytes NF4 + LoRA = QLoRA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when you load the model</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transformers + peft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rPr>
                        <a:t>Save memory quickly, no fine-tuning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bitsandbytes 8-bit (LLM.int8) or 4-bit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when you load the model</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transformers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02920">
                <a:tc>
                  <a:txBody>
                    <a:bodyPr/>
                    <a:lstStyle/>
                    <a:p>
                      <a:pPr indent="0" marL="0">
                        <a:buNone/>
                      </a:pPr>
                      <a:r>
                        <a:rPr lang="en-US" sz="1400" dirty="0">
                          <a:solidFill>
                            <a:schemeClr val="tx1"/>
                          </a:solidFill>
                        </a:rPr>
                        <a:t>Serve on GPUs at high throughput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GPTQ or AWQ checkpoints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once, ahead of time, with calibration data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vLLM, TGI, transformers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rPr>
                        <a:t>Run on a laptop or CPU</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GGUF (llama.cpp formats)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once, ahead of time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llama.cpp, Ollama, LM Studio</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bl>
          </a:graphicData>
        </a:graphic>
      </p:graphicFrame>
      <p:sp>
        <p:nvSpPr>
          <p:cNvPr id="5" name="Checkpoint"/>
          <p:cNvSpPr/>
          <p:nvPr/>
        </p:nvSpPr>
        <p:spPr>
          <a:xfrm>
            <a:off x="548640" y="4114800"/>
            <a:ext cx="3474720" cy="2057400"/>
          </a:xfrm>
          <a:prstGeom prst="roundRect">
            <a:avLst>
              <a:gd name="adj" fmla="val 5333"/>
            </a:avLst>
          </a:prstGeom>
          <a:solidFill>
            <a:schemeClr val="bg2"/>
          </a:solidFill>
          <a:ln w="12700">
            <a:solidFill>
              <a:schemeClr val="bg2"/>
            </a:solidFill>
            <a:prstDash val="solid"/>
          </a:ln>
        </p:spPr>
      </p:sp>
      <p:sp>
        <p:nvSpPr>
          <p:cNvPr id="6" name="Text 2"/>
          <p:cNvSpPr txBox="1"/>
          <p:nvPr/>
        </p:nvSpPr>
        <p:spPr>
          <a:xfrm>
            <a:off x="777240" y="4206240"/>
            <a:ext cx="3017520" cy="1874520"/>
          </a:xfrm>
          <a:prstGeom prst="rect">
            <a:avLst/>
          </a:prstGeom>
          <a:noFill/>
          <a:ln/>
        </p:spPr>
        <p:txBody>
          <a:bodyPr wrap="square" lIns="0" tIns="0" rIns="0" bIns="0" rtlCol="0" anchor="ctr"/>
          <a:lstStyle/>
          <a:p>
            <a:pPr indent="0" marL="0">
              <a:buNone/>
            </a:pPr>
            <a:r>
              <a:rPr lang="en-US" sz="1700" b="1" dirty="0">
                <a:solidFill>
                  <a:schemeClr val="tx1"/>
                </a:solidFill>
              </a:rPr>
              <a:t>Checkpoint</a:t>
            </a:r>
            <a:endParaRPr lang="en-US" sz="1400" dirty="0"/>
          </a:p>
          <a:p>
            <a:pPr indent="0" marL="0">
              <a:buNone/>
            </a:pPr>
            <a:r>
              <a:rPr lang="en-US" sz="1400" dirty="0">
                <a:solidFill>
                  <a:schemeClr val="tx1"/>
                </a:solidFill>
              </a:rPr>
              <a:t>A saved copy of a model's weights plus configuration: the files you download from the Hub. One model can be published as several checkpoints.</a:t>
            </a:r>
            <a:endParaRPr lang="en-US" sz="1400" dirty="0"/>
          </a:p>
        </p:txBody>
      </p:sp>
      <p:sp>
        <p:nvSpPr>
          <p:cNvPr id="7" name="Load-time quantization"/>
          <p:cNvSpPr/>
          <p:nvPr/>
        </p:nvSpPr>
        <p:spPr>
          <a:xfrm>
            <a:off x="4297680" y="4114800"/>
            <a:ext cx="3474720" cy="2057400"/>
          </a:xfrm>
          <a:prstGeom prst="roundRect">
            <a:avLst>
              <a:gd name="adj" fmla="val 5333"/>
            </a:avLst>
          </a:prstGeom>
          <a:solidFill>
            <a:srgbClr val="DCEFF0"/>
          </a:solidFill>
          <a:ln w="12700">
            <a:solidFill>
              <a:srgbClr val="DCEFF0"/>
            </a:solidFill>
            <a:prstDash val="solid"/>
          </a:ln>
        </p:spPr>
      </p:sp>
      <p:sp>
        <p:nvSpPr>
          <p:cNvPr id="8" name="Text 4"/>
          <p:cNvSpPr txBox="1"/>
          <p:nvPr/>
        </p:nvSpPr>
        <p:spPr>
          <a:xfrm>
            <a:off x="4526280" y="4206240"/>
            <a:ext cx="3017520" cy="1874520"/>
          </a:xfrm>
          <a:prstGeom prst="rect">
            <a:avLst/>
          </a:prstGeom>
          <a:noFill/>
          <a:ln/>
        </p:spPr>
        <p:txBody>
          <a:bodyPr wrap="square" lIns="0" tIns="0" rIns="0" bIns="0" rtlCol="0" anchor="ctr"/>
          <a:lstStyle/>
          <a:p>
            <a:pPr indent="0" marL="0">
              <a:buNone/>
            </a:pPr>
            <a:r>
              <a:rPr lang="en-US" sz="1700" b="1" dirty="0">
                <a:solidFill>
                  <a:schemeClr val="accent1"/>
                </a:solidFill>
              </a:rPr>
              <a:t>Load-time quantization</a:t>
            </a:r>
            <a:endParaRPr lang="en-US" sz="1400" dirty="0"/>
          </a:p>
          <a:p>
            <a:pPr indent="0" marL="0">
              <a:buNone/>
            </a:pPr>
            <a:r>
              <a:rPr lang="en-US" sz="1400" dirty="0">
                <a:solidFill>
                  <a:schemeClr val="tx1"/>
                </a:solidFill>
              </a:rPr>
              <a:t>Download the 16-bit checkpoint; bitsandbytes quantizes it as it loads. No preparation, most flexible. What QLoRA uses.</a:t>
            </a:r>
            <a:endParaRPr lang="en-US" sz="1400" dirty="0"/>
          </a:p>
        </p:txBody>
      </p:sp>
      <p:sp>
        <p:nvSpPr>
          <p:cNvPr id="9" name="Pre-quantized checkpoints"/>
          <p:cNvSpPr/>
          <p:nvPr/>
        </p:nvSpPr>
        <p:spPr>
          <a:xfrm>
            <a:off x="8046720" y="4114800"/>
            <a:ext cx="3474720" cy="2057400"/>
          </a:xfrm>
          <a:prstGeom prst="roundRect">
            <a:avLst>
              <a:gd name="adj" fmla="val 5333"/>
            </a:avLst>
          </a:prstGeom>
          <a:solidFill>
            <a:schemeClr val="accent6"/>
          </a:solidFill>
          <a:ln w="12700">
            <a:solidFill>
              <a:schemeClr val="accent6"/>
            </a:solidFill>
            <a:prstDash val="solid"/>
          </a:ln>
        </p:spPr>
      </p:sp>
      <p:sp>
        <p:nvSpPr>
          <p:cNvPr id="10" name="Text 6"/>
          <p:cNvSpPr txBox="1"/>
          <p:nvPr/>
        </p:nvSpPr>
        <p:spPr>
          <a:xfrm>
            <a:off x="8275320" y="4206240"/>
            <a:ext cx="3017520" cy="1874520"/>
          </a:xfrm>
          <a:prstGeom prst="rect">
            <a:avLst/>
          </a:prstGeom>
          <a:noFill/>
          <a:ln/>
        </p:spPr>
        <p:txBody>
          <a:bodyPr wrap="square" lIns="0" tIns="0" rIns="0" bIns="0" rtlCol="0" anchor="ctr"/>
          <a:lstStyle/>
          <a:p>
            <a:pPr indent="0" marL="0">
              <a:buNone/>
            </a:pPr>
            <a:r>
              <a:rPr lang="en-US" sz="1700" b="1" dirty="0">
                <a:solidFill>
                  <a:schemeClr val="accent4"/>
                </a:solidFill>
              </a:rPr>
              <a:t>Pre-quantized checkpoints</a:t>
            </a:r>
            <a:endParaRPr lang="en-US" sz="1400" dirty="0"/>
          </a:p>
          <a:p>
            <a:pPr indent="0" marL="0">
              <a:buNone/>
            </a:pPr>
            <a:r>
              <a:rPr lang="en-US" sz="1400" dirty="0">
                <a:solidFill>
                  <a:schemeClr val="tx1"/>
                </a:solidFill>
              </a:rPr>
              <a:t>GPTQ, AWQ, GGUF: made once by the publisher. Smaller download, often faster kernels. Not usually fine-tuned directly.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Pre-quantized checkpoints: GPTQ, AWQ and GGUF</a:t>
            </a:r>
            <a:endParaRPr lang="en-US" sz="3200" dirty="0"/>
          </a:p>
        </p:txBody>
      </p:sp>
      <p:sp>
        <p:nvSpPr>
          <p:cNvPr id="4" name="GPTQ"/>
          <p:cNvSpPr/>
          <p:nvPr/>
        </p:nvSpPr>
        <p:spPr>
          <a:xfrm>
            <a:off x="548640" y="1280160"/>
            <a:ext cx="3474720" cy="3794760"/>
          </a:xfrm>
          <a:prstGeom prst="roundRect">
            <a:avLst>
              <a:gd name="adj" fmla="val 3158"/>
            </a:avLst>
          </a:prstGeom>
          <a:solidFill>
            <a:schemeClr val="bg2"/>
          </a:solidFill>
          <a:ln w="12700">
            <a:solidFill>
              <a:schemeClr val="bg2"/>
            </a:solidFill>
            <a:prstDash val="solid"/>
          </a:ln>
        </p:spPr>
      </p:sp>
      <p:sp>
        <p:nvSpPr>
          <p:cNvPr id="5" name="Text 2"/>
          <p:cNvSpPr txBox="1"/>
          <p:nvPr/>
        </p:nvSpPr>
        <p:spPr>
          <a:xfrm>
            <a:off x="777240" y="1417320"/>
            <a:ext cx="1645920" cy="54864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GPTQ</a:t>
            </a:r>
            <a:endParaRPr lang="en-US" sz="2600" dirty="0"/>
          </a:p>
        </p:txBody>
      </p:sp>
      <p:sp>
        <p:nvSpPr>
          <p:cNvPr id="6" name="Shape 3"/>
          <p:cNvSpPr/>
          <p:nvPr/>
        </p:nvSpPr>
        <p:spPr>
          <a:xfrm>
            <a:off x="2423160" y="1527048"/>
            <a:ext cx="1371600" cy="347472"/>
          </a:xfrm>
          <a:prstGeom prst="roundRect">
            <a:avLst>
              <a:gd name="adj" fmla="val 50000"/>
            </a:avLst>
          </a:prstGeom>
          <a:solidFill>
            <a:schemeClr val="bg1"/>
          </a:solidFill>
          <a:ln w="12700">
            <a:solidFill>
              <a:schemeClr val="accent1"/>
            </a:solidFill>
            <a:prstDash val="solid"/>
          </a:ln>
        </p:spPr>
      </p:sp>
      <p:sp>
        <p:nvSpPr>
          <p:cNvPr id="7" name="Text 4"/>
          <p:cNvSpPr txBox="1"/>
          <p:nvPr/>
        </p:nvSpPr>
        <p:spPr>
          <a:xfrm>
            <a:off x="2423160" y="1527048"/>
            <a:ext cx="1371600" cy="347472"/>
          </a:xfrm>
          <a:prstGeom prst="rect">
            <a:avLst/>
          </a:prstGeom>
          <a:noFill/>
          <a:ln/>
        </p:spPr>
        <p:txBody>
          <a:bodyPr wrap="square" lIns="0" tIns="0" rIns="0" bIns="0" rtlCol="0" anchor="ctr"/>
          <a:lstStyle/>
          <a:p>
            <a:pPr algn="ctr" indent="0" marL="0">
              <a:buNone/>
            </a:pPr>
            <a:r>
              <a:rPr lang="en-US" sz="1300" b="1" dirty="0">
                <a:solidFill>
                  <a:schemeClr val="accent1"/>
                </a:solidFill>
              </a:rPr>
              <a:t>GPU serving</a:t>
            </a:r>
            <a:endParaRPr lang="en-US" sz="1300" dirty="0"/>
          </a:p>
        </p:txBody>
      </p:sp>
      <p:sp>
        <p:nvSpPr>
          <p:cNvPr id="8" name="Text 5"/>
          <p:cNvSpPr txBox="1"/>
          <p:nvPr/>
        </p:nvSpPr>
        <p:spPr>
          <a:xfrm>
            <a:off x="777240" y="2148840"/>
            <a:ext cx="3017520" cy="1051560"/>
          </a:xfrm>
          <a:prstGeom prst="rect">
            <a:avLst/>
          </a:prstGeom>
          <a:noFill/>
          <a:ln/>
        </p:spPr>
        <p:txBody>
          <a:bodyPr wrap="square" lIns="0" tIns="0" rIns="0" bIns="0" rtlCol="0" anchor="t"/>
          <a:lstStyle/>
          <a:p>
            <a:pPr indent="0" marL="0">
              <a:buNone/>
            </a:pPr>
            <a:r>
              <a:rPr lang="en-US" sz="1400" dirty="0">
                <a:solidFill>
                  <a:schemeClr val="tx2"/>
                </a:solidFill>
              </a:rPr>
              <a:t>Calibration: run the model on some text; minimize the change in its outputs.</a:t>
            </a:r>
            <a:endParaRPr lang="en-US" sz="1400" dirty="0"/>
          </a:p>
        </p:txBody>
      </p:sp>
      <p:sp>
        <p:nvSpPr>
          <p:cNvPr id="9" name="Text 6"/>
          <p:cNvSpPr txBox="1"/>
          <p:nvPr/>
        </p:nvSpPr>
        <p:spPr>
          <a:xfrm>
            <a:off x="777240" y="3200400"/>
            <a:ext cx="3017520" cy="1371600"/>
          </a:xfrm>
          <a:prstGeom prst="rect">
            <a:avLst/>
          </a:prstGeom>
          <a:noFill/>
          <a:ln/>
        </p:spPr>
        <p:txBody>
          <a:bodyPr wrap="square" lIns="0" tIns="0" rIns="0" bIns="0" rtlCol="0" anchor="t"/>
          <a:lstStyle/>
          <a:p>
            <a:pPr indent="0" marL="0">
              <a:buNone/>
            </a:pPr>
            <a:r>
              <a:rPr lang="en-US" sz="1500" dirty="0">
                <a:solidFill>
                  <a:schemeClr val="tx1"/>
                </a:solidFill>
              </a:rPr>
              <a:t>Rounds a layer's weights one at a time, adjusting the not-yet-rounded weights to compensate for each error.</a:t>
            </a:r>
            <a:endParaRPr lang="en-US" sz="1500" dirty="0"/>
          </a:p>
        </p:txBody>
      </p:sp>
      <p:sp>
        <p:nvSpPr>
          <p:cNvPr id="10" name="Text 7"/>
          <p:cNvSpPr txBox="1"/>
          <p:nvPr/>
        </p:nvSpPr>
        <p:spPr>
          <a:xfrm>
            <a:off x="777240" y="4617720"/>
            <a:ext cx="3017520" cy="320040"/>
          </a:xfrm>
          <a:prstGeom prst="rect">
            <a:avLst/>
          </a:prstGeom>
          <a:noFill/>
          <a:ln/>
        </p:spPr>
        <p:txBody>
          <a:bodyPr wrap="square" lIns="0" tIns="0" rIns="0" bIns="0" rtlCol="0" anchor="t"/>
          <a:lstStyle/>
          <a:p>
            <a:pPr indent="0" marL="0">
              <a:buNone/>
            </a:pPr>
            <a:r>
              <a:rPr lang="en-US" sz="1200" i="1" dirty="0">
                <a:solidFill>
                  <a:schemeClr val="tx2"/>
                </a:solidFill>
              </a:rPr>
              <a:t>Frantar et al., 2022</a:t>
            </a:r>
            <a:endParaRPr lang="en-US" sz="1200" dirty="0"/>
          </a:p>
        </p:txBody>
      </p:sp>
      <p:sp>
        <p:nvSpPr>
          <p:cNvPr id="11" name="AWQ"/>
          <p:cNvSpPr/>
          <p:nvPr/>
        </p:nvSpPr>
        <p:spPr>
          <a:xfrm>
            <a:off x="4297680" y="1280160"/>
            <a:ext cx="3474720" cy="3794760"/>
          </a:xfrm>
          <a:prstGeom prst="roundRect">
            <a:avLst>
              <a:gd name="adj" fmla="val 3158"/>
            </a:avLst>
          </a:prstGeom>
          <a:solidFill>
            <a:schemeClr val="bg2"/>
          </a:solidFill>
          <a:ln w="12700">
            <a:solidFill>
              <a:schemeClr val="bg2"/>
            </a:solidFill>
            <a:prstDash val="solid"/>
          </a:ln>
        </p:spPr>
      </p:sp>
      <p:sp>
        <p:nvSpPr>
          <p:cNvPr id="12" name="Text 9"/>
          <p:cNvSpPr txBox="1"/>
          <p:nvPr/>
        </p:nvSpPr>
        <p:spPr>
          <a:xfrm>
            <a:off x="4526280" y="1417320"/>
            <a:ext cx="1645920" cy="54864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AWQ</a:t>
            </a:r>
            <a:endParaRPr lang="en-US" sz="2600" dirty="0"/>
          </a:p>
        </p:txBody>
      </p:sp>
      <p:sp>
        <p:nvSpPr>
          <p:cNvPr id="13" name="Shape 10"/>
          <p:cNvSpPr/>
          <p:nvPr/>
        </p:nvSpPr>
        <p:spPr>
          <a:xfrm>
            <a:off x="6172200" y="1527048"/>
            <a:ext cx="1371600" cy="347472"/>
          </a:xfrm>
          <a:prstGeom prst="roundRect">
            <a:avLst>
              <a:gd name="adj" fmla="val 50000"/>
            </a:avLst>
          </a:prstGeom>
          <a:solidFill>
            <a:schemeClr val="bg1"/>
          </a:solidFill>
          <a:ln w="12700">
            <a:solidFill>
              <a:schemeClr val="accent1"/>
            </a:solidFill>
            <a:prstDash val="solid"/>
          </a:ln>
        </p:spPr>
      </p:sp>
      <p:sp>
        <p:nvSpPr>
          <p:cNvPr id="14" name="Text 11"/>
          <p:cNvSpPr txBox="1"/>
          <p:nvPr/>
        </p:nvSpPr>
        <p:spPr>
          <a:xfrm>
            <a:off x="6172200" y="1527048"/>
            <a:ext cx="1371600" cy="347472"/>
          </a:xfrm>
          <a:prstGeom prst="rect">
            <a:avLst/>
          </a:prstGeom>
          <a:noFill/>
          <a:ln/>
        </p:spPr>
        <p:txBody>
          <a:bodyPr wrap="square" lIns="0" tIns="0" rIns="0" bIns="0" rtlCol="0" anchor="ctr"/>
          <a:lstStyle/>
          <a:p>
            <a:pPr algn="ctr" indent="0" marL="0">
              <a:buNone/>
            </a:pPr>
            <a:r>
              <a:rPr lang="en-US" sz="1300" b="1" dirty="0">
                <a:solidFill>
                  <a:schemeClr val="accent1"/>
                </a:solidFill>
              </a:rPr>
              <a:t>GPU serving</a:t>
            </a:r>
            <a:endParaRPr lang="en-US" sz="1300" dirty="0"/>
          </a:p>
        </p:txBody>
      </p:sp>
      <p:sp>
        <p:nvSpPr>
          <p:cNvPr id="15" name="Text 12"/>
          <p:cNvSpPr txBox="1"/>
          <p:nvPr/>
        </p:nvSpPr>
        <p:spPr>
          <a:xfrm>
            <a:off x="4526280" y="2148840"/>
            <a:ext cx="3017520" cy="1051560"/>
          </a:xfrm>
          <a:prstGeom prst="rect">
            <a:avLst/>
          </a:prstGeom>
          <a:noFill/>
          <a:ln/>
        </p:spPr>
        <p:txBody>
          <a:bodyPr wrap="square" lIns="0" tIns="0" rIns="0" bIns="0" rtlCol="0" anchor="t"/>
          <a:lstStyle/>
          <a:p>
            <a:pPr indent="0" marL="0">
              <a:buNone/>
            </a:pPr>
            <a:r>
              <a:rPr lang="en-US" sz="1400" dirty="0">
                <a:solidFill>
                  <a:schemeClr val="tx2"/>
                </a:solidFill>
              </a:rPr>
              <a:t>Calibration: run the model on some text; minimize the change in its outputs.</a:t>
            </a:r>
            <a:endParaRPr lang="en-US" sz="1400" dirty="0"/>
          </a:p>
        </p:txBody>
      </p:sp>
      <p:sp>
        <p:nvSpPr>
          <p:cNvPr id="16" name="Text 13"/>
          <p:cNvSpPr txBox="1"/>
          <p:nvPr/>
        </p:nvSpPr>
        <p:spPr>
          <a:xfrm>
            <a:off x="4526280" y="3200400"/>
            <a:ext cx="3017520" cy="1371600"/>
          </a:xfrm>
          <a:prstGeom prst="rect">
            <a:avLst/>
          </a:prstGeom>
          <a:noFill/>
          <a:ln/>
        </p:spPr>
        <p:txBody>
          <a:bodyPr wrap="square" lIns="0" tIns="0" rIns="0" bIns="0" rtlCol="0" anchor="t"/>
          <a:lstStyle/>
          <a:p>
            <a:pPr indent="0" marL="0">
              <a:buNone/>
            </a:pPr>
            <a:r>
              <a:rPr lang="en-US" sz="1500" dirty="0">
                <a:solidFill>
                  <a:schemeClr val="tx1"/>
                </a:solidFill>
              </a:rPr>
              <a:t>Finds the few weights that matter most (large activations pass through them) and scales them up before rounding.</a:t>
            </a:r>
            <a:endParaRPr lang="en-US" sz="1500" dirty="0"/>
          </a:p>
        </p:txBody>
      </p:sp>
      <p:sp>
        <p:nvSpPr>
          <p:cNvPr id="17" name="Text 14"/>
          <p:cNvSpPr txBox="1"/>
          <p:nvPr/>
        </p:nvSpPr>
        <p:spPr>
          <a:xfrm>
            <a:off x="4526280" y="4617720"/>
            <a:ext cx="3017520" cy="320040"/>
          </a:xfrm>
          <a:prstGeom prst="rect">
            <a:avLst/>
          </a:prstGeom>
          <a:noFill/>
          <a:ln/>
        </p:spPr>
        <p:txBody>
          <a:bodyPr wrap="square" lIns="0" tIns="0" rIns="0" bIns="0" rtlCol="0" anchor="t"/>
          <a:lstStyle/>
          <a:p>
            <a:pPr indent="0" marL="0">
              <a:buNone/>
            </a:pPr>
            <a:r>
              <a:rPr lang="en-US" sz="1200" i="1" dirty="0">
                <a:solidFill>
                  <a:schemeClr val="tx2"/>
                </a:solidFill>
              </a:rPr>
              <a:t>Lin et al., 2023</a:t>
            </a:r>
            <a:endParaRPr lang="en-US" sz="1200" dirty="0"/>
          </a:p>
        </p:txBody>
      </p:sp>
      <p:sp>
        <p:nvSpPr>
          <p:cNvPr id="18" name="GGUF"/>
          <p:cNvSpPr/>
          <p:nvPr/>
        </p:nvSpPr>
        <p:spPr>
          <a:xfrm>
            <a:off x="8046720" y="1280160"/>
            <a:ext cx="3474720" cy="3794760"/>
          </a:xfrm>
          <a:prstGeom prst="roundRect">
            <a:avLst>
              <a:gd name="adj" fmla="val 3158"/>
            </a:avLst>
          </a:prstGeom>
          <a:solidFill>
            <a:schemeClr val="bg2"/>
          </a:solidFill>
          <a:ln w="12700">
            <a:solidFill>
              <a:schemeClr val="bg2"/>
            </a:solidFill>
            <a:prstDash val="solid"/>
          </a:ln>
        </p:spPr>
      </p:sp>
      <p:sp>
        <p:nvSpPr>
          <p:cNvPr id="19" name="Text 16"/>
          <p:cNvSpPr txBox="1"/>
          <p:nvPr/>
        </p:nvSpPr>
        <p:spPr>
          <a:xfrm>
            <a:off x="8275320" y="1417320"/>
            <a:ext cx="1645920" cy="548640"/>
          </a:xfrm>
          <a:prstGeom prst="rect">
            <a:avLst/>
          </a:prstGeom>
          <a:noFill/>
          <a:ln/>
        </p:spPr>
        <p:txBody>
          <a:bodyPr wrap="square" lIns="0" tIns="0" rIns="0" bIns="0" rtlCol="0" anchor="ctr"/>
          <a:lstStyle/>
          <a:p>
            <a:pPr indent="0" marL="0">
              <a:buNone/>
            </a:pPr>
            <a:r>
              <a:rPr lang="en-US" sz="2600" b="1" dirty="0">
                <a:solidFill>
                  <a:schemeClr val="accent4"/>
                </a:solidFill>
                <a:latin typeface="Cambria" pitchFamily="34" charset="0"/>
                <a:ea typeface="Cambria" pitchFamily="34" charset="-122"/>
                <a:cs typeface="Cambria" pitchFamily="34" charset="-120"/>
              </a:rPr>
              <a:t>GGUF</a:t>
            </a:r>
            <a:endParaRPr lang="en-US" sz="2600" dirty="0"/>
          </a:p>
        </p:txBody>
      </p:sp>
      <p:sp>
        <p:nvSpPr>
          <p:cNvPr id="20" name="Shape 17"/>
          <p:cNvSpPr/>
          <p:nvPr/>
        </p:nvSpPr>
        <p:spPr>
          <a:xfrm>
            <a:off x="9921240" y="1527048"/>
            <a:ext cx="1371600" cy="347472"/>
          </a:xfrm>
          <a:prstGeom prst="roundRect">
            <a:avLst>
              <a:gd name="adj" fmla="val 50000"/>
            </a:avLst>
          </a:prstGeom>
          <a:solidFill>
            <a:schemeClr val="bg1"/>
          </a:solidFill>
          <a:ln w="12700">
            <a:solidFill>
              <a:schemeClr val="accent4"/>
            </a:solidFill>
            <a:prstDash val="solid"/>
          </a:ln>
        </p:spPr>
      </p:sp>
      <p:sp>
        <p:nvSpPr>
          <p:cNvPr id="21" name="Text 18"/>
          <p:cNvSpPr txBox="1"/>
          <p:nvPr/>
        </p:nvSpPr>
        <p:spPr>
          <a:xfrm>
            <a:off x="9921240" y="1527048"/>
            <a:ext cx="1371600" cy="347472"/>
          </a:xfrm>
          <a:prstGeom prst="rect">
            <a:avLst/>
          </a:prstGeom>
          <a:noFill/>
          <a:ln/>
        </p:spPr>
        <p:txBody>
          <a:bodyPr wrap="square" lIns="0" tIns="0" rIns="0" bIns="0" rtlCol="0" anchor="ctr"/>
          <a:lstStyle/>
          <a:p>
            <a:pPr algn="ctr" indent="0" marL="0">
              <a:buNone/>
            </a:pPr>
            <a:r>
              <a:rPr lang="en-US" sz="1300" b="1" dirty="0">
                <a:solidFill>
                  <a:schemeClr val="accent4"/>
                </a:solidFill>
              </a:rPr>
              <a:t>laptop / CPU</a:t>
            </a:r>
            <a:endParaRPr lang="en-US" sz="1300" dirty="0"/>
          </a:p>
        </p:txBody>
      </p:sp>
      <p:sp>
        <p:nvSpPr>
          <p:cNvPr id="22" name="Text 19"/>
          <p:cNvSpPr txBox="1"/>
          <p:nvPr/>
        </p:nvSpPr>
        <p:spPr>
          <a:xfrm>
            <a:off x="8275320" y="2148840"/>
            <a:ext cx="3017520" cy="1051560"/>
          </a:xfrm>
          <a:prstGeom prst="rect">
            <a:avLst/>
          </a:prstGeom>
          <a:noFill/>
          <a:ln/>
        </p:spPr>
        <p:txBody>
          <a:bodyPr wrap="square" lIns="0" tIns="0" rIns="0" bIns="0" rtlCol="0" anchor="t"/>
          <a:lstStyle/>
          <a:p>
            <a:pPr indent="0" marL="0">
              <a:buNone/>
            </a:pPr>
            <a:r>
              <a:rPr lang="en-US" sz="1400" dirty="0">
                <a:solidFill>
                  <a:schemeClr val="tx2"/>
                </a:solidFill>
              </a:rPr>
              <a:t>A file format: weights + tokenizer + settings in one .gguf file.</a:t>
            </a:r>
            <a:endParaRPr lang="en-US" sz="1400" dirty="0"/>
          </a:p>
        </p:txBody>
      </p:sp>
      <p:sp>
        <p:nvSpPr>
          <p:cNvPr id="23" name="Text 20"/>
          <p:cNvSpPr txBox="1"/>
          <p:nvPr/>
        </p:nvSpPr>
        <p:spPr>
          <a:xfrm>
            <a:off x="8275320" y="3200400"/>
            <a:ext cx="3017520" cy="1371600"/>
          </a:xfrm>
          <a:prstGeom prst="rect">
            <a:avLst/>
          </a:prstGeom>
          <a:noFill/>
          <a:ln/>
        </p:spPr>
        <p:txBody>
          <a:bodyPr wrap="square" lIns="0" tIns="0" rIns="0" bIns="0" rtlCol="0" anchor="t"/>
          <a:lstStyle/>
          <a:p>
            <a:pPr indent="0" marL="0">
              <a:buNone/>
            </a:pPr>
            <a:r>
              <a:rPr lang="en-US" sz="1500" dirty="0">
                <a:solidFill>
                  <a:schemeClr val="tx1"/>
                </a:solidFill>
              </a:rPr>
              <a:t>Runs on its own with llama.cpp, Ollama or LM Studio; optional GPU offload. Many levels: q8_0, q4_k_m, q2_k.</a:t>
            </a:r>
            <a:endParaRPr lang="en-US" sz="1500" dirty="0"/>
          </a:p>
        </p:txBody>
      </p:sp>
      <p:sp>
        <p:nvSpPr>
          <p:cNvPr id="24" name="Text 21"/>
          <p:cNvSpPr txBox="1"/>
          <p:nvPr/>
        </p:nvSpPr>
        <p:spPr>
          <a:xfrm>
            <a:off x="8275320" y="4617720"/>
            <a:ext cx="3017520" cy="320040"/>
          </a:xfrm>
          <a:prstGeom prst="rect">
            <a:avLst/>
          </a:prstGeom>
          <a:noFill/>
          <a:ln/>
        </p:spPr>
        <p:txBody>
          <a:bodyPr wrap="square" lIns="0" tIns="0" rIns="0" bIns="0" rtlCol="0" anchor="t"/>
          <a:lstStyle/>
          <a:p>
            <a:pPr indent="0" marL="0">
              <a:buNone/>
            </a:pPr>
            <a:r>
              <a:rPr lang="en-US" sz="1200" i="1" dirty="0">
                <a:solidFill>
                  <a:schemeClr val="tx2"/>
                </a:solidFill>
              </a:rPr>
              <a:t>llama.cpp</a:t>
            </a:r>
            <a:endParaRPr lang="en-US" sz="1200" dirty="0"/>
          </a:p>
        </p:txBody>
      </p:sp>
      <p:sp>
        <p:nvSpPr>
          <p:cNvPr id="25" name="note"/>
          <p:cNvSpPr/>
          <p:nvPr/>
        </p:nvSpPr>
        <p:spPr>
          <a:xfrm>
            <a:off x="548640" y="5303520"/>
            <a:ext cx="11064240" cy="868680"/>
          </a:xfrm>
          <a:prstGeom prst="roundRect">
            <a:avLst>
              <a:gd name="adj" fmla="val 12632"/>
            </a:avLst>
          </a:prstGeom>
          <a:solidFill>
            <a:schemeClr val="accent5"/>
          </a:solidFill>
          <a:ln w="12700">
            <a:solidFill>
              <a:schemeClr val="accent5"/>
            </a:solidFill>
            <a:prstDash val="solid"/>
          </a:ln>
        </p:spPr>
      </p:sp>
      <p:sp>
        <p:nvSpPr>
          <p:cNvPr id="26" name="Text 23"/>
          <p:cNvSpPr txBox="1"/>
          <p:nvPr/>
        </p:nvSpPr>
        <p:spPr>
          <a:xfrm>
            <a:off x="777240" y="5303520"/>
            <a:ext cx="10607040" cy="868680"/>
          </a:xfrm>
          <a:prstGeom prst="rect">
            <a:avLst/>
          </a:prstGeom>
          <a:noFill/>
          <a:ln/>
        </p:spPr>
        <p:txBody>
          <a:bodyPr wrap="square" lIns="0" tIns="0" rIns="0" bIns="0" rtlCol="0" anchor="ctr"/>
          <a:lstStyle/>
          <a:p>
            <a:pPr indent="0" marL="0">
              <a:buNone/>
            </a:pPr>
            <a:r>
              <a:rPr lang="en-US" sz="1500" b="1" dirty="0">
                <a:solidFill>
                  <a:schemeClr val="tx1"/>
                </a:solidFill>
              </a:rPr>
              <a:t>All three are made once, by whoever publishes them. </a:t>
            </a:r>
            <a:r>
              <a:rPr lang="en-US" sz="1500" dirty="0">
                <a:solidFill>
                  <a:schemeClr val="tx1"/>
                </a:solidFill>
              </a:rPr>
              <a:t>You download a file that is already about 4-bit; you generally do not fine-tune it directly.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Reading names on the Hub</a:t>
            </a:r>
            <a:endParaRPr lang="en-US" sz="3200" dirty="0"/>
          </a:p>
        </p:txBody>
      </p:sp>
      <p:graphicFrame>
        <p:nvGraphicFramePr>
          <p:cNvPr id="4" name="Chart 0" descr=""/>
          <p:cNvGraphicFramePr/>
          <p:nvPr/>
        </p:nvGraphicFramePr>
        <p:xfrm>
          <a:off x="548640" y="1234440"/>
          <a:ext cx="6035040" cy="4937760"/>
        </p:xfrm>
        <a:graphic xmlns:a="http://schemas.openxmlformats.org/drawingml/2006/main">
          <a:graphicData uri="http://schemas.openxmlformats.org/drawingml/2006/chart">
            <c:chart xmlns:c="http://schemas.openxmlformats.org/drawingml/2006/chart" r:id="rId1"/>
          </a:graphicData>
        </a:graphic>
      </p:graphicFrame>
      <p:sp>
        <p:nvSpPr>
          <p:cNvPr id="5" name="note 1"/>
          <p:cNvSpPr/>
          <p:nvPr/>
        </p:nvSpPr>
        <p:spPr>
          <a:xfrm>
            <a:off x="6858000" y="1280160"/>
            <a:ext cx="4754880" cy="1481328"/>
          </a:xfrm>
          <a:prstGeom prst="roundRect">
            <a:avLst>
              <a:gd name="adj" fmla="val 7407"/>
            </a:avLst>
          </a:prstGeom>
          <a:solidFill>
            <a:schemeClr val="bg2"/>
          </a:solidFill>
          <a:ln w="12700">
            <a:solidFill>
              <a:schemeClr val="bg2"/>
            </a:solidFill>
            <a:prstDash val="solid"/>
          </a:ln>
        </p:spPr>
      </p:sp>
      <p:sp>
        <p:nvSpPr>
          <p:cNvPr id="6" name="Text 2"/>
          <p:cNvSpPr txBox="1"/>
          <p:nvPr/>
        </p:nvSpPr>
        <p:spPr>
          <a:xfrm>
            <a:off x="7086600" y="1280160"/>
            <a:ext cx="4297680" cy="1481328"/>
          </a:xfrm>
          <a:prstGeom prst="rect">
            <a:avLst/>
          </a:prstGeom>
          <a:noFill/>
          <a:ln/>
        </p:spPr>
        <p:txBody>
          <a:bodyPr wrap="square" lIns="0" tIns="0" rIns="0" bIns="0" rtlCol="0" anchor="ctr"/>
          <a:lstStyle/>
          <a:p>
            <a:pPr indent="0" marL="0">
              <a:buNone/>
            </a:pPr>
            <a:r>
              <a:rPr lang="en-US" sz="1500" b="1" dirty="0">
                <a:solidFill>
                  <a:schemeClr val="tx1"/>
                </a:solidFill>
              </a:rPr>
              <a:t>GGUF names: </a:t>
            </a:r>
            <a:r>
              <a:rPr lang="en-US" sz="1400" dirty="0">
                <a:solidFill>
                  <a:schemeClr val="tx1"/>
                </a:solidFill>
                <a:latin typeface="Courier New" pitchFamily="34" charset="0"/>
                <a:ea typeface="Courier New" pitchFamily="34" charset="-122"/>
                <a:cs typeface="Courier New" pitchFamily="34" charset="-120"/>
              </a:rPr>
              <a:t>q4_k_m</a:t>
            </a:r>
            <a:r>
              <a:rPr lang="en-US" sz="1500" dirty="0">
                <a:solidFill>
                  <a:schemeClr val="tx1"/>
                </a:solidFill>
              </a:rPr>
              <a:t> = about 4 bits per weight, k-quant family, M = a medium number of layers kept at higher precision. A common default.</a:t>
            </a:r>
            <a:endParaRPr lang="en-US" sz="1500" dirty="0"/>
          </a:p>
        </p:txBody>
      </p:sp>
      <p:sp>
        <p:nvSpPr>
          <p:cNvPr id="7" name="note 2"/>
          <p:cNvSpPr/>
          <p:nvPr/>
        </p:nvSpPr>
        <p:spPr>
          <a:xfrm>
            <a:off x="6858000" y="2944368"/>
            <a:ext cx="4754880" cy="1481328"/>
          </a:xfrm>
          <a:prstGeom prst="roundRect">
            <a:avLst>
              <a:gd name="adj" fmla="val 7407"/>
            </a:avLst>
          </a:prstGeom>
          <a:solidFill>
            <a:schemeClr val="bg2"/>
          </a:solidFill>
          <a:ln w="12700">
            <a:solidFill>
              <a:schemeClr val="bg2"/>
            </a:solidFill>
            <a:prstDash val="solid"/>
          </a:ln>
        </p:spPr>
      </p:sp>
      <p:sp>
        <p:nvSpPr>
          <p:cNvPr id="8" name="Text 4"/>
          <p:cNvSpPr txBox="1"/>
          <p:nvPr/>
        </p:nvSpPr>
        <p:spPr>
          <a:xfrm>
            <a:off x="7086600" y="2944368"/>
            <a:ext cx="4297680" cy="1481328"/>
          </a:xfrm>
          <a:prstGeom prst="rect">
            <a:avLst/>
          </a:prstGeom>
          <a:noFill/>
          <a:ln/>
        </p:spPr>
        <p:txBody>
          <a:bodyPr wrap="square" lIns="0" tIns="0" rIns="0" bIns="0" rtlCol="0" anchor="ctr"/>
          <a:lstStyle/>
          <a:p>
            <a:pPr indent="0" marL="0">
              <a:buNone/>
            </a:pPr>
            <a:r>
              <a:rPr lang="en-US" sz="1500" b="1" dirty="0">
                <a:solidFill>
                  <a:schemeClr val="tx1"/>
                </a:solidFill>
              </a:rPr>
              <a:t>AWQ is bigger than GPTQ, </a:t>
            </a:r>
            <a:r>
              <a:rPr lang="en-US" sz="1500" dirty="0">
                <a:solidFill>
                  <a:schemeClr val="tx1"/>
                </a:solidFill>
              </a:rPr>
              <a:t>both 4-bit: the AWQ file stores a separate 16-bit output head (467 MB). Check the real file size.</a:t>
            </a:r>
            <a:endParaRPr lang="en-US" sz="1500" dirty="0"/>
          </a:p>
        </p:txBody>
      </p:sp>
      <p:sp>
        <p:nvSpPr>
          <p:cNvPr id="9" name="note 3"/>
          <p:cNvSpPr/>
          <p:nvPr/>
        </p:nvSpPr>
        <p:spPr>
          <a:xfrm>
            <a:off x="6858000" y="4608576"/>
            <a:ext cx="4754880" cy="1481328"/>
          </a:xfrm>
          <a:prstGeom prst="roundRect">
            <a:avLst>
              <a:gd name="adj" fmla="val 7407"/>
            </a:avLst>
          </a:prstGeom>
          <a:solidFill>
            <a:schemeClr val="accent6"/>
          </a:solidFill>
          <a:ln w="12700">
            <a:solidFill>
              <a:schemeClr val="accent6"/>
            </a:solidFill>
            <a:prstDash val="solid"/>
          </a:ln>
        </p:spPr>
      </p:sp>
      <p:sp>
        <p:nvSpPr>
          <p:cNvPr id="10" name="Text 6"/>
          <p:cNvSpPr txBox="1"/>
          <p:nvPr/>
        </p:nvSpPr>
        <p:spPr>
          <a:xfrm>
            <a:off x="7086600" y="4608576"/>
            <a:ext cx="4297680" cy="1481328"/>
          </a:xfrm>
          <a:prstGeom prst="rect">
            <a:avLst/>
          </a:prstGeom>
          <a:noFill/>
          <a:ln/>
        </p:spPr>
        <p:txBody>
          <a:bodyPr wrap="square" lIns="0" tIns="0" rIns="0" bIns="0" rtlCol="0" anchor="ctr"/>
          <a:lstStyle/>
          <a:p>
            <a:pPr indent="0" marL="0">
              <a:buNone/>
            </a:pPr>
            <a:r>
              <a:rPr lang="en-US" sz="1500" b="1" dirty="0">
                <a:solidFill>
                  <a:schemeClr val="accent3"/>
                </a:solidFill>
              </a:rPr>
              <a:t>Below 4 bits, </a:t>
            </a:r>
            <a:r>
              <a:rPr lang="en-US" sz="1500" dirty="0">
                <a:solidFill>
                  <a:schemeClr val="tx1"/>
                </a:solidFill>
              </a:rPr>
              <a:t>quality usually drops noticeably, especially for small models. Treat 2- and 3-bit files as a last resort, and test them.</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QLoRA: LoRA on a 4-bit frozen base</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16</a:t>
            </a:r>
            <a:endParaRPr lang="en-US" sz="1400" dirty="0"/>
          </a:p>
        </p:txBody>
      </p:sp>
      <p:sp>
        <p:nvSpPr>
          <p:cNvPr id="6" name="quant "/>
          <p:cNvSpPr/>
          <p:nvPr/>
        </p:nvSpPr>
        <p:spPr>
          <a:xfrm>
            <a:off x="548640" y="2560320"/>
            <a:ext cx="1691640" cy="2194560"/>
          </a:xfrm>
          <a:prstGeom prst="rect">
            <a:avLst/>
          </a:prstGeom>
          <a:solidFill>
            <a:srgbClr val="DCEFF0"/>
          </a:solidFill>
          <a:ln w="15875">
            <a:solidFill>
              <a:schemeClr val="accent1"/>
            </a:solidFill>
            <a:prstDash val="solid"/>
          </a:ln>
        </p:spPr>
      </p:sp>
      <p:sp>
        <p:nvSpPr>
          <p:cNvPr id="7" name="Text 4"/>
          <p:cNvSpPr txBox="1"/>
          <p:nvPr/>
        </p:nvSpPr>
        <p:spPr>
          <a:xfrm>
            <a:off x="548640" y="2560320"/>
            <a:ext cx="1691640" cy="2194560"/>
          </a:xfrm>
          <a:prstGeom prst="rect">
            <a:avLst/>
          </a:prstGeom>
          <a:noFill/>
          <a:ln/>
        </p:spPr>
        <p:txBody>
          <a:bodyPr wrap="square" lIns="0" tIns="0" rIns="0" bIns="0" rtlCol="0" anchor="ctr"/>
          <a:lstStyle/>
          <a:p>
            <a:pPr algn="ctr" indent="0" marL="0">
              <a:buNone/>
            </a:pPr>
            <a:endParaRPr lang="en-US" sz="1500" dirty="0"/>
          </a:p>
        </p:txBody>
      </p:sp>
      <p:sp>
        <p:nvSpPr>
          <p:cNvPr id="8" name="Text 5"/>
          <p:cNvSpPr txBox="1"/>
          <p:nvPr/>
        </p:nvSpPr>
        <p:spPr>
          <a:xfrm>
            <a:off x="594360" y="2560320"/>
            <a:ext cx="1600200" cy="2194560"/>
          </a:xfrm>
          <a:prstGeom prst="rect">
            <a:avLst/>
          </a:prstGeom>
          <a:noFill/>
          <a:ln/>
        </p:spPr>
        <p:txBody>
          <a:bodyPr wrap="square" lIns="0" tIns="0" rIns="0" bIns="0" rtlCol="0" anchor="ctr"/>
          <a:lstStyle/>
          <a:p>
            <a:pPr algn="ctr" indent="0" marL="0">
              <a:buNone/>
            </a:pPr>
            <a:r>
              <a:rPr lang="en-US" sz="1700" b="1" dirty="0">
                <a:solidFill>
                  <a:schemeClr val="tx1"/>
                </a:solidFill>
              </a:rPr>
              <a:t>W₀ in NF4</a:t>
            </a:r>
            <a:endParaRPr lang="en-US" sz="1400" dirty="0"/>
          </a:p>
          <a:p>
            <a:pPr algn="ctr" indent="0" marL="0">
              <a:buNone/>
            </a:pPr>
            <a:r>
              <a:rPr lang="en-US" sz="1400" dirty="0">
                <a:solidFill>
                  <a:schemeClr val="tx1"/>
                </a:solidFill>
              </a:rPr>
              <a:t>4-bit codes + block scales</a:t>
            </a:r>
            <a:endParaRPr lang="en-US" sz="1400" dirty="0"/>
          </a:p>
          <a:p>
            <a:pPr algn="ctr" indent="0" marL="0">
              <a:buNone/>
            </a:pPr>
            <a:r>
              <a:rPr lang="en-US" sz="1400" dirty="0">
                <a:solidFill>
                  <a:schemeClr val="tx2"/>
                </a:solidFill>
              </a:rPr>
              <a:t>frozen</a:t>
            </a:r>
            <a:endParaRPr lang="en-US" sz="1400" dirty="0"/>
          </a:p>
        </p:txBody>
      </p:sp>
      <p:sp>
        <p:nvSpPr>
          <p:cNvPr id="9" name="io "/>
          <p:cNvSpPr/>
          <p:nvPr/>
        </p:nvSpPr>
        <p:spPr>
          <a:xfrm>
            <a:off x="2560320" y="3017520"/>
            <a:ext cx="1463040" cy="1280160"/>
          </a:xfrm>
          <a:prstGeom prst="rect">
            <a:avLst/>
          </a:prstGeom>
          <a:solidFill>
            <a:schemeClr val="bg1"/>
          </a:solidFill>
          <a:ln w="15875">
            <a:solidFill>
              <a:schemeClr val="tx2"/>
            </a:solidFill>
            <a:prstDash val="solid"/>
          </a:ln>
        </p:spPr>
      </p:sp>
      <p:sp>
        <p:nvSpPr>
          <p:cNvPr id="10" name="Text 7"/>
          <p:cNvSpPr txBox="1"/>
          <p:nvPr/>
        </p:nvSpPr>
        <p:spPr>
          <a:xfrm>
            <a:off x="2560320" y="3017520"/>
            <a:ext cx="1463040" cy="1280160"/>
          </a:xfrm>
          <a:prstGeom prst="rect">
            <a:avLst/>
          </a:prstGeom>
          <a:noFill/>
          <a:ln/>
        </p:spPr>
        <p:txBody>
          <a:bodyPr wrap="square" lIns="0" tIns="0" rIns="0" bIns="0" rtlCol="0" anchor="ctr"/>
          <a:lstStyle/>
          <a:p>
            <a:pPr algn="ctr" indent="0" marL="0">
              <a:buNone/>
            </a:pPr>
            <a:endParaRPr lang="en-US" sz="1500" dirty="0"/>
          </a:p>
        </p:txBody>
      </p:sp>
      <p:sp>
        <p:nvSpPr>
          <p:cNvPr id="11" name="Text 8"/>
          <p:cNvSpPr txBox="1"/>
          <p:nvPr/>
        </p:nvSpPr>
        <p:spPr>
          <a:xfrm>
            <a:off x="2560320" y="3017520"/>
            <a:ext cx="1463040" cy="1280160"/>
          </a:xfrm>
          <a:prstGeom prst="rect">
            <a:avLst/>
          </a:prstGeom>
          <a:noFill/>
          <a:ln/>
        </p:spPr>
        <p:txBody>
          <a:bodyPr wrap="square" lIns="0" tIns="0" rIns="0" bIns="0" rtlCol="0" anchor="ctr"/>
          <a:lstStyle/>
          <a:p>
            <a:pPr algn="ctr" indent="0" marL="0">
              <a:buNone/>
            </a:pPr>
            <a:r>
              <a:rPr lang="en-US" sz="1400" b="1" dirty="0">
                <a:solidFill>
                  <a:schemeClr val="tx1"/>
                </a:solidFill>
              </a:rPr>
              <a:t>dequantize</a:t>
            </a:r>
            <a:endParaRPr lang="en-US" sz="1400" dirty="0"/>
          </a:p>
          <a:p>
            <a:pPr algn="ctr" indent="0" marL="0">
              <a:buNone/>
            </a:pPr>
            <a:r>
              <a:rPr lang="en-US" sz="1400" dirty="0">
                <a:solidFill>
                  <a:schemeClr val="tx1"/>
                </a:solidFill>
              </a:rPr>
              <a:t>level × scale</a:t>
            </a:r>
            <a:endParaRPr lang="en-US" sz="1400" dirty="0"/>
          </a:p>
          <a:p>
            <a:pPr algn="ctr" indent="0" marL="0">
              <a:buNone/>
            </a:pPr>
            <a:r>
              <a:rPr lang="en-US" sz="1400" dirty="0">
                <a:solidFill>
                  <a:schemeClr val="tx1"/>
                </a:solidFill>
              </a:rPr>
              <a:t>→ fp16</a:t>
            </a:r>
            <a:endParaRPr lang="en-US" sz="1400" dirty="0"/>
          </a:p>
        </p:txBody>
      </p:sp>
      <p:sp>
        <p:nvSpPr>
          <p:cNvPr id="12" name="Shape 9"/>
          <p:cNvSpPr/>
          <p:nvPr/>
        </p:nvSpPr>
        <p:spPr>
          <a:xfrm>
            <a:off x="2240280" y="3657600"/>
            <a:ext cx="320040" cy="0"/>
          </a:xfrm>
          <a:prstGeom prst="line">
            <a:avLst/>
          </a:prstGeom>
          <a:noFill/>
          <a:ln w="22225">
            <a:solidFill>
              <a:schemeClr val="tx2"/>
            </a:solidFill>
            <a:prstDash val="solid"/>
            <a:tailEnd type="triangle"/>
          </a:ln>
        </p:spPr>
      </p:sp>
      <p:sp>
        <p:nvSpPr>
          <p:cNvPr id="13" name="Shape 10"/>
          <p:cNvSpPr/>
          <p:nvPr/>
        </p:nvSpPr>
        <p:spPr>
          <a:xfrm>
            <a:off x="4023360" y="3657600"/>
            <a:ext cx="320040" cy="0"/>
          </a:xfrm>
          <a:prstGeom prst="line">
            <a:avLst/>
          </a:prstGeom>
          <a:noFill/>
          <a:ln w="22225">
            <a:solidFill>
              <a:schemeClr val="tx2"/>
            </a:solidFill>
            <a:prstDash val="solid"/>
            <a:tailEnd type="triangle"/>
          </a:ln>
        </p:spPr>
      </p:sp>
      <p:sp>
        <p:nvSpPr>
          <p:cNvPr id="14" name="Text 11"/>
          <p:cNvSpPr txBox="1"/>
          <p:nvPr/>
        </p:nvSpPr>
        <p:spPr>
          <a:xfrm>
            <a:off x="548640" y="4983480"/>
            <a:ext cx="3657600" cy="731520"/>
          </a:xfrm>
          <a:prstGeom prst="rect">
            <a:avLst/>
          </a:prstGeom>
          <a:noFill/>
          <a:ln/>
        </p:spPr>
        <p:txBody>
          <a:bodyPr wrap="square" lIns="0" tIns="0" rIns="0" bIns="0" rtlCol="0" anchor="t"/>
          <a:lstStyle/>
          <a:p>
            <a:pPr indent="0" marL="0">
              <a:buNone/>
            </a:pPr>
            <a:r>
              <a:rPr lang="en-US" sz="1400" b="1" dirty="0">
                <a:solidFill>
                  <a:schemeClr val="accent1"/>
                </a:solidFill>
              </a:rPr>
              <a:t>storage dtype: </a:t>
            </a:r>
            <a:r>
              <a:rPr lang="en-US" sz="1400" dirty="0">
                <a:solidFill>
                  <a:schemeClr val="tx1"/>
                </a:solidFill>
              </a:rPr>
              <a:t>NF4</a:t>
            </a:r>
            <a:endParaRPr lang="en-US" sz="1400" dirty="0"/>
          </a:p>
          <a:p>
            <a:pPr indent="0" marL="0">
              <a:buNone/>
            </a:pPr>
            <a:r>
              <a:rPr lang="en-US" sz="1400" b="1" dirty="0">
                <a:solidFill>
                  <a:schemeClr val="accent4"/>
                </a:solidFill>
              </a:rPr>
              <a:t>compute dtype: </a:t>
            </a:r>
            <a:r>
              <a:rPr lang="en-US" sz="1400" dirty="0">
                <a:solidFill>
                  <a:schemeClr val="tx1"/>
                </a:solidFill>
              </a:rPr>
              <a:t>fp16 on a T4, bf16 on Ampere+</a:t>
            </a:r>
            <a:endParaRPr lang="en-US" sz="1400" dirty="0"/>
          </a:p>
        </p:txBody>
      </p:sp>
      <p:sp>
        <p:nvSpPr>
          <p:cNvPr id="15" name="frozen "/>
          <p:cNvSpPr/>
          <p:nvPr/>
        </p:nvSpPr>
        <p:spPr>
          <a:xfrm>
            <a:off x="4343400" y="2331720"/>
            <a:ext cx="2011680" cy="2651760"/>
          </a:xfrm>
          <a:prstGeom prst="rect">
            <a:avLst/>
          </a:prstGeom>
          <a:solidFill>
            <a:schemeClr val="bg2"/>
          </a:solidFill>
          <a:ln w="15875">
            <a:solidFill>
              <a:schemeClr val="tx2"/>
            </a:solidFill>
            <a:prstDash val="solid"/>
          </a:ln>
        </p:spPr>
      </p:sp>
      <p:sp>
        <p:nvSpPr>
          <p:cNvPr id="16" name="Text 13"/>
          <p:cNvSpPr txBox="1"/>
          <p:nvPr/>
        </p:nvSpPr>
        <p:spPr>
          <a:xfrm>
            <a:off x="4343400" y="2331720"/>
            <a:ext cx="2011680" cy="2651760"/>
          </a:xfrm>
          <a:prstGeom prst="rect">
            <a:avLst/>
          </a:prstGeom>
          <a:noFill/>
          <a:ln/>
        </p:spPr>
        <p:txBody>
          <a:bodyPr wrap="square" lIns="0" tIns="0" rIns="0" bIns="0" rtlCol="0" anchor="ctr"/>
          <a:lstStyle/>
          <a:p>
            <a:pPr algn="ctr" indent="0" marL="0">
              <a:buNone/>
            </a:pPr>
            <a:endParaRPr lang="en-US" sz="1500" dirty="0"/>
          </a:p>
        </p:txBody>
      </p:sp>
      <p:sp>
        <p:nvSpPr>
          <p:cNvPr id="17" name="Text 14"/>
          <p:cNvSpPr txBox="1"/>
          <p:nvPr/>
        </p:nvSpPr>
        <p:spPr>
          <a:xfrm>
            <a:off x="4343400" y="2331720"/>
            <a:ext cx="2011680" cy="2651760"/>
          </a:xfrm>
          <a:prstGeom prst="rect">
            <a:avLst/>
          </a:prstGeom>
          <a:noFill/>
          <a:ln/>
        </p:spPr>
        <p:txBody>
          <a:bodyPr wrap="square" lIns="0" tIns="0" rIns="0" bIns="0" rtlCol="0" anchor="ctr"/>
          <a:lstStyle/>
          <a:p>
            <a:pPr algn="ctr" indent="0" marL="0">
              <a:buNone/>
            </a:pPr>
            <a:r>
              <a:rPr lang="en-US" sz="2600" b="1" dirty="0">
                <a:solidFill>
                  <a:schemeClr val="tx1"/>
                </a:solidFill>
              </a:rPr>
              <a:t>W₀</a:t>
            </a:r>
            <a:endParaRPr lang="en-US" sz="1600" dirty="0"/>
          </a:p>
          <a:p>
            <a:pPr algn="ctr" indent="0" marL="0">
              <a:buNone/>
            </a:pPr>
            <a:r>
              <a:rPr lang="en-US" sz="1600" dirty="0">
                <a:solidFill>
                  <a:schemeClr val="tx1"/>
                </a:solidFill>
              </a:rPr>
              <a:t>d × k, fp16</a:t>
            </a:r>
            <a:endParaRPr lang="en-US" sz="1600" dirty="0"/>
          </a:p>
          <a:p>
            <a:pPr algn="ctr" indent="0" marL="0">
              <a:buNone/>
            </a:pPr>
            <a:r>
              <a:rPr lang="en-US" sz="1300" dirty="0">
                <a:solidFill>
                  <a:schemeClr val="tx2"/>
                </a:solidFill>
              </a:rPr>
              <a:t>rebuilt each pass</a:t>
            </a:r>
            <a:endParaRPr lang="en-US" sz="1600" dirty="0"/>
          </a:p>
        </p:txBody>
      </p:sp>
      <p:sp>
        <p:nvSpPr>
          <p:cNvPr id="18" name="A"/>
          <p:cNvSpPr/>
          <p:nvPr/>
        </p:nvSpPr>
        <p:spPr>
          <a:xfrm>
            <a:off x="6720840" y="3931920"/>
            <a:ext cx="2011680" cy="1097280"/>
          </a:xfrm>
          <a:prstGeom prst="trapezoid">
            <a:avLst/>
          </a:prstGeom>
          <a:solidFill>
            <a:schemeClr val="accent6"/>
          </a:solidFill>
          <a:ln w="15875">
            <a:solidFill>
              <a:schemeClr val="accent4"/>
            </a:solidFill>
            <a:prstDash val="solid"/>
          </a:ln>
        </p:spPr>
      </p:sp>
      <p:sp>
        <p:nvSpPr>
          <p:cNvPr id="19" name="Text 16"/>
          <p:cNvSpPr txBox="1"/>
          <p:nvPr/>
        </p:nvSpPr>
        <p:spPr>
          <a:xfrm>
            <a:off x="6720840" y="3931920"/>
            <a:ext cx="2011680" cy="1097280"/>
          </a:xfrm>
          <a:prstGeom prst="rect">
            <a:avLst/>
          </a:prstGeom>
          <a:noFill/>
          <a:ln/>
        </p:spPr>
        <p:txBody>
          <a:bodyPr wrap="square" lIns="0" tIns="0" rIns="0" bIns="0" rtlCol="0" anchor="ctr"/>
          <a:lstStyle/>
          <a:p>
            <a:pPr algn="ctr" indent="0" marL="0">
              <a:buNone/>
            </a:pPr>
            <a:r>
              <a:rPr lang="en-US" sz="1700" b="1" dirty="0">
                <a:solidFill>
                  <a:schemeClr val="tx1"/>
                </a:solidFill>
              </a:rPr>
              <a:t>A</a:t>
            </a:r>
            <a:endParaRPr lang="en-US" sz="1700" dirty="0"/>
          </a:p>
          <a:p>
            <a:pPr algn="ctr" indent="0" marL="0">
              <a:buNone/>
            </a:pPr>
            <a:r>
              <a:rPr lang="en-US" sz="1300" dirty="0">
                <a:solidFill>
                  <a:schemeClr val="tx1"/>
                </a:solidFill>
              </a:rPr>
              <a:t>r × k, random</a:t>
            </a:r>
            <a:endParaRPr lang="en-US" sz="1700" dirty="0"/>
          </a:p>
        </p:txBody>
      </p:sp>
      <p:sp>
        <p:nvSpPr>
          <p:cNvPr id="20" name="B"/>
          <p:cNvSpPr/>
          <p:nvPr/>
        </p:nvSpPr>
        <p:spPr>
          <a:xfrm flipV="1">
            <a:off x="6720840" y="2331720"/>
            <a:ext cx="2011680" cy="1097280"/>
          </a:xfrm>
          <a:prstGeom prst="trapezoid">
            <a:avLst/>
          </a:prstGeom>
          <a:solidFill>
            <a:schemeClr val="accent6"/>
          </a:solidFill>
          <a:ln w="15875">
            <a:solidFill>
              <a:schemeClr val="accent4"/>
            </a:solidFill>
            <a:prstDash val="solid"/>
          </a:ln>
        </p:spPr>
      </p:sp>
      <p:sp>
        <p:nvSpPr>
          <p:cNvPr id="21" name="Text 18"/>
          <p:cNvSpPr txBox="1"/>
          <p:nvPr/>
        </p:nvSpPr>
        <p:spPr>
          <a:xfrm>
            <a:off x="6720840" y="2331720"/>
            <a:ext cx="2011680" cy="1097280"/>
          </a:xfrm>
          <a:prstGeom prst="rect">
            <a:avLst/>
          </a:prstGeom>
          <a:noFill/>
          <a:ln/>
        </p:spPr>
        <p:txBody>
          <a:bodyPr wrap="square" lIns="0" tIns="0" rIns="0" bIns="0" rtlCol="0" anchor="ctr"/>
          <a:lstStyle/>
          <a:p>
            <a:pPr algn="ctr" indent="0" marL="0">
              <a:buNone/>
            </a:pPr>
            <a:r>
              <a:rPr lang="en-US" sz="1700" b="1" dirty="0">
                <a:solidFill>
                  <a:schemeClr val="tx1"/>
                </a:solidFill>
              </a:rPr>
              <a:t>B</a:t>
            </a:r>
            <a:endParaRPr lang="en-US" sz="1700" dirty="0"/>
          </a:p>
          <a:p>
            <a:pPr algn="ctr" indent="0" marL="0">
              <a:buNone/>
            </a:pPr>
            <a:r>
              <a:rPr lang="en-US" sz="1300" dirty="0">
                <a:solidFill>
                  <a:schemeClr val="tx1"/>
                </a:solidFill>
              </a:rPr>
              <a:t>d × r, zero</a:t>
            </a:r>
            <a:endParaRPr lang="en-US" sz="1700" dirty="0"/>
          </a:p>
        </p:txBody>
      </p:sp>
      <p:sp>
        <p:nvSpPr>
          <p:cNvPr id="22" name="Text 19"/>
          <p:cNvSpPr txBox="1"/>
          <p:nvPr/>
        </p:nvSpPr>
        <p:spPr>
          <a:xfrm>
            <a:off x="7818120" y="3520440"/>
            <a:ext cx="1097280" cy="320040"/>
          </a:xfrm>
          <a:prstGeom prst="rect">
            <a:avLst/>
          </a:prstGeom>
          <a:noFill/>
          <a:ln/>
        </p:spPr>
        <p:txBody>
          <a:bodyPr wrap="square" lIns="0" tIns="0" rIns="0" bIns="0" rtlCol="0" anchor="t"/>
          <a:lstStyle/>
          <a:p>
            <a:pPr indent="0" marL="0">
              <a:buNone/>
            </a:pPr>
            <a:r>
              <a:rPr lang="en-US" sz="1200" dirty="0">
                <a:solidFill>
                  <a:schemeClr val="tx2"/>
                </a:solidFill>
              </a:rPr>
              <a:t>r features</a:t>
            </a:r>
            <a:endParaRPr lang="en-US" sz="1200" dirty="0"/>
          </a:p>
        </p:txBody>
      </p:sp>
      <p:sp>
        <p:nvSpPr>
          <p:cNvPr id="23" name="io input x   (k features, fp16)"/>
          <p:cNvSpPr/>
          <p:nvPr/>
        </p:nvSpPr>
        <p:spPr>
          <a:xfrm>
            <a:off x="4343400" y="5532120"/>
            <a:ext cx="4389120" cy="502920"/>
          </a:xfrm>
          <a:prstGeom prst="rect">
            <a:avLst/>
          </a:prstGeom>
          <a:solidFill>
            <a:schemeClr val="bg1"/>
          </a:solidFill>
          <a:ln w="15875">
            <a:solidFill>
              <a:schemeClr val="tx2"/>
            </a:solidFill>
            <a:prstDash val="solid"/>
          </a:ln>
        </p:spPr>
      </p:sp>
      <p:sp>
        <p:nvSpPr>
          <p:cNvPr id="24" name="Text 21"/>
          <p:cNvSpPr txBox="1"/>
          <p:nvPr/>
        </p:nvSpPr>
        <p:spPr>
          <a:xfrm>
            <a:off x="4343400" y="5532120"/>
            <a:ext cx="4389120" cy="502920"/>
          </a:xfrm>
          <a:prstGeom prst="rect">
            <a:avLst/>
          </a:prstGeom>
          <a:noFill/>
          <a:ln/>
        </p:spPr>
        <p:txBody>
          <a:bodyPr wrap="square" lIns="0" tIns="0" rIns="0" bIns="0" rtlCol="0" anchor="ctr"/>
          <a:lstStyle/>
          <a:p>
            <a:pPr algn="ctr" indent="0" marL="0">
              <a:buNone/>
            </a:pPr>
            <a:r>
              <a:rPr lang="en-US" sz="1500" dirty="0">
                <a:solidFill>
                  <a:schemeClr val="tx1"/>
                </a:solidFill>
              </a:rPr>
              <a:t>input x   (k features, fp16)</a:t>
            </a:r>
            <a:endParaRPr lang="en-US" sz="1500" dirty="0"/>
          </a:p>
        </p:txBody>
      </p:sp>
      <p:sp>
        <p:nvSpPr>
          <p:cNvPr id="25" name="io h = W₀x + (α/r)·BAx   (d features)"/>
          <p:cNvSpPr/>
          <p:nvPr/>
        </p:nvSpPr>
        <p:spPr>
          <a:xfrm>
            <a:off x="4343400" y="1188720"/>
            <a:ext cx="4389120" cy="411480"/>
          </a:xfrm>
          <a:prstGeom prst="rect">
            <a:avLst/>
          </a:prstGeom>
          <a:solidFill>
            <a:schemeClr val="bg1"/>
          </a:solidFill>
          <a:ln w="15875">
            <a:solidFill>
              <a:schemeClr val="tx2"/>
            </a:solidFill>
            <a:prstDash val="solid"/>
          </a:ln>
        </p:spPr>
      </p:sp>
      <p:sp>
        <p:nvSpPr>
          <p:cNvPr id="26" name="Text 23"/>
          <p:cNvSpPr txBox="1"/>
          <p:nvPr/>
        </p:nvSpPr>
        <p:spPr>
          <a:xfrm>
            <a:off x="4343400" y="1188720"/>
            <a:ext cx="4389120" cy="411480"/>
          </a:xfrm>
          <a:prstGeom prst="rect">
            <a:avLst/>
          </a:prstGeom>
          <a:noFill/>
          <a:ln/>
        </p:spPr>
        <p:txBody>
          <a:bodyPr wrap="square" lIns="0" tIns="0" rIns="0" bIns="0" rtlCol="0" anchor="ctr"/>
          <a:lstStyle/>
          <a:p>
            <a:pPr algn="ctr" indent="0" marL="0">
              <a:buNone/>
            </a:pPr>
            <a:r>
              <a:rPr lang="en-US" sz="1500" dirty="0">
                <a:solidFill>
                  <a:schemeClr val="tx1"/>
                </a:solidFill>
              </a:rPr>
              <a:t>h = W₀x + (α/r)·BAx   (d features)</a:t>
            </a:r>
            <a:endParaRPr lang="en-US" sz="1500" dirty="0"/>
          </a:p>
        </p:txBody>
      </p:sp>
      <p:sp>
        <p:nvSpPr>
          <p:cNvPr id="27" name="Shape 24"/>
          <p:cNvSpPr/>
          <p:nvPr/>
        </p:nvSpPr>
        <p:spPr>
          <a:xfrm>
            <a:off x="6332220" y="1783080"/>
            <a:ext cx="411480" cy="411480"/>
          </a:xfrm>
          <a:prstGeom prst="ellipse">
            <a:avLst/>
          </a:prstGeom>
          <a:solidFill>
            <a:schemeClr val="bg1"/>
          </a:solidFill>
          <a:ln w="15875">
            <a:solidFill>
              <a:schemeClr val="tx1"/>
            </a:solidFill>
            <a:prstDash val="solid"/>
          </a:ln>
        </p:spPr>
      </p:sp>
      <p:sp>
        <p:nvSpPr>
          <p:cNvPr id="28" name="Text 25"/>
          <p:cNvSpPr txBox="1"/>
          <p:nvPr/>
        </p:nvSpPr>
        <p:spPr>
          <a:xfrm>
            <a:off x="6332220" y="1783080"/>
            <a:ext cx="411480" cy="411480"/>
          </a:xfrm>
          <a:prstGeom prst="rect">
            <a:avLst/>
          </a:prstGeom>
          <a:noFill/>
          <a:ln/>
        </p:spPr>
        <p:txBody>
          <a:bodyPr wrap="square" lIns="0" tIns="0" rIns="0" bIns="0" rtlCol="0" anchor="ctr"/>
          <a:lstStyle/>
          <a:p>
            <a:pPr algn="ctr" indent="0" marL="0">
              <a:buNone/>
            </a:pPr>
            <a:r>
              <a:rPr lang="en-US" sz="2000" b="1" dirty="0">
                <a:solidFill>
                  <a:schemeClr val="tx1"/>
                </a:solidFill>
              </a:rPr>
              <a:t>+</a:t>
            </a:r>
            <a:endParaRPr lang="en-US" sz="2000" dirty="0"/>
          </a:p>
        </p:txBody>
      </p:sp>
      <p:sp>
        <p:nvSpPr>
          <p:cNvPr id="29" name="Shape 26"/>
          <p:cNvSpPr/>
          <p:nvPr/>
        </p:nvSpPr>
        <p:spPr>
          <a:xfrm>
            <a:off x="5349240" y="5532120"/>
            <a:ext cx="0" cy="-548640"/>
          </a:xfrm>
          <a:prstGeom prst="line">
            <a:avLst/>
          </a:prstGeom>
          <a:noFill/>
          <a:ln w="22225">
            <a:solidFill>
              <a:schemeClr val="tx2"/>
            </a:solidFill>
            <a:prstDash val="solid"/>
            <a:tailEnd type="triangle"/>
          </a:ln>
        </p:spPr>
      </p:sp>
      <p:sp>
        <p:nvSpPr>
          <p:cNvPr id="30" name="Shape 27"/>
          <p:cNvSpPr/>
          <p:nvPr/>
        </p:nvSpPr>
        <p:spPr>
          <a:xfrm>
            <a:off x="7726680" y="5532120"/>
            <a:ext cx="0" cy="-502920"/>
          </a:xfrm>
          <a:prstGeom prst="line">
            <a:avLst/>
          </a:prstGeom>
          <a:noFill/>
          <a:ln w="22225">
            <a:solidFill>
              <a:schemeClr val="tx2"/>
            </a:solidFill>
            <a:prstDash val="solid"/>
            <a:tailEnd type="triangle"/>
          </a:ln>
        </p:spPr>
      </p:sp>
      <p:sp>
        <p:nvSpPr>
          <p:cNvPr id="31" name="Shape 28"/>
          <p:cNvSpPr/>
          <p:nvPr/>
        </p:nvSpPr>
        <p:spPr>
          <a:xfrm>
            <a:off x="7726680" y="3931920"/>
            <a:ext cx="0" cy="-502920"/>
          </a:xfrm>
          <a:prstGeom prst="line">
            <a:avLst/>
          </a:prstGeom>
          <a:noFill/>
          <a:ln w="22225">
            <a:solidFill>
              <a:schemeClr val="tx2"/>
            </a:solidFill>
            <a:prstDash val="solid"/>
            <a:tailEnd type="triangle"/>
          </a:ln>
        </p:spPr>
      </p:sp>
      <p:sp>
        <p:nvSpPr>
          <p:cNvPr id="32" name="Shape 29"/>
          <p:cNvSpPr/>
          <p:nvPr/>
        </p:nvSpPr>
        <p:spPr>
          <a:xfrm>
            <a:off x="5349240" y="2331720"/>
            <a:ext cx="1005840" cy="-246888"/>
          </a:xfrm>
          <a:prstGeom prst="line">
            <a:avLst/>
          </a:prstGeom>
          <a:noFill/>
          <a:ln w="22225">
            <a:solidFill>
              <a:schemeClr val="tx2"/>
            </a:solidFill>
            <a:prstDash val="solid"/>
            <a:tailEnd type="triangle"/>
          </a:ln>
        </p:spPr>
      </p:sp>
      <p:sp>
        <p:nvSpPr>
          <p:cNvPr id="33" name="Shape 30"/>
          <p:cNvSpPr/>
          <p:nvPr/>
        </p:nvSpPr>
        <p:spPr>
          <a:xfrm>
            <a:off x="7726680" y="2331720"/>
            <a:ext cx="-1005840" cy="-246888"/>
          </a:xfrm>
          <a:prstGeom prst="line">
            <a:avLst/>
          </a:prstGeom>
          <a:noFill/>
          <a:ln w="22225">
            <a:solidFill>
              <a:schemeClr val="tx2"/>
            </a:solidFill>
            <a:prstDash val="solid"/>
            <a:tailEnd type="triangle"/>
          </a:ln>
        </p:spPr>
      </p:sp>
      <p:sp>
        <p:nvSpPr>
          <p:cNvPr id="34" name="Text 31"/>
          <p:cNvSpPr txBox="1"/>
          <p:nvPr/>
        </p:nvSpPr>
        <p:spPr>
          <a:xfrm>
            <a:off x="7269480" y="1874520"/>
            <a:ext cx="822960" cy="274320"/>
          </a:xfrm>
          <a:prstGeom prst="rect">
            <a:avLst/>
          </a:prstGeom>
          <a:noFill/>
          <a:ln/>
        </p:spPr>
        <p:txBody>
          <a:bodyPr wrap="square" lIns="0" tIns="0" rIns="0" bIns="0" rtlCol="0" anchor="t"/>
          <a:lstStyle/>
          <a:p>
            <a:pPr indent="0" marL="0">
              <a:buNone/>
            </a:pPr>
            <a:r>
              <a:rPr lang="en-US" sz="1300" dirty="0">
                <a:solidFill>
                  <a:schemeClr val="tx2"/>
                </a:solidFill>
              </a:rPr>
              <a:t>× α/r</a:t>
            </a:r>
            <a:endParaRPr lang="en-US" sz="1300" dirty="0"/>
          </a:p>
        </p:txBody>
      </p:sp>
      <p:sp>
        <p:nvSpPr>
          <p:cNvPr id="35" name="Shape 32"/>
          <p:cNvSpPr/>
          <p:nvPr/>
        </p:nvSpPr>
        <p:spPr>
          <a:xfrm>
            <a:off x="6537960" y="1783080"/>
            <a:ext cx="0" cy="-182880"/>
          </a:xfrm>
          <a:prstGeom prst="line">
            <a:avLst/>
          </a:prstGeom>
          <a:noFill/>
          <a:ln w="22225">
            <a:solidFill>
              <a:schemeClr val="tx2"/>
            </a:solidFill>
            <a:prstDash val="solid"/>
            <a:tailEnd type="triangle"/>
          </a:ln>
        </p:spPr>
      </p:sp>
      <p:sp>
        <p:nvSpPr>
          <p:cNvPr id="36" name="Stored in 4-bit, computed in 16-bit"/>
          <p:cNvSpPr/>
          <p:nvPr/>
        </p:nvSpPr>
        <p:spPr>
          <a:xfrm>
            <a:off x="9098280" y="1188720"/>
            <a:ext cx="2514600" cy="1508760"/>
          </a:xfrm>
          <a:prstGeom prst="roundRect">
            <a:avLst>
              <a:gd name="adj" fmla="val 7273"/>
            </a:avLst>
          </a:prstGeom>
          <a:solidFill>
            <a:srgbClr val="DCEFF0"/>
          </a:solidFill>
          <a:ln w="12700">
            <a:solidFill>
              <a:srgbClr val="DCEFF0"/>
            </a:solidFill>
            <a:prstDash val="solid"/>
          </a:ln>
        </p:spPr>
      </p:sp>
      <p:sp>
        <p:nvSpPr>
          <p:cNvPr id="37" name="Text 34"/>
          <p:cNvSpPr txBox="1"/>
          <p:nvPr/>
        </p:nvSpPr>
        <p:spPr>
          <a:xfrm>
            <a:off x="9235440" y="1188720"/>
            <a:ext cx="2286000" cy="1508760"/>
          </a:xfrm>
          <a:prstGeom prst="rect">
            <a:avLst/>
          </a:prstGeom>
          <a:noFill/>
          <a:ln/>
        </p:spPr>
        <p:txBody>
          <a:bodyPr wrap="square" lIns="0" tIns="0" rIns="0" bIns="0" rtlCol="0" anchor="ctr"/>
          <a:lstStyle/>
          <a:p>
            <a:pPr indent="0" marL="0">
              <a:buNone/>
            </a:pPr>
            <a:r>
              <a:rPr lang="en-US" sz="1300" b="1" dirty="0">
                <a:solidFill>
                  <a:schemeClr val="accent1"/>
                </a:solidFill>
              </a:rPr>
              <a:t>Stored in 4-bit, computed in 16-bit</a:t>
            </a:r>
            <a:endParaRPr lang="en-US" sz="1300" dirty="0"/>
          </a:p>
          <a:p>
            <a:pPr indent="0" marL="0">
              <a:buNone/>
            </a:pPr>
            <a:r>
              <a:rPr lang="en-US" sz="1300" dirty="0">
                <a:solidFill>
                  <a:schemeClr val="tx1"/>
                </a:solidFill>
              </a:rPr>
              <a:t>W₀ is dequantized on every forward and backward pass.</a:t>
            </a:r>
            <a:endParaRPr lang="en-US" sz="1300" dirty="0"/>
          </a:p>
        </p:txBody>
      </p:sp>
      <p:sp>
        <p:nvSpPr>
          <p:cNvPr id="38" name="Only A and B are trained"/>
          <p:cNvSpPr/>
          <p:nvPr/>
        </p:nvSpPr>
        <p:spPr>
          <a:xfrm>
            <a:off x="9098280" y="2852928"/>
            <a:ext cx="2514600" cy="1508760"/>
          </a:xfrm>
          <a:prstGeom prst="roundRect">
            <a:avLst>
              <a:gd name="adj" fmla="val 7273"/>
            </a:avLst>
          </a:prstGeom>
          <a:solidFill>
            <a:schemeClr val="accent6"/>
          </a:solidFill>
          <a:ln w="12700">
            <a:solidFill>
              <a:schemeClr val="accent6"/>
            </a:solidFill>
            <a:prstDash val="solid"/>
          </a:ln>
        </p:spPr>
      </p:sp>
      <p:sp>
        <p:nvSpPr>
          <p:cNvPr id="39" name="Text 36"/>
          <p:cNvSpPr txBox="1"/>
          <p:nvPr/>
        </p:nvSpPr>
        <p:spPr>
          <a:xfrm>
            <a:off x="9235440" y="2852928"/>
            <a:ext cx="2286000" cy="1508760"/>
          </a:xfrm>
          <a:prstGeom prst="rect">
            <a:avLst/>
          </a:prstGeom>
          <a:noFill/>
          <a:ln/>
        </p:spPr>
        <p:txBody>
          <a:bodyPr wrap="square" lIns="0" tIns="0" rIns="0" bIns="0" rtlCol="0" anchor="ctr"/>
          <a:lstStyle/>
          <a:p>
            <a:pPr indent="0" marL="0">
              <a:buNone/>
            </a:pPr>
            <a:r>
              <a:rPr lang="en-US" sz="1300" b="1" dirty="0">
                <a:solidFill>
                  <a:schemeClr val="accent4"/>
                </a:solidFill>
              </a:rPr>
              <a:t>Only A and B are trained</a:t>
            </a:r>
            <a:endParaRPr lang="en-US" sz="1300" dirty="0"/>
          </a:p>
          <a:p>
            <a:pPr indent="0" marL="0">
              <a:buNone/>
            </a:pPr>
            <a:r>
              <a:rPr lang="en-US" sz="1300" dirty="0">
                <a:solidFill>
                  <a:schemeClr val="tx1"/>
                </a:solidFill>
              </a:rPr>
              <a:t>16/32-bit adapters, exactly as in LoRA: tiny optimizer state.</a:t>
            </a:r>
            <a:endParaRPr lang="en-US" sz="1300" dirty="0"/>
          </a:p>
        </p:txBody>
      </p:sp>
      <p:sp>
        <p:nvSpPr>
          <p:cNvPr id="40" name="Gradients pass through W₀"/>
          <p:cNvSpPr/>
          <p:nvPr/>
        </p:nvSpPr>
        <p:spPr>
          <a:xfrm>
            <a:off x="9098280" y="4517136"/>
            <a:ext cx="2514600" cy="1508760"/>
          </a:xfrm>
          <a:prstGeom prst="roundRect">
            <a:avLst>
              <a:gd name="adj" fmla="val 7273"/>
            </a:avLst>
          </a:prstGeom>
          <a:solidFill>
            <a:schemeClr val="bg2"/>
          </a:solidFill>
          <a:ln w="12700">
            <a:solidFill>
              <a:schemeClr val="bg2"/>
            </a:solidFill>
            <a:prstDash val="solid"/>
          </a:ln>
        </p:spPr>
      </p:sp>
      <p:sp>
        <p:nvSpPr>
          <p:cNvPr id="41" name="Text 38"/>
          <p:cNvSpPr txBox="1"/>
          <p:nvPr/>
        </p:nvSpPr>
        <p:spPr>
          <a:xfrm>
            <a:off x="9235440" y="4517136"/>
            <a:ext cx="2286000" cy="1508760"/>
          </a:xfrm>
          <a:prstGeom prst="rect">
            <a:avLst/>
          </a:prstGeom>
          <a:noFill/>
          <a:ln/>
        </p:spPr>
        <p:txBody>
          <a:bodyPr wrap="square" lIns="0" tIns="0" rIns="0" bIns="0" rtlCol="0" anchor="ctr"/>
          <a:lstStyle/>
          <a:p>
            <a:pPr indent="0" marL="0">
              <a:buNone/>
            </a:pPr>
            <a:r>
              <a:rPr lang="en-US" sz="1300" b="1" dirty="0">
                <a:solidFill>
                  <a:schemeClr val="tx1"/>
                </a:solidFill>
              </a:rPr>
              <a:t>Gradients pass through W₀</a:t>
            </a:r>
            <a:endParaRPr lang="en-US" sz="1300" dirty="0"/>
          </a:p>
          <a:p>
            <a:pPr indent="0" marL="0">
              <a:buNone/>
            </a:pPr>
            <a:r>
              <a:rPr lang="en-US" sz="1300" dirty="0">
                <a:solidFill>
                  <a:schemeClr val="tx1"/>
                </a:solidFill>
              </a:rPr>
              <a:t>to reach earlier adapters. W₀ is never updated, so its rounding error does not grow.</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QLoRA paper: three ingredients, four findings</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377440"/>
                <a:gridCol w="5120640"/>
                <a:gridCol w="3566160"/>
              </a:tblGrid>
              <a:tr h="502920">
                <a:tc>
                  <a:txBody>
                    <a:bodyPr/>
                    <a:lstStyle/>
                    <a:p>
                      <a:pPr indent="0" marL="0">
                        <a:buNone/>
                      </a:pPr>
                      <a:r>
                        <a:rPr lang="en-US" sz="1400" b="1" dirty="0">
                          <a:solidFill>
                            <a:schemeClr val="bg1"/>
                          </a:solidFill>
                        </a:rPr>
                        <a:t>Ingredient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What it does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Setting in Hugging Face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502920">
                <a:tc>
                  <a:txBody>
                    <a:bodyPr/>
                    <a:lstStyle/>
                    <a:p>
                      <a:pPr indent="0" marL="0">
                        <a:buNone/>
                      </a:pPr>
                      <a:r>
                        <a:rPr lang="en-US" sz="1400" b="1" dirty="0">
                          <a:solidFill>
                            <a:schemeClr val="accent1"/>
                          </a:solidFill>
                        </a:rPr>
                        <a:t>NF4</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4-bit levels placed for bell-shaped weights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bnb_4bit_quant_type="nf4"</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accent1"/>
                          </a:solidFill>
                        </a:rPr>
                        <a:t>Double quantization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8-bit block scales: about 0.37 bits per weight saved, about 3 GB for a 65B model</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bnb_4bit_use_double_quant=True</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accent1"/>
                          </a:solidFill>
                        </a:rPr>
                        <a:t>Paged optimizers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move optimizer state to CPU memory during memory spikes, instead of crashing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optim="paged_adamw_8bit"</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5" name="Scale"/>
          <p:cNvSpPr/>
          <p:nvPr/>
        </p:nvSpPr>
        <p:spPr>
          <a:xfrm>
            <a:off x="548640" y="3611880"/>
            <a:ext cx="2651760" cy="2560320"/>
          </a:xfrm>
          <a:prstGeom prst="roundRect">
            <a:avLst>
              <a:gd name="adj" fmla="val 4286"/>
            </a:avLst>
          </a:prstGeom>
          <a:solidFill>
            <a:schemeClr val="bg2"/>
          </a:solidFill>
          <a:ln w="12700">
            <a:solidFill>
              <a:schemeClr val="bg2"/>
            </a:solidFill>
            <a:prstDash val="solid"/>
          </a:ln>
        </p:spPr>
      </p:sp>
      <p:sp>
        <p:nvSpPr>
          <p:cNvPr id="6" name="Text 2"/>
          <p:cNvSpPr txBox="1"/>
          <p:nvPr/>
        </p:nvSpPr>
        <p:spPr>
          <a:xfrm>
            <a:off x="731520" y="3703320"/>
            <a:ext cx="2286000" cy="41148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Scale</a:t>
            </a:r>
            <a:endParaRPr lang="en-US" sz="1700" dirty="0"/>
          </a:p>
        </p:txBody>
      </p:sp>
      <p:sp>
        <p:nvSpPr>
          <p:cNvPr id="7" name="Text 3"/>
          <p:cNvSpPr txBox="1"/>
          <p:nvPr/>
        </p:nvSpPr>
        <p:spPr>
          <a:xfrm>
            <a:off x="731520" y="4160520"/>
            <a:ext cx="2286000" cy="777240"/>
          </a:xfrm>
          <a:prstGeom prst="rect">
            <a:avLst/>
          </a:prstGeom>
          <a:noFill/>
          <a:ln/>
        </p:spPr>
        <p:txBody>
          <a:bodyPr wrap="square" lIns="0" tIns="0" rIns="0" bIns="0" rtlCol="0" anchor="t"/>
          <a:lstStyle/>
          <a:p>
            <a:pPr indent="0" marL="0">
              <a:buNone/>
            </a:pPr>
            <a:r>
              <a:rPr lang="en-US" sz="1500" b="1" dirty="0">
                <a:solidFill>
                  <a:schemeClr val="tx1"/>
                </a:solidFill>
              </a:rPr>
              <a:t>65B fine-tuned on one 48 GB GPU</a:t>
            </a:r>
            <a:endParaRPr lang="en-US" sz="1500" dirty="0"/>
          </a:p>
        </p:txBody>
      </p:sp>
      <p:sp>
        <p:nvSpPr>
          <p:cNvPr id="8" name="Text 4"/>
          <p:cNvSpPr txBox="1"/>
          <p:nvPr/>
        </p:nvSpPr>
        <p:spPr>
          <a:xfrm>
            <a:off x="731520" y="4937760"/>
            <a:ext cx="2286000" cy="1143000"/>
          </a:xfrm>
          <a:prstGeom prst="rect">
            <a:avLst/>
          </a:prstGeom>
          <a:noFill/>
          <a:ln/>
        </p:spPr>
        <p:txBody>
          <a:bodyPr wrap="square" lIns="0" tIns="0" rIns="0" bIns="0" rtlCol="0" anchor="t"/>
          <a:lstStyle/>
          <a:p>
            <a:pPr indent="0" marL="0">
              <a:buNone/>
            </a:pPr>
            <a:r>
              <a:rPr lang="en-US" sz="1400" dirty="0">
                <a:solidFill>
                  <a:schemeClr val="tx2"/>
                </a:solidFill>
              </a:rPr>
              <a:t>16-bit full fine-tuning: more than 780 GB.</a:t>
            </a:r>
            <a:endParaRPr lang="en-US" sz="1400" dirty="0"/>
          </a:p>
        </p:txBody>
      </p:sp>
      <p:sp>
        <p:nvSpPr>
          <p:cNvPr id="9" name="Quality"/>
          <p:cNvSpPr/>
          <p:nvPr/>
        </p:nvSpPr>
        <p:spPr>
          <a:xfrm>
            <a:off x="3360420" y="3611880"/>
            <a:ext cx="2651760" cy="2560320"/>
          </a:xfrm>
          <a:prstGeom prst="roundRect">
            <a:avLst>
              <a:gd name="adj" fmla="val 4286"/>
            </a:avLst>
          </a:prstGeom>
          <a:solidFill>
            <a:schemeClr val="bg2"/>
          </a:solidFill>
          <a:ln w="12700">
            <a:solidFill>
              <a:schemeClr val="bg2"/>
            </a:solidFill>
            <a:prstDash val="solid"/>
          </a:ln>
        </p:spPr>
      </p:sp>
      <p:sp>
        <p:nvSpPr>
          <p:cNvPr id="10" name="Text 6"/>
          <p:cNvSpPr txBox="1"/>
          <p:nvPr/>
        </p:nvSpPr>
        <p:spPr>
          <a:xfrm>
            <a:off x="3543300" y="3703320"/>
            <a:ext cx="2286000" cy="41148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Quality</a:t>
            </a:r>
            <a:endParaRPr lang="en-US" sz="1700" dirty="0"/>
          </a:p>
        </p:txBody>
      </p:sp>
      <p:sp>
        <p:nvSpPr>
          <p:cNvPr id="11" name="Text 7"/>
          <p:cNvSpPr txBox="1"/>
          <p:nvPr/>
        </p:nvSpPr>
        <p:spPr>
          <a:xfrm>
            <a:off x="3543300" y="4160520"/>
            <a:ext cx="2286000" cy="777240"/>
          </a:xfrm>
          <a:prstGeom prst="rect">
            <a:avLst/>
          </a:prstGeom>
          <a:noFill/>
          <a:ln/>
        </p:spPr>
        <p:txBody>
          <a:bodyPr wrap="square" lIns="0" tIns="0" rIns="0" bIns="0" rtlCol="0" anchor="t"/>
          <a:lstStyle/>
          <a:p>
            <a:pPr indent="0" marL="0">
              <a:buNone/>
            </a:pPr>
            <a:r>
              <a:rPr lang="en-US" sz="1500" b="1" dirty="0">
                <a:solidFill>
                  <a:schemeClr val="tx1"/>
                </a:solidFill>
              </a:rPr>
              <a:t>matched 16-bit full FT and LoRA</a:t>
            </a:r>
            <a:endParaRPr lang="en-US" sz="1500" dirty="0"/>
          </a:p>
        </p:txBody>
      </p:sp>
      <p:sp>
        <p:nvSpPr>
          <p:cNvPr id="12" name="Text 8"/>
          <p:cNvSpPr txBox="1"/>
          <p:nvPr/>
        </p:nvSpPr>
        <p:spPr>
          <a:xfrm>
            <a:off x="3543300" y="4937760"/>
            <a:ext cx="2286000" cy="1143000"/>
          </a:xfrm>
          <a:prstGeom prst="rect">
            <a:avLst/>
          </a:prstGeom>
          <a:noFill/>
          <a:ln/>
        </p:spPr>
        <p:txBody>
          <a:bodyPr wrap="square" lIns="0" tIns="0" rIns="0" bIns="0" rtlCol="0" anchor="t"/>
          <a:lstStyle/>
          <a:p>
            <a:pPr indent="0" marL="0">
              <a:buNone/>
            </a:pPr>
            <a:r>
              <a:rPr lang="en-US" sz="1400" dirty="0">
                <a:solidFill>
                  <a:schemeClr val="tx2"/>
                </a:solidFill>
              </a:rPr>
              <a:t>on the benchmarks tested. Not a guarantee: compare on your task.</a:t>
            </a:r>
            <a:endParaRPr lang="en-US" sz="1400" dirty="0"/>
          </a:p>
        </p:txBody>
      </p:sp>
      <p:sp>
        <p:nvSpPr>
          <p:cNvPr id="13" name="All linear layers"/>
          <p:cNvSpPr/>
          <p:nvPr/>
        </p:nvSpPr>
        <p:spPr>
          <a:xfrm>
            <a:off x="6172200" y="3611880"/>
            <a:ext cx="2651760" cy="2560320"/>
          </a:xfrm>
          <a:prstGeom prst="roundRect">
            <a:avLst>
              <a:gd name="adj" fmla="val 4286"/>
            </a:avLst>
          </a:prstGeom>
          <a:solidFill>
            <a:schemeClr val="bg2"/>
          </a:solidFill>
          <a:ln w="12700">
            <a:solidFill>
              <a:schemeClr val="bg2"/>
            </a:solidFill>
            <a:prstDash val="solid"/>
          </a:ln>
        </p:spPr>
      </p:sp>
      <p:sp>
        <p:nvSpPr>
          <p:cNvPr id="14" name="Text 10"/>
          <p:cNvSpPr txBox="1"/>
          <p:nvPr/>
        </p:nvSpPr>
        <p:spPr>
          <a:xfrm>
            <a:off x="6355080" y="3703320"/>
            <a:ext cx="2286000" cy="411480"/>
          </a:xfrm>
          <a:prstGeom prst="rect">
            <a:avLst/>
          </a:prstGeom>
          <a:noFill/>
          <a:ln/>
        </p:spPr>
        <p:txBody>
          <a:bodyPr wrap="square" lIns="0" tIns="0" rIns="0" bIns="0" rtlCol="0" anchor="t"/>
          <a:lstStyle/>
          <a:p>
            <a:pPr indent="0" marL="0">
              <a:buNone/>
            </a:pPr>
            <a:r>
              <a:rPr lang="en-US" sz="1700" b="1" dirty="0">
                <a:solidFill>
                  <a:schemeClr val="accent4"/>
                </a:solidFill>
                <a:latin typeface="Cambria" pitchFamily="34" charset="0"/>
                <a:ea typeface="Cambria" pitchFamily="34" charset="-122"/>
                <a:cs typeface="Cambria" pitchFamily="34" charset="-120"/>
              </a:rPr>
              <a:t>All linear layers</a:t>
            </a:r>
            <a:endParaRPr lang="en-US" sz="1700" dirty="0"/>
          </a:p>
        </p:txBody>
      </p:sp>
      <p:sp>
        <p:nvSpPr>
          <p:cNvPr id="15" name="Text 11"/>
          <p:cNvSpPr txBox="1"/>
          <p:nvPr/>
        </p:nvSpPr>
        <p:spPr>
          <a:xfrm>
            <a:off x="6355080" y="4160520"/>
            <a:ext cx="2286000" cy="777240"/>
          </a:xfrm>
          <a:prstGeom prst="rect">
            <a:avLst/>
          </a:prstGeom>
          <a:noFill/>
          <a:ln/>
        </p:spPr>
        <p:txBody>
          <a:bodyPr wrap="square" lIns="0" tIns="0" rIns="0" bIns="0" rtlCol="0" anchor="t"/>
          <a:lstStyle/>
          <a:p>
            <a:pPr indent="0" marL="0">
              <a:buNone/>
            </a:pPr>
            <a:r>
              <a:rPr lang="en-US" sz="1500" b="1" dirty="0">
                <a:solidFill>
                  <a:schemeClr val="tx1"/>
                </a:solidFill>
              </a:rPr>
              <a:t>q, v only did not match full FT</a:t>
            </a:r>
            <a:endParaRPr lang="en-US" sz="1500" dirty="0"/>
          </a:p>
        </p:txBody>
      </p:sp>
      <p:sp>
        <p:nvSpPr>
          <p:cNvPr id="16" name="Text 12"/>
          <p:cNvSpPr txBox="1"/>
          <p:nvPr/>
        </p:nvSpPr>
        <p:spPr>
          <a:xfrm>
            <a:off x="6355080" y="4937760"/>
            <a:ext cx="2286000" cy="1143000"/>
          </a:xfrm>
          <a:prstGeom prst="rect">
            <a:avLst/>
          </a:prstGeom>
          <a:noFill/>
          <a:ln/>
        </p:spPr>
        <p:txBody>
          <a:bodyPr wrap="square" lIns="0" tIns="0" rIns="0" bIns="0" rtlCol="0" anchor="t"/>
          <a:lstStyle/>
          <a:p>
            <a:pPr indent="0" marL="0">
              <a:buNone/>
            </a:pPr>
            <a:r>
              <a:rPr lang="en-US" sz="1400" dirty="0">
                <a:solidFill>
                  <a:schemeClr val="tx2"/>
                </a:solidFill>
              </a:rPr>
              <a:t>Adapting all linear layers mattered most; the rank much less.</a:t>
            </a:r>
            <a:endParaRPr lang="en-US" sz="1400" dirty="0"/>
          </a:p>
        </p:txBody>
      </p:sp>
      <p:sp>
        <p:nvSpPr>
          <p:cNvPr id="17" name="Activations dominate"/>
          <p:cNvSpPr/>
          <p:nvPr/>
        </p:nvSpPr>
        <p:spPr>
          <a:xfrm>
            <a:off x="8983980" y="3611880"/>
            <a:ext cx="2651760" cy="2560320"/>
          </a:xfrm>
          <a:prstGeom prst="roundRect">
            <a:avLst>
              <a:gd name="adj" fmla="val 4286"/>
            </a:avLst>
          </a:prstGeom>
          <a:solidFill>
            <a:schemeClr val="bg2"/>
          </a:solidFill>
          <a:ln w="12700">
            <a:solidFill>
              <a:schemeClr val="bg2"/>
            </a:solidFill>
            <a:prstDash val="solid"/>
          </a:ln>
        </p:spPr>
      </p:sp>
      <p:sp>
        <p:nvSpPr>
          <p:cNvPr id="18" name="Text 14"/>
          <p:cNvSpPr txBox="1"/>
          <p:nvPr/>
        </p:nvSpPr>
        <p:spPr>
          <a:xfrm>
            <a:off x="9166860" y="3703320"/>
            <a:ext cx="2286000" cy="411480"/>
          </a:xfrm>
          <a:prstGeom prst="rect">
            <a:avLst/>
          </a:prstGeom>
          <a:noFill/>
          <a:ln/>
        </p:spPr>
        <p:txBody>
          <a:bodyPr wrap="square" lIns="0" tIns="0" rIns="0" bIns="0" rtlCol="0" anchor="t"/>
          <a:lstStyle/>
          <a:p>
            <a:pPr indent="0" marL="0">
              <a:buNone/>
            </a:pPr>
            <a:r>
              <a:rPr lang="en-US" sz="1700" b="1" dirty="0">
                <a:solidFill>
                  <a:schemeClr val="accent3"/>
                </a:solidFill>
                <a:latin typeface="Cambria" pitchFamily="34" charset="0"/>
                <a:ea typeface="Cambria" pitchFamily="34" charset="-122"/>
                <a:cs typeface="Cambria" pitchFamily="34" charset="-120"/>
              </a:rPr>
              <a:t>Activations dominate</a:t>
            </a:r>
            <a:endParaRPr lang="en-US" sz="1700" dirty="0"/>
          </a:p>
        </p:txBody>
      </p:sp>
      <p:sp>
        <p:nvSpPr>
          <p:cNvPr id="19" name="Text 15"/>
          <p:cNvSpPr txBox="1"/>
          <p:nvPr/>
        </p:nvSpPr>
        <p:spPr>
          <a:xfrm>
            <a:off x="9166860" y="4160520"/>
            <a:ext cx="2286000" cy="777240"/>
          </a:xfrm>
          <a:prstGeom prst="rect">
            <a:avLst/>
          </a:prstGeom>
          <a:noFill/>
          <a:ln/>
        </p:spPr>
        <p:txBody>
          <a:bodyPr wrap="square" lIns="0" tIns="0" rIns="0" bIns="0" rtlCol="0" anchor="t"/>
          <a:lstStyle/>
          <a:p>
            <a:pPr indent="0" marL="0">
              <a:buNone/>
            </a:pPr>
            <a:r>
              <a:rPr lang="en-US" sz="1500" b="1" dirty="0">
                <a:solidFill>
                  <a:schemeClr val="tx1"/>
                </a:solidFill>
              </a:rPr>
              <a:t>7B: 5,048 MB base, 26 MB LoRA</a:t>
            </a:r>
            <a:endParaRPr lang="en-US" sz="1500" dirty="0"/>
          </a:p>
        </p:txBody>
      </p:sp>
      <p:sp>
        <p:nvSpPr>
          <p:cNvPr id="20" name="Text 16"/>
          <p:cNvSpPr txBox="1"/>
          <p:nvPr/>
        </p:nvSpPr>
        <p:spPr>
          <a:xfrm>
            <a:off x="9166860" y="4937760"/>
            <a:ext cx="2286000" cy="1143000"/>
          </a:xfrm>
          <a:prstGeom prst="rect">
            <a:avLst/>
          </a:prstGeom>
          <a:noFill/>
          <a:ln/>
        </p:spPr>
        <p:txBody>
          <a:bodyPr wrap="square" lIns="0" tIns="0" rIns="0" bIns="0" rtlCol="0" anchor="t"/>
          <a:lstStyle/>
          <a:p>
            <a:pPr indent="0" marL="0">
              <a:buNone/>
            </a:pPr>
            <a:r>
              <a:rPr lang="en-US" sz="1400" dirty="0">
                <a:solidFill>
                  <a:schemeClr val="tx2"/>
                </a:solidFill>
              </a:rPr>
              <a:t>but 567 MB per sequence of activation gradients without checkpointing.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QLoRA recipe in code</a:t>
            </a:r>
            <a:endParaRPr lang="en-US" sz="3200" dirty="0"/>
          </a:p>
        </p:txBody>
      </p:sp>
      <p:sp>
        <p:nvSpPr>
          <p:cNvPr id="4" name="code"/>
          <p:cNvSpPr/>
          <p:nvPr/>
        </p:nvSpPr>
        <p:spPr>
          <a:xfrm>
            <a:off x="548640" y="1234440"/>
            <a:ext cx="7223760" cy="4937760"/>
          </a:xfrm>
          <a:prstGeom prst="roundRect">
            <a:avLst>
              <a:gd name="adj" fmla="val 2222"/>
            </a:avLst>
          </a:prstGeom>
          <a:solidFill>
            <a:schemeClr val="bg2"/>
          </a:solidFill>
          <a:ln w="12700">
            <a:solidFill>
              <a:schemeClr val="bg2"/>
            </a:solidFill>
            <a:prstDash val="solid"/>
          </a:ln>
        </p:spPr>
      </p:sp>
      <p:sp>
        <p:nvSpPr>
          <p:cNvPr id="5" name="Text 2"/>
          <p:cNvSpPr txBox="1"/>
          <p:nvPr/>
        </p:nvSpPr>
        <p:spPr>
          <a:xfrm>
            <a:off x="731520" y="1325880"/>
            <a:ext cx="6949440" cy="4754880"/>
          </a:xfrm>
          <a:prstGeom prst="rect">
            <a:avLst/>
          </a:prstGeom>
          <a:noFill/>
          <a:ln/>
        </p:spPr>
        <p:txBody>
          <a:bodyPr wrap="square" lIns="0" tIns="0" rIns="0" bIns="0" rtlCol="0" anchor="ctr"/>
          <a:lstStyle/>
          <a:p>
            <a:pPr indent="0" marL="0">
              <a:lnSpc>
                <a:spcPct val="105000"/>
              </a:lnSpc>
              <a:buNone/>
            </a:pPr>
            <a:r>
              <a:rPr lang="en-US" sz="1300" dirty="0">
                <a:solidFill>
                  <a:schemeClr val="tx1"/>
                </a:solidFill>
                <a:latin typeface="Courier New" pitchFamily="34" charset="0"/>
                <a:ea typeface="Courier New" pitchFamily="34" charset="-122"/>
                <a:cs typeface="Courier New" pitchFamily="34" charset="-120"/>
              </a:rPr>
              <a:t>bnb_config = BitsAndBytesConfig(</a:t>
            </a:r>
            <a:endParaRPr lang="en-US" sz="1300" dirty="0"/>
          </a:p>
          <a:p>
            <a:pPr indent="0" marL="0">
              <a:lnSpc>
                <a:spcPct val="105000"/>
              </a:lnSpc>
              <a:buNone/>
            </a:pPr>
            <a:r>
              <a:rPr lang="en-US" sz="1300" dirty="0">
                <a:solidFill>
                  <a:schemeClr val="tx1"/>
                </a:solidFill>
                <a:latin typeface="Courier New" pitchFamily="34" charset="0"/>
                <a:ea typeface="Courier New" pitchFamily="34" charset="-122"/>
                <a:cs typeface="Courier New" pitchFamily="34" charset="-120"/>
              </a:rPr>
              <a:t>    load_in_4bit=True,                     # quantize as it loads</a:t>
            </a:r>
            <a:endParaRPr lang="en-US" sz="1300" dirty="0"/>
          </a:p>
          <a:p>
            <a:pPr indent="0" marL="0">
              <a:lnSpc>
                <a:spcPct val="105000"/>
              </a:lnSpc>
              <a:buNone/>
            </a:pPr>
            <a:r>
              <a:rPr lang="en-US" sz="1300" dirty="0">
                <a:solidFill>
                  <a:schemeClr val="tx1"/>
                </a:solidFill>
                <a:latin typeface="Courier New" pitchFamily="34" charset="0"/>
                <a:ea typeface="Courier New" pitchFamily="34" charset="-122"/>
                <a:cs typeface="Courier New" pitchFamily="34" charset="-120"/>
              </a:rPr>
              <a:t>    bnb_4bit_quant_type="nf4",             # NF4 levels</a:t>
            </a:r>
            <a:endParaRPr lang="en-US" sz="1300" dirty="0"/>
          </a:p>
          <a:p>
            <a:pPr indent="0" marL="0">
              <a:lnSpc>
                <a:spcPct val="105000"/>
              </a:lnSpc>
              <a:buNone/>
            </a:pPr>
            <a:r>
              <a:rPr lang="en-US" sz="1300" dirty="0">
                <a:solidFill>
                  <a:schemeClr val="tx1"/>
                </a:solidFill>
                <a:latin typeface="Courier New" pitchFamily="34" charset="0"/>
                <a:ea typeface="Courier New" pitchFamily="34" charset="-122"/>
                <a:cs typeface="Courier New" pitchFamily="34" charset="-120"/>
              </a:rPr>
              <a:t>    bnb_4bit_use_double_quant=True,        # 8-bit block scales</a:t>
            </a:r>
            <a:endParaRPr lang="en-US" sz="1300" dirty="0"/>
          </a:p>
          <a:p>
            <a:pPr indent="0" marL="0">
              <a:lnSpc>
                <a:spcPct val="105000"/>
              </a:lnSpc>
              <a:buNone/>
            </a:pPr>
            <a:r>
              <a:rPr lang="en-US" sz="1300" dirty="0">
                <a:solidFill>
                  <a:schemeClr val="tx1"/>
                </a:solidFill>
                <a:latin typeface="Courier New" pitchFamily="34" charset="0"/>
                <a:ea typeface="Courier New" pitchFamily="34" charset="-122"/>
                <a:cs typeface="Courier New" pitchFamily="34" charset="-120"/>
              </a:rPr>
              <a:t>    bnb_4bit_compute_dtype=torch.float16,  # T4: fp16</a:t>
            </a:r>
            <a:endParaRPr lang="en-US" sz="1300" dirty="0"/>
          </a:p>
          <a:p>
            <a:pPr indent="0" marL="0">
              <a:lnSpc>
                <a:spcPct val="105000"/>
              </a:lnSpc>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a:p>
            <a:pPr indent="0" marL="0">
              <a:lnSpc>
                <a:spcPct val="105000"/>
              </a:lnSpc>
              <a:buNone/>
            </a:pPr>
            <a:r>
              <a:rPr lang="en-US" sz="1300" dirty="0">
                <a:solidFill>
                  <a:schemeClr val="tx1"/>
                </a:solidFill>
                <a:latin typeface="Courier New" pitchFamily="34" charset="0"/>
                <a:ea typeface="Courier New" pitchFamily="34" charset="-122"/>
                <a:cs typeface="Courier New" pitchFamily="34" charset="-120"/>
              </a:rPr>
              <a:t>model = AutoModelForCausalLM.from_pretrained(</a:t>
            </a:r>
            <a:endParaRPr lang="en-US" sz="1300" dirty="0"/>
          </a:p>
          <a:p>
            <a:pPr indent="0" marL="0">
              <a:lnSpc>
                <a:spcPct val="105000"/>
              </a:lnSpc>
              <a:buNone/>
            </a:pPr>
            <a:r>
              <a:rPr lang="en-US" sz="1300" dirty="0">
                <a:solidFill>
                  <a:schemeClr val="tx1"/>
                </a:solidFill>
                <a:latin typeface="Courier New" pitchFamily="34" charset="0"/>
                <a:ea typeface="Courier New" pitchFamily="34" charset="-122"/>
                <a:cs typeface="Courier New" pitchFamily="34" charset="-120"/>
              </a:rPr>
              <a:t>    checkpoint, quantization_config=bnb_config,</a:t>
            </a:r>
            <a:endParaRPr lang="en-US" sz="1300" dirty="0"/>
          </a:p>
          <a:p>
            <a:pPr indent="0" marL="0">
              <a:lnSpc>
                <a:spcPct val="105000"/>
              </a:lnSpc>
              <a:buNone/>
            </a:pPr>
            <a:r>
              <a:rPr lang="en-US" sz="1300" dirty="0">
                <a:solidFill>
                  <a:schemeClr val="tx1"/>
                </a:solidFill>
                <a:latin typeface="Courier New" pitchFamily="34" charset="0"/>
                <a:ea typeface="Courier New" pitchFamily="34" charset="-122"/>
                <a:cs typeface="Courier New" pitchFamily="34" charset="-120"/>
              </a:rPr>
              <a:t>    dtype=torch.float16, device_map={"": 0})</a:t>
            </a:r>
            <a:endParaRPr lang="en-US" sz="1300" dirty="0"/>
          </a:p>
          <a:p>
            <a:pPr indent="0" marL="0">
              <a:lnSpc>
                <a:spcPct val="105000"/>
              </a:lnSpc>
              <a:buNone/>
            </a:pPr>
            <a:r>
              <a:rPr lang="en-US" sz="1300" dirty="0">
                <a:solidFill>
                  <a:schemeClr val="tx1"/>
                </a:solidFill>
                <a:latin typeface="Courier New" pitchFamily="34" charset="0"/>
                <a:ea typeface="Courier New" pitchFamily="34" charset="-122"/>
                <a:cs typeface="Courier New" pitchFamily="34" charset="-120"/>
              </a:rPr>
              <a:t>model = prepare_model_for_kbit_training(</a:t>
            </a:r>
            <a:endParaRPr lang="en-US" sz="1300" dirty="0"/>
          </a:p>
          <a:p>
            <a:pPr indent="0" marL="0">
              <a:lnSpc>
                <a:spcPct val="105000"/>
              </a:lnSpc>
              <a:buNone/>
            </a:pPr>
            <a:r>
              <a:rPr lang="en-US" sz="1300" dirty="0">
                <a:solidFill>
                  <a:schemeClr val="tx1"/>
                </a:solidFill>
                <a:latin typeface="Courier New" pitchFamily="34" charset="0"/>
                <a:ea typeface="Courier New" pitchFamily="34" charset="-122"/>
                <a:cs typeface="Courier New" pitchFamily="34" charset="-120"/>
              </a:rPr>
              <a:t>    model, gradient_checkpointing_kwargs={"use_reentrant": False})</a:t>
            </a:r>
            <a:endParaRPr lang="en-US" sz="1300" dirty="0"/>
          </a:p>
          <a:p>
            <a:pPr indent="0" marL="0">
              <a:lnSpc>
                <a:spcPct val="105000"/>
              </a:lnSpc>
              <a:buNone/>
            </a:pPr>
            <a:r>
              <a:rPr lang="en-US" sz="1300" dirty="0">
                <a:solidFill>
                  <a:schemeClr val="tx1"/>
                </a:solidFill>
                <a:latin typeface="Courier New" pitchFamily="34" charset="0"/>
                <a:ea typeface="Courier New" pitchFamily="34" charset="-122"/>
                <a:cs typeface="Courier New" pitchFamily="34" charset="-120"/>
              </a:rPr>
              <a:t>model = get_peft_model(model, LoraConfig(</a:t>
            </a:r>
            <a:endParaRPr lang="en-US" sz="1300" dirty="0"/>
          </a:p>
          <a:p>
            <a:pPr indent="0" marL="0">
              <a:lnSpc>
                <a:spcPct val="105000"/>
              </a:lnSpc>
              <a:buNone/>
            </a:pPr>
            <a:r>
              <a:rPr lang="en-US" sz="1300" dirty="0">
                <a:solidFill>
                  <a:schemeClr val="tx1"/>
                </a:solidFill>
                <a:latin typeface="Courier New" pitchFamily="34" charset="0"/>
                <a:ea typeface="Courier New" pitchFamily="34" charset="-122"/>
                <a:cs typeface="Courier New" pitchFamily="34" charset="-120"/>
              </a:rPr>
              <a:t>    r=16, lora_alpha=32, lora_dropout=0.05,</a:t>
            </a:r>
            <a:endParaRPr lang="en-US" sz="1300" dirty="0"/>
          </a:p>
          <a:p>
            <a:pPr indent="0" marL="0">
              <a:lnSpc>
                <a:spcPct val="105000"/>
              </a:lnSpc>
              <a:buNone/>
            </a:pPr>
            <a:r>
              <a:rPr lang="en-US" sz="1300" dirty="0">
                <a:solidFill>
                  <a:schemeClr val="tx1"/>
                </a:solidFill>
                <a:latin typeface="Courier New" pitchFamily="34" charset="0"/>
                <a:ea typeface="Courier New" pitchFamily="34" charset="-122"/>
                <a:cs typeface="Courier New" pitchFamily="34" charset="-120"/>
              </a:rPr>
              <a:t>    target_modules="all-linear", task_type="CAUSAL_LM"))</a:t>
            </a:r>
            <a:endParaRPr lang="en-US" sz="1300" dirty="0"/>
          </a:p>
          <a:p>
            <a:pPr indent="0" marL="0">
              <a:lnSpc>
                <a:spcPct val="105000"/>
              </a:lnSpc>
              <a:buNone/>
            </a:pPr>
            <a:r>
              <a:rPr lang="en-US" sz="1300" dirty="0">
                <a:solidFill>
                  <a:schemeClr val="tx1"/>
                </a:solidFill>
                <a:latin typeface="Courier New" pitchFamily="34" charset="0"/>
                <a:ea typeface="Courier New" pitchFamily="34" charset="-122"/>
                <a:cs typeface="Courier New" pitchFamily="34" charset="-120"/>
              </a:rPr>
              <a:t># Trainer as usual: TrainingArguments(..., fp16=True,</a:t>
            </a:r>
            <a:endParaRPr lang="en-US" sz="1300" dirty="0"/>
          </a:p>
          <a:p>
            <a:pPr indent="0" marL="0">
              <a:lnSpc>
                <a:spcPct val="105000"/>
              </a:lnSpc>
              <a:buNone/>
            </a:pPr>
            <a:r>
              <a:rPr lang="en-US" sz="1300" dirty="0">
                <a:solidFill>
                  <a:schemeClr val="tx1"/>
                </a:solidFill>
                <a:latin typeface="Courier New" pitchFamily="34" charset="0"/>
                <a:ea typeface="Courier New" pitchFamily="34" charset="-122"/>
                <a:cs typeface="Courier New" pitchFamily="34" charset="-120"/>
              </a:rPr>
              <a:t>#                                    optim="paged_adamw_8bit")</a:t>
            </a:r>
            <a:endParaRPr lang="en-US" sz="1300" dirty="0"/>
          </a:p>
        </p:txBody>
      </p:sp>
      <p:sp>
        <p:nvSpPr>
          <p:cNvPr id="6" name="note 1"/>
          <p:cNvSpPr/>
          <p:nvPr/>
        </p:nvSpPr>
        <p:spPr>
          <a:xfrm>
            <a:off x="8046720" y="1234440"/>
            <a:ext cx="3566160" cy="1115568"/>
          </a:xfrm>
          <a:prstGeom prst="roundRect">
            <a:avLst>
              <a:gd name="adj" fmla="val 9836"/>
            </a:avLst>
          </a:prstGeom>
          <a:solidFill>
            <a:schemeClr val="bg2"/>
          </a:solidFill>
          <a:ln w="12700">
            <a:solidFill>
              <a:schemeClr val="bg2"/>
            </a:solidFill>
            <a:prstDash val="solid"/>
          </a:ln>
        </p:spPr>
      </p:sp>
      <p:sp>
        <p:nvSpPr>
          <p:cNvPr id="7" name="Text 4"/>
          <p:cNvSpPr txBox="1"/>
          <p:nvPr/>
        </p:nvSpPr>
        <p:spPr>
          <a:xfrm>
            <a:off x="8229600" y="1234440"/>
            <a:ext cx="3246120" cy="1115568"/>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prepare_model_for_kbit_training</a:t>
            </a:r>
            <a:endParaRPr lang="en-US" sz="1300" dirty="0"/>
          </a:p>
          <a:p>
            <a:pPr indent="0" marL="0">
              <a:buNone/>
            </a:pPr>
            <a:r>
              <a:rPr lang="en-US" sz="1300" dirty="0">
                <a:solidFill>
                  <a:schemeClr val="tx1"/>
                </a:solidFill>
              </a:rPr>
              <a:t>freezes the base, upcasts norms, embeddings and head to fp32, turns on gradient checkpointing</a:t>
            </a:r>
            <a:endParaRPr lang="en-US" sz="1300" dirty="0"/>
          </a:p>
        </p:txBody>
      </p:sp>
      <p:sp>
        <p:nvSpPr>
          <p:cNvPr id="8" name="note 2"/>
          <p:cNvSpPr/>
          <p:nvPr/>
        </p:nvSpPr>
        <p:spPr>
          <a:xfrm>
            <a:off x="8046720" y="2496312"/>
            <a:ext cx="3566160" cy="1115568"/>
          </a:xfrm>
          <a:prstGeom prst="roundRect">
            <a:avLst>
              <a:gd name="adj" fmla="val 9836"/>
            </a:avLst>
          </a:prstGeom>
          <a:solidFill>
            <a:schemeClr val="bg2"/>
          </a:solidFill>
          <a:ln w="12700">
            <a:solidFill>
              <a:schemeClr val="bg2"/>
            </a:solidFill>
            <a:prstDash val="solid"/>
          </a:ln>
        </p:spPr>
      </p:sp>
      <p:sp>
        <p:nvSpPr>
          <p:cNvPr id="9" name="Text 6"/>
          <p:cNvSpPr txBox="1"/>
          <p:nvPr/>
        </p:nvSpPr>
        <p:spPr>
          <a:xfrm>
            <a:off x="8229600" y="2496312"/>
            <a:ext cx="3246120" cy="1115568"/>
          </a:xfrm>
          <a:prstGeom prst="rect">
            <a:avLst/>
          </a:prstGeom>
          <a:noFill/>
          <a:ln/>
        </p:spPr>
        <p:txBody>
          <a:bodyPr wrap="square" lIns="0" tIns="0" rIns="0" bIns="0" rtlCol="0" anchor="ctr"/>
          <a:lstStyle/>
          <a:p>
            <a:pPr indent="0" marL="0">
              <a:buNone/>
            </a:pPr>
            <a:r>
              <a:rPr lang="en-US" sz="1300" b="1" dirty="0">
                <a:solidFill>
                  <a:schemeClr val="accent4"/>
                </a:solidFill>
                <a:latin typeface="Courier New" pitchFamily="34" charset="0"/>
                <a:ea typeface="Courier New" pitchFamily="34" charset="-122"/>
                <a:cs typeface="Courier New" pitchFamily="34" charset="-120"/>
              </a:rPr>
              <a:t>target_modules="all-linear"</a:t>
            </a:r>
            <a:endParaRPr lang="en-US" sz="1300" dirty="0"/>
          </a:p>
          <a:p>
            <a:pPr indent="0" marL="0">
              <a:buNone/>
            </a:pPr>
            <a:r>
              <a:rPr lang="en-US" sz="1300" dirty="0">
                <a:solidFill>
                  <a:schemeClr val="tx1"/>
                </a:solidFill>
              </a:rPr>
              <a:t>every linear layer except the output head, as the paper advises</a:t>
            </a:r>
            <a:endParaRPr lang="en-US" sz="1300" dirty="0"/>
          </a:p>
        </p:txBody>
      </p:sp>
      <p:sp>
        <p:nvSpPr>
          <p:cNvPr id="10" name="note 3"/>
          <p:cNvSpPr/>
          <p:nvPr/>
        </p:nvSpPr>
        <p:spPr>
          <a:xfrm>
            <a:off x="8046720" y="3758184"/>
            <a:ext cx="3566160" cy="1115568"/>
          </a:xfrm>
          <a:prstGeom prst="roundRect">
            <a:avLst>
              <a:gd name="adj" fmla="val 9836"/>
            </a:avLst>
          </a:prstGeom>
          <a:solidFill>
            <a:schemeClr val="bg2"/>
          </a:solidFill>
          <a:ln w="12700">
            <a:solidFill>
              <a:schemeClr val="bg2"/>
            </a:solidFill>
            <a:prstDash val="solid"/>
          </a:ln>
        </p:spPr>
      </p:sp>
      <p:sp>
        <p:nvSpPr>
          <p:cNvPr id="11" name="Text 8"/>
          <p:cNvSpPr txBox="1"/>
          <p:nvPr/>
        </p:nvSpPr>
        <p:spPr>
          <a:xfrm>
            <a:off x="8229600" y="3758184"/>
            <a:ext cx="3246120" cy="1115568"/>
          </a:xfrm>
          <a:prstGeom prst="rect">
            <a:avLst/>
          </a:prstGeom>
          <a:noFill/>
          <a:ln/>
        </p:spPr>
        <p:txBody>
          <a:bodyPr wrap="square" lIns="0" tIns="0" rIns="0" bIns="0" rtlCol="0" anchor="ctr"/>
          <a:lstStyle/>
          <a:p>
            <a:pPr indent="0" marL="0">
              <a:buNone/>
            </a:pPr>
            <a:r>
              <a:rPr lang="en-US" sz="1300" b="1" dirty="0">
                <a:solidFill>
                  <a:schemeClr val="accent3"/>
                </a:solidFill>
              </a:rPr>
              <a:t>Compute dtype = hardware</a:t>
            </a:r>
            <a:endParaRPr lang="en-US" sz="1300" dirty="0"/>
          </a:p>
          <a:p>
            <a:pPr indent="0" marL="0">
              <a:buNone/>
            </a:pPr>
            <a:r>
              <a:rPr lang="en-US" sz="1300" dirty="0">
                <a:solidFill>
                  <a:schemeClr val="tx1"/>
                </a:solidFill>
              </a:rPr>
              <a:t>T4 (Turing): fp16 and fp16=True. Ampere or newer: bf16 and bf16=True</a:t>
            </a:r>
            <a:endParaRPr lang="en-US" sz="1300" dirty="0"/>
          </a:p>
        </p:txBody>
      </p:sp>
      <p:sp>
        <p:nvSpPr>
          <p:cNvPr id="12" name="note 4"/>
          <p:cNvSpPr/>
          <p:nvPr/>
        </p:nvSpPr>
        <p:spPr>
          <a:xfrm>
            <a:off x="8046720" y="5020056"/>
            <a:ext cx="3566160" cy="1115568"/>
          </a:xfrm>
          <a:prstGeom prst="roundRect">
            <a:avLst>
              <a:gd name="adj" fmla="val 9836"/>
            </a:avLst>
          </a:prstGeom>
          <a:solidFill>
            <a:schemeClr val="bg2"/>
          </a:solidFill>
          <a:ln w="12700">
            <a:solidFill>
              <a:schemeClr val="bg2"/>
            </a:solidFill>
            <a:prstDash val="solid"/>
          </a:ln>
        </p:spPr>
      </p:sp>
      <p:sp>
        <p:nvSpPr>
          <p:cNvPr id="13" name="Text 10"/>
          <p:cNvSpPr txBox="1"/>
          <p:nvPr/>
        </p:nvSpPr>
        <p:spPr>
          <a:xfrm>
            <a:off x="8229600" y="5020056"/>
            <a:ext cx="3246120" cy="1115568"/>
          </a:xfrm>
          <a:prstGeom prst="rect">
            <a:avLst/>
          </a:prstGeom>
          <a:noFill/>
          <a:ln/>
        </p:spPr>
        <p:txBody>
          <a:bodyPr wrap="square" lIns="0" tIns="0" rIns="0" bIns="0" rtlCol="0" anchor="ctr"/>
          <a:lstStyle/>
          <a:p>
            <a:pPr indent="0" marL="0">
              <a:buNone/>
            </a:pPr>
            <a:r>
              <a:rPr lang="en-US" sz="1300" b="1" dirty="0">
                <a:solidFill>
                  <a:schemeClr val="tx2"/>
                </a:solidFill>
                <a:latin typeface="Courier New" pitchFamily="34" charset="0"/>
                <a:ea typeface="Courier New" pitchFamily="34" charset="-122"/>
                <a:cs typeface="Courier New" pitchFamily="34" charset="-120"/>
              </a:rPr>
              <a:t>device_map={"": 0}</a:t>
            </a:r>
            <a:endParaRPr lang="en-US" sz="1300" dirty="0"/>
          </a:p>
          <a:p>
            <a:pPr indent="0" marL="0">
              <a:buNone/>
            </a:pPr>
            <a:r>
              <a:rPr lang="en-US" sz="1300" dirty="0">
                <a:solidFill>
                  <a:schemeClr val="tx1"/>
                </a:solidFill>
              </a:rPr>
              <a:t>the whole model on GPU 0; "auto" would split it across Kaggle's two T4s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After training: keep, merge, or merge and quantize</a:t>
            </a:r>
            <a:endParaRPr lang="en-US" sz="3200" dirty="0"/>
          </a:p>
        </p:txBody>
      </p:sp>
      <p:sp>
        <p:nvSpPr>
          <p:cNvPr id="4" name="trainable "/>
          <p:cNvSpPr/>
          <p:nvPr/>
        </p:nvSpPr>
        <p:spPr>
          <a:xfrm>
            <a:off x="548640" y="2606040"/>
            <a:ext cx="2011680" cy="1188720"/>
          </a:xfrm>
          <a:prstGeom prst="rect">
            <a:avLst/>
          </a:prstGeom>
          <a:solidFill>
            <a:schemeClr val="accent6"/>
          </a:solidFill>
          <a:ln w="15875">
            <a:solidFill>
              <a:schemeClr val="accent4"/>
            </a:solidFill>
            <a:prstDash val="solid"/>
          </a:ln>
        </p:spPr>
      </p:sp>
      <p:sp>
        <p:nvSpPr>
          <p:cNvPr id="5" name="Text 2"/>
          <p:cNvSpPr txBox="1"/>
          <p:nvPr/>
        </p:nvSpPr>
        <p:spPr>
          <a:xfrm>
            <a:off x="548640" y="2606040"/>
            <a:ext cx="2011680" cy="1188720"/>
          </a:xfrm>
          <a:prstGeom prst="rect">
            <a:avLst/>
          </a:prstGeom>
          <a:noFill/>
          <a:ln/>
        </p:spPr>
        <p:txBody>
          <a:bodyPr wrap="square" lIns="0" tIns="0" rIns="0" bIns="0" rtlCol="0" anchor="ctr"/>
          <a:lstStyle/>
          <a:p>
            <a:pPr algn="ctr" indent="0" marL="0">
              <a:buNone/>
            </a:pPr>
            <a:endParaRPr lang="en-US" sz="1500" dirty="0"/>
          </a:p>
        </p:txBody>
      </p:sp>
      <p:sp>
        <p:nvSpPr>
          <p:cNvPr id="6" name="Text 3"/>
          <p:cNvSpPr txBox="1"/>
          <p:nvPr/>
        </p:nvSpPr>
        <p:spPr>
          <a:xfrm>
            <a:off x="548640" y="2606040"/>
            <a:ext cx="2011680" cy="1188720"/>
          </a:xfrm>
          <a:prstGeom prst="rect">
            <a:avLst/>
          </a:prstGeom>
          <a:noFill/>
          <a:ln/>
        </p:spPr>
        <p:txBody>
          <a:bodyPr wrap="square" lIns="0" tIns="0" rIns="0" bIns="0" rtlCol="0" anchor="ctr"/>
          <a:lstStyle/>
          <a:p>
            <a:pPr algn="ctr" indent="0" marL="0">
              <a:buNone/>
            </a:pPr>
            <a:r>
              <a:rPr lang="en-US" sz="1500" b="1" dirty="0">
                <a:solidFill>
                  <a:schemeClr val="tx1"/>
                </a:solidFill>
              </a:rPr>
              <a:t>LoRA adapter</a:t>
            </a:r>
            <a:endParaRPr lang="en-US" sz="1500" dirty="0"/>
          </a:p>
          <a:p>
            <a:pPr algn="ctr" indent="0" marL="0">
              <a:buNone/>
            </a:pPr>
            <a:r>
              <a:rPr lang="en-US" sz="1500" dirty="0">
                <a:solidFill>
                  <a:schemeClr val="tx2"/>
                </a:solidFill>
              </a:rPr>
              <a:t>a few tens of MB</a:t>
            </a:r>
            <a:endParaRPr lang="en-US" sz="1500" dirty="0"/>
          </a:p>
        </p:txBody>
      </p:sp>
      <p:sp>
        <p:nvSpPr>
          <p:cNvPr id="7" name="Shape 4"/>
          <p:cNvSpPr/>
          <p:nvPr/>
        </p:nvSpPr>
        <p:spPr>
          <a:xfrm>
            <a:off x="2560320" y="3200400"/>
            <a:ext cx="502920" cy="-1353312"/>
          </a:xfrm>
          <a:prstGeom prst="line">
            <a:avLst/>
          </a:prstGeom>
          <a:noFill/>
          <a:ln w="22225">
            <a:solidFill>
              <a:schemeClr val="tx2"/>
            </a:solidFill>
            <a:prstDash val="solid"/>
            <a:tailEnd type="triangle"/>
          </a:ln>
        </p:spPr>
      </p:sp>
      <p:sp>
        <p:nvSpPr>
          <p:cNvPr id="8" name="Keep the adapter separate"/>
          <p:cNvSpPr/>
          <p:nvPr/>
        </p:nvSpPr>
        <p:spPr>
          <a:xfrm>
            <a:off x="3154680" y="1280160"/>
            <a:ext cx="8458200" cy="1188720"/>
          </a:xfrm>
          <a:prstGeom prst="roundRect">
            <a:avLst>
              <a:gd name="adj" fmla="val 9231"/>
            </a:avLst>
          </a:prstGeom>
          <a:solidFill>
            <a:schemeClr val="bg2"/>
          </a:solidFill>
          <a:ln w="12700">
            <a:solidFill>
              <a:schemeClr val="bg2"/>
            </a:solidFill>
            <a:prstDash val="solid"/>
          </a:ln>
        </p:spPr>
      </p:sp>
      <p:sp>
        <p:nvSpPr>
          <p:cNvPr id="9" name="Text 6"/>
          <p:cNvSpPr txBox="1"/>
          <p:nvPr/>
        </p:nvSpPr>
        <p:spPr>
          <a:xfrm>
            <a:off x="3337560" y="1280160"/>
            <a:ext cx="2377440" cy="1188720"/>
          </a:xfrm>
          <a:prstGeom prst="rect">
            <a:avLst/>
          </a:prstGeom>
          <a:noFill/>
          <a:ln/>
        </p:spPr>
        <p:txBody>
          <a:bodyPr wrap="square" lIns="0" tIns="0" rIns="0" bIns="0" rtlCol="0" anchor="ctr"/>
          <a:lstStyle/>
          <a:p>
            <a:pPr indent="0" marL="0">
              <a:buNone/>
            </a:pPr>
            <a:r>
              <a:rPr lang="en-US" sz="1600" b="1" dirty="0">
                <a:solidFill>
                  <a:schemeClr val="accent4"/>
                </a:solidFill>
              </a:rPr>
              <a:t>Keep the adapter separate</a:t>
            </a:r>
            <a:endParaRPr lang="en-US" sz="1600" dirty="0"/>
          </a:p>
        </p:txBody>
      </p:sp>
      <p:sp>
        <p:nvSpPr>
          <p:cNvPr id="10" name="Text 7"/>
          <p:cNvSpPr txBox="1"/>
          <p:nvPr/>
        </p:nvSpPr>
        <p:spPr>
          <a:xfrm>
            <a:off x="5760720" y="1280160"/>
            <a:ext cx="5715000" cy="1188720"/>
          </a:xfrm>
          <a:prstGeom prst="rect">
            <a:avLst/>
          </a:prstGeom>
          <a:noFill/>
          <a:ln/>
        </p:spPr>
        <p:txBody>
          <a:bodyPr wrap="square" lIns="0" tIns="0" rIns="0" bIns="0" rtlCol="0" anchor="ctr"/>
          <a:lstStyle/>
          <a:p>
            <a:pPr indent="0" marL="0">
              <a:buNone/>
            </a:pPr>
            <a:r>
              <a:rPr lang="en-US" sz="1400" b="1" dirty="0">
                <a:solidFill>
                  <a:schemeClr val="tx1"/>
                </a:solidFill>
              </a:rPr>
              <a:t>How: </a:t>
            </a:r>
            <a:r>
              <a:rPr lang="en-US" sz="1400" dirty="0">
                <a:solidFill>
                  <a:schemeClr val="tx1"/>
                </a:solidFill>
              </a:rPr>
              <a:t>load the base (4- or 16-bit), then PeftModel.from_pretrained(base, adapter_dir)</a:t>
            </a:r>
            <a:endParaRPr lang="en-US" sz="1400" dirty="0"/>
          </a:p>
          <a:p>
            <a:pPr indent="0" marL="0">
              <a:buNone/>
            </a:pPr>
            <a:r>
              <a:rPr lang="en-US" sz="1400" b="1" dirty="0">
                <a:solidFill>
                  <a:schemeClr val="tx2"/>
                </a:solidFill>
              </a:rPr>
              <a:t>When: </a:t>
            </a:r>
            <a:r>
              <a:rPr lang="en-US" sz="1400" dirty="0">
                <a:solidFill>
                  <a:schemeClr val="tx2"/>
                </a:solidFill>
              </a:rPr>
              <a:t>several tasks share one base; switch adapters; storage matters</a:t>
            </a:r>
            <a:endParaRPr lang="en-US" sz="1400" dirty="0"/>
          </a:p>
        </p:txBody>
      </p:sp>
      <p:sp>
        <p:nvSpPr>
          <p:cNvPr id="11" name="Shape 8"/>
          <p:cNvSpPr/>
          <p:nvPr/>
        </p:nvSpPr>
        <p:spPr>
          <a:xfrm>
            <a:off x="2560320" y="3200400"/>
            <a:ext cx="502920" cy="-9144"/>
          </a:xfrm>
          <a:prstGeom prst="line">
            <a:avLst/>
          </a:prstGeom>
          <a:noFill/>
          <a:ln w="22225">
            <a:solidFill>
              <a:schemeClr val="tx2"/>
            </a:solidFill>
            <a:prstDash val="solid"/>
            <a:tailEnd type="triangle"/>
          </a:ln>
        </p:spPr>
      </p:sp>
      <p:sp>
        <p:nvSpPr>
          <p:cNvPr id="12" name="Merge into a 16-bit base"/>
          <p:cNvSpPr/>
          <p:nvPr/>
        </p:nvSpPr>
        <p:spPr>
          <a:xfrm>
            <a:off x="3154680" y="2624328"/>
            <a:ext cx="8458200" cy="1188720"/>
          </a:xfrm>
          <a:prstGeom prst="roundRect">
            <a:avLst>
              <a:gd name="adj" fmla="val 9231"/>
            </a:avLst>
          </a:prstGeom>
          <a:solidFill>
            <a:schemeClr val="bg2"/>
          </a:solidFill>
          <a:ln w="12700">
            <a:solidFill>
              <a:schemeClr val="bg2"/>
            </a:solidFill>
            <a:prstDash val="solid"/>
          </a:ln>
        </p:spPr>
      </p:sp>
      <p:sp>
        <p:nvSpPr>
          <p:cNvPr id="13" name="Text 10"/>
          <p:cNvSpPr txBox="1"/>
          <p:nvPr/>
        </p:nvSpPr>
        <p:spPr>
          <a:xfrm>
            <a:off x="3337560" y="2624328"/>
            <a:ext cx="2377440" cy="1188720"/>
          </a:xfrm>
          <a:prstGeom prst="rect">
            <a:avLst/>
          </a:prstGeom>
          <a:noFill/>
          <a:ln/>
        </p:spPr>
        <p:txBody>
          <a:bodyPr wrap="square" lIns="0" tIns="0" rIns="0" bIns="0" rtlCol="0" anchor="ctr"/>
          <a:lstStyle/>
          <a:p>
            <a:pPr indent="0" marL="0">
              <a:buNone/>
            </a:pPr>
            <a:r>
              <a:rPr lang="en-US" sz="1600" b="1" dirty="0">
                <a:solidFill>
                  <a:schemeClr val="accent1"/>
                </a:solidFill>
              </a:rPr>
              <a:t>Merge into a 16-bit base</a:t>
            </a:r>
            <a:endParaRPr lang="en-US" sz="1600" dirty="0"/>
          </a:p>
        </p:txBody>
      </p:sp>
      <p:sp>
        <p:nvSpPr>
          <p:cNvPr id="14" name="Text 11"/>
          <p:cNvSpPr txBox="1"/>
          <p:nvPr/>
        </p:nvSpPr>
        <p:spPr>
          <a:xfrm>
            <a:off x="5760720" y="2624328"/>
            <a:ext cx="5715000" cy="1188720"/>
          </a:xfrm>
          <a:prstGeom prst="rect">
            <a:avLst/>
          </a:prstGeom>
          <a:noFill/>
          <a:ln/>
        </p:spPr>
        <p:txBody>
          <a:bodyPr wrap="square" lIns="0" tIns="0" rIns="0" bIns="0" rtlCol="0" anchor="ctr"/>
          <a:lstStyle/>
          <a:p>
            <a:pPr indent="0" marL="0">
              <a:buNone/>
            </a:pPr>
            <a:r>
              <a:rPr lang="en-US" sz="1400" b="1" dirty="0">
                <a:solidFill>
                  <a:schemeClr val="tx1"/>
                </a:solidFill>
              </a:rPr>
              <a:t>How: </a:t>
            </a:r>
            <a:r>
              <a:rPr lang="en-US" sz="1400" dirty="0">
                <a:solidFill>
                  <a:schemeClr val="tx1"/>
                </a:solidFill>
              </a:rPr>
              <a:t>reload the base in fp16/bf16, load the adapter, merge_and_unload(), save_pretrained()</a:t>
            </a:r>
            <a:endParaRPr lang="en-US" sz="1400" dirty="0"/>
          </a:p>
          <a:p>
            <a:pPr indent="0" marL="0">
              <a:buNone/>
            </a:pPr>
            <a:r>
              <a:rPr lang="en-US" sz="1400" b="1" dirty="0">
                <a:solidFill>
                  <a:schemeClr val="tx2"/>
                </a:solidFill>
              </a:rPr>
              <a:t>When: </a:t>
            </a:r>
            <a:r>
              <a:rPr lang="en-US" sz="1400" dirty="0">
                <a:solidFill>
                  <a:schemeClr val="tx2"/>
                </a:solidFill>
              </a:rPr>
              <a:t>one ordinary model file, e.g. for a serving engine</a:t>
            </a:r>
            <a:endParaRPr lang="en-US" sz="1400" dirty="0"/>
          </a:p>
        </p:txBody>
      </p:sp>
      <p:sp>
        <p:nvSpPr>
          <p:cNvPr id="15" name="Shape 12"/>
          <p:cNvSpPr/>
          <p:nvPr/>
        </p:nvSpPr>
        <p:spPr>
          <a:xfrm>
            <a:off x="2560320" y="3200400"/>
            <a:ext cx="502920" cy="1335024"/>
          </a:xfrm>
          <a:prstGeom prst="line">
            <a:avLst/>
          </a:prstGeom>
          <a:noFill/>
          <a:ln w="22225">
            <a:solidFill>
              <a:schemeClr val="tx2"/>
            </a:solidFill>
            <a:prstDash val="solid"/>
            <a:tailEnd type="triangle"/>
          </a:ln>
        </p:spPr>
      </p:sp>
      <p:sp>
        <p:nvSpPr>
          <p:cNvPr id="16" name="Merge, then quantize"/>
          <p:cNvSpPr/>
          <p:nvPr/>
        </p:nvSpPr>
        <p:spPr>
          <a:xfrm>
            <a:off x="3154680" y="3968496"/>
            <a:ext cx="8458200" cy="1188720"/>
          </a:xfrm>
          <a:prstGeom prst="roundRect">
            <a:avLst>
              <a:gd name="adj" fmla="val 9231"/>
            </a:avLst>
          </a:prstGeom>
          <a:solidFill>
            <a:schemeClr val="bg2"/>
          </a:solidFill>
          <a:ln w="12700">
            <a:solidFill>
              <a:schemeClr val="bg2"/>
            </a:solidFill>
            <a:prstDash val="solid"/>
          </a:ln>
        </p:spPr>
      </p:sp>
      <p:sp>
        <p:nvSpPr>
          <p:cNvPr id="17" name="Text 14"/>
          <p:cNvSpPr txBox="1"/>
          <p:nvPr/>
        </p:nvSpPr>
        <p:spPr>
          <a:xfrm>
            <a:off x="3337560" y="3968496"/>
            <a:ext cx="2377440" cy="1188720"/>
          </a:xfrm>
          <a:prstGeom prst="rect">
            <a:avLst/>
          </a:prstGeom>
          <a:noFill/>
          <a:ln/>
        </p:spPr>
        <p:txBody>
          <a:bodyPr wrap="square" lIns="0" tIns="0" rIns="0" bIns="0" rtlCol="0" anchor="ctr"/>
          <a:lstStyle/>
          <a:p>
            <a:pPr indent="0" marL="0">
              <a:buNone/>
            </a:pPr>
            <a:r>
              <a:rPr lang="en-US" sz="1600" b="1" dirty="0">
                <a:solidFill>
                  <a:schemeClr val="accent1"/>
                </a:solidFill>
              </a:rPr>
              <a:t>Merge, then quantize</a:t>
            </a:r>
            <a:endParaRPr lang="en-US" sz="1600" dirty="0"/>
          </a:p>
        </p:txBody>
      </p:sp>
      <p:sp>
        <p:nvSpPr>
          <p:cNvPr id="18" name="Text 15"/>
          <p:cNvSpPr txBox="1"/>
          <p:nvPr/>
        </p:nvSpPr>
        <p:spPr>
          <a:xfrm>
            <a:off x="5760720" y="3968496"/>
            <a:ext cx="5715000" cy="1188720"/>
          </a:xfrm>
          <a:prstGeom prst="rect">
            <a:avLst/>
          </a:prstGeom>
          <a:noFill/>
          <a:ln/>
        </p:spPr>
        <p:txBody>
          <a:bodyPr wrap="square" lIns="0" tIns="0" rIns="0" bIns="0" rtlCol="0" anchor="ctr"/>
          <a:lstStyle/>
          <a:p>
            <a:pPr indent="0" marL="0">
              <a:buNone/>
            </a:pPr>
            <a:r>
              <a:rPr lang="en-US" sz="1400" b="1" dirty="0">
                <a:solidFill>
                  <a:schemeClr val="tx1"/>
                </a:solidFill>
              </a:rPr>
              <a:t>How: </a:t>
            </a:r>
            <a:r>
              <a:rPr lang="en-US" sz="1400" dirty="0">
                <a:solidFill>
                  <a:schemeClr val="tx1"/>
                </a:solidFill>
              </a:rPr>
              <a:t>merge as above, then convert to GPTQ, AWQ or GGUF</a:t>
            </a:r>
            <a:endParaRPr lang="en-US" sz="1400" dirty="0"/>
          </a:p>
          <a:p>
            <a:pPr indent="0" marL="0">
              <a:buNone/>
            </a:pPr>
            <a:r>
              <a:rPr lang="en-US" sz="1400" b="1" dirty="0">
                <a:solidFill>
                  <a:schemeClr val="tx2"/>
                </a:solidFill>
              </a:rPr>
              <a:t>When: </a:t>
            </a:r>
            <a:r>
              <a:rPr lang="en-US" sz="1400" dirty="0">
                <a:solidFill>
                  <a:schemeClr val="tx2"/>
                </a:solidFill>
              </a:rPr>
              <a:t>deployment on limited hardware</a:t>
            </a:r>
            <a:endParaRPr lang="en-US" sz="1400" dirty="0"/>
          </a:p>
        </p:txBody>
      </p:sp>
      <p:sp>
        <p:nvSpPr>
          <p:cNvPr id="19" name="4-bit merge"/>
          <p:cNvSpPr/>
          <p:nvPr/>
        </p:nvSpPr>
        <p:spPr>
          <a:xfrm>
            <a:off x="548640" y="5349240"/>
            <a:ext cx="5486400" cy="822960"/>
          </a:xfrm>
          <a:prstGeom prst="roundRect">
            <a:avLst>
              <a:gd name="adj" fmla="val 13333"/>
            </a:avLst>
          </a:prstGeom>
          <a:solidFill>
            <a:schemeClr val="accent6"/>
          </a:solidFill>
          <a:ln w="12700">
            <a:solidFill>
              <a:schemeClr val="accent6"/>
            </a:solidFill>
            <a:prstDash val="solid"/>
          </a:ln>
        </p:spPr>
      </p:sp>
      <p:sp>
        <p:nvSpPr>
          <p:cNvPr id="20" name="Text 17"/>
          <p:cNvSpPr txBox="1"/>
          <p:nvPr/>
        </p:nvSpPr>
        <p:spPr>
          <a:xfrm>
            <a:off x="777240" y="5349240"/>
            <a:ext cx="5029200" cy="822960"/>
          </a:xfrm>
          <a:prstGeom prst="rect">
            <a:avLst/>
          </a:prstGeom>
          <a:noFill/>
          <a:ln/>
        </p:spPr>
        <p:txBody>
          <a:bodyPr wrap="square" lIns="0" tIns="0" rIns="0" bIns="0" rtlCol="0" anchor="ctr"/>
          <a:lstStyle/>
          <a:p>
            <a:pPr indent="0" marL="0">
              <a:buNone/>
            </a:pPr>
            <a:r>
              <a:rPr lang="en-US" sz="1400" b="1" dirty="0">
                <a:solidFill>
                  <a:schemeClr val="accent3"/>
                </a:solidFill>
              </a:rPr>
              <a:t>Don't merge into the 4-bit weights: </a:t>
            </a:r>
            <a:r>
              <a:rPr lang="en-US" sz="1400" dirty="0">
                <a:solidFill>
                  <a:schemeClr val="tx1"/>
                </a:solidFill>
              </a:rPr>
              <a:t>rounding back to 4 bits can lose part of the update.</a:t>
            </a:r>
            <a:endParaRPr lang="en-US" sz="1400" dirty="0"/>
          </a:p>
        </p:txBody>
      </p:sp>
      <p:sp>
        <p:nvSpPr>
          <p:cNvPr id="21" name="same base"/>
          <p:cNvSpPr/>
          <p:nvPr/>
        </p:nvSpPr>
        <p:spPr>
          <a:xfrm>
            <a:off x="6263640" y="5349240"/>
            <a:ext cx="5349240" cy="822960"/>
          </a:xfrm>
          <a:prstGeom prst="roundRect">
            <a:avLst>
              <a:gd name="adj" fmla="val 13333"/>
            </a:avLst>
          </a:prstGeom>
          <a:solidFill>
            <a:schemeClr val="accent5"/>
          </a:solidFill>
          <a:ln w="12700">
            <a:solidFill>
              <a:schemeClr val="accent5"/>
            </a:solidFill>
            <a:prstDash val="solid"/>
          </a:ln>
        </p:spPr>
      </p:sp>
      <p:sp>
        <p:nvSpPr>
          <p:cNvPr id="22" name="Text 19"/>
          <p:cNvSpPr txBox="1"/>
          <p:nvPr/>
        </p:nvSpPr>
        <p:spPr>
          <a:xfrm>
            <a:off x="6492240" y="5349240"/>
            <a:ext cx="4892040" cy="822960"/>
          </a:xfrm>
          <a:prstGeom prst="rect">
            <a:avLst/>
          </a:prstGeom>
          <a:noFill/>
          <a:ln/>
        </p:spPr>
        <p:txBody>
          <a:bodyPr wrap="square" lIns="0" tIns="0" rIns="0" bIns="0" rtlCol="0" anchor="ctr"/>
          <a:lstStyle/>
          <a:p>
            <a:pPr indent="0" marL="0">
              <a:buNone/>
            </a:pPr>
            <a:r>
              <a:rPr lang="en-US" sz="1400" b="1" dirty="0">
                <a:solidFill>
                  <a:schemeClr val="tx1"/>
                </a:solidFill>
              </a:rPr>
              <a:t>Trained on the 4-bit base: </a:t>
            </a:r>
            <a:r>
              <a:rPr lang="en-US" sz="1400" dirty="0">
                <a:solidFill>
                  <a:schemeClr val="tx1"/>
                </a:solidFill>
              </a:rPr>
              <a:t>16-bit is close, not identical. Evaluate the form you deploy.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 decision checklist</a:t>
            </a:r>
            <a:endParaRPr lang="en-US" sz="3200" dirty="0"/>
          </a:p>
        </p:txBody>
      </p:sp>
      <p:sp>
        <p:nvSpPr>
          <p:cNvPr id="4" name="io Your job?"/>
          <p:cNvSpPr/>
          <p:nvPr/>
        </p:nvSpPr>
        <p:spPr>
          <a:xfrm>
            <a:off x="4937760" y="1280160"/>
            <a:ext cx="2286000" cy="594360"/>
          </a:xfrm>
          <a:prstGeom prst="rect">
            <a:avLst/>
          </a:prstGeom>
          <a:solidFill>
            <a:schemeClr val="bg1"/>
          </a:solidFill>
          <a:ln w="15875">
            <a:solidFill>
              <a:schemeClr val="tx2"/>
            </a:solidFill>
            <a:prstDash val="solid"/>
          </a:ln>
        </p:spPr>
      </p:sp>
      <p:sp>
        <p:nvSpPr>
          <p:cNvPr id="5" name="Text 2"/>
          <p:cNvSpPr txBox="1"/>
          <p:nvPr/>
        </p:nvSpPr>
        <p:spPr>
          <a:xfrm>
            <a:off x="4937760" y="1280160"/>
            <a:ext cx="2286000" cy="594360"/>
          </a:xfrm>
          <a:prstGeom prst="rect">
            <a:avLst/>
          </a:prstGeom>
          <a:noFill/>
          <a:ln/>
        </p:spPr>
        <p:txBody>
          <a:bodyPr wrap="square" lIns="0" tIns="0" rIns="0" bIns="0" rtlCol="0" anchor="ctr"/>
          <a:lstStyle/>
          <a:p>
            <a:pPr algn="ctr" indent="0" marL="0">
              <a:buNone/>
            </a:pPr>
            <a:r>
              <a:rPr lang="en-US" sz="1600" dirty="0">
                <a:solidFill>
                  <a:schemeClr val="tx1"/>
                </a:solidFill>
              </a:rPr>
              <a:t>Your job?</a:t>
            </a:r>
            <a:endParaRPr lang="en-US" sz="1600" dirty="0"/>
          </a:p>
        </p:txBody>
      </p:sp>
      <p:sp>
        <p:nvSpPr>
          <p:cNvPr id="6" name="Shape 3"/>
          <p:cNvSpPr/>
          <p:nvPr/>
        </p:nvSpPr>
        <p:spPr>
          <a:xfrm>
            <a:off x="5486400" y="1874520"/>
            <a:ext cx="-2377440" cy="457200"/>
          </a:xfrm>
          <a:prstGeom prst="line">
            <a:avLst/>
          </a:prstGeom>
          <a:noFill/>
          <a:ln w="22225">
            <a:solidFill>
              <a:schemeClr val="tx2"/>
            </a:solidFill>
            <a:prstDash val="solid"/>
            <a:tailEnd type="triangle"/>
          </a:ln>
        </p:spPr>
      </p:sp>
      <p:sp>
        <p:nvSpPr>
          <p:cNvPr id="7" name="Shape 4"/>
          <p:cNvSpPr/>
          <p:nvPr/>
        </p:nvSpPr>
        <p:spPr>
          <a:xfrm>
            <a:off x="6675120" y="1874520"/>
            <a:ext cx="2377440" cy="457200"/>
          </a:xfrm>
          <a:prstGeom prst="line">
            <a:avLst/>
          </a:prstGeom>
          <a:noFill/>
          <a:ln w="22225">
            <a:solidFill>
              <a:schemeClr val="tx2"/>
            </a:solidFill>
            <a:prstDash val="solid"/>
            <a:tailEnd type="triangle"/>
          </a:ln>
        </p:spPr>
      </p:sp>
      <p:sp>
        <p:nvSpPr>
          <p:cNvPr id="8" name="Text 5"/>
          <p:cNvSpPr txBox="1"/>
          <p:nvPr/>
        </p:nvSpPr>
        <p:spPr>
          <a:xfrm>
            <a:off x="1463040" y="1828800"/>
            <a:ext cx="2011680" cy="320040"/>
          </a:xfrm>
          <a:prstGeom prst="rect">
            <a:avLst/>
          </a:prstGeom>
          <a:noFill/>
          <a:ln/>
        </p:spPr>
        <p:txBody>
          <a:bodyPr wrap="square" lIns="0" tIns="0" rIns="0" bIns="0" rtlCol="0" anchor="t"/>
          <a:lstStyle/>
          <a:p>
            <a:pPr indent="0" marL="0">
              <a:buNone/>
            </a:pPr>
            <a:r>
              <a:rPr lang="en-US" sz="1400" b="1" dirty="0">
                <a:solidFill>
                  <a:schemeClr val="accent4"/>
                </a:solidFill>
              </a:rPr>
              <a:t>Fine-tune</a:t>
            </a:r>
            <a:endParaRPr lang="en-US" sz="1400" dirty="0"/>
          </a:p>
        </p:txBody>
      </p:sp>
      <p:sp>
        <p:nvSpPr>
          <p:cNvPr id="9" name="Text 6"/>
          <p:cNvSpPr txBox="1"/>
          <p:nvPr/>
        </p:nvSpPr>
        <p:spPr>
          <a:xfrm>
            <a:off x="8686800" y="1828800"/>
            <a:ext cx="2011680" cy="320040"/>
          </a:xfrm>
          <a:prstGeom prst="rect">
            <a:avLst/>
          </a:prstGeom>
          <a:noFill/>
          <a:ln/>
        </p:spPr>
        <p:txBody>
          <a:bodyPr wrap="square" lIns="0" tIns="0" rIns="0" bIns="0" rtlCol="0" anchor="t"/>
          <a:lstStyle/>
          <a:p>
            <a:pPr algn="r" indent="0" marL="0">
              <a:buNone/>
            </a:pPr>
            <a:r>
              <a:rPr lang="en-US" sz="1400" b="1" dirty="0">
                <a:solidFill>
                  <a:schemeClr val="accent1"/>
                </a:solidFill>
              </a:rPr>
              <a:t>Only run it</a:t>
            </a:r>
            <a:endParaRPr lang="en-US" sz="1400" dirty="0"/>
          </a:p>
        </p:txBody>
      </p:sp>
      <p:sp>
        <p:nvSpPr>
          <p:cNvPr id="10" name="io Does the 16-bit model + LoRA fit? (estimate, then measure"/>
          <p:cNvSpPr/>
          <p:nvPr/>
        </p:nvSpPr>
        <p:spPr>
          <a:xfrm>
            <a:off x="914400" y="2377440"/>
            <a:ext cx="4389120" cy="822960"/>
          </a:xfrm>
          <a:prstGeom prst="rect">
            <a:avLst/>
          </a:prstGeom>
          <a:solidFill>
            <a:schemeClr val="bg1"/>
          </a:solidFill>
          <a:ln w="15875">
            <a:solidFill>
              <a:schemeClr val="tx2"/>
            </a:solidFill>
            <a:prstDash val="solid"/>
          </a:ln>
        </p:spPr>
      </p:sp>
      <p:sp>
        <p:nvSpPr>
          <p:cNvPr id="11" name="Text 8"/>
          <p:cNvSpPr txBox="1"/>
          <p:nvPr/>
        </p:nvSpPr>
        <p:spPr>
          <a:xfrm>
            <a:off x="914400" y="2377440"/>
            <a:ext cx="4389120" cy="822960"/>
          </a:xfrm>
          <a:prstGeom prst="rect">
            <a:avLst/>
          </a:prstGeom>
          <a:noFill/>
          <a:ln/>
        </p:spPr>
        <p:txBody>
          <a:bodyPr wrap="square" lIns="0" tIns="0" rIns="0" bIns="0" rtlCol="0" anchor="ctr"/>
          <a:lstStyle/>
          <a:p>
            <a:pPr algn="ctr" indent="0" marL="0">
              <a:buNone/>
            </a:pPr>
            <a:r>
              <a:rPr lang="en-US" sz="1500" dirty="0">
                <a:solidFill>
                  <a:schemeClr val="tx1"/>
                </a:solidFill>
              </a:rPr>
              <a:t>Does the 16-bit model + LoRA fit? (estimate, then measure)</a:t>
            </a:r>
            <a:endParaRPr lang="en-US" sz="1500" dirty="0"/>
          </a:p>
        </p:txBody>
      </p:sp>
      <p:sp>
        <p:nvSpPr>
          <p:cNvPr id="12" name="Shape 9"/>
          <p:cNvSpPr/>
          <p:nvPr/>
        </p:nvSpPr>
        <p:spPr>
          <a:xfrm>
            <a:off x="2011680" y="3200400"/>
            <a:ext cx="0" cy="411480"/>
          </a:xfrm>
          <a:prstGeom prst="line">
            <a:avLst/>
          </a:prstGeom>
          <a:noFill/>
          <a:ln w="22225">
            <a:solidFill>
              <a:schemeClr val="tx2"/>
            </a:solidFill>
            <a:prstDash val="solid"/>
            <a:tailEnd type="triangle"/>
          </a:ln>
        </p:spPr>
      </p:sp>
      <p:sp>
        <p:nvSpPr>
          <p:cNvPr id="13" name="Shape 10"/>
          <p:cNvSpPr/>
          <p:nvPr/>
        </p:nvSpPr>
        <p:spPr>
          <a:xfrm>
            <a:off x="4206240" y="3200400"/>
            <a:ext cx="0" cy="411480"/>
          </a:xfrm>
          <a:prstGeom prst="line">
            <a:avLst/>
          </a:prstGeom>
          <a:noFill/>
          <a:ln w="22225">
            <a:solidFill>
              <a:schemeClr val="tx2"/>
            </a:solidFill>
            <a:prstDash val="solid"/>
            <a:tailEnd type="triangle"/>
          </a:ln>
        </p:spPr>
      </p:sp>
      <p:sp>
        <p:nvSpPr>
          <p:cNvPr id="14" name="Text 11"/>
          <p:cNvSpPr txBox="1"/>
          <p:nvPr/>
        </p:nvSpPr>
        <p:spPr>
          <a:xfrm>
            <a:off x="1463040" y="3246120"/>
            <a:ext cx="502920" cy="274320"/>
          </a:xfrm>
          <a:prstGeom prst="rect">
            <a:avLst/>
          </a:prstGeom>
          <a:noFill/>
          <a:ln/>
        </p:spPr>
        <p:txBody>
          <a:bodyPr wrap="square" lIns="0" tIns="0" rIns="0" bIns="0" rtlCol="0" anchor="t"/>
          <a:lstStyle/>
          <a:p>
            <a:pPr indent="0" marL="0">
              <a:buNone/>
            </a:pPr>
            <a:r>
              <a:rPr lang="en-US" sz="1300" dirty="0">
                <a:solidFill>
                  <a:schemeClr val="tx2"/>
                </a:solidFill>
              </a:rPr>
              <a:t>yes</a:t>
            </a:r>
            <a:endParaRPr lang="en-US" sz="1300" dirty="0"/>
          </a:p>
        </p:txBody>
      </p:sp>
      <p:sp>
        <p:nvSpPr>
          <p:cNvPr id="15" name="Text 12"/>
          <p:cNvSpPr txBox="1"/>
          <p:nvPr/>
        </p:nvSpPr>
        <p:spPr>
          <a:xfrm>
            <a:off x="4297680" y="3246120"/>
            <a:ext cx="457200" cy="274320"/>
          </a:xfrm>
          <a:prstGeom prst="rect">
            <a:avLst/>
          </a:prstGeom>
          <a:noFill/>
          <a:ln/>
        </p:spPr>
        <p:txBody>
          <a:bodyPr wrap="square" lIns="0" tIns="0" rIns="0" bIns="0" rtlCol="0" anchor="t"/>
          <a:lstStyle/>
          <a:p>
            <a:pPr indent="0" marL="0">
              <a:buNone/>
            </a:pPr>
            <a:r>
              <a:rPr lang="en-US" sz="1300" dirty="0">
                <a:solidFill>
                  <a:schemeClr val="tx2"/>
                </a:solidFill>
              </a:rPr>
              <a:t>no</a:t>
            </a:r>
            <a:endParaRPr lang="en-US" sz="1300" dirty="0"/>
          </a:p>
        </p:txBody>
      </p:sp>
      <p:sp>
        <p:nvSpPr>
          <p:cNvPr id="16" name="LoRA"/>
          <p:cNvSpPr/>
          <p:nvPr/>
        </p:nvSpPr>
        <p:spPr>
          <a:xfrm>
            <a:off x="548640" y="3657600"/>
            <a:ext cx="2514600" cy="2514600"/>
          </a:xfrm>
          <a:prstGeom prst="roundRect">
            <a:avLst>
              <a:gd name="adj" fmla="val 4364"/>
            </a:avLst>
          </a:prstGeom>
          <a:solidFill>
            <a:schemeClr val="accent6"/>
          </a:solidFill>
          <a:ln w="12700">
            <a:solidFill>
              <a:schemeClr val="accent6"/>
            </a:solidFill>
            <a:prstDash val="solid"/>
          </a:ln>
        </p:spPr>
      </p:sp>
      <p:sp>
        <p:nvSpPr>
          <p:cNvPr id="17" name="Text 14"/>
          <p:cNvSpPr txBox="1"/>
          <p:nvPr/>
        </p:nvSpPr>
        <p:spPr>
          <a:xfrm>
            <a:off x="731520" y="3749040"/>
            <a:ext cx="2148840" cy="2331720"/>
          </a:xfrm>
          <a:prstGeom prst="rect">
            <a:avLst/>
          </a:prstGeom>
          <a:noFill/>
          <a:ln/>
        </p:spPr>
        <p:txBody>
          <a:bodyPr wrap="square" lIns="0" tIns="0" rIns="0" bIns="0" rtlCol="0" anchor="ctr"/>
          <a:lstStyle/>
          <a:p>
            <a:pPr indent="0" marL="0">
              <a:buNone/>
            </a:pPr>
            <a:r>
              <a:rPr lang="en-US" sz="1700" b="1" dirty="0">
                <a:solidFill>
                  <a:schemeClr val="accent4"/>
                </a:solidFill>
              </a:rPr>
              <a:t>LoRA in 16-bit</a:t>
            </a:r>
            <a:endParaRPr lang="en-US" sz="1500" dirty="0"/>
          </a:p>
          <a:p>
            <a:pPr indent="0" marL="0">
              <a:buNone/>
            </a:pPr>
            <a:r>
              <a:rPr lang="en-US" sz="1500" dirty="0">
                <a:solidFill>
                  <a:schemeClr val="tx1"/>
                </a:solidFill>
              </a:rPr>
              <a:t>simpler and usually faster than QLoRA</a:t>
            </a:r>
            <a:endParaRPr lang="en-US" sz="1500" dirty="0"/>
          </a:p>
        </p:txBody>
      </p:sp>
      <p:sp>
        <p:nvSpPr>
          <p:cNvPr id="18" name="QLoRA"/>
          <p:cNvSpPr/>
          <p:nvPr/>
        </p:nvSpPr>
        <p:spPr>
          <a:xfrm>
            <a:off x="3246120" y="3657600"/>
            <a:ext cx="2514600" cy="2514600"/>
          </a:xfrm>
          <a:prstGeom prst="roundRect">
            <a:avLst>
              <a:gd name="adj" fmla="val 4364"/>
            </a:avLst>
          </a:prstGeom>
          <a:solidFill>
            <a:srgbClr val="DCEFF0"/>
          </a:solidFill>
          <a:ln w="12700">
            <a:solidFill>
              <a:srgbClr val="DCEFF0"/>
            </a:solidFill>
            <a:prstDash val="solid"/>
          </a:ln>
        </p:spPr>
      </p:sp>
      <p:sp>
        <p:nvSpPr>
          <p:cNvPr id="19" name="Text 16"/>
          <p:cNvSpPr txBox="1"/>
          <p:nvPr/>
        </p:nvSpPr>
        <p:spPr>
          <a:xfrm>
            <a:off x="3429000" y="3749040"/>
            <a:ext cx="2148840" cy="2331720"/>
          </a:xfrm>
          <a:prstGeom prst="rect">
            <a:avLst/>
          </a:prstGeom>
          <a:noFill/>
          <a:ln/>
        </p:spPr>
        <p:txBody>
          <a:bodyPr wrap="square" lIns="0" tIns="0" rIns="0" bIns="0" rtlCol="0" anchor="ctr"/>
          <a:lstStyle/>
          <a:p>
            <a:pPr indent="0" marL="0">
              <a:buNone/>
            </a:pPr>
            <a:r>
              <a:rPr lang="en-US" sz="1700" b="1" dirty="0">
                <a:solidFill>
                  <a:schemeClr val="accent1"/>
                </a:solidFill>
              </a:rPr>
              <a:t>QLoRA</a:t>
            </a:r>
            <a:endParaRPr lang="en-US" sz="1500" dirty="0"/>
          </a:p>
          <a:p>
            <a:pPr indent="0" marL="0">
              <a:buNone/>
            </a:pPr>
            <a:r>
              <a:rPr lang="en-US" sz="1500" dirty="0">
                <a:solidFill>
                  <a:schemeClr val="tx1"/>
                </a:solidFill>
              </a:rPr>
              <a:t>NF4 + double quantization, fp16/bf16 compute, all-linear adapters, gradient checkpointing</a:t>
            </a:r>
            <a:endParaRPr lang="en-US" sz="1500" dirty="0"/>
          </a:p>
        </p:txBody>
      </p:sp>
      <p:sp>
        <p:nvSpPr>
          <p:cNvPr id="20" name="GPU server, many users"/>
          <p:cNvSpPr/>
          <p:nvPr/>
        </p:nvSpPr>
        <p:spPr>
          <a:xfrm>
            <a:off x="6446520" y="2377440"/>
            <a:ext cx="5166360" cy="1161288"/>
          </a:xfrm>
          <a:prstGeom prst="roundRect">
            <a:avLst>
              <a:gd name="adj" fmla="val 9449"/>
            </a:avLst>
          </a:prstGeom>
          <a:solidFill>
            <a:schemeClr val="bg2"/>
          </a:solidFill>
          <a:ln w="12700">
            <a:solidFill>
              <a:schemeClr val="bg2"/>
            </a:solidFill>
            <a:prstDash val="solid"/>
          </a:ln>
        </p:spPr>
      </p:sp>
      <p:sp>
        <p:nvSpPr>
          <p:cNvPr id="21" name="Text 18"/>
          <p:cNvSpPr txBox="1"/>
          <p:nvPr/>
        </p:nvSpPr>
        <p:spPr>
          <a:xfrm>
            <a:off x="6675120" y="2377440"/>
            <a:ext cx="4800600" cy="1161288"/>
          </a:xfrm>
          <a:prstGeom prst="rect">
            <a:avLst/>
          </a:prstGeom>
          <a:noFill/>
          <a:ln/>
        </p:spPr>
        <p:txBody>
          <a:bodyPr wrap="square" lIns="0" tIns="0" rIns="0" bIns="0" rtlCol="0" anchor="ctr"/>
          <a:lstStyle/>
          <a:p>
            <a:pPr indent="0" marL="0">
              <a:buNone/>
            </a:pPr>
            <a:r>
              <a:rPr lang="en-US" sz="1500" b="1" dirty="0">
                <a:solidFill>
                  <a:schemeClr val="tx1"/>
                </a:solidFill>
              </a:rPr>
              <a:t>GPU server, many users</a:t>
            </a:r>
            <a:endParaRPr lang="en-US" sz="1500" dirty="0"/>
          </a:p>
          <a:p>
            <a:pPr indent="0" marL="0">
              <a:buNone/>
            </a:pPr>
            <a:r>
              <a:rPr lang="en-US" sz="1500" dirty="0">
                <a:solidFill>
                  <a:schemeClr val="tx2"/>
                </a:solidFill>
              </a:rPr>
              <a:t>GPTQ or AWQ checkpoint, served with vLLM or TGI</a:t>
            </a:r>
            <a:endParaRPr lang="en-US" sz="1500" dirty="0"/>
          </a:p>
        </p:txBody>
      </p:sp>
      <p:sp>
        <p:nvSpPr>
          <p:cNvPr id="22" name="Laptop or CPU"/>
          <p:cNvSpPr/>
          <p:nvPr/>
        </p:nvSpPr>
        <p:spPr>
          <a:xfrm>
            <a:off x="6446520" y="3675888"/>
            <a:ext cx="5166360" cy="1161288"/>
          </a:xfrm>
          <a:prstGeom prst="roundRect">
            <a:avLst>
              <a:gd name="adj" fmla="val 9449"/>
            </a:avLst>
          </a:prstGeom>
          <a:solidFill>
            <a:schemeClr val="bg2"/>
          </a:solidFill>
          <a:ln w="12700">
            <a:solidFill>
              <a:schemeClr val="bg2"/>
            </a:solidFill>
            <a:prstDash val="solid"/>
          </a:ln>
        </p:spPr>
      </p:sp>
      <p:sp>
        <p:nvSpPr>
          <p:cNvPr id="23" name="Text 20"/>
          <p:cNvSpPr txBox="1"/>
          <p:nvPr/>
        </p:nvSpPr>
        <p:spPr>
          <a:xfrm>
            <a:off x="6675120" y="3675888"/>
            <a:ext cx="4800600" cy="1161288"/>
          </a:xfrm>
          <a:prstGeom prst="rect">
            <a:avLst/>
          </a:prstGeom>
          <a:noFill/>
          <a:ln/>
        </p:spPr>
        <p:txBody>
          <a:bodyPr wrap="square" lIns="0" tIns="0" rIns="0" bIns="0" rtlCol="0" anchor="ctr"/>
          <a:lstStyle/>
          <a:p>
            <a:pPr indent="0" marL="0">
              <a:buNone/>
            </a:pPr>
            <a:r>
              <a:rPr lang="en-US" sz="1500" b="1" dirty="0">
                <a:solidFill>
                  <a:schemeClr val="tx1"/>
                </a:solidFill>
              </a:rPr>
              <a:t>Laptop or CPU</a:t>
            </a:r>
            <a:endParaRPr lang="en-US" sz="1500" dirty="0"/>
          </a:p>
          <a:p>
            <a:pPr indent="0" marL="0">
              <a:buNone/>
            </a:pPr>
            <a:r>
              <a:rPr lang="en-US" sz="1500" dirty="0">
                <a:solidFill>
                  <a:schemeClr val="tx2"/>
                </a:solidFill>
              </a:rPr>
              <a:t>GGUF (q4_k_m is a common start) with llama.cpp or Ollama</a:t>
            </a:r>
            <a:endParaRPr lang="en-US" sz="1500" dirty="0"/>
          </a:p>
        </p:txBody>
      </p:sp>
      <p:sp>
        <p:nvSpPr>
          <p:cNvPr id="24" name="Quick experiment in Python"/>
          <p:cNvSpPr/>
          <p:nvPr/>
        </p:nvSpPr>
        <p:spPr>
          <a:xfrm>
            <a:off x="6446520" y="4974336"/>
            <a:ext cx="5166360" cy="1161288"/>
          </a:xfrm>
          <a:prstGeom prst="roundRect">
            <a:avLst>
              <a:gd name="adj" fmla="val 9449"/>
            </a:avLst>
          </a:prstGeom>
          <a:solidFill>
            <a:schemeClr val="bg2"/>
          </a:solidFill>
          <a:ln w="12700">
            <a:solidFill>
              <a:schemeClr val="bg2"/>
            </a:solidFill>
            <a:prstDash val="solid"/>
          </a:ln>
        </p:spPr>
      </p:sp>
      <p:sp>
        <p:nvSpPr>
          <p:cNvPr id="25" name="Text 22"/>
          <p:cNvSpPr txBox="1"/>
          <p:nvPr/>
        </p:nvSpPr>
        <p:spPr>
          <a:xfrm>
            <a:off x="6675120" y="4974336"/>
            <a:ext cx="4800600" cy="1161288"/>
          </a:xfrm>
          <a:prstGeom prst="rect">
            <a:avLst/>
          </a:prstGeom>
          <a:noFill/>
          <a:ln/>
        </p:spPr>
        <p:txBody>
          <a:bodyPr wrap="square" lIns="0" tIns="0" rIns="0" bIns="0" rtlCol="0" anchor="ctr"/>
          <a:lstStyle/>
          <a:p>
            <a:pPr indent="0" marL="0">
              <a:buNone/>
            </a:pPr>
            <a:r>
              <a:rPr lang="en-US" sz="1500" b="1" dirty="0">
                <a:solidFill>
                  <a:schemeClr val="tx1"/>
                </a:solidFill>
              </a:rPr>
              <a:t>Quick experiment in Python</a:t>
            </a:r>
            <a:endParaRPr lang="en-US" sz="1500" dirty="0"/>
          </a:p>
          <a:p>
            <a:pPr indent="0" marL="0">
              <a:buNone/>
            </a:pPr>
            <a:r>
              <a:rPr lang="en-US" sz="1500" dirty="0">
                <a:solidFill>
                  <a:schemeClr val="tx2"/>
                </a:solidFill>
              </a:rPr>
              <a:t>bitsandbytes 8-bit or 4-bit at load time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Common pitfalls</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291840"/>
                <a:gridCol w="3657600"/>
                <a:gridCol w="4114800"/>
              </a:tblGrid>
              <a:tr h="457200">
                <a:tc>
                  <a:txBody>
                    <a:bodyPr/>
                    <a:lstStyle/>
                    <a:p>
                      <a:pPr indent="0" marL="0">
                        <a:buNone/>
                      </a:pPr>
                      <a:r>
                        <a:rPr lang="en-US" sz="1400" b="1" dirty="0">
                          <a:solidFill>
                            <a:schemeClr val="bg1"/>
                          </a:solidFill>
                        </a:rPr>
                        <a:t>Pitfall</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What happens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What to do instead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tx1"/>
                          </a:solidFill>
                        </a:rPr>
                        <a:t>Expecting quantization to be faster</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load-time 4-bit is often slower than 16-bit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quantize to save memory; measure speed separately</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bf16 compute dtype on a T4</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errors or very slow emulation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torch.float16 and fp16=True on Turing GPUs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Comparing under different conditions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differences come from prompts or decoding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same prompts, decoding settings and evaluation set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Merging into the 4-bit weights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the update is partly lost to rounding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merge into a 16-bit copy of the base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Trusting “4-bit is as good as 16-bit”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loss depends on model size, task and format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evaluate the quantized model on your task</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rPr>
                        <a:t>Forgetting activations and KV cache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out of memory with long sequences or big batches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checkpointing, shorter sequences, smaller batches; measure peak</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rPr>
                        <a:t>Library version clashes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import errors in bitsandbytes, peft or torchao</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note working versions; torchao fix from Lecture 1</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5" name="unchanged"/>
          <p:cNvSpPr/>
          <p:nvPr/>
        </p:nvSpPr>
        <p:spPr>
          <a:xfrm>
            <a:off x="548640" y="5166360"/>
            <a:ext cx="11064240" cy="1005840"/>
          </a:xfrm>
          <a:prstGeom prst="roundRect">
            <a:avLst>
              <a:gd name="adj" fmla="val 10909"/>
            </a:avLst>
          </a:prstGeom>
          <a:solidFill>
            <a:schemeClr val="tx1"/>
          </a:solidFill>
          <a:ln w="12700">
            <a:solidFill>
              <a:schemeClr val="tx1"/>
            </a:solidFill>
            <a:prstDash val="solid"/>
          </a:ln>
        </p:spPr>
      </p:sp>
      <p:sp>
        <p:nvSpPr>
          <p:cNvPr id="6" name="Text 2"/>
          <p:cNvSpPr txBox="1"/>
          <p:nvPr/>
        </p:nvSpPr>
        <p:spPr>
          <a:xfrm>
            <a:off x="777240" y="5166360"/>
            <a:ext cx="10607040" cy="1005840"/>
          </a:xfrm>
          <a:prstGeom prst="rect">
            <a:avLst/>
          </a:prstGeom>
          <a:noFill/>
          <a:ln/>
        </p:spPr>
        <p:txBody>
          <a:bodyPr wrap="square" lIns="0" tIns="0" rIns="0" bIns="0" rtlCol="0" anchor="ctr"/>
          <a:lstStyle/>
          <a:p>
            <a:pPr indent="0" marL="0">
              <a:buNone/>
            </a:pPr>
            <a:r>
              <a:rPr lang="en-US" sz="1500" b="1" dirty="0">
                <a:solidFill>
                  <a:schemeClr val="accent2"/>
                </a:solidFill>
              </a:rPr>
              <a:t>What quantization does not change: </a:t>
            </a:r>
            <a:r>
              <a:rPr lang="en-US" sz="1500" dirty="0">
                <a:solidFill>
                  <a:schemeClr val="bg1"/>
                </a:solidFill>
              </a:rPr>
              <a:t>the behaviour is still the original model's, plus a small error. It neither causes nor fixes hallucinations. Evaluate base, quantized base and fine-tuned model on the same examples.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Measured: memory down, speed down too</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22</a:t>
            </a:r>
            <a:endParaRPr lang="en-US" sz="1400" dirty="0"/>
          </a:p>
        </p:txBody>
      </p:sp>
      <p:graphicFrame>
        <p:nvGraphicFramePr>
          <p:cNvPr id="6" name="Chart 0" descr=""/>
          <p:cNvGraphicFramePr/>
          <p:nvPr/>
        </p:nvGraphicFramePr>
        <p:xfrm>
          <a:off x="548640" y="1234440"/>
          <a:ext cx="365760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4480560" y="1234440"/>
          <a:ext cx="3108960" cy="3291840"/>
        </p:xfrm>
        <a:graphic xmlns:a="http://schemas.openxmlformats.org/drawingml/2006/main">
          <a:graphicData uri="http://schemas.openxmlformats.org/drawingml/2006/chart">
            <c:chart xmlns:c="http://schemas.openxmlformats.org/drawingml/2006/chart" r:id="rId2"/>
          </a:graphicData>
        </a:graphic>
      </p:graphicFrame>
      <p:sp>
        <p:nvSpPr>
          <p:cNvPr id="8" name="Text 3"/>
          <p:cNvSpPr txBox="1"/>
          <p:nvPr/>
        </p:nvSpPr>
        <p:spPr>
          <a:xfrm>
            <a:off x="548640" y="4572000"/>
            <a:ext cx="7040880" cy="320040"/>
          </a:xfrm>
          <a:prstGeom prst="rect">
            <a:avLst/>
          </a:prstGeom>
          <a:noFill/>
          <a:ln/>
        </p:spPr>
        <p:txBody>
          <a:bodyPr wrap="square" lIns="0" tIns="0" rIns="0" bIns="0" rtlCol="0" anchor="t"/>
          <a:lstStyle/>
          <a:p>
            <a:pPr indent="0" marL="0">
              <a:buNone/>
            </a:pPr>
            <a:r>
              <a:rPr lang="en-US" sz="1300" dirty="0">
                <a:solidFill>
                  <a:schemeClr val="tx2"/>
                </a:solidFill>
              </a:rPr>
              <a:t>Qwen2.5-1.5B-Instruct · Kaggle T4 · PyTorch 2.10 · transformers 5.0 · 64 new tokens</a:t>
            </a:r>
            <a:endParaRPr lang="en-US" sz="1300" dirty="0"/>
          </a:p>
        </p:txBody>
      </p:sp>
      <p:sp>
        <p:nvSpPr>
          <p:cNvPr id="9" name="of the fp16 memory, not 25%"/>
          <p:cNvSpPr/>
          <p:nvPr/>
        </p:nvSpPr>
        <p:spPr>
          <a:xfrm>
            <a:off x="548640" y="4983480"/>
            <a:ext cx="3383280" cy="1188720"/>
          </a:xfrm>
          <a:prstGeom prst="roundRect">
            <a:avLst>
              <a:gd name="adj" fmla="val 9231"/>
            </a:avLst>
          </a:prstGeom>
          <a:solidFill>
            <a:schemeClr val="bg2"/>
          </a:solidFill>
          <a:ln w="12700">
            <a:solidFill>
              <a:schemeClr val="bg2"/>
            </a:solidFill>
            <a:prstDash val="solid"/>
          </a:ln>
        </p:spPr>
      </p:sp>
      <p:sp>
        <p:nvSpPr>
          <p:cNvPr id="10" name="Text 5"/>
          <p:cNvSpPr txBox="1"/>
          <p:nvPr/>
        </p:nvSpPr>
        <p:spPr>
          <a:xfrm>
            <a:off x="777240" y="5093208"/>
            <a:ext cx="2926080" cy="640080"/>
          </a:xfrm>
          <a:prstGeom prst="rect">
            <a:avLst/>
          </a:prstGeom>
          <a:noFill/>
          <a:ln/>
        </p:spPr>
        <p:txBody>
          <a:bodyPr wrap="square" lIns="0" tIns="0" rIns="0" bIns="0" rtlCol="0" anchor="b"/>
          <a:lstStyle/>
          <a:p>
            <a:pPr indent="0" marL="0">
              <a:buNone/>
            </a:pPr>
            <a:r>
              <a:rPr lang="en-US" sz="2800" b="1" dirty="0">
                <a:solidFill>
                  <a:schemeClr val="accent1"/>
                </a:solidFill>
                <a:latin typeface="Cambria" pitchFamily="34" charset="0"/>
                <a:ea typeface="Cambria" pitchFamily="34" charset="-122"/>
                <a:cs typeface="Cambria" pitchFamily="34" charset="-120"/>
              </a:rPr>
              <a:t>38%</a:t>
            </a:r>
            <a:endParaRPr lang="en-US" sz="2800" dirty="0"/>
          </a:p>
        </p:txBody>
      </p:sp>
      <p:sp>
        <p:nvSpPr>
          <p:cNvPr id="11" name="Text 6"/>
          <p:cNvSpPr txBox="1"/>
          <p:nvPr/>
        </p:nvSpPr>
        <p:spPr>
          <a:xfrm>
            <a:off x="777240" y="5788152"/>
            <a:ext cx="2926080" cy="292608"/>
          </a:xfrm>
          <a:prstGeom prst="rect">
            <a:avLst/>
          </a:prstGeom>
          <a:noFill/>
          <a:ln/>
        </p:spPr>
        <p:txBody>
          <a:bodyPr wrap="square" lIns="0" tIns="0" rIns="0" bIns="0" rtlCol="0" anchor="t"/>
          <a:lstStyle/>
          <a:p>
            <a:pPr indent="0" marL="0">
              <a:buNone/>
            </a:pPr>
            <a:r>
              <a:rPr lang="en-US" sz="1400" dirty="0">
                <a:solidFill>
                  <a:schemeClr val="tx2"/>
                </a:solidFill>
              </a:rPr>
              <a:t>of the fp16 memory, not 25%</a:t>
            </a:r>
            <a:endParaRPr lang="en-US" sz="1400" dirty="0"/>
          </a:p>
        </p:txBody>
      </p:sp>
      <p:sp>
        <p:nvSpPr>
          <p:cNvPr id="12" name="memory, not time"/>
          <p:cNvSpPr/>
          <p:nvPr/>
        </p:nvSpPr>
        <p:spPr>
          <a:xfrm>
            <a:off x="4206240" y="4983480"/>
            <a:ext cx="3383280" cy="1188720"/>
          </a:xfrm>
          <a:prstGeom prst="roundRect">
            <a:avLst>
              <a:gd name="adj" fmla="val 9231"/>
            </a:avLst>
          </a:prstGeom>
          <a:solidFill>
            <a:schemeClr val="accent6"/>
          </a:solidFill>
          <a:ln w="12700">
            <a:solidFill>
              <a:schemeClr val="accent6"/>
            </a:solidFill>
            <a:prstDash val="solid"/>
          </a:ln>
        </p:spPr>
      </p:sp>
      <p:sp>
        <p:nvSpPr>
          <p:cNvPr id="13" name="Text 8"/>
          <p:cNvSpPr txBox="1"/>
          <p:nvPr/>
        </p:nvSpPr>
        <p:spPr>
          <a:xfrm>
            <a:off x="4434840" y="5093208"/>
            <a:ext cx="2926080" cy="640080"/>
          </a:xfrm>
          <a:prstGeom prst="rect">
            <a:avLst/>
          </a:prstGeom>
          <a:noFill/>
          <a:ln/>
        </p:spPr>
        <p:txBody>
          <a:bodyPr wrap="square" lIns="0" tIns="0" rIns="0" bIns="0" rtlCol="0" anchor="b"/>
          <a:lstStyle/>
          <a:p>
            <a:pPr indent="0" marL="0">
              <a:buNone/>
            </a:pPr>
            <a:r>
              <a:rPr lang="en-US" sz="2800" b="1" dirty="0">
                <a:solidFill>
                  <a:schemeClr val="accent3"/>
                </a:solidFill>
                <a:latin typeface="Cambria" pitchFamily="34" charset="0"/>
                <a:ea typeface="Cambria" pitchFamily="34" charset="-122"/>
                <a:cs typeface="Cambria" pitchFamily="34" charset="-120"/>
              </a:rPr>
              <a:t>25% slower</a:t>
            </a:r>
            <a:endParaRPr lang="en-US" sz="2800" dirty="0"/>
          </a:p>
        </p:txBody>
      </p:sp>
      <p:sp>
        <p:nvSpPr>
          <p:cNvPr id="14" name="Text 9"/>
          <p:cNvSpPr txBox="1"/>
          <p:nvPr/>
        </p:nvSpPr>
        <p:spPr>
          <a:xfrm>
            <a:off x="4434840" y="5788152"/>
            <a:ext cx="2926080" cy="292608"/>
          </a:xfrm>
          <a:prstGeom prst="rect">
            <a:avLst/>
          </a:prstGeom>
          <a:noFill/>
          <a:ln/>
        </p:spPr>
        <p:txBody>
          <a:bodyPr wrap="square" lIns="0" tIns="0" rIns="0" bIns="0" rtlCol="0" anchor="t"/>
          <a:lstStyle/>
          <a:p>
            <a:pPr indent="0" marL="0">
              <a:buNone/>
            </a:pPr>
            <a:r>
              <a:rPr lang="en-US" sz="1400" dirty="0">
                <a:solidFill>
                  <a:schemeClr val="tx2"/>
                </a:solidFill>
              </a:rPr>
              <a:t>memory, not time</a:t>
            </a:r>
            <a:endParaRPr lang="en-US" sz="1400" dirty="0"/>
          </a:p>
        </p:txBody>
      </p:sp>
      <p:sp>
        <p:nvSpPr>
          <p:cNvPr id="15" name="outputs"/>
          <p:cNvSpPr/>
          <p:nvPr/>
        </p:nvSpPr>
        <p:spPr>
          <a:xfrm>
            <a:off x="7863840" y="1280160"/>
            <a:ext cx="3749040" cy="4892040"/>
          </a:xfrm>
          <a:prstGeom prst="roundRect">
            <a:avLst>
              <a:gd name="adj" fmla="val 2927"/>
            </a:avLst>
          </a:prstGeom>
          <a:solidFill>
            <a:schemeClr val="bg2"/>
          </a:solidFill>
          <a:ln w="12700">
            <a:solidFill>
              <a:schemeClr val="bg2"/>
            </a:solidFill>
            <a:prstDash val="solid"/>
          </a:ln>
        </p:spPr>
      </p:sp>
      <p:sp>
        <p:nvSpPr>
          <p:cNvPr id="16" name="Text 11"/>
          <p:cNvSpPr txBox="1"/>
          <p:nvPr/>
        </p:nvSpPr>
        <p:spPr>
          <a:xfrm>
            <a:off x="8092440" y="1417320"/>
            <a:ext cx="3291840" cy="365760"/>
          </a:xfrm>
          <a:prstGeom prst="rect">
            <a:avLst/>
          </a:prstGeom>
          <a:noFill/>
          <a:ln/>
        </p:spPr>
        <p:txBody>
          <a:bodyPr wrap="square" lIns="0" tIns="0" rIns="0" bIns="0" rtlCol="0" anchor="t"/>
          <a:lstStyle/>
          <a:p>
            <a:pPr indent="0" marL="0">
              <a:buNone/>
            </a:pPr>
            <a:r>
              <a:rPr lang="en-US" sz="1600" b="1" dirty="0">
                <a:solidFill>
                  <a:schemeClr val="tx1"/>
                </a:solidFill>
              </a:rPr>
              <a:t>Same prompt, greedy decoding</a:t>
            </a:r>
            <a:endParaRPr lang="en-US" sz="1600" dirty="0"/>
          </a:p>
        </p:txBody>
      </p:sp>
      <p:sp>
        <p:nvSpPr>
          <p:cNvPr id="17" name="Text 12"/>
          <p:cNvSpPr txBox="1"/>
          <p:nvPr/>
        </p:nvSpPr>
        <p:spPr>
          <a:xfrm>
            <a:off x="8092440" y="1874520"/>
            <a:ext cx="3291840" cy="1188720"/>
          </a:xfrm>
          <a:prstGeom prst="rect">
            <a:avLst/>
          </a:prstGeom>
          <a:noFill/>
          <a:ln/>
        </p:spPr>
        <p:txBody>
          <a:bodyPr wrap="square" lIns="0" tIns="0" rIns="0" bIns="0" rtlCol="0" anchor="t"/>
          <a:lstStyle/>
          <a:p>
            <a:pPr indent="0" marL="0">
              <a:buNone/>
            </a:pPr>
            <a:r>
              <a:rPr lang="en-US" sz="1400" b="1" dirty="0">
                <a:solidFill>
                  <a:schemeClr val="tx2"/>
                </a:solidFill>
              </a:rPr>
              <a:t>fp16: </a:t>
            </a:r>
            <a:r>
              <a:rPr lang="en-US" sz="1400" i="1" dirty="0">
                <a:solidFill>
                  <a:schemeClr val="tx1"/>
                </a:solidFill>
              </a:rPr>
              <a:t>“…limited memory because it is designed to handle multiple tasks simultaneously…”</a:t>
            </a:r>
            <a:endParaRPr lang="en-US" sz="1400" dirty="0"/>
          </a:p>
        </p:txBody>
      </p:sp>
      <p:sp>
        <p:nvSpPr>
          <p:cNvPr id="18" name="Text 13"/>
          <p:cNvSpPr txBox="1"/>
          <p:nvPr/>
        </p:nvSpPr>
        <p:spPr>
          <a:xfrm>
            <a:off x="8092440" y="3108960"/>
            <a:ext cx="3291840" cy="1188720"/>
          </a:xfrm>
          <a:prstGeom prst="rect">
            <a:avLst/>
          </a:prstGeom>
          <a:noFill/>
          <a:ln/>
        </p:spPr>
        <p:txBody>
          <a:bodyPr wrap="square" lIns="0" tIns="0" rIns="0" bIns="0" rtlCol="0" anchor="t"/>
          <a:lstStyle/>
          <a:p>
            <a:pPr indent="0" marL="0">
              <a:buNone/>
            </a:pPr>
            <a:r>
              <a:rPr lang="en-US" sz="1400" b="1" dirty="0">
                <a:solidFill>
                  <a:schemeClr val="accent1"/>
                </a:solidFill>
              </a:rPr>
              <a:t>NF4: </a:t>
            </a:r>
            <a:r>
              <a:rPr lang="en-US" sz="1400" i="1" dirty="0">
                <a:solidFill>
                  <a:schemeClr val="tx1"/>
                </a:solidFill>
              </a:rPr>
              <a:t>“…does not have the same level of memory capacity as a Central Processing Unit (CPU)…”</a:t>
            </a:r>
            <a:endParaRPr lang="en-US" sz="1400" dirty="0"/>
          </a:p>
        </p:txBody>
      </p:sp>
      <p:sp>
        <p:nvSpPr>
          <p:cNvPr id="19" name="Text 14"/>
          <p:cNvSpPr txBox="1"/>
          <p:nvPr/>
        </p:nvSpPr>
        <p:spPr>
          <a:xfrm>
            <a:off x="8092440" y="4389120"/>
            <a:ext cx="3291840" cy="1645920"/>
          </a:xfrm>
          <a:prstGeom prst="rect">
            <a:avLst/>
          </a:prstGeom>
          <a:noFill/>
          <a:ln/>
        </p:spPr>
        <p:txBody>
          <a:bodyPr wrap="square" lIns="0" tIns="0" rIns="0" bIns="0" rtlCol="0" anchor="t"/>
          <a:lstStyle/>
          <a:p>
            <a:pPr indent="0" marL="0">
              <a:buNone/>
            </a:pPr>
            <a:r>
              <a:rPr lang="en-US" sz="1400" b="1" dirty="0">
                <a:solidFill>
                  <a:schemeClr val="tx1"/>
                </a:solidFill>
              </a:rPr>
              <a:t>Different from the first sentence; neither is a good answer. </a:t>
            </a:r>
            <a:r>
              <a:rPr lang="en-US" sz="1400" dirty="0">
                <a:solidFill>
                  <a:schemeClr val="tx2"/>
                </a:solidFill>
              </a:rPr>
              <a:t>Quantization changes the details; it neither causes nor fixes a small model's weaknesses.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 4-bit layer, and the real peak</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cells 24, 26</a:t>
            </a:r>
            <a:endParaRPr lang="en-US" sz="1400" dirty="0"/>
          </a:p>
        </p:txBody>
      </p:sp>
      <p:sp>
        <p:nvSpPr>
          <p:cNvPr id="6" name="layer"/>
          <p:cNvSpPr/>
          <p:nvPr/>
        </p:nvSpPr>
        <p:spPr>
          <a:xfrm>
            <a:off x="548640" y="1280160"/>
            <a:ext cx="6035040" cy="2286000"/>
          </a:xfrm>
          <a:prstGeom prst="roundRect">
            <a:avLst>
              <a:gd name="adj" fmla="val 4800"/>
            </a:avLst>
          </a:prstGeom>
          <a:solidFill>
            <a:schemeClr val="tx1"/>
          </a:solidFill>
          <a:ln w="12700">
            <a:solidFill>
              <a:schemeClr val="tx1"/>
            </a:solidFill>
            <a:prstDash val="solid"/>
          </a:ln>
        </p:spPr>
      </p:sp>
      <p:sp>
        <p:nvSpPr>
          <p:cNvPr id="7" name="Text 4"/>
          <p:cNvSpPr txBox="1"/>
          <p:nvPr/>
        </p:nvSpPr>
        <p:spPr>
          <a:xfrm>
            <a:off x="777240" y="1371600"/>
            <a:ext cx="5669280" cy="2103120"/>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bitsandbytes.nn.modules.Linear4bit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stored weight: torch.uint8 (6881280, 1)</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original shape (out, in): (1536, 8960)</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quant type: nf4 | block size: 64</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double-quantized scales: True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embedding table dtype: torch.float16</a:t>
            </a:r>
            <a:endParaRPr lang="en-US" sz="1300" dirty="0"/>
          </a:p>
        </p:txBody>
      </p:sp>
      <p:sp>
        <p:nvSpPr>
          <p:cNvPr id="8" name="Text 5"/>
          <p:cNvSpPr txBox="1"/>
          <p:nvPr/>
        </p:nvSpPr>
        <p:spPr>
          <a:xfrm>
            <a:off x="548640" y="3703320"/>
            <a:ext cx="6035040" cy="685800"/>
          </a:xfrm>
          <a:prstGeom prst="rect">
            <a:avLst/>
          </a:prstGeom>
          <a:noFill/>
          <a:ln/>
        </p:spPr>
        <p:txBody>
          <a:bodyPr wrap="square" lIns="0" tIns="0" rIns="0" bIns="0" rtlCol="0" anchor="t"/>
          <a:lstStyle/>
          <a:p>
            <a:pPr indent="0" marL="0">
              <a:buNone/>
            </a:pPr>
            <a:r>
              <a:rPr lang="en-US" sz="1500" b="1" dirty="0">
                <a:solidFill>
                  <a:schemeClr val="tx1"/>
                </a:solidFill>
              </a:rPr>
              <a:t>6,881,280 = 13,762,560 ÷ 2: </a:t>
            </a:r>
            <a:r>
              <a:rPr lang="en-US" sz="1500" dirty="0">
                <a:solidFill>
                  <a:schemeClr val="tx1"/>
                </a:solidFill>
              </a:rPr>
              <a:t>two 4-bit codes per byte. The embedding table stays 16-bit.</a:t>
            </a:r>
            <a:endParaRPr lang="en-US" sz="1500" dirty="0"/>
          </a:p>
        </p:txBody>
      </p:sp>
      <p:sp>
        <p:nvSpPr>
          <p:cNvPr id="9" name="trainable (peft) = the Section 1 formula, all linear, r = 16"/>
          <p:cNvSpPr/>
          <p:nvPr/>
        </p:nvSpPr>
        <p:spPr>
          <a:xfrm>
            <a:off x="548640" y="4526280"/>
            <a:ext cx="2880360" cy="1645920"/>
          </a:xfrm>
          <a:prstGeom prst="roundRect">
            <a:avLst>
              <a:gd name="adj" fmla="val 6667"/>
            </a:avLst>
          </a:prstGeom>
          <a:solidFill>
            <a:schemeClr val="accent6"/>
          </a:solidFill>
          <a:ln w="12700">
            <a:solidFill>
              <a:schemeClr val="accent6"/>
            </a:solidFill>
            <a:prstDash val="solid"/>
          </a:ln>
        </p:spPr>
      </p:sp>
      <p:sp>
        <p:nvSpPr>
          <p:cNvPr id="10" name="Text 7"/>
          <p:cNvSpPr txBox="1"/>
          <p:nvPr/>
        </p:nvSpPr>
        <p:spPr>
          <a:xfrm>
            <a:off x="777240" y="4636008"/>
            <a:ext cx="2423160" cy="640080"/>
          </a:xfrm>
          <a:prstGeom prst="rect">
            <a:avLst/>
          </a:prstGeom>
          <a:noFill/>
          <a:ln/>
        </p:spPr>
        <p:txBody>
          <a:bodyPr wrap="square" lIns="0" tIns="0" rIns="0" bIns="0" rtlCol="0" anchor="b"/>
          <a:lstStyle/>
          <a:p>
            <a:pPr indent="0" marL="0">
              <a:buNone/>
            </a:pPr>
            <a:r>
              <a:rPr lang="en-US" sz="2400" b="1" dirty="0">
                <a:solidFill>
                  <a:schemeClr val="accent4"/>
                </a:solidFill>
                <a:latin typeface="Cambria" pitchFamily="34" charset="0"/>
                <a:ea typeface="Cambria" pitchFamily="34" charset="-122"/>
                <a:cs typeface="Cambria" pitchFamily="34" charset="-120"/>
              </a:rPr>
              <a:t>18,464,768</a:t>
            </a:r>
            <a:endParaRPr lang="en-US" sz="2400" dirty="0"/>
          </a:p>
        </p:txBody>
      </p:sp>
      <p:sp>
        <p:nvSpPr>
          <p:cNvPr id="11" name="Text 8"/>
          <p:cNvSpPr txBox="1"/>
          <p:nvPr/>
        </p:nvSpPr>
        <p:spPr>
          <a:xfrm>
            <a:off x="777240" y="5330952"/>
            <a:ext cx="2423160" cy="749808"/>
          </a:xfrm>
          <a:prstGeom prst="rect">
            <a:avLst/>
          </a:prstGeom>
          <a:noFill/>
          <a:ln/>
        </p:spPr>
        <p:txBody>
          <a:bodyPr wrap="square" lIns="0" tIns="0" rIns="0" bIns="0" rtlCol="0" anchor="t"/>
          <a:lstStyle/>
          <a:p>
            <a:pPr indent="0" marL="0">
              <a:buNone/>
            </a:pPr>
            <a:r>
              <a:rPr lang="en-US" sz="1400" dirty="0">
                <a:solidFill>
                  <a:schemeClr val="tx2"/>
                </a:solidFill>
              </a:rPr>
              <a:t>trainable (peft) = the Section 1 formula, all linear, r = 16</a:t>
            </a:r>
            <a:endParaRPr lang="en-US" sz="1400" dirty="0"/>
          </a:p>
        </p:txBody>
      </p:sp>
      <p:sp>
        <p:nvSpPr>
          <p:cNvPr id="12" name="trainable share, as peft reports it (all params include the adapter)"/>
          <p:cNvSpPr/>
          <p:nvPr/>
        </p:nvSpPr>
        <p:spPr>
          <a:xfrm>
            <a:off x="3703320" y="4526280"/>
            <a:ext cx="2880360" cy="1645920"/>
          </a:xfrm>
          <a:prstGeom prst="roundRect">
            <a:avLst>
              <a:gd name="adj" fmla="val 6667"/>
            </a:avLst>
          </a:prstGeom>
          <a:solidFill>
            <a:schemeClr val="accent6"/>
          </a:solidFill>
          <a:ln w="12700">
            <a:solidFill>
              <a:schemeClr val="accent6"/>
            </a:solidFill>
            <a:prstDash val="solid"/>
          </a:ln>
        </p:spPr>
      </p:sp>
      <p:sp>
        <p:nvSpPr>
          <p:cNvPr id="13" name="Text 10"/>
          <p:cNvSpPr txBox="1"/>
          <p:nvPr/>
        </p:nvSpPr>
        <p:spPr>
          <a:xfrm>
            <a:off x="3931920" y="4636008"/>
            <a:ext cx="2423160" cy="640080"/>
          </a:xfrm>
          <a:prstGeom prst="rect">
            <a:avLst/>
          </a:prstGeom>
          <a:noFill/>
          <a:ln/>
        </p:spPr>
        <p:txBody>
          <a:bodyPr wrap="square" lIns="0" tIns="0" rIns="0" bIns="0" rtlCol="0" anchor="b"/>
          <a:lstStyle/>
          <a:p>
            <a:pPr indent="0" marL="0">
              <a:buNone/>
            </a:pPr>
            <a:r>
              <a:rPr lang="en-US" sz="2400" b="1" dirty="0">
                <a:solidFill>
                  <a:schemeClr val="accent4"/>
                </a:solidFill>
                <a:latin typeface="Cambria" pitchFamily="34" charset="0"/>
                <a:ea typeface="Cambria" pitchFamily="34" charset="-122"/>
                <a:cs typeface="Cambria" pitchFamily="34" charset="-120"/>
              </a:rPr>
              <a:t>1.18%</a:t>
            </a:r>
            <a:endParaRPr lang="en-US" sz="2400" dirty="0"/>
          </a:p>
        </p:txBody>
      </p:sp>
      <p:sp>
        <p:nvSpPr>
          <p:cNvPr id="14" name="Text 11"/>
          <p:cNvSpPr txBox="1"/>
          <p:nvPr/>
        </p:nvSpPr>
        <p:spPr>
          <a:xfrm>
            <a:off x="3931920" y="5330952"/>
            <a:ext cx="2423160" cy="749808"/>
          </a:xfrm>
          <a:prstGeom prst="rect">
            <a:avLst/>
          </a:prstGeom>
          <a:noFill/>
          <a:ln/>
        </p:spPr>
        <p:txBody>
          <a:bodyPr wrap="square" lIns="0" tIns="0" rIns="0" bIns="0" rtlCol="0" anchor="t"/>
          <a:lstStyle/>
          <a:p>
            <a:pPr indent="0" marL="0">
              <a:buNone/>
            </a:pPr>
            <a:r>
              <a:rPr lang="en-US" sz="1400" dirty="0">
                <a:solidFill>
                  <a:schemeClr val="tx2"/>
                </a:solidFill>
              </a:rPr>
              <a:t>trainable share, as peft reports it (all params include the adapter)</a:t>
            </a:r>
            <a:endParaRPr lang="en-US" sz="1400" dirty="0"/>
          </a:p>
        </p:txBody>
      </p:sp>
      <p:sp>
        <p:nvSpPr>
          <p:cNvPr id="15" name="Text 12"/>
          <p:cNvSpPr txBox="1"/>
          <p:nvPr/>
        </p:nvSpPr>
        <p:spPr>
          <a:xfrm>
            <a:off x="6903720" y="1280160"/>
            <a:ext cx="4709160" cy="365760"/>
          </a:xfrm>
          <a:prstGeom prst="rect">
            <a:avLst/>
          </a:prstGeom>
          <a:noFill/>
          <a:ln/>
        </p:spPr>
        <p:txBody>
          <a:bodyPr wrap="square" lIns="0" tIns="0" rIns="0" bIns="0" rtlCol="0" anchor="t"/>
          <a:lstStyle/>
          <a:p>
            <a:pPr indent="0" marL="0">
              <a:buNone/>
            </a:pPr>
            <a:r>
              <a:rPr lang="en-US" sz="1600" b="1" dirty="0">
                <a:solidFill>
                  <a:schemeClr val="tx1"/>
                </a:solidFill>
              </a:rPr>
              <a:t>One forward + backward pass, batch 4 × 512 tokens</a:t>
            </a:r>
            <a:endParaRPr lang="en-US" sz="1600" dirty="0"/>
          </a:p>
        </p:txBody>
      </p:sp>
      <p:sp>
        <p:nvSpPr>
          <p:cNvPr id="16" name="quant 1.91"/>
          <p:cNvSpPr/>
          <p:nvPr/>
        </p:nvSpPr>
        <p:spPr>
          <a:xfrm>
            <a:off x="6903720" y="1828800"/>
            <a:ext cx="1385158" cy="594360"/>
          </a:xfrm>
          <a:prstGeom prst="rect">
            <a:avLst/>
          </a:prstGeom>
          <a:solidFill>
            <a:srgbClr val="DCEFF0"/>
          </a:solidFill>
          <a:ln w="15875">
            <a:solidFill>
              <a:schemeClr val="accent1"/>
            </a:solidFill>
            <a:prstDash val="solid"/>
          </a:ln>
        </p:spPr>
      </p:sp>
      <p:sp>
        <p:nvSpPr>
          <p:cNvPr id="17" name="Text 14"/>
          <p:cNvSpPr txBox="1"/>
          <p:nvPr/>
        </p:nvSpPr>
        <p:spPr>
          <a:xfrm>
            <a:off x="6903720" y="1828800"/>
            <a:ext cx="1385158" cy="594360"/>
          </a:xfrm>
          <a:prstGeom prst="rect">
            <a:avLst/>
          </a:prstGeom>
          <a:noFill/>
          <a:ln/>
        </p:spPr>
        <p:txBody>
          <a:bodyPr wrap="square" lIns="0" tIns="0" rIns="0" bIns="0" rtlCol="0" anchor="ctr"/>
          <a:lstStyle/>
          <a:p>
            <a:pPr algn="ctr" indent="0" marL="0">
              <a:buNone/>
            </a:pPr>
            <a:r>
              <a:rPr lang="en-US" sz="1400" dirty="0">
                <a:solidFill>
                  <a:schemeClr val="tx1"/>
                </a:solidFill>
              </a:rPr>
              <a:t>1.91</a:t>
            </a:r>
            <a:endParaRPr lang="en-US" sz="1400" dirty="0"/>
          </a:p>
        </p:txBody>
      </p:sp>
      <p:sp>
        <p:nvSpPr>
          <p:cNvPr id="18" name="Text 15"/>
          <p:cNvSpPr txBox="1"/>
          <p:nvPr/>
        </p:nvSpPr>
        <p:spPr>
          <a:xfrm>
            <a:off x="8380318" y="1828800"/>
            <a:ext cx="3200400" cy="594360"/>
          </a:xfrm>
          <a:prstGeom prst="rect">
            <a:avLst/>
          </a:prstGeom>
          <a:noFill/>
          <a:ln/>
        </p:spPr>
        <p:txBody>
          <a:bodyPr wrap="square" lIns="0" tIns="0" rIns="0" bIns="0" rtlCol="0" anchor="ctr"/>
          <a:lstStyle/>
          <a:p>
            <a:pPr indent="0" marL="0">
              <a:buNone/>
            </a:pPr>
            <a:r>
              <a:rPr lang="en-US" sz="1400" dirty="0">
                <a:solidFill>
                  <a:schemeClr val="tx2"/>
                </a:solidFill>
              </a:rPr>
              <a:t>estimate, before activations</a:t>
            </a:r>
            <a:endParaRPr lang="en-US" sz="1400" dirty="0"/>
          </a:p>
        </p:txBody>
      </p:sp>
      <p:sp>
        <p:nvSpPr>
          <p:cNvPr id="19" name="warn 5.80 GB measured peak"/>
          <p:cNvSpPr/>
          <p:nvPr/>
        </p:nvSpPr>
        <p:spPr>
          <a:xfrm>
            <a:off x="6903720" y="2606040"/>
            <a:ext cx="4206240" cy="594360"/>
          </a:xfrm>
          <a:prstGeom prst="rect">
            <a:avLst/>
          </a:prstGeom>
          <a:solidFill>
            <a:schemeClr val="accent6"/>
          </a:solidFill>
          <a:ln w="15875">
            <a:solidFill>
              <a:schemeClr val="accent3"/>
            </a:solidFill>
            <a:prstDash val="solid"/>
          </a:ln>
        </p:spPr>
      </p:sp>
      <p:sp>
        <p:nvSpPr>
          <p:cNvPr id="20" name="Text 17"/>
          <p:cNvSpPr txBox="1"/>
          <p:nvPr/>
        </p:nvSpPr>
        <p:spPr>
          <a:xfrm>
            <a:off x="6903720" y="2606040"/>
            <a:ext cx="4206240" cy="594360"/>
          </a:xfrm>
          <a:prstGeom prst="rect">
            <a:avLst/>
          </a:prstGeom>
          <a:noFill/>
          <a:ln/>
        </p:spPr>
        <p:txBody>
          <a:bodyPr wrap="square" lIns="0" tIns="0" rIns="0" bIns="0" rtlCol="0" anchor="ctr"/>
          <a:lstStyle/>
          <a:p>
            <a:pPr algn="ctr" indent="0" marL="0">
              <a:buNone/>
            </a:pPr>
            <a:r>
              <a:rPr lang="en-US" sz="1500" dirty="0">
                <a:solidFill>
                  <a:schemeClr val="tx1"/>
                </a:solidFill>
              </a:rPr>
              <a:t>5.80 GB measured peak</a:t>
            </a:r>
            <a:endParaRPr lang="en-US" sz="1500" dirty="0"/>
          </a:p>
        </p:txBody>
      </p:sp>
      <p:sp>
        <p:nvSpPr>
          <p:cNvPr id="21" name="logits"/>
          <p:cNvSpPr/>
          <p:nvPr/>
        </p:nvSpPr>
        <p:spPr>
          <a:xfrm>
            <a:off x="6903720" y="3429000"/>
            <a:ext cx="4709160" cy="2743200"/>
          </a:xfrm>
          <a:prstGeom prst="roundRect">
            <a:avLst>
              <a:gd name="adj" fmla="val 4000"/>
            </a:avLst>
          </a:prstGeom>
          <a:solidFill>
            <a:schemeClr val="accent5"/>
          </a:solidFill>
          <a:ln w="12700">
            <a:solidFill>
              <a:schemeClr val="accent5"/>
            </a:solidFill>
            <a:prstDash val="solid"/>
          </a:ln>
        </p:spPr>
      </p:sp>
      <p:sp>
        <p:nvSpPr>
          <p:cNvPr id="22" name="Text 19"/>
          <p:cNvSpPr txBox="1"/>
          <p:nvPr/>
        </p:nvSpPr>
        <p:spPr>
          <a:xfrm>
            <a:off x="7132320" y="3520440"/>
            <a:ext cx="4251960" cy="2560320"/>
          </a:xfrm>
          <a:prstGeom prst="rect">
            <a:avLst/>
          </a:prstGeom>
          <a:noFill/>
          <a:ln/>
        </p:spPr>
        <p:txBody>
          <a:bodyPr wrap="square" lIns="0" tIns="0" rIns="0" bIns="0" rtlCol="0" anchor="ctr"/>
          <a:lstStyle/>
          <a:p>
            <a:pPr indent="0" marL="0">
              <a:buNone/>
            </a:pPr>
            <a:r>
              <a:rPr lang="en-US" sz="1500" b="1" dirty="0">
                <a:solidFill>
                  <a:schemeClr val="tx1"/>
                </a:solidFill>
              </a:rPr>
              <a:t>Where the extra goes: the logits</a:t>
            </a:r>
            <a:endParaRPr lang="en-US" sz="1500" dirty="0"/>
          </a:p>
          <a:p>
            <a:pPr indent="0" marL="0">
              <a:buNone/>
            </a:pPr>
            <a:r>
              <a:rPr lang="en-US" sz="1500" dirty="0">
                <a:solidFill>
                  <a:schemeClr val="tx1"/>
                </a:solidFill>
              </a:rPr>
              <a:t>4 × 512 tokens × 151,936 vocabulary entries = 311M scores: 1.24 GB per copy in fp32, and the loss keeps more than one copy.</a:t>
            </a:r>
            <a:endParaRPr lang="en-US" sz="1500" dirty="0"/>
          </a:p>
          <a:p>
            <a:pPr indent="0" marL="0">
              <a:buNone/>
            </a:pPr>
            <a:r>
              <a:rPr lang="en-US" sz="1500" dirty="0">
                <a:solidFill>
                  <a:schemeClr val="tx1"/>
                </a:solidFill>
              </a:rPr>
              <a:t> </a:t>
            </a:r>
            <a:endParaRPr lang="en-US" sz="1500" dirty="0"/>
          </a:p>
          <a:p>
            <a:pPr indent="0" marL="0">
              <a:buNone/>
            </a:pPr>
            <a:r>
              <a:rPr lang="en-US" sz="1500" dirty="0">
                <a:solidFill>
                  <a:schemeClr val="tx2"/>
                </a:solidFill>
              </a:rPr>
              <a:t>Checkpointed activations: about 0.2 GB. Halve batch or sequence length to roughly halve the logits.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Summary and common misconceptions</a:t>
            </a:r>
            <a:endParaRPr lang="en-US" sz="3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400800" cy="914400"/>
        </p:xfrm>
        <a:graphic>
          <a:graphicData uri="http://schemas.openxmlformats.org/drawingml/2006/table">
            <a:tbl>
              <a:tblPr/>
              <a:tblGrid>
                <a:gridCol w="1737360"/>
                <a:gridCol w="4663440"/>
              </a:tblGrid>
              <a:tr h="566928">
                <a:tc>
                  <a:txBody>
                    <a:bodyPr/>
                    <a:lstStyle/>
                    <a:p>
                      <a:pPr indent="0" marL="0">
                        <a:buNone/>
                      </a:pPr>
                      <a:r>
                        <a:rPr lang="en-US" sz="1400" b="1" dirty="0">
                          <a:solidFill>
                            <a:schemeClr val="bg1"/>
                          </a:solidFill>
                        </a:rPr>
                        <a:t>Idea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What it means in practice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566928">
                <a:tc>
                  <a:txBody>
                    <a:bodyPr/>
                    <a:lstStyle/>
                    <a:p>
                      <a:pPr indent="0" marL="0">
                        <a:buNone/>
                      </a:pPr>
                      <a:r>
                        <a:rPr lang="en-US" sz="1400" dirty="0">
                          <a:solidFill>
                            <a:schemeClr val="tx1"/>
                          </a:solidFill>
                        </a:rPr>
                        <a:t>Memory budget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parameters × bytes, plus activations, logits and KV cache: estimate, then measure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Quantization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4-bit codes + a scale per block, dequantized to 16-bit for every computation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66928">
                <a:tc>
                  <a:txBody>
                    <a:bodyPr/>
                    <a:lstStyle/>
                    <a:p>
                      <a:pPr indent="0" marL="0">
                        <a:buNone/>
                      </a:pPr>
                      <a:r>
                        <a:rPr lang="en-US" sz="1400" dirty="0">
                          <a:solidFill>
                            <a:schemeClr val="tx1"/>
                          </a:solidFill>
                        </a:rPr>
                        <a:t>NF4</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16 levels placed where weights are dense; the standard for QLoRA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Blocks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contain outliers; double quantization shrinks the scale overhead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66928">
                <a:tc>
                  <a:txBody>
                    <a:bodyPr/>
                    <a:lstStyle/>
                    <a:p>
                      <a:pPr indent="0" marL="0">
                        <a:buNone/>
                      </a:pPr>
                      <a:r>
                        <a:rPr lang="en-US" sz="1400" dirty="0">
                          <a:solidFill>
                            <a:schemeClr val="tx1"/>
                          </a:solidFill>
                        </a:rPr>
                        <a:t>Formats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bitsandbytes to fine-tune; GPTQ/AWQ for GPU serving; GGUF for laptops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QLoRA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frozen NF4 base + all-linear LoRA + gradient checkpointing; fp16 on a T4</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66928">
                <a:tc>
                  <a:txBody>
                    <a:bodyPr/>
                    <a:lstStyle/>
                    <a:p>
                      <a:pPr indent="0" marL="0">
                        <a:buNone/>
                      </a:pPr>
                      <a:r>
                        <a:rPr lang="en-US" sz="1400" dirty="0">
                          <a:solidFill>
                            <a:schemeClr val="tx1"/>
                          </a:solidFill>
                        </a:rPr>
                        <a:t>After training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keep the adapter, or merge into a 16-bit base and quantize again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5" name="“4-bit is a quarter of the size.”"/>
          <p:cNvSpPr/>
          <p:nvPr/>
        </p:nvSpPr>
        <p:spPr>
          <a:xfrm>
            <a:off x="7223760" y="1280160"/>
            <a:ext cx="4389120" cy="1115568"/>
          </a:xfrm>
          <a:prstGeom prst="roundRect">
            <a:avLst>
              <a:gd name="adj" fmla="val 9836"/>
            </a:avLst>
          </a:prstGeom>
          <a:solidFill>
            <a:schemeClr val="accent6"/>
          </a:solidFill>
          <a:ln w="12700">
            <a:solidFill>
              <a:schemeClr val="accent6"/>
            </a:solidFill>
            <a:prstDash val="solid"/>
          </a:ln>
        </p:spPr>
      </p:sp>
      <p:sp>
        <p:nvSpPr>
          <p:cNvPr id="6" name="Text 2"/>
          <p:cNvSpPr txBox="1"/>
          <p:nvPr/>
        </p:nvSpPr>
        <p:spPr>
          <a:xfrm>
            <a:off x="7406640" y="1280160"/>
            <a:ext cx="4069080" cy="1115568"/>
          </a:xfrm>
          <a:prstGeom prst="rect">
            <a:avLst/>
          </a:prstGeom>
          <a:noFill/>
          <a:ln/>
        </p:spPr>
        <p:txBody>
          <a:bodyPr wrap="square" lIns="0" tIns="0" rIns="0" bIns="0" rtlCol="0" anchor="ctr"/>
          <a:lstStyle/>
          <a:p>
            <a:pPr indent="0" marL="0">
              <a:buNone/>
            </a:pPr>
            <a:r>
              <a:rPr lang="en-US" sz="1400" b="1" dirty="0">
                <a:solidFill>
                  <a:schemeClr val="accent3"/>
                </a:solidFill>
              </a:rPr>
              <a:t>“4-bit is a quarter of the size.”</a:t>
            </a:r>
            <a:endParaRPr lang="en-US" sz="1400" dirty="0"/>
          </a:p>
          <a:p>
            <a:pPr indent="0" marL="0">
              <a:buNone/>
            </a:pPr>
            <a:r>
              <a:rPr lang="en-US" sz="1400" dirty="0">
                <a:solidFill>
                  <a:schemeClr val="tx1"/>
                </a:solidFill>
              </a:rPr>
              <a:t>Embeddings and the head stay 16-bit: 1.5B goes 3.09 → 1.16 GB, not 0.77.</a:t>
            </a:r>
            <a:endParaRPr lang="en-US" sz="1400" dirty="0"/>
          </a:p>
        </p:txBody>
      </p:sp>
      <p:sp>
        <p:nvSpPr>
          <p:cNvPr id="7" name="“4-bit makes generation faster.”"/>
          <p:cNvSpPr/>
          <p:nvPr/>
        </p:nvSpPr>
        <p:spPr>
          <a:xfrm>
            <a:off x="7223760" y="2514600"/>
            <a:ext cx="4389120" cy="1115568"/>
          </a:xfrm>
          <a:prstGeom prst="roundRect">
            <a:avLst>
              <a:gd name="adj" fmla="val 9836"/>
            </a:avLst>
          </a:prstGeom>
          <a:solidFill>
            <a:schemeClr val="accent6"/>
          </a:solidFill>
          <a:ln w="12700">
            <a:solidFill>
              <a:schemeClr val="accent6"/>
            </a:solidFill>
            <a:prstDash val="solid"/>
          </a:ln>
        </p:spPr>
      </p:sp>
      <p:sp>
        <p:nvSpPr>
          <p:cNvPr id="8" name="Text 4"/>
          <p:cNvSpPr txBox="1"/>
          <p:nvPr/>
        </p:nvSpPr>
        <p:spPr>
          <a:xfrm>
            <a:off x="7406640" y="2514600"/>
            <a:ext cx="4069080" cy="1115568"/>
          </a:xfrm>
          <a:prstGeom prst="rect">
            <a:avLst/>
          </a:prstGeom>
          <a:noFill/>
          <a:ln/>
        </p:spPr>
        <p:txBody>
          <a:bodyPr wrap="square" lIns="0" tIns="0" rIns="0" bIns="0" rtlCol="0" anchor="ctr"/>
          <a:lstStyle/>
          <a:p>
            <a:pPr indent="0" marL="0">
              <a:buNone/>
            </a:pPr>
            <a:r>
              <a:rPr lang="en-US" sz="1400" b="1" dirty="0">
                <a:solidFill>
                  <a:schemeClr val="accent3"/>
                </a:solidFill>
              </a:rPr>
              <a:t>“4-bit makes generation faster.”</a:t>
            </a:r>
            <a:endParaRPr lang="en-US" sz="1400" dirty="0"/>
          </a:p>
          <a:p>
            <a:pPr indent="0" marL="0">
              <a:buNone/>
            </a:pPr>
            <a:r>
              <a:rPr lang="en-US" sz="1400" dirty="0">
                <a:solidFill>
                  <a:schemeClr val="tx1"/>
                </a:solidFill>
              </a:rPr>
              <a:t>Load-time 4-bit saves memory, not time: 25% slower in our T4 run.</a:t>
            </a:r>
            <a:endParaRPr lang="en-US" sz="1400" dirty="0"/>
          </a:p>
        </p:txBody>
      </p:sp>
      <p:sp>
        <p:nvSpPr>
          <p:cNvPr id="9" name="“Merge the adapter into the 4-bit model.”"/>
          <p:cNvSpPr/>
          <p:nvPr/>
        </p:nvSpPr>
        <p:spPr>
          <a:xfrm>
            <a:off x="7223760" y="3749040"/>
            <a:ext cx="4389120" cy="1115568"/>
          </a:xfrm>
          <a:prstGeom prst="roundRect">
            <a:avLst>
              <a:gd name="adj" fmla="val 9836"/>
            </a:avLst>
          </a:prstGeom>
          <a:solidFill>
            <a:schemeClr val="accent6"/>
          </a:solidFill>
          <a:ln w="12700">
            <a:solidFill>
              <a:schemeClr val="accent6"/>
            </a:solidFill>
            <a:prstDash val="solid"/>
          </a:ln>
        </p:spPr>
      </p:sp>
      <p:sp>
        <p:nvSpPr>
          <p:cNvPr id="10" name="Text 6"/>
          <p:cNvSpPr txBox="1"/>
          <p:nvPr/>
        </p:nvSpPr>
        <p:spPr>
          <a:xfrm>
            <a:off x="7406640" y="3749040"/>
            <a:ext cx="4069080" cy="1115568"/>
          </a:xfrm>
          <a:prstGeom prst="rect">
            <a:avLst/>
          </a:prstGeom>
          <a:noFill/>
          <a:ln/>
        </p:spPr>
        <p:txBody>
          <a:bodyPr wrap="square" lIns="0" tIns="0" rIns="0" bIns="0" rtlCol="0" anchor="ctr"/>
          <a:lstStyle/>
          <a:p>
            <a:pPr indent="0" marL="0">
              <a:buNone/>
            </a:pPr>
            <a:r>
              <a:rPr lang="en-US" sz="1400" b="1" dirty="0">
                <a:solidFill>
                  <a:schemeClr val="accent3"/>
                </a:solidFill>
              </a:rPr>
              <a:t>“Merge the adapter into the 4-bit model.”</a:t>
            </a:r>
            <a:endParaRPr lang="en-US" sz="1400" dirty="0"/>
          </a:p>
          <a:p>
            <a:pPr indent="0" marL="0">
              <a:buNone/>
            </a:pPr>
            <a:r>
              <a:rPr lang="en-US" sz="1400" dirty="0">
                <a:solidFill>
                  <a:schemeClr val="tx1"/>
                </a:solidFill>
              </a:rPr>
              <a:t>Rounding loses part of the update. Merge into a 16-bit copy.</a:t>
            </a:r>
            <a:endParaRPr lang="en-US" sz="1400" dirty="0"/>
          </a:p>
        </p:txBody>
      </p:sp>
      <p:sp>
        <p:nvSpPr>
          <p:cNvPr id="11" name="“Quantization broke (or will fix) the model.”"/>
          <p:cNvSpPr/>
          <p:nvPr/>
        </p:nvSpPr>
        <p:spPr>
          <a:xfrm>
            <a:off x="7223760" y="4983480"/>
            <a:ext cx="4389120" cy="1115568"/>
          </a:xfrm>
          <a:prstGeom prst="roundRect">
            <a:avLst>
              <a:gd name="adj" fmla="val 9836"/>
            </a:avLst>
          </a:prstGeom>
          <a:solidFill>
            <a:schemeClr val="accent6"/>
          </a:solidFill>
          <a:ln w="12700">
            <a:solidFill>
              <a:schemeClr val="accent6"/>
            </a:solidFill>
            <a:prstDash val="solid"/>
          </a:ln>
        </p:spPr>
      </p:sp>
      <p:sp>
        <p:nvSpPr>
          <p:cNvPr id="12" name="Text 8"/>
          <p:cNvSpPr txBox="1"/>
          <p:nvPr/>
        </p:nvSpPr>
        <p:spPr>
          <a:xfrm>
            <a:off x="7406640" y="4983480"/>
            <a:ext cx="4069080" cy="1115568"/>
          </a:xfrm>
          <a:prstGeom prst="rect">
            <a:avLst/>
          </a:prstGeom>
          <a:noFill/>
          <a:ln/>
        </p:spPr>
        <p:txBody>
          <a:bodyPr wrap="square" lIns="0" tIns="0" rIns="0" bIns="0" rtlCol="0" anchor="ctr"/>
          <a:lstStyle/>
          <a:p>
            <a:pPr indent="0" marL="0">
              <a:buNone/>
            </a:pPr>
            <a:r>
              <a:rPr lang="en-US" sz="1400" b="1" dirty="0">
                <a:solidFill>
                  <a:schemeClr val="accent3"/>
                </a:solidFill>
              </a:rPr>
              <a:t>“Quantization broke (or will fix) the model.”</a:t>
            </a:r>
            <a:endParaRPr lang="en-US" sz="1400" dirty="0"/>
          </a:p>
          <a:p>
            <a:pPr indent="0" marL="0">
              <a:buNone/>
            </a:pPr>
            <a:r>
              <a:rPr lang="en-US" sz="1400" dirty="0">
                <a:solidFill>
                  <a:schemeClr val="tx1"/>
                </a:solidFill>
              </a:rPr>
              <a:t>It adds a small error. Compare base, quantized and fine-tuned on the same examples.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Check your understanding</a:t>
            </a:r>
            <a:endParaRPr lang="en-US" sz="3200" dirty="0"/>
          </a:p>
        </p:txBody>
      </p:sp>
      <p:sp>
        <p:nvSpPr>
          <p:cNvPr id="4" name="question 1"/>
          <p:cNvSpPr/>
          <p:nvPr/>
        </p:nvSpPr>
        <p:spPr>
          <a:xfrm>
            <a:off x="548640" y="1280160"/>
            <a:ext cx="5440680" cy="1463040"/>
          </a:xfrm>
          <a:prstGeom prst="roundRect">
            <a:avLst>
              <a:gd name="adj" fmla="val 7500"/>
            </a:avLst>
          </a:prstGeom>
          <a:solidFill>
            <a:schemeClr val="bg2"/>
          </a:solidFill>
          <a:ln w="12700">
            <a:solidFill>
              <a:schemeClr val="bg2"/>
            </a:solidFill>
            <a:prstDash val="solid"/>
          </a:ln>
        </p:spPr>
      </p:sp>
      <p:sp>
        <p:nvSpPr>
          <p:cNvPr id="5" name="Shape 2"/>
          <p:cNvSpPr/>
          <p:nvPr/>
        </p:nvSpPr>
        <p:spPr>
          <a:xfrm>
            <a:off x="777240" y="1508760"/>
            <a:ext cx="457200" cy="457200"/>
          </a:xfrm>
          <a:prstGeom prst="ellipse">
            <a:avLst/>
          </a:prstGeom>
          <a:solidFill>
            <a:schemeClr val="accent1"/>
          </a:solidFill>
          <a:ln w="12700">
            <a:solidFill>
              <a:schemeClr val="accent1"/>
            </a:solidFill>
            <a:prstDash val="solid"/>
          </a:ln>
        </p:spPr>
      </p:sp>
      <p:sp>
        <p:nvSpPr>
          <p:cNvPr id="6" name="Text 3"/>
          <p:cNvSpPr txBox="1"/>
          <p:nvPr/>
        </p:nvSpPr>
        <p:spPr>
          <a:xfrm>
            <a:off x="777240"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1417320" y="1417320"/>
            <a:ext cx="4389120" cy="1188720"/>
          </a:xfrm>
          <a:prstGeom prst="rect">
            <a:avLst/>
          </a:prstGeom>
          <a:noFill/>
          <a:ln/>
        </p:spPr>
        <p:txBody>
          <a:bodyPr wrap="square" lIns="0" tIns="0" rIns="0" bIns="0" rtlCol="0" anchor="ctr"/>
          <a:lstStyle/>
          <a:p>
            <a:pPr indent="0" marL="0">
              <a:buNone/>
            </a:pPr>
            <a:r>
              <a:rPr lang="en-US" sz="1500" dirty="0">
                <a:solidFill>
                  <a:schemeClr val="tx1"/>
                </a:solidFill>
              </a:rPr>
              <a:t>Qwen2.5-1.5B has 1.54B parameters. Why is its 4-bit checkpoint about 1.1 GB rather than 0.77 GB?</a:t>
            </a:r>
            <a:endParaRPr lang="en-US" sz="1500" dirty="0"/>
          </a:p>
        </p:txBody>
      </p:sp>
      <p:sp>
        <p:nvSpPr>
          <p:cNvPr id="8" name="question 2"/>
          <p:cNvSpPr/>
          <p:nvPr/>
        </p:nvSpPr>
        <p:spPr>
          <a:xfrm>
            <a:off x="6172200" y="1280160"/>
            <a:ext cx="5440680" cy="1463040"/>
          </a:xfrm>
          <a:prstGeom prst="roundRect">
            <a:avLst>
              <a:gd name="adj" fmla="val 7500"/>
            </a:avLst>
          </a:prstGeom>
          <a:solidFill>
            <a:schemeClr val="bg2"/>
          </a:solidFill>
          <a:ln w="12700">
            <a:solidFill>
              <a:schemeClr val="bg2"/>
            </a:solidFill>
            <a:prstDash val="solid"/>
          </a:ln>
        </p:spPr>
      </p:sp>
      <p:sp>
        <p:nvSpPr>
          <p:cNvPr id="9" name="Shape 6"/>
          <p:cNvSpPr/>
          <p:nvPr/>
        </p:nvSpPr>
        <p:spPr>
          <a:xfrm>
            <a:off x="6400800" y="1508760"/>
            <a:ext cx="457200" cy="457200"/>
          </a:xfrm>
          <a:prstGeom prst="ellipse">
            <a:avLst/>
          </a:prstGeom>
          <a:solidFill>
            <a:schemeClr val="accent4"/>
          </a:solidFill>
          <a:ln w="12700">
            <a:solidFill>
              <a:schemeClr val="accent4"/>
            </a:solidFill>
            <a:prstDash val="solid"/>
          </a:ln>
        </p:spPr>
      </p:sp>
      <p:sp>
        <p:nvSpPr>
          <p:cNvPr id="10" name="Text 7"/>
          <p:cNvSpPr txBox="1"/>
          <p:nvPr/>
        </p:nvSpPr>
        <p:spPr>
          <a:xfrm>
            <a:off x="6400800"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8"/>
          <p:cNvSpPr txBox="1"/>
          <p:nvPr/>
        </p:nvSpPr>
        <p:spPr>
          <a:xfrm>
            <a:off x="7040880" y="1417320"/>
            <a:ext cx="4389120" cy="1188720"/>
          </a:xfrm>
          <a:prstGeom prst="rect">
            <a:avLst/>
          </a:prstGeom>
          <a:noFill/>
          <a:ln/>
        </p:spPr>
        <p:txBody>
          <a:bodyPr wrap="square" lIns="0" tIns="0" rIns="0" bIns="0" rtlCol="0" anchor="ctr"/>
          <a:lstStyle/>
          <a:p>
            <a:pPr indent="0" marL="0">
              <a:buNone/>
            </a:pPr>
            <a:r>
              <a:rPr lang="en-US" sz="1500" dirty="0">
                <a:solidFill>
                  <a:schemeClr val="tx1"/>
                </a:solidFill>
              </a:rPr>
              <a:t>A colleague quantizes a model to 4-bit with bitsandbytes and expects generation to become four times faster. What do you tell them?</a:t>
            </a:r>
            <a:endParaRPr lang="en-US" sz="1500" dirty="0"/>
          </a:p>
        </p:txBody>
      </p:sp>
      <p:sp>
        <p:nvSpPr>
          <p:cNvPr id="12" name="question 3"/>
          <p:cNvSpPr/>
          <p:nvPr/>
        </p:nvSpPr>
        <p:spPr>
          <a:xfrm>
            <a:off x="548640" y="2926080"/>
            <a:ext cx="5440680" cy="1463040"/>
          </a:xfrm>
          <a:prstGeom prst="roundRect">
            <a:avLst>
              <a:gd name="adj" fmla="val 7500"/>
            </a:avLst>
          </a:prstGeom>
          <a:solidFill>
            <a:schemeClr val="bg2"/>
          </a:solidFill>
          <a:ln w="12700">
            <a:solidFill>
              <a:schemeClr val="bg2"/>
            </a:solidFill>
            <a:prstDash val="solid"/>
          </a:ln>
        </p:spPr>
      </p:sp>
      <p:sp>
        <p:nvSpPr>
          <p:cNvPr id="13" name="Shape 10"/>
          <p:cNvSpPr/>
          <p:nvPr/>
        </p:nvSpPr>
        <p:spPr>
          <a:xfrm>
            <a:off x="777240" y="3154680"/>
            <a:ext cx="457200" cy="457200"/>
          </a:xfrm>
          <a:prstGeom prst="ellipse">
            <a:avLst/>
          </a:prstGeom>
          <a:solidFill>
            <a:schemeClr val="accent1"/>
          </a:solidFill>
          <a:ln w="12700">
            <a:solidFill>
              <a:schemeClr val="accent1"/>
            </a:solidFill>
            <a:prstDash val="solid"/>
          </a:ln>
        </p:spPr>
      </p:sp>
      <p:sp>
        <p:nvSpPr>
          <p:cNvPr id="14" name="Text 11"/>
          <p:cNvSpPr txBox="1"/>
          <p:nvPr/>
        </p:nvSpPr>
        <p:spPr>
          <a:xfrm>
            <a:off x="777240" y="31546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2"/>
          <p:cNvSpPr txBox="1"/>
          <p:nvPr/>
        </p:nvSpPr>
        <p:spPr>
          <a:xfrm>
            <a:off x="1417320" y="3063240"/>
            <a:ext cx="4389120" cy="1188720"/>
          </a:xfrm>
          <a:prstGeom prst="rect">
            <a:avLst/>
          </a:prstGeom>
          <a:noFill/>
          <a:ln/>
        </p:spPr>
        <p:txBody>
          <a:bodyPr wrap="square" lIns="0" tIns="0" rIns="0" bIns="0" rtlCol="0" anchor="ctr"/>
          <a:lstStyle/>
          <a:p>
            <a:pPr indent="0" marL="0">
              <a:buNone/>
            </a:pPr>
            <a:r>
              <a:rPr lang="en-US" sz="1500" dirty="0">
                <a:solidFill>
                  <a:schemeClr val="tx1"/>
                </a:solidFill>
              </a:rPr>
              <a:t>Why does one outlier hurt much more when a whole tensor shares one scale than when each block of 64 has its own?</a:t>
            </a:r>
            <a:endParaRPr lang="en-US" sz="1500" dirty="0"/>
          </a:p>
        </p:txBody>
      </p:sp>
      <p:sp>
        <p:nvSpPr>
          <p:cNvPr id="16" name="question 4"/>
          <p:cNvSpPr/>
          <p:nvPr/>
        </p:nvSpPr>
        <p:spPr>
          <a:xfrm>
            <a:off x="6172200" y="2926080"/>
            <a:ext cx="5440680" cy="1463040"/>
          </a:xfrm>
          <a:prstGeom prst="roundRect">
            <a:avLst>
              <a:gd name="adj" fmla="val 7500"/>
            </a:avLst>
          </a:prstGeom>
          <a:solidFill>
            <a:schemeClr val="bg2"/>
          </a:solidFill>
          <a:ln w="12700">
            <a:solidFill>
              <a:schemeClr val="bg2"/>
            </a:solidFill>
            <a:prstDash val="solid"/>
          </a:ln>
        </p:spPr>
      </p:sp>
      <p:sp>
        <p:nvSpPr>
          <p:cNvPr id="17" name="Shape 14"/>
          <p:cNvSpPr/>
          <p:nvPr/>
        </p:nvSpPr>
        <p:spPr>
          <a:xfrm>
            <a:off x="6400800" y="3154680"/>
            <a:ext cx="457200" cy="457200"/>
          </a:xfrm>
          <a:prstGeom prst="ellipse">
            <a:avLst/>
          </a:prstGeom>
          <a:solidFill>
            <a:schemeClr val="accent4"/>
          </a:solidFill>
          <a:ln w="12700">
            <a:solidFill>
              <a:schemeClr val="accent4"/>
            </a:solidFill>
            <a:prstDash val="solid"/>
          </a:ln>
        </p:spPr>
      </p:sp>
      <p:sp>
        <p:nvSpPr>
          <p:cNvPr id="18" name="Text 15"/>
          <p:cNvSpPr txBox="1"/>
          <p:nvPr/>
        </p:nvSpPr>
        <p:spPr>
          <a:xfrm>
            <a:off x="6400800" y="31546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9" name="Text 16"/>
          <p:cNvSpPr txBox="1"/>
          <p:nvPr/>
        </p:nvSpPr>
        <p:spPr>
          <a:xfrm>
            <a:off x="7040880" y="3063240"/>
            <a:ext cx="4389120" cy="1188720"/>
          </a:xfrm>
          <a:prstGeom prst="rect">
            <a:avLst/>
          </a:prstGeom>
          <a:noFill/>
          <a:ln/>
        </p:spPr>
        <p:txBody>
          <a:bodyPr wrap="square" lIns="0" tIns="0" rIns="0" bIns="0" rtlCol="0" anchor="ctr"/>
          <a:lstStyle/>
          <a:p>
            <a:pPr indent="0" marL="0">
              <a:buNone/>
            </a:pPr>
            <a:r>
              <a:rPr lang="en-US" sz="1500" dirty="0">
                <a:solidFill>
                  <a:schemeClr val="tx1"/>
                </a:solidFill>
              </a:rPr>
              <a:t>On a 16 GB T4, which approach would you use to fine-tune (a) Qwen2.5-1.5B and (b) Qwen2.5-7B? Use the Section 1 arithmetic.</a:t>
            </a:r>
            <a:endParaRPr lang="en-US" sz="1500" dirty="0"/>
          </a:p>
        </p:txBody>
      </p:sp>
      <p:sp>
        <p:nvSpPr>
          <p:cNvPr id="20" name="question 5"/>
          <p:cNvSpPr/>
          <p:nvPr/>
        </p:nvSpPr>
        <p:spPr>
          <a:xfrm>
            <a:off x="548640" y="4572000"/>
            <a:ext cx="5440680" cy="1463040"/>
          </a:xfrm>
          <a:prstGeom prst="roundRect">
            <a:avLst>
              <a:gd name="adj" fmla="val 7500"/>
            </a:avLst>
          </a:prstGeom>
          <a:solidFill>
            <a:schemeClr val="bg2"/>
          </a:solidFill>
          <a:ln w="12700">
            <a:solidFill>
              <a:schemeClr val="bg2"/>
            </a:solidFill>
            <a:prstDash val="solid"/>
          </a:ln>
        </p:spPr>
      </p:sp>
      <p:sp>
        <p:nvSpPr>
          <p:cNvPr id="21" name="Shape 18"/>
          <p:cNvSpPr/>
          <p:nvPr/>
        </p:nvSpPr>
        <p:spPr>
          <a:xfrm>
            <a:off x="777240" y="4800600"/>
            <a:ext cx="457200" cy="457200"/>
          </a:xfrm>
          <a:prstGeom prst="ellipse">
            <a:avLst/>
          </a:prstGeom>
          <a:solidFill>
            <a:schemeClr val="accent1"/>
          </a:solidFill>
          <a:ln w="12700">
            <a:solidFill>
              <a:schemeClr val="accent1"/>
            </a:solidFill>
            <a:prstDash val="solid"/>
          </a:ln>
        </p:spPr>
      </p:sp>
      <p:sp>
        <p:nvSpPr>
          <p:cNvPr id="22" name="Text 19"/>
          <p:cNvSpPr txBox="1"/>
          <p:nvPr/>
        </p:nvSpPr>
        <p:spPr>
          <a:xfrm>
            <a:off x="777240" y="48006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3" name="Text 20"/>
          <p:cNvSpPr txBox="1"/>
          <p:nvPr/>
        </p:nvSpPr>
        <p:spPr>
          <a:xfrm>
            <a:off x="1417320" y="4709160"/>
            <a:ext cx="4389120" cy="1188720"/>
          </a:xfrm>
          <a:prstGeom prst="rect">
            <a:avLst/>
          </a:prstGeom>
          <a:noFill/>
          <a:ln/>
        </p:spPr>
        <p:txBody>
          <a:bodyPr wrap="square" lIns="0" tIns="0" rIns="0" bIns="0" rtlCol="0" anchor="ctr"/>
          <a:lstStyle/>
          <a:p>
            <a:pPr indent="0" marL="0">
              <a:buNone/>
            </a:pPr>
            <a:r>
              <a:rPr lang="en-US" sz="1500" dirty="0">
                <a:solidFill>
                  <a:schemeClr val="tx1"/>
                </a:solidFill>
              </a:rPr>
              <a:t>In QLoRA, which parameters are stored in 4-bit, which are trained, and in which dtype does the matmul run on a T4?</a:t>
            </a:r>
            <a:endParaRPr lang="en-US" sz="1500" dirty="0"/>
          </a:p>
        </p:txBody>
      </p:sp>
      <p:sp>
        <p:nvSpPr>
          <p:cNvPr id="24" name="question 6"/>
          <p:cNvSpPr/>
          <p:nvPr/>
        </p:nvSpPr>
        <p:spPr>
          <a:xfrm>
            <a:off x="6172200" y="4572000"/>
            <a:ext cx="5440680" cy="1463040"/>
          </a:xfrm>
          <a:prstGeom prst="roundRect">
            <a:avLst>
              <a:gd name="adj" fmla="val 7500"/>
            </a:avLst>
          </a:prstGeom>
          <a:solidFill>
            <a:schemeClr val="bg2"/>
          </a:solidFill>
          <a:ln w="12700">
            <a:solidFill>
              <a:schemeClr val="bg2"/>
            </a:solidFill>
            <a:prstDash val="solid"/>
          </a:ln>
        </p:spPr>
      </p:sp>
      <p:sp>
        <p:nvSpPr>
          <p:cNvPr id="25" name="Shape 22"/>
          <p:cNvSpPr/>
          <p:nvPr/>
        </p:nvSpPr>
        <p:spPr>
          <a:xfrm>
            <a:off x="6400800" y="4800600"/>
            <a:ext cx="457200" cy="457200"/>
          </a:xfrm>
          <a:prstGeom prst="ellipse">
            <a:avLst/>
          </a:prstGeom>
          <a:solidFill>
            <a:schemeClr val="accent4"/>
          </a:solidFill>
          <a:ln w="12700">
            <a:solidFill>
              <a:schemeClr val="accent4"/>
            </a:solidFill>
            <a:prstDash val="solid"/>
          </a:ln>
        </p:spPr>
      </p:sp>
      <p:sp>
        <p:nvSpPr>
          <p:cNvPr id="26" name="Text 23"/>
          <p:cNvSpPr txBox="1"/>
          <p:nvPr/>
        </p:nvSpPr>
        <p:spPr>
          <a:xfrm>
            <a:off x="6400800" y="48006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7" name="Text 24"/>
          <p:cNvSpPr txBox="1"/>
          <p:nvPr/>
        </p:nvSpPr>
        <p:spPr>
          <a:xfrm>
            <a:off x="7040880" y="4709160"/>
            <a:ext cx="4389120" cy="1188720"/>
          </a:xfrm>
          <a:prstGeom prst="rect">
            <a:avLst/>
          </a:prstGeom>
          <a:noFill/>
          <a:ln/>
        </p:spPr>
        <p:txBody>
          <a:bodyPr wrap="square" lIns="0" tIns="0" rIns="0" bIns="0" rtlCol="0" anchor="ctr"/>
          <a:lstStyle/>
          <a:p>
            <a:pPr indent="0" marL="0">
              <a:buNone/>
            </a:pPr>
            <a:r>
              <a:rPr lang="en-US" sz="1500" dirty="0">
                <a:solidFill>
                  <a:schemeClr val="tx1"/>
                </a:solidFill>
              </a:rPr>
              <a:t>Why does the QLoRA recipe use gradient checkpointing, even though the adapters themselves are tiny?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Takeaways and further reading</a:t>
            </a:r>
            <a:endParaRPr lang="en-US" sz="3200" dirty="0"/>
          </a:p>
        </p:txBody>
      </p:sp>
      <p:sp>
        <p:nvSpPr>
          <p:cNvPr id="4" name="takeaways"/>
          <p:cNvSpPr/>
          <p:nvPr/>
        </p:nvSpPr>
        <p:spPr>
          <a:xfrm>
            <a:off x="548640" y="1280160"/>
            <a:ext cx="5303520" cy="4892040"/>
          </a:xfrm>
          <a:prstGeom prst="roundRect">
            <a:avLst>
              <a:gd name="adj" fmla="val 2243"/>
            </a:avLst>
          </a:prstGeom>
          <a:solidFill>
            <a:schemeClr val="tx1"/>
          </a:solidFill>
          <a:ln w="12700">
            <a:solidFill>
              <a:schemeClr val="tx1"/>
            </a:solidFill>
            <a:prstDash val="solid"/>
          </a:ln>
        </p:spPr>
      </p:sp>
      <p:sp>
        <p:nvSpPr>
          <p:cNvPr id="5" name="Text 2"/>
          <p:cNvSpPr txBox="1"/>
          <p:nvPr/>
        </p:nvSpPr>
        <p:spPr>
          <a:xfrm>
            <a:off x="822960" y="1463040"/>
            <a:ext cx="475488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Takeaways</a:t>
            </a:r>
            <a:endParaRPr lang="en-US" sz="2200" dirty="0"/>
          </a:p>
        </p:txBody>
      </p:sp>
      <p:sp>
        <p:nvSpPr>
          <p:cNvPr id="6" name="Text 3"/>
          <p:cNvSpPr txBox="1"/>
          <p:nvPr/>
        </p:nvSpPr>
        <p:spPr>
          <a:xfrm>
            <a:off x="822960" y="2057400"/>
            <a:ext cx="4754880" cy="39319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bg1"/>
                </a:solidFill>
              </a:rPr>
              <a:t>Estimate memory on paper, then measure on the GPU</a:t>
            </a:r>
            <a:endParaRPr lang="en-US" sz="1800" dirty="0"/>
          </a:p>
          <a:p>
            <a:pPr marL="228600" indent="-228600">
              <a:spcAft>
                <a:spcPts val="800"/>
              </a:spcAft>
              <a:buSzPct val="100000"/>
              <a:buChar char="•"/>
            </a:pPr>
            <a:r>
              <a:rPr lang="en-US" sz="1800" dirty="0">
                <a:solidFill>
                  <a:schemeClr val="bg1"/>
                </a:solidFill>
              </a:rPr>
              <a:t>4-bit = codes + a scale per block; computed in 16-bit</a:t>
            </a:r>
            <a:endParaRPr lang="en-US" sz="1800" dirty="0"/>
          </a:p>
          <a:p>
            <a:pPr marL="228600" indent="-228600">
              <a:spcAft>
                <a:spcPts val="800"/>
              </a:spcAft>
              <a:buSzPct val="100000"/>
              <a:buChar char="•"/>
            </a:pPr>
            <a:r>
              <a:rPr lang="en-US" sz="1800" dirty="0">
                <a:solidFill>
                  <a:schemeClr val="bg1"/>
                </a:solidFill>
              </a:rPr>
              <a:t>Quantization buys memory, not speed</a:t>
            </a:r>
            <a:endParaRPr lang="en-US" sz="1800" dirty="0"/>
          </a:p>
          <a:p>
            <a:pPr marL="228600" indent="-228600">
              <a:spcAft>
                <a:spcPts val="800"/>
              </a:spcAft>
              <a:buSzPct val="100000"/>
              <a:buChar char="•"/>
            </a:pPr>
            <a:r>
              <a:rPr lang="en-US" sz="1800" dirty="0">
                <a:solidFill>
                  <a:schemeClr val="bg1"/>
                </a:solidFill>
              </a:rPr>
              <a:t>QLoRA: NF4 base, all-linear LoRA, checkpointing; fp16 on a T4</a:t>
            </a:r>
            <a:endParaRPr lang="en-US" sz="1800" dirty="0"/>
          </a:p>
          <a:p>
            <a:pPr marL="228600" indent="-228600">
              <a:spcAft>
                <a:spcPts val="800"/>
              </a:spcAft>
              <a:buSzPct val="100000"/>
              <a:buChar char="•"/>
            </a:pPr>
            <a:r>
              <a:rPr lang="en-US" sz="1800" dirty="0">
                <a:solidFill>
                  <a:schemeClr val="bg1"/>
                </a:solidFill>
              </a:rPr>
              <a:t>Merge into 16-bit, not 4-bit; evaluate the form you deploy</a:t>
            </a:r>
            <a:endParaRPr lang="en-US" sz="1800" dirty="0"/>
          </a:p>
        </p:txBody>
      </p:sp>
      <p:sp>
        <p:nvSpPr>
          <p:cNvPr id="7" name="Text 4"/>
          <p:cNvSpPr txBox="1"/>
          <p:nvPr/>
        </p:nvSpPr>
        <p:spPr>
          <a:xfrm>
            <a:off x="6217920" y="1463040"/>
            <a:ext cx="53949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Further reading</a:t>
            </a:r>
            <a:endParaRPr lang="en-US" sz="2200" dirty="0"/>
          </a:p>
        </p:txBody>
      </p:sp>
      <p:sp>
        <p:nvSpPr>
          <p:cNvPr id="8" name="Text 5"/>
          <p:cNvSpPr txBox="1"/>
          <p:nvPr/>
        </p:nvSpPr>
        <p:spPr>
          <a:xfrm>
            <a:off x="6217920" y="2057400"/>
            <a:ext cx="5394960" cy="402336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1"/>
                </a:solidFill>
              </a:rPr>
              <a:t>Dettmers, Pagnoni, Holtzman &amp; Zettlemoyer (2023). </a:t>
            </a:r>
            <a:r>
              <a:rPr lang="en-US" sz="1500" dirty="0">
                <a:solidFill>
                  <a:schemeClr val="tx1"/>
                </a:solidFill>
              </a:rPr>
              <a:t>QLoRA: Efficient Finetuning of Quantized LLMs. arXiv:2305.14314</a:t>
            </a:r>
            <a:endParaRPr lang="en-US" sz="1500" dirty="0"/>
          </a:p>
          <a:p>
            <a:pPr marL="228600" indent="-228600">
              <a:spcAft>
                <a:spcPts val="800"/>
              </a:spcAft>
              <a:buSzPct val="100000"/>
              <a:buChar char="•"/>
            </a:pPr>
            <a:r>
              <a:rPr lang="en-US" sz="1500" b="1" dirty="0">
                <a:solidFill>
                  <a:schemeClr val="tx1"/>
                </a:solidFill>
              </a:rPr>
              <a:t>Dettmers, Lewis, Belkada &amp; Zettlemoyer (2022). </a:t>
            </a:r>
            <a:r>
              <a:rPr lang="en-US" sz="1500" dirty="0">
                <a:solidFill>
                  <a:schemeClr val="tx1"/>
                </a:solidFill>
              </a:rPr>
              <a:t>LLM.int8(): 8-bit Matrix Multiplication for Transformers at Scale. arXiv:2208.07339</a:t>
            </a:r>
            <a:endParaRPr lang="en-US" sz="1500" dirty="0"/>
          </a:p>
          <a:p>
            <a:pPr marL="228600" indent="-228600">
              <a:spcAft>
                <a:spcPts val="800"/>
              </a:spcAft>
              <a:buSzPct val="100000"/>
              <a:buChar char="•"/>
            </a:pPr>
            <a:r>
              <a:rPr lang="en-US" sz="1500" b="1" dirty="0">
                <a:solidFill>
                  <a:schemeClr val="tx1"/>
                </a:solidFill>
              </a:rPr>
              <a:t>Frantar et al. (2022). </a:t>
            </a:r>
            <a:r>
              <a:rPr lang="en-US" sz="1500" dirty="0">
                <a:solidFill>
                  <a:schemeClr val="tx1"/>
                </a:solidFill>
              </a:rPr>
              <a:t>GPTQ. arXiv:2210.17323 · </a:t>
            </a:r>
            <a:r>
              <a:rPr lang="en-US" sz="1500" b="1" dirty="0">
                <a:solidFill>
                  <a:schemeClr val="tx1"/>
                </a:solidFill>
              </a:rPr>
              <a:t>Lin et al. (2023). </a:t>
            </a:r>
            <a:r>
              <a:rPr lang="en-US" sz="1500" dirty="0">
                <a:solidFill>
                  <a:schemeClr val="tx1"/>
                </a:solidFill>
              </a:rPr>
              <a:t>AWQ. arXiv:2306.00978</a:t>
            </a:r>
            <a:endParaRPr lang="en-US" sz="1500" dirty="0"/>
          </a:p>
          <a:p>
            <a:pPr marL="228600" indent="-228600">
              <a:spcAft>
                <a:spcPts val="800"/>
              </a:spcAft>
              <a:buSzPct val="100000"/>
              <a:buChar char="•"/>
            </a:pPr>
            <a:r>
              <a:rPr lang="en-US" sz="1500" b="1" dirty="0">
                <a:solidFill>
                  <a:schemeClr val="tx1"/>
                </a:solidFill>
              </a:rPr>
              <a:t>Hugging Face docs: </a:t>
            </a:r>
            <a:r>
              <a:rPr lang="en-US" sz="1500" dirty="0">
                <a:solidFill>
                  <a:schemeClr val="tx1"/>
                </a:solidFill>
              </a:rPr>
              <a:t>bitsandbytes quantization in Transformers; PEFT quantization guide; GGUF on the Hub</a:t>
            </a:r>
            <a:endParaRPr lang="en-US" sz="1500" dirty="0"/>
          </a:p>
          <a:p>
            <a:pPr marL="228600" indent="-228600">
              <a:spcAft>
                <a:spcPts val="800"/>
              </a:spcAft>
              <a:buSzPct val="100000"/>
              <a:buChar char="•"/>
            </a:pPr>
            <a:r>
              <a:rPr lang="en-US" sz="1500" b="1" dirty="0">
                <a:solidFill>
                  <a:schemeClr val="tx1"/>
                </a:solidFill>
              </a:rPr>
              <a:t>Code: </a:t>
            </a:r>
            <a:r>
              <a:rPr lang="en-US" sz="1500" dirty="0">
                <a:solidFill>
                  <a:schemeClr val="tx1"/>
                </a:solidFill>
              </a:rPr>
              <a:t>bitsandbytes (source of the NF4 levels) · llama.cpp</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Office Theme">
  <a:themeElements>
    <a:clrScheme name="Quantization and QLoRA">
      <a:dk1>
        <a:srgbClr val="1C2433"/>
      </a:dk1>
      <a:lt1>
        <a:srgbClr val="FFFFFF"/>
      </a:lt1>
      <a:dk2>
        <a:srgbClr val="5A6478"/>
      </a:dk2>
      <a:lt2>
        <a:srgbClr val="EEF1F6"/>
      </a:lt2>
      <a:accent1>
        <a:srgbClr val="16737A"/>
      </a:accent1>
      <a:accent2>
        <a:srgbClr val="E0A526"/>
      </a:accent2>
      <a:accent3>
        <a:srgbClr val="C8443F"/>
      </a:accent3>
      <a:accent4>
        <a:srgbClr val="D9701E"/>
      </a:accent4>
      <a:accent5>
        <a:srgbClr val="FCF3DC"/>
      </a:accent5>
      <a:accent6>
        <a:srgbClr val="FBE4D3"/>
      </a:accent6>
      <a:hlink>
        <a:srgbClr val="16737A"/>
      </a:hlink>
      <a:folHlink>
        <a:srgbClr val="6B46C1"/>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Quantization and QLoRA</dc:title>
  <dc:subject>PptxGenJS Presentation</dc:subject>
  <dc:creator>Generative AI (ABAI3009L), Bennett University</dc:creator>
  <cp:lastModifiedBy>Generative AI (ABAI3009L), Bennett University</cp:lastModifiedBy>
  <cp:revision>1</cp:revision>
  <dcterms:created xsi:type="dcterms:W3CDTF">2026-10-24T12:18:51Z</dcterms:created>
  <dcterms:modified xsi:type="dcterms:W3CDTF">2026-10-24T12:18:51Z</dcterms:modified>
</cp:coreProperties>
</file>