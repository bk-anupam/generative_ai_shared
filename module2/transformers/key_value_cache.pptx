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Prerequisites: multi-head attention and greedy_decode from Attention_Is_All_You_Need.ipynb, and causal masking from the GPT-2 lecture. The companion notebook runs on a CPU in seconds with no downloads; run it once before class so the demo cell on slide 4 already has output. Cell numbers on the LIVE DEMO tags are 0-based positions in the notebook. Six slides, about 20 minutes with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sections 1-2. Training is parallel: the whole target goes in once with a causal mask. Generation is sequential, and the course's greedy_decode passes the entire prefix to the decoder at every step, although only the last position's logits are used. Walk down the rows: dashed coral tokens are old positions whose projections and layer outputs are recomputed; the teal token is the only new one. Without a cache the decoder processes 1 + 2 + ... + T positions in total, which grows with T squared; with a cache it processes one new position per step. Attention itself still reads every past position, so the cache removes the repeated per-token work, not the cost of attending.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sections 3-4. In decoder self-attention, query, key and value all come from the target prefix (attn_layer(x, x, x, mask)). The query is the asker: only the newest position needs to ask a question this step, because only its output is used for the next-token logits. Keys and values of old positions are the answers that every future token will consult, and they do not change, so they are worth storing. Walk through the five steps on the right; step 3 is the only place the cache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sections 5-7. Show cell 8 (TinyCachedSelfAttention.forward_one_step_with_cache), then run cell 10. The key change: the query has sequence length 1, so the score matrix is a single row of length T instead of a T by T square. The new K and V are concatenated onto the cache along dim=2, the sequence dimension. No causal mask is needed in the one-step version because the cache holds only the past and the present; there is nothing in the future to hide. Cell 10 feeds the same 5-token input both ways (B = 1, d_model = 8, 2 heads, d_k = 4, seed 42) and prints the cache shape (1, 2, 5, 4) and 'Outputs match: True' (checked with torch.allclose, atol 1e-6). These printed values come from running the notebook's code; the notebook is stored without outputs. Ask: what goes wrong if you concatenate along dim=3?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sections 9-12. Each decoder layer has its own projection matrices and its own hidden states, so each layer keeps its own K and V; the cache is a list with one (K, V) pair per layer, not one tensor. In the encoder-decoder Transformer the cross-attention keys and values come from the encoder output, which is fixed during decoding, so they can be computed once per layer and reused; the phrase 'KV cache' usually means the self-attention cache. Training with teacher forcing already sees the full target in parallel, so there is nothing to reuse. Memory cost (notebook section 12, cells 15-17; optionally run cell 16): each layer caches one K and one V of shape (B, n_h, T, d_k), so the cache holds 2 x B x L x n_h x d_k x T numbers; with d_model = n_h x d_k that is (2 x L x d_model x bytes) per token per sequence, times B x T. bytes is 4 for fp32 and 2 for fp16 or bf16. T is the number of cached tokens, prompt plus generated so far, so the cache grows every step. GPT-2 small (12 layers, d_model 768, 12 heads) in fp16: 36,864 bytes per token, 37.7 MB per 1,024-token sequence, 302 MB for a batch of 8, which is more than the fp16 weights (about 124M parameters, roughly 249 MB). These are arithmetic, not measurements (1 MB = 10^6 bytes). Caveats: the shortcut assumes every head has its own K and V; multi-query and grouped-query attention (next lecture) use n_kv_heads instead of n_h. Only decoder self-attention is counted; precomputed cross-attention K, V add 2 x B x L x S x d_model x bytes but do not grow. Ask: how much would GPT-2 small need for 4 sequences of 512 tokens in fp32? (73,728 x 512 x 4 = 151.0 MB.) The Module 4 lecture on operations and scaling returns to this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sections 13-14. Go through the misconceptions quickly, then give two minutes for the questions in pairs. Expected answers: (1) the decoder receives the whole prefix each step and recomputes projections for old positions; (2) old keys and values never change and are what future tokens match and read, while only the newest position asks a question; (3) (B, n_heads, 1, d_k); (4) each layer has its own projection weights and hidden states, so its K and V differ; (5) teacher-forced training already processes all target positions in parallel with a causal mask, so there are no earlier steps to reuse. Next in Unit 2.9: multi-query and grouped-query attention, which share K and V across heads, largely to shrink this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rtlCol="0"/>
          <a:lstStyle>
            <a:lvl1pPr indent="0" marL="0">
              <a:buNone/>
              <a:defRPr lang="en-US" sz="2400" dirty="0">
                <a:solidFill>
                  <a:schemeClr val="accent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Key–value cache · Generative AI, Module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r>
              <a:rPr lang="en-US" sz="4400" b="1" dirty="0">
                <a:solidFill>
                  <a:schemeClr val="bg1"/>
                </a:solidFill>
              </a:rPr>
              <a:t>The key–value cache</a:t>
            </a: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indent="0" marL="0">
              <a:buNone/>
            </a:pPr>
            <a:r>
              <a:rPr lang="en-US" sz="2400" dirty="0">
                <a:solidFill>
                  <a:schemeClr val="accent2"/>
                </a:solidFill>
              </a:rPr>
              <a:t>Generating one token at a time without recomputing the past</a:t>
            </a:r>
            <a:endParaRPr lang="en-US" sz="24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600" dirty="0">
                <a:solidFill>
                  <a:schemeClr val="bg1"/>
                </a:solidFill>
              </a:rPr>
              <a:t>Generative AI (ABAI3009L) · Module 2: Transformers &amp; LLMs · Unit 2.9</a:t>
            </a:r>
            <a:endParaRPr lang="en-US" sz="1600" dirty="0"/>
          </a:p>
        </p:txBody>
      </p:sp>
      <p:sp>
        <p:nvSpPr>
          <p:cNvPr id="5" name="Text 3"/>
          <p:cNvSpPr txBox="1"/>
          <p:nvPr/>
        </p:nvSpPr>
        <p:spPr>
          <a:xfrm>
            <a:off x="731520" y="5532120"/>
            <a:ext cx="10698480" cy="365760"/>
          </a:xfrm>
          <a:prstGeom prst="rect">
            <a:avLst/>
          </a:prstGeom>
          <a:noFill/>
          <a:ln/>
        </p:spPr>
        <p:txBody>
          <a:bodyPr wrap="square" lIns="0" tIns="0" rIns="0" bIns="0" rtlCol="0" anchor="t"/>
          <a:lstStyle/>
          <a:p>
            <a:pPr indent="0" marL="0">
              <a:buNone/>
            </a:pPr>
            <a:r>
              <a:rPr lang="en-US" sz="1400" dirty="0">
                <a:solidFill>
                  <a:srgbClr val="C9CFDA"/>
                </a:solidFill>
              </a:rPr>
              <a:t>Companion notebook: module2/transformers/key_value_cache.ipynb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Generation repeats work on the prefix</a:t>
            </a:r>
            <a:endParaRPr lang="en-US" sz="3200" dirty="0"/>
          </a:p>
        </p:txBody>
      </p:sp>
      <p:sp>
        <p:nvSpPr>
          <p:cNvPr id="4" name="greedy_decode"/>
          <p:cNvSpPr/>
          <p:nvPr/>
        </p:nvSpPr>
        <p:spPr>
          <a:xfrm>
            <a:off x="548640" y="1280160"/>
            <a:ext cx="4937760" cy="2286000"/>
          </a:xfrm>
          <a:prstGeom prst="roundRect">
            <a:avLst>
              <a:gd name="adj" fmla="val 4800"/>
            </a:avLst>
          </a:prstGeom>
          <a:solidFill>
            <a:schemeClr val="bg2"/>
          </a:solidFill>
          <a:ln w="12700">
            <a:solidFill>
              <a:schemeClr val="bg2"/>
            </a:solidFill>
            <a:prstDash val="solid"/>
          </a:ln>
        </p:spPr>
      </p:sp>
      <p:sp>
        <p:nvSpPr>
          <p:cNvPr id="5" name="Text 2"/>
          <p:cNvSpPr txBox="1"/>
          <p:nvPr/>
        </p:nvSpPr>
        <p:spPr>
          <a:xfrm>
            <a:off x="777240" y="1417320"/>
            <a:ext cx="4572000" cy="36576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greedy_decode</a:t>
            </a:r>
            <a:r>
              <a:rPr lang="en-US" sz="1400" dirty="0">
                <a:solidFill>
                  <a:schemeClr val="tx1"/>
                </a:solidFill>
              </a:rPr>
              <a:t> from the Transformer notebook, simplified:</a:t>
            </a:r>
            <a:endParaRPr lang="en-US" sz="1400" dirty="0"/>
          </a:p>
        </p:txBody>
      </p:sp>
      <p:sp>
        <p:nvSpPr>
          <p:cNvPr id="6" name="Text 3"/>
          <p:cNvSpPr txBox="1"/>
          <p:nvPr/>
        </p:nvSpPr>
        <p:spPr>
          <a:xfrm>
            <a:off x="777240" y="1828800"/>
            <a:ext cx="4572000" cy="16002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for i in range(max_len):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target = tensor(target_ids)  # whole prefix</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dec_output, attn = model.decoder(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target, enc_output, src_mask, tgt_mask)</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output = model.generator(dec_output)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next_id = output.argmax(-1)[:, -1]</a:t>
            </a:r>
            <a:endParaRPr lang="en-US" sz="1200" dirty="0"/>
          </a:p>
        </p:txBody>
      </p:sp>
      <p:sp>
        <p:nvSpPr>
          <p:cNvPr id="7" name="Text 4"/>
          <p:cNvSpPr txBox="1"/>
          <p:nvPr/>
        </p:nvSpPr>
        <p:spPr>
          <a:xfrm>
            <a:off x="548640" y="3657600"/>
            <a:ext cx="4937760" cy="640080"/>
          </a:xfrm>
          <a:prstGeom prst="rect">
            <a:avLst/>
          </a:prstGeom>
          <a:noFill/>
          <a:ln/>
        </p:spPr>
        <p:txBody>
          <a:bodyPr wrap="square" lIns="0" tIns="0" rIns="0" bIns="0" rtlCol="0" anchor="t"/>
          <a:lstStyle/>
          <a:p>
            <a:pPr indent="0" marL="0">
              <a:buNone/>
            </a:pPr>
            <a:r>
              <a:rPr lang="en-US" sz="1500" b="1" dirty="0">
                <a:solidFill>
                  <a:schemeClr val="tx1"/>
                </a:solidFill>
              </a:rPr>
              <a:t>Only the last position's logits are used, </a:t>
            </a:r>
            <a:r>
              <a:rPr lang="en-US" sz="1500" dirty="0">
                <a:solidFill>
                  <a:schemeClr val="tx1"/>
                </a:solidFill>
              </a:rPr>
              <a:t>but every position of the prefix goes through every decoder layer again.</a:t>
            </a:r>
            <a:endParaRPr lang="en-US" sz="1500" dirty="0"/>
          </a:p>
        </p:txBody>
      </p:sp>
      <p:sp>
        <p:nvSpPr>
          <p:cNvPr id="8" name="without cache"/>
          <p:cNvSpPr/>
          <p:nvPr/>
        </p:nvSpPr>
        <p:spPr>
          <a:xfrm>
            <a:off x="548640" y="4343400"/>
            <a:ext cx="2377440" cy="1783080"/>
          </a:xfrm>
          <a:prstGeom prst="roundRect">
            <a:avLst>
              <a:gd name="adj" fmla="val 6154"/>
            </a:avLst>
          </a:prstGeom>
          <a:solidFill>
            <a:schemeClr val="accent6"/>
          </a:solidFill>
          <a:ln w="12700">
            <a:solidFill>
              <a:schemeClr val="accent6"/>
            </a:solidFill>
            <a:prstDash val="solid"/>
          </a:ln>
        </p:spPr>
      </p:sp>
      <p:sp>
        <p:nvSpPr>
          <p:cNvPr id="9" name="Text 6"/>
          <p:cNvSpPr txBox="1"/>
          <p:nvPr/>
        </p:nvSpPr>
        <p:spPr>
          <a:xfrm>
            <a:off x="731520" y="4480560"/>
            <a:ext cx="2103120" cy="914400"/>
          </a:xfrm>
          <a:prstGeom prst="rect">
            <a:avLst/>
          </a:prstGeom>
          <a:noFill/>
          <a:ln/>
        </p:spPr>
        <p:txBody>
          <a:bodyPr wrap="square" lIns="0" tIns="0" rIns="0" bIns="0" rtlCol="0" anchor="t"/>
          <a:lstStyle/>
          <a:p>
            <a:pPr indent="0" marL="0">
              <a:buNone/>
            </a:pPr>
            <a:r>
              <a:rPr lang="en-US" sz="1400" b="1" dirty="0">
                <a:solidFill>
                  <a:schemeClr val="tx1"/>
                </a:solidFill>
              </a:rPr>
              <a:t>Without cache</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1 + 2 + … + 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T(T+1)/2 positions</a:t>
            </a:r>
            <a:endParaRPr lang="en-US" sz="1400" dirty="0"/>
          </a:p>
        </p:txBody>
      </p:sp>
      <p:sp>
        <p:nvSpPr>
          <p:cNvPr id="10" name="Text 7"/>
          <p:cNvSpPr txBox="1"/>
          <p:nvPr/>
        </p:nvSpPr>
        <p:spPr>
          <a:xfrm>
            <a:off x="731520" y="5532120"/>
            <a:ext cx="2103120" cy="411480"/>
          </a:xfrm>
          <a:prstGeom prst="rect">
            <a:avLst/>
          </a:prstGeom>
          <a:noFill/>
          <a:ln/>
        </p:spPr>
        <p:txBody>
          <a:bodyPr wrap="square" lIns="0" tIns="0" rIns="0" bIns="0" rtlCol="0" anchor="t"/>
          <a:lstStyle/>
          <a:p>
            <a:pPr indent="0" marL="0">
              <a:buNone/>
            </a:pPr>
            <a:r>
              <a:rPr lang="en-US" sz="1800" b="1" dirty="0">
                <a:solidFill>
                  <a:schemeClr val="accent3"/>
                </a:solidFill>
              </a:rPr>
              <a:t>T = 100 → 5,050</a:t>
            </a:r>
            <a:endParaRPr lang="en-US" sz="1800" dirty="0"/>
          </a:p>
        </p:txBody>
      </p:sp>
      <p:sp>
        <p:nvSpPr>
          <p:cNvPr id="11" name="with cache"/>
          <p:cNvSpPr/>
          <p:nvPr/>
        </p:nvSpPr>
        <p:spPr>
          <a:xfrm>
            <a:off x="3108960" y="4343400"/>
            <a:ext cx="2377440" cy="1783080"/>
          </a:xfrm>
          <a:prstGeom prst="roundRect">
            <a:avLst>
              <a:gd name="adj" fmla="val 6154"/>
            </a:avLst>
          </a:prstGeom>
          <a:solidFill>
            <a:schemeClr val="bg2"/>
          </a:solidFill>
          <a:ln w="12700">
            <a:solidFill>
              <a:schemeClr val="bg2"/>
            </a:solidFill>
            <a:prstDash val="solid"/>
          </a:ln>
        </p:spPr>
      </p:sp>
      <p:sp>
        <p:nvSpPr>
          <p:cNvPr id="12" name="Text 9"/>
          <p:cNvSpPr txBox="1"/>
          <p:nvPr/>
        </p:nvSpPr>
        <p:spPr>
          <a:xfrm>
            <a:off x="3291840" y="4480560"/>
            <a:ext cx="2103120" cy="914400"/>
          </a:xfrm>
          <a:prstGeom prst="rect">
            <a:avLst/>
          </a:prstGeom>
          <a:noFill/>
          <a:ln/>
        </p:spPr>
        <p:txBody>
          <a:bodyPr wrap="square" lIns="0" tIns="0" rIns="0" bIns="0" rtlCol="0" anchor="t"/>
          <a:lstStyle/>
          <a:p>
            <a:pPr indent="0" marL="0">
              <a:buNone/>
            </a:pPr>
            <a:r>
              <a:rPr lang="en-US" sz="1400" b="1" dirty="0">
                <a:solidFill>
                  <a:schemeClr val="tx1"/>
                </a:solidFill>
              </a:rPr>
              <a:t>With cache</a:t>
            </a:r>
            <a:endParaRPr lang="en-US" sz="1400" dirty="0"/>
          </a:p>
          <a:p>
            <a:pPr indent="0" marL="0">
              <a:buNone/>
            </a:pPr>
            <a:r>
              <a:rPr lang="en-US" sz="1400" dirty="0">
                <a:solidFill>
                  <a:schemeClr val="tx1"/>
                </a:solidFill>
              </a:rPr>
              <a:t>one new position</a:t>
            </a:r>
            <a:endParaRPr lang="en-US" sz="1400" dirty="0"/>
          </a:p>
          <a:p>
            <a:pPr indent="0" marL="0">
              <a:buNone/>
            </a:pPr>
            <a:r>
              <a:rPr lang="en-US" sz="1400" dirty="0">
                <a:solidFill>
                  <a:schemeClr val="tx1"/>
                </a:solidFill>
              </a:rPr>
              <a:t>per step</a:t>
            </a:r>
            <a:endParaRPr lang="en-US" sz="1400" dirty="0"/>
          </a:p>
        </p:txBody>
      </p:sp>
      <p:sp>
        <p:nvSpPr>
          <p:cNvPr id="13" name="Text 10"/>
          <p:cNvSpPr txBox="1"/>
          <p:nvPr/>
        </p:nvSpPr>
        <p:spPr>
          <a:xfrm>
            <a:off x="3291840" y="5532120"/>
            <a:ext cx="2103120" cy="411480"/>
          </a:xfrm>
          <a:prstGeom prst="rect">
            <a:avLst/>
          </a:prstGeom>
          <a:noFill/>
          <a:ln/>
        </p:spPr>
        <p:txBody>
          <a:bodyPr wrap="square" lIns="0" tIns="0" rIns="0" bIns="0" rtlCol="0" anchor="t"/>
          <a:lstStyle/>
          <a:p>
            <a:pPr indent="0" marL="0">
              <a:buNone/>
            </a:pPr>
            <a:r>
              <a:rPr lang="en-US" sz="1800" b="1" dirty="0">
                <a:solidFill>
                  <a:schemeClr val="accent1"/>
                </a:solidFill>
              </a:rPr>
              <a:t>T = 100 → 100</a:t>
            </a:r>
            <a:endParaRPr lang="en-US" sz="1800" dirty="0"/>
          </a:p>
        </p:txBody>
      </p:sp>
      <p:sp>
        <p:nvSpPr>
          <p:cNvPr id="14" name="Text 11"/>
          <p:cNvSpPr txBox="1"/>
          <p:nvPr/>
        </p:nvSpPr>
        <p:spPr>
          <a:xfrm>
            <a:off x="6035040" y="1280160"/>
            <a:ext cx="5577840" cy="365760"/>
          </a:xfrm>
          <a:prstGeom prst="rect">
            <a:avLst/>
          </a:prstGeom>
          <a:noFill/>
          <a:ln/>
        </p:spPr>
        <p:txBody>
          <a:bodyPr wrap="square" lIns="0" tIns="0" rIns="0" bIns="0" rtlCol="0" anchor="t"/>
          <a:lstStyle/>
          <a:p>
            <a:pPr indent="0" marL="0">
              <a:buNone/>
            </a:pPr>
            <a:r>
              <a:rPr lang="en-US" sz="1600" b="1" dirty="0">
                <a:solidFill>
                  <a:schemeClr val="tx1"/>
                </a:solidFill>
              </a:rPr>
              <a:t>Decoder input at each step</a:t>
            </a:r>
            <a:endParaRPr lang="en-US" sz="1600" dirty="0"/>
          </a:p>
        </p:txBody>
      </p:sp>
      <p:sp>
        <p:nvSpPr>
          <p:cNvPr id="15" name="Text 12"/>
          <p:cNvSpPr txBox="1"/>
          <p:nvPr/>
        </p:nvSpPr>
        <p:spPr>
          <a:xfrm>
            <a:off x="6035040" y="1783080"/>
            <a:ext cx="822960" cy="457200"/>
          </a:xfrm>
          <a:prstGeom prst="rect">
            <a:avLst/>
          </a:prstGeom>
          <a:noFill/>
          <a:ln/>
        </p:spPr>
        <p:txBody>
          <a:bodyPr wrap="square" lIns="0" tIns="0" rIns="0" bIns="0" rtlCol="0" anchor="ctr"/>
          <a:lstStyle/>
          <a:p>
            <a:pPr indent="0" marL="0">
              <a:buNone/>
            </a:pPr>
            <a:r>
              <a:rPr lang="en-US" sz="1400" dirty="0">
                <a:solidFill>
                  <a:schemeClr val="tx2"/>
                </a:solidFill>
              </a:rPr>
              <a:t>step 1</a:t>
            </a:r>
            <a:endParaRPr lang="en-US" sz="1400" dirty="0"/>
          </a:p>
        </p:txBody>
      </p:sp>
      <p:sp>
        <p:nvSpPr>
          <p:cNvPr id="16" name="Shape 13"/>
          <p:cNvSpPr/>
          <p:nvPr/>
        </p:nvSpPr>
        <p:spPr>
          <a:xfrm>
            <a:off x="6903720" y="1783080"/>
            <a:ext cx="1005840" cy="457200"/>
          </a:xfrm>
          <a:prstGeom prst="roundRect">
            <a:avLst>
              <a:gd name="adj" fmla="val 16000"/>
            </a:avLst>
          </a:prstGeom>
          <a:solidFill>
            <a:schemeClr val="accent1"/>
          </a:solidFill>
          <a:ln w="12700">
            <a:solidFill>
              <a:schemeClr val="accent1"/>
            </a:solidFill>
            <a:prstDash val="solid"/>
          </a:ln>
        </p:spPr>
      </p:sp>
      <p:sp>
        <p:nvSpPr>
          <p:cNvPr id="17" name="Text 14"/>
          <p:cNvSpPr txBox="1"/>
          <p:nvPr/>
        </p:nvSpPr>
        <p:spPr>
          <a:xfrm>
            <a:off x="6903720" y="1783080"/>
            <a:ext cx="10058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&lt;s&gt;</a:t>
            </a:r>
            <a:endParaRPr lang="en-US" sz="1400" dirty="0"/>
          </a:p>
        </p:txBody>
      </p:sp>
      <p:sp>
        <p:nvSpPr>
          <p:cNvPr id="18" name="Text 15"/>
          <p:cNvSpPr txBox="1"/>
          <p:nvPr/>
        </p:nvSpPr>
        <p:spPr>
          <a:xfrm>
            <a:off x="6035040" y="2468880"/>
            <a:ext cx="822960" cy="457200"/>
          </a:xfrm>
          <a:prstGeom prst="rect">
            <a:avLst/>
          </a:prstGeom>
          <a:noFill/>
          <a:ln/>
        </p:spPr>
        <p:txBody>
          <a:bodyPr wrap="square" lIns="0" tIns="0" rIns="0" bIns="0" rtlCol="0" anchor="ctr"/>
          <a:lstStyle/>
          <a:p>
            <a:pPr indent="0" marL="0">
              <a:buNone/>
            </a:pPr>
            <a:r>
              <a:rPr lang="en-US" sz="1400" dirty="0">
                <a:solidFill>
                  <a:schemeClr val="tx2"/>
                </a:solidFill>
              </a:rPr>
              <a:t>step 2</a:t>
            </a:r>
            <a:endParaRPr lang="en-US" sz="1400" dirty="0"/>
          </a:p>
        </p:txBody>
      </p:sp>
      <p:sp>
        <p:nvSpPr>
          <p:cNvPr id="19" name="Shape 16"/>
          <p:cNvSpPr/>
          <p:nvPr/>
        </p:nvSpPr>
        <p:spPr>
          <a:xfrm>
            <a:off x="6903720" y="2468880"/>
            <a:ext cx="1005840" cy="457200"/>
          </a:xfrm>
          <a:prstGeom prst="roundRect">
            <a:avLst>
              <a:gd name="adj" fmla="val 16000"/>
            </a:avLst>
          </a:prstGeom>
          <a:solidFill>
            <a:schemeClr val="accent6"/>
          </a:solidFill>
          <a:ln w="12700">
            <a:solidFill>
              <a:schemeClr val="accent3"/>
            </a:solidFill>
            <a:prstDash val="dash"/>
          </a:ln>
        </p:spPr>
      </p:sp>
      <p:sp>
        <p:nvSpPr>
          <p:cNvPr id="20" name="Text 17"/>
          <p:cNvSpPr txBox="1"/>
          <p:nvPr/>
        </p:nvSpPr>
        <p:spPr>
          <a:xfrm>
            <a:off x="6903720" y="2468880"/>
            <a:ext cx="100584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&lt;s&gt;</a:t>
            </a:r>
            <a:endParaRPr lang="en-US" sz="1400" dirty="0"/>
          </a:p>
        </p:txBody>
      </p:sp>
      <p:sp>
        <p:nvSpPr>
          <p:cNvPr id="21" name="Shape 18"/>
          <p:cNvSpPr/>
          <p:nvPr/>
        </p:nvSpPr>
        <p:spPr>
          <a:xfrm>
            <a:off x="7982712" y="2468880"/>
            <a:ext cx="1005840" cy="457200"/>
          </a:xfrm>
          <a:prstGeom prst="roundRect">
            <a:avLst>
              <a:gd name="adj" fmla="val 16000"/>
            </a:avLst>
          </a:prstGeom>
          <a:solidFill>
            <a:schemeClr val="accent1"/>
          </a:solidFill>
          <a:ln w="12700">
            <a:solidFill>
              <a:schemeClr val="accent1"/>
            </a:solidFill>
            <a:prstDash val="solid"/>
          </a:ln>
        </p:spPr>
      </p:sp>
      <p:sp>
        <p:nvSpPr>
          <p:cNvPr id="22" name="Text 19"/>
          <p:cNvSpPr txBox="1"/>
          <p:nvPr/>
        </p:nvSpPr>
        <p:spPr>
          <a:xfrm>
            <a:off x="7982712" y="2468880"/>
            <a:ext cx="10058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ein</a:t>
            </a:r>
            <a:endParaRPr lang="en-US" sz="1400" dirty="0"/>
          </a:p>
        </p:txBody>
      </p:sp>
      <p:sp>
        <p:nvSpPr>
          <p:cNvPr id="23" name="Text 20"/>
          <p:cNvSpPr txBox="1"/>
          <p:nvPr/>
        </p:nvSpPr>
        <p:spPr>
          <a:xfrm>
            <a:off x="6035040" y="3154680"/>
            <a:ext cx="822960" cy="457200"/>
          </a:xfrm>
          <a:prstGeom prst="rect">
            <a:avLst/>
          </a:prstGeom>
          <a:noFill/>
          <a:ln/>
        </p:spPr>
        <p:txBody>
          <a:bodyPr wrap="square" lIns="0" tIns="0" rIns="0" bIns="0" rtlCol="0" anchor="ctr"/>
          <a:lstStyle/>
          <a:p>
            <a:pPr indent="0" marL="0">
              <a:buNone/>
            </a:pPr>
            <a:r>
              <a:rPr lang="en-US" sz="1400" dirty="0">
                <a:solidFill>
                  <a:schemeClr val="tx2"/>
                </a:solidFill>
              </a:rPr>
              <a:t>step 3</a:t>
            </a:r>
            <a:endParaRPr lang="en-US" sz="1400" dirty="0"/>
          </a:p>
        </p:txBody>
      </p:sp>
      <p:sp>
        <p:nvSpPr>
          <p:cNvPr id="24" name="Shape 21"/>
          <p:cNvSpPr/>
          <p:nvPr/>
        </p:nvSpPr>
        <p:spPr>
          <a:xfrm>
            <a:off x="6903720" y="3154680"/>
            <a:ext cx="1005840" cy="457200"/>
          </a:xfrm>
          <a:prstGeom prst="roundRect">
            <a:avLst>
              <a:gd name="adj" fmla="val 16000"/>
            </a:avLst>
          </a:prstGeom>
          <a:solidFill>
            <a:schemeClr val="accent6"/>
          </a:solidFill>
          <a:ln w="12700">
            <a:solidFill>
              <a:schemeClr val="accent3"/>
            </a:solidFill>
            <a:prstDash val="dash"/>
          </a:ln>
        </p:spPr>
      </p:sp>
      <p:sp>
        <p:nvSpPr>
          <p:cNvPr id="25" name="Text 22"/>
          <p:cNvSpPr txBox="1"/>
          <p:nvPr/>
        </p:nvSpPr>
        <p:spPr>
          <a:xfrm>
            <a:off x="6903720" y="3154680"/>
            <a:ext cx="100584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&lt;s&gt;</a:t>
            </a:r>
            <a:endParaRPr lang="en-US" sz="1400" dirty="0"/>
          </a:p>
        </p:txBody>
      </p:sp>
      <p:sp>
        <p:nvSpPr>
          <p:cNvPr id="26" name="Shape 23"/>
          <p:cNvSpPr/>
          <p:nvPr/>
        </p:nvSpPr>
        <p:spPr>
          <a:xfrm>
            <a:off x="7982712" y="3154680"/>
            <a:ext cx="1005840" cy="457200"/>
          </a:xfrm>
          <a:prstGeom prst="roundRect">
            <a:avLst>
              <a:gd name="adj" fmla="val 16000"/>
            </a:avLst>
          </a:prstGeom>
          <a:solidFill>
            <a:schemeClr val="accent6"/>
          </a:solidFill>
          <a:ln w="12700">
            <a:solidFill>
              <a:schemeClr val="accent3"/>
            </a:solidFill>
            <a:prstDash val="dash"/>
          </a:ln>
        </p:spPr>
      </p:sp>
      <p:sp>
        <p:nvSpPr>
          <p:cNvPr id="27" name="Text 24"/>
          <p:cNvSpPr txBox="1"/>
          <p:nvPr/>
        </p:nvSpPr>
        <p:spPr>
          <a:xfrm>
            <a:off x="7982712" y="3154680"/>
            <a:ext cx="100584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ein</a:t>
            </a:r>
            <a:endParaRPr lang="en-US" sz="1400" dirty="0"/>
          </a:p>
        </p:txBody>
      </p:sp>
      <p:sp>
        <p:nvSpPr>
          <p:cNvPr id="28" name="Shape 25"/>
          <p:cNvSpPr/>
          <p:nvPr/>
        </p:nvSpPr>
        <p:spPr>
          <a:xfrm>
            <a:off x="9061704" y="3154680"/>
            <a:ext cx="1005840" cy="457200"/>
          </a:xfrm>
          <a:prstGeom prst="roundRect">
            <a:avLst>
              <a:gd name="adj" fmla="val 16000"/>
            </a:avLst>
          </a:prstGeom>
          <a:solidFill>
            <a:schemeClr val="accent1"/>
          </a:solidFill>
          <a:ln w="12700">
            <a:solidFill>
              <a:schemeClr val="accent1"/>
            </a:solidFill>
            <a:prstDash val="solid"/>
          </a:ln>
        </p:spPr>
      </p:sp>
      <p:sp>
        <p:nvSpPr>
          <p:cNvPr id="29" name="Text 26"/>
          <p:cNvSpPr txBox="1"/>
          <p:nvPr/>
        </p:nvSpPr>
        <p:spPr>
          <a:xfrm>
            <a:off x="9061704" y="3154680"/>
            <a:ext cx="10058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mann</a:t>
            </a:r>
            <a:endParaRPr lang="en-US" sz="1400" dirty="0"/>
          </a:p>
        </p:txBody>
      </p:sp>
      <p:sp>
        <p:nvSpPr>
          <p:cNvPr id="30" name="Text 27"/>
          <p:cNvSpPr txBox="1"/>
          <p:nvPr/>
        </p:nvSpPr>
        <p:spPr>
          <a:xfrm>
            <a:off x="6035040" y="3840480"/>
            <a:ext cx="822960" cy="457200"/>
          </a:xfrm>
          <a:prstGeom prst="rect">
            <a:avLst/>
          </a:prstGeom>
          <a:noFill/>
          <a:ln/>
        </p:spPr>
        <p:txBody>
          <a:bodyPr wrap="square" lIns="0" tIns="0" rIns="0" bIns="0" rtlCol="0" anchor="ctr"/>
          <a:lstStyle/>
          <a:p>
            <a:pPr indent="0" marL="0">
              <a:buNone/>
            </a:pPr>
            <a:r>
              <a:rPr lang="en-US" sz="1400" dirty="0">
                <a:solidFill>
                  <a:schemeClr val="tx2"/>
                </a:solidFill>
              </a:rPr>
              <a:t>step 4</a:t>
            </a:r>
            <a:endParaRPr lang="en-US" sz="1400" dirty="0"/>
          </a:p>
        </p:txBody>
      </p:sp>
      <p:sp>
        <p:nvSpPr>
          <p:cNvPr id="31" name="Shape 28"/>
          <p:cNvSpPr/>
          <p:nvPr/>
        </p:nvSpPr>
        <p:spPr>
          <a:xfrm>
            <a:off x="6903720" y="3840480"/>
            <a:ext cx="1005840" cy="457200"/>
          </a:xfrm>
          <a:prstGeom prst="roundRect">
            <a:avLst>
              <a:gd name="adj" fmla="val 16000"/>
            </a:avLst>
          </a:prstGeom>
          <a:solidFill>
            <a:schemeClr val="accent6"/>
          </a:solidFill>
          <a:ln w="12700">
            <a:solidFill>
              <a:schemeClr val="accent3"/>
            </a:solidFill>
            <a:prstDash val="dash"/>
          </a:ln>
        </p:spPr>
      </p:sp>
      <p:sp>
        <p:nvSpPr>
          <p:cNvPr id="32" name="Text 29"/>
          <p:cNvSpPr txBox="1"/>
          <p:nvPr/>
        </p:nvSpPr>
        <p:spPr>
          <a:xfrm>
            <a:off x="6903720" y="3840480"/>
            <a:ext cx="100584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&lt;s&gt;</a:t>
            </a:r>
            <a:endParaRPr lang="en-US" sz="1400" dirty="0"/>
          </a:p>
        </p:txBody>
      </p:sp>
      <p:sp>
        <p:nvSpPr>
          <p:cNvPr id="33" name="Shape 30"/>
          <p:cNvSpPr/>
          <p:nvPr/>
        </p:nvSpPr>
        <p:spPr>
          <a:xfrm>
            <a:off x="7982712" y="3840480"/>
            <a:ext cx="1005840" cy="457200"/>
          </a:xfrm>
          <a:prstGeom prst="roundRect">
            <a:avLst>
              <a:gd name="adj" fmla="val 16000"/>
            </a:avLst>
          </a:prstGeom>
          <a:solidFill>
            <a:schemeClr val="accent6"/>
          </a:solidFill>
          <a:ln w="12700">
            <a:solidFill>
              <a:schemeClr val="accent3"/>
            </a:solidFill>
            <a:prstDash val="dash"/>
          </a:ln>
        </p:spPr>
      </p:sp>
      <p:sp>
        <p:nvSpPr>
          <p:cNvPr id="34" name="Text 31"/>
          <p:cNvSpPr txBox="1"/>
          <p:nvPr/>
        </p:nvSpPr>
        <p:spPr>
          <a:xfrm>
            <a:off x="7982712" y="3840480"/>
            <a:ext cx="100584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ein</a:t>
            </a:r>
            <a:endParaRPr lang="en-US" sz="1400" dirty="0"/>
          </a:p>
        </p:txBody>
      </p:sp>
      <p:sp>
        <p:nvSpPr>
          <p:cNvPr id="35" name="Shape 32"/>
          <p:cNvSpPr/>
          <p:nvPr/>
        </p:nvSpPr>
        <p:spPr>
          <a:xfrm>
            <a:off x="9061704" y="3840480"/>
            <a:ext cx="1005840" cy="457200"/>
          </a:xfrm>
          <a:prstGeom prst="roundRect">
            <a:avLst>
              <a:gd name="adj" fmla="val 16000"/>
            </a:avLst>
          </a:prstGeom>
          <a:solidFill>
            <a:schemeClr val="accent6"/>
          </a:solidFill>
          <a:ln w="12700">
            <a:solidFill>
              <a:schemeClr val="accent3"/>
            </a:solidFill>
            <a:prstDash val="dash"/>
          </a:ln>
        </p:spPr>
      </p:sp>
      <p:sp>
        <p:nvSpPr>
          <p:cNvPr id="36" name="Text 33"/>
          <p:cNvSpPr txBox="1"/>
          <p:nvPr/>
        </p:nvSpPr>
        <p:spPr>
          <a:xfrm>
            <a:off x="9061704" y="3840480"/>
            <a:ext cx="100584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mann</a:t>
            </a:r>
            <a:endParaRPr lang="en-US" sz="1400" dirty="0"/>
          </a:p>
        </p:txBody>
      </p:sp>
      <p:sp>
        <p:nvSpPr>
          <p:cNvPr id="37" name="Shape 34"/>
          <p:cNvSpPr/>
          <p:nvPr/>
        </p:nvSpPr>
        <p:spPr>
          <a:xfrm>
            <a:off x="10140696" y="3840480"/>
            <a:ext cx="1005840" cy="457200"/>
          </a:xfrm>
          <a:prstGeom prst="roundRect">
            <a:avLst>
              <a:gd name="adj" fmla="val 16000"/>
            </a:avLst>
          </a:prstGeom>
          <a:solidFill>
            <a:schemeClr val="accent1"/>
          </a:solidFill>
          <a:ln w="12700">
            <a:solidFill>
              <a:schemeClr val="accent1"/>
            </a:solidFill>
            <a:prstDash val="solid"/>
          </a:ln>
        </p:spPr>
      </p:sp>
      <p:sp>
        <p:nvSpPr>
          <p:cNvPr id="38" name="Text 35"/>
          <p:cNvSpPr txBox="1"/>
          <p:nvPr/>
        </p:nvSpPr>
        <p:spPr>
          <a:xfrm>
            <a:off x="10140696" y="3840480"/>
            <a:ext cx="10058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laeuft</a:t>
            </a:r>
            <a:endParaRPr lang="en-US" sz="1400" dirty="0"/>
          </a:p>
        </p:txBody>
      </p:sp>
      <p:sp>
        <p:nvSpPr>
          <p:cNvPr id="39" name="Shape 36"/>
          <p:cNvSpPr/>
          <p:nvPr/>
        </p:nvSpPr>
        <p:spPr>
          <a:xfrm>
            <a:off x="6035040" y="4754880"/>
            <a:ext cx="1005840" cy="411480"/>
          </a:xfrm>
          <a:prstGeom prst="roundRect">
            <a:avLst>
              <a:gd name="adj" fmla="val 17778"/>
            </a:avLst>
          </a:prstGeom>
          <a:solidFill>
            <a:schemeClr val="accent6"/>
          </a:solidFill>
          <a:ln w="12700">
            <a:solidFill>
              <a:schemeClr val="accent3"/>
            </a:solidFill>
            <a:prstDash val="dash"/>
          </a:ln>
        </p:spPr>
      </p:sp>
      <p:sp>
        <p:nvSpPr>
          <p:cNvPr id="40" name="Text 37"/>
          <p:cNvSpPr txBox="1"/>
          <p:nvPr/>
        </p:nvSpPr>
        <p:spPr>
          <a:xfrm>
            <a:off x="6035040" y="4754880"/>
            <a:ext cx="1005840"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old</a:t>
            </a:r>
            <a:endParaRPr lang="en-US" sz="1300" dirty="0"/>
          </a:p>
        </p:txBody>
      </p:sp>
      <p:sp>
        <p:nvSpPr>
          <p:cNvPr id="41" name="Text 38"/>
          <p:cNvSpPr txBox="1"/>
          <p:nvPr/>
        </p:nvSpPr>
        <p:spPr>
          <a:xfrm>
            <a:off x="7132320" y="4754880"/>
            <a:ext cx="1828800" cy="411480"/>
          </a:xfrm>
          <a:prstGeom prst="rect">
            <a:avLst/>
          </a:prstGeom>
          <a:noFill/>
          <a:ln/>
        </p:spPr>
        <p:txBody>
          <a:bodyPr wrap="square" lIns="0" tIns="0" rIns="0" bIns="0" rtlCol="0" anchor="ctr"/>
          <a:lstStyle/>
          <a:p>
            <a:pPr indent="0" marL="0">
              <a:buNone/>
            </a:pPr>
            <a:r>
              <a:rPr lang="en-US" sz="1400" dirty="0">
                <a:solidFill>
                  <a:schemeClr val="tx1"/>
                </a:solidFill>
              </a:rPr>
              <a:t>recomputed again</a:t>
            </a:r>
            <a:endParaRPr lang="en-US" sz="1400" dirty="0"/>
          </a:p>
        </p:txBody>
      </p:sp>
      <p:sp>
        <p:nvSpPr>
          <p:cNvPr id="42" name="Shape 39"/>
          <p:cNvSpPr/>
          <p:nvPr/>
        </p:nvSpPr>
        <p:spPr>
          <a:xfrm>
            <a:off x="8961120" y="4754880"/>
            <a:ext cx="1005840" cy="411480"/>
          </a:xfrm>
          <a:prstGeom prst="roundRect">
            <a:avLst>
              <a:gd name="adj" fmla="val 17778"/>
            </a:avLst>
          </a:prstGeom>
          <a:solidFill>
            <a:schemeClr val="accent1"/>
          </a:solidFill>
          <a:ln w="12700">
            <a:solidFill>
              <a:schemeClr val="accent1"/>
            </a:solidFill>
            <a:prstDash val="solid"/>
          </a:ln>
        </p:spPr>
      </p:sp>
      <p:sp>
        <p:nvSpPr>
          <p:cNvPr id="43" name="Text 40"/>
          <p:cNvSpPr txBox="1"/>
          <p:nvPr/>
        </p:nvSpPr>
        <p:spPr>
          <a:xfrm>
            <a:off x="8961120" y="4754880"/>
            <a:ext cx="100584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new</a:t>
            </a:r>
            <a:endParaRPr lang="en-US" sz="1300" dirty="0"/>
          </a:p>
        </p:txBody>
      </p:sp>
      <p:sp>
        <p:nvSpPr>
          <p:cNvPr id="44" name="Text 41"/>
          <p:cNvSpPr txBox="1"/>
          <p:nvPr/>
        </p:nvSpPr>
        <p:spPr>
          <a:xfrm>
            <a:off x="10058400" y="4754880"/>
            <a:ext cx="1554480" cy="411480"/>
          </a:xfrm>
          <a:prstGeom prst="rect">
            <a:avLst/>
          </a:prstGeom>
          <a:noFill/>
          <a:ln/>
        </p:spPr>
        <p:txBody>
          <a:bodyPr wrap="square" lIns="0" tIns="0" rIns="0" bIns="0" rtlCol="0" anchor="ctr"/>
          <a:lstStyle/>
          <a:p>
            <a:pPr indent="0" marL="0">
              <a:buNone/>
            </a:pPr>
            <a:r>
              <a:rPr lang="en-US" sz="1400" dirty="0">
                <a:solidFill>
                  <a:schemeClr val="tx1"/>
                </a:solidFill>
              </a:rPr>
              <a:t>newest token</a:t>
            </a:r>
            <a:endParaRPr lang="en-US" sz="1400" dirty="0"/>
          </a:p>
        </p:txBody>
      </p:sp>
      <p:sp>
        <p:nvSpPr>
          <p:cNvPr id="45" name="Text 42"/>
          <p:cNvSpPr txBox="1"/>
          <p:nvPr/>
        </p:nvSpPr>
        <p:spPr>
          <a:xfrm>
            <a:off x="6035040" y="5440680"/>
            <a:ext cx="5577840" cy="685800"/>
          </a:xfrm>
          <a:prstGeom prst="rect">
            <a:avLst/>
          </a:prstGeom>
          <a:noFill/>
          <a:ln/>
        </p:spPr>
        <p:txBody>
          <a:bodyPr wrap="square" lIns="0" tIns="0" rIns="0" bIns="0" rtlCol="0" anchor="t"/>
          <a:lstStyle/>
          <a:p>
            <a:pPr indent="0" marL="0">
              <a:buNone/>
            </a:pPr>
            <a:r>
              <a:rPr lang="en-US" sz="1600" b="1" dirty="0">
                <a:solidFill>
                  <a:schemeClr val="accent1"/>
                </a:solidFill>
              </a:rPr>
              <a:t>Past tokens never change during generation, so their keys and values never change either.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Cache keys and values, not queries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852160" cy="914400"/>
        </p:xfrm>
        <a:graphic>
          <a:graphicData uri="http://schemas.openxmlformats.org/drawingml/2006/table">
            <a:tbl>
              <a:tblPr/>
              <a:tblGrid>
                <a:gridCol w="1188720"/>
                <a:gridCol w="2468880"/>
                <a:gridCol w="2194560"/>
              </a:tblGrid>
              <a:tr h="685800">
                <a:tc>
                  <a:txBody>
                    <a:bodyPr/>
                    <a:lstStyle/>
                    <a:p>
                      <a:pPr indent="0" marL="0">
                        <a:buNone/>
                      </a:pPr>
                      <a:r>
                        <a:rPr lang="en-US" sz="1500" b="1" dirty="0">
                          <a:solidFill>
                            <a:schemeClr val="bg1"/>
                          </a:solidFill>
                        </a:rPr>
                        <a:t>Vector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Role in attention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Cache it?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685800">
                <a:tc>
                  <a:txBody>
                    <a:bodyPr/>
                    <a:lstStyle/>
                    <a:p>
                      <a:pPr indent="0" marL="0">
                        <a:buNone/>
                      </a:pPr>
                      <a:r>
                        <a:rPr lang="en-US" sz="1500" b="1" dirty="0">
                          <a:solidFill>
                            <a:schemeClr val="tx1"/>
                          </a:solidFill>
                          <a:latin typeface="Courier New" pitchFamily="34" charset="0"/>
                          <a:ea typeface="Courier New" pitchFamily="34" charset="-122"/>
                          <a:cs typeface="Courier New" pitchFamily="34" charset="-120"/>
                        </a:rPr>
                        <a:t>Query Q</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what the current position is looking for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3"/>
                          </a:solidFill>
                        </a:rPr>
                        <a:t>No: only the newest position asks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85800">
                <a:tc>
                  <a:txBody>
                    <a:bodyPr/>
                    <a:lstStyle/>
                    <a:p>
                      <a:pPr indent="0" marL="0">
                        <a:buNone/>
                      </a:pPr>
                      <a:r>
                        <a:rPr lang="en-US" sz="1500" b="1" dirty="0">
                          <a:solidFill>
                            <a:schemeClr val="tx1"/>
                          </a:solidFill>
                          <a:latin typeface="Courier New" pitchFamily="34" charset="0"/>
                          <a:ea typeface="Courier New" pitchFamily="34" charset="-122"/>
                          <a:cs typeface="Courier New" pitchFamily="34" charset="-120"/>
                        </a:rPr>
                        <a:t>Key K</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what each position offers as a match</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Yes: still matched by future tokens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85800">
                <a:tc>
                  <a:txBody>
                    <a:bodyPr/>
                    <a:lstStyle/>
                    <a:p>
                      <a:pPr indent="0" marL="0">
                        <a:buNone/>
                      </a:pPr>
                      <a:r>
                        <a:rPr lang="en-US" sz="1500" b="1" dirty="0">
                          <a:solidFill>
                            <a:schemeClr val="tx1"/>
                          </a:solidFill>
                          <a:latin typeface="Courier New" pitchFamily="34" charset="0"/>
                          <a:ea typeface="Courier New" pitchFamily="34" charset="-122"/>
                          <a:cs typeface="Courier New" pitchFamily="34" charset="-120"/>
                        </a:rPr>
                        <a:t>Value V</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what is copied into the output if selected</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Yes: still read by future tokens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same answer"/>
          <p:cNvSpPr/>
          <p:nvPr/>
        </p:nvSpPr>
        <p:spPr>
          <a:xfrm>
            <a:off x="548640" y="4343400"/>
            <a:ext cx="5852160" cy="1783080"/>
          </a:xfrm>
          <a:prstGeom prst="roundRect">
            <a:avLst>
              <a:gd name="adj" fmla="val 6154"/>
            </a:avLst>
          </a:prstGeom>
          <a:solidFill>
            <a:schemeClr val="accent5"/>
          </a:solidFill>
          <a:ln w="12700">
            <a:solidFill>
              <a:schemeClr val="accent5"/>
            </a:solidFill>
            <a:prstDash val="solid"/>
          </a:ln>
        </p:spPr>
      </p:sp>
      <p:sp>
        <p:nvSpPr>
          <p:cNvPr id="6" name="Text 2"/>
          <p:cNvSpPr txBox="1"/>
          <p:nvPr/>
        </p:nvSpPr>
        <p:spPr>
          <a:xfrm>
            <a:off x="822960" y="4343400"/>
            <a:ext cx="5303520" cy="1783080"/>
          </a:xfrm>
          <a:prstGeom prst="rect">
            <a:avLst/>
          </a:prstGeom>
          <a:noFill/>
          <a:ln/>
        </p:spPr>
        <p:txBody>
          <a:bodyPr wrap="square" lIns="0" tIns="0" rIns="0" bIns="0" rtlCol="0" anchor="ctr"/>
          <a:lstStyle/>
          <a:p>
            <a:pPr indent="0" marL="0">
              <a:buNone/>
            </a:pPr>
            <a:r>
              <a:rPr lang="en-US" sz="1500" b="1" dirty="0">
                <a:solidFill>
                  <a:schemeClr val="tx1"/>
                </a:solidFill>
              </a:rPr>
              <a:t>Same result, less work.</a:t>
            </a:r>
            <a:endParaRPr lang="en-US" sz="1500" dirty="0"/>
          </a:p>
          <a:p>
            <a:pPr indent="0" marL="0">
              <a:buNone/>
            </a:pPr>
            <a:r>
              <a:rPr lang="en-US" sz="1500" dirty="0">
                <a:solidFill>
                  <a:schemeClr val="tx1"/>
                </a:solidFill>
              </a:rPr>
              <a:t>With dropout off and the same weights, cached decoding gives the same output for the newest token as running the full prefix with a causal mask. It is an inference optimization, not a new model.</a:t>
            </a:r>
            <a:endParaRPr lang="en-US" sz="1500" dirty="0"/>
          </a:p>
        </p:txBody>
      </p:sp>
      <p:sp>
        <p:nvSpPr>
          <p:cNvPr id="7" name="Text 3"/>
          <p:cNvSpPr txBox="1"/>
          <p:nvPr/>
        </p:nvSpPr>
        <p:spPr>
          <a:xfrm>
            <a:off x="6858000" y="1325880"/>
            <a:ext cx="4754880" cy="365760"/>
          </a:xfrm>
          <a:prstGeom prst="rect">
            <a:avLst/>
          </a:prstGeom>
          <a:noFill/>
          <a:ln/>
        </p:spPr>
        <p:txBody>
          <a:bodyPr wrap="square" lIns="0" tIns="0" rIns="0" bIns="0" rtlCol="0" anchor="t"/>
          <a:lstStyle/>
          <a:p>
            <a:pPr indent="0" marL="0">
              <a:buNone/>
            </a:pPr>
            <a:r>
              <a:rPr lang="en-US" sz="1600" b="1" dirty="0">
                <a:solidFill>
                  <a:schemeClr val="tx1"/>
                </a:solidFill>
              </a:rPr>
              <a:t>One decoding step with a cache</a:t>
            </a:r>
            <a:endParaRPr lang="en-US" sz="1600" dirty="0"/>
          </a:p>
        </p:txBody>
      </p:sp>
      <p:sp>
        <p:nvSpPr>
          <p:cNvPr id="8" name="Shape 4"/>
          <p:cNvSpPr/>
          <p:nvPr/>
        </p:nvSpPr>
        <p:spPr>
          <a:xfrm>
            <a:off x="6858000" y="1828800"/>
            <a:ext cx="457200" cy="457200"/>
          </a:xfrm>
          <a:prstGeom prst="ellipse">
            <a:avLst/>
          </a:prstGeom>
          <a:solidFill>
            <a:schemeClr val="accent1"/>
          </a:solidFill>
          <a:ln w="12700">
            <a:solidFill>
              <a:schemeClr val="accent1"/>
            </a:solidFill>
            <a:prstDash val="solid"/>
          </a:ln>
        </p:spPr>
      </p:sp>
      <p:sp>
        <p:nvSpPr>
          <p:cNvPr id="9" name="Text 5"/>
          <p:cNvSpPr txBox="1"/>
          <p:nvPr/>
        </p:nvSpPr>
        <p:spPr>
          <a:xfrm>
            <a:off x="685800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step 1"/>
          <p:cNvSpPr/>
          <p:nvPr/>
        </p:nvSpPr>
        <p:spPr>
          <a:xfrm>
            <a:off x="7452360" y="1737360"/>
            <a:ext cx="4160520" cy="640080"/>
          </a:xfrm>
          <a:prstGeom prst="roundRect">
            <a:avLst>
              <a:gd name="adj" fmla="val 17143"/>
            </a:avLst>
          </a:prstGeom>
          <a:solidFill>
            <a:schemeClr val="bg2"/>
          </a:solidFill>
          <a:ln w="12700">
            <a:solidFill>
              <a:schemeClr val="bg2"/>
            </a:solidFill>
            <a:prstDash val="solid"/>
          </a:ln>
        </p:spPr>
      </p:sp>
      <p:sp>
        <p:nvSpPr>
          <p:cNvPr id="11" name="Text 7"/>
          <p:cNvSpPr txBox="1"/>
          <p:nvPr/>
        </p:nvSpPr>
        <p:spPr>
          <a:xfrm>
            <a:off x="7635240" y="1737360"/>
            <a:ext cx="3886200" cy="640080"/>
          </a:xfrm>
          <a:prstGeom prst="rect">
            <a:avLst/>
          </a:prstGeom>
          <a:noFill/>
          <a:ln/>
        </p:spPr>
        <p:txBody>
          <a:bodyPr wrap="square" lIns="0" tIns="0" rIns="0" bIns="0" rtlCol="0" anchor="ctr"/>
          <a:lstStyle/>
          <a:p>
            <a:pPr indent="0" marL="0">
              <a:buNone/>
            </a:pPr>
            <a:r>
              <a:rPr lang="en-US" sz="1600" dirty="0">
                <a:solidFill>
                  <a:schemeClr val="tx1"/>
                </a:solidFill>
              </a:rPr>
              <a:t>Embed </a:t>
            </a:r>
            <a:r>
              <a:rPr lang="en-US" sz="1600" b="1" dirty="0">
                <a:solidFill>
                  <a:schemeClr val="tx1"/>
                </a:solidFill>
              </a:rPr>
              <a:t>only the newest token</a:t>
            </a:r>
            <a:endParaRPr lang="en-US" sz="1600" dirty="0"/>
          </a:p>
        </p:txBody>
      </p:sp>
      <p:sp>
        <p:nvSpPr>
          <p:cNvPr id="12" name="Shape 8"/>
          <p:cNvSpPr/>
          <p:nvPr/>
        </p:nvSpPr>
        <p:spPr>
          <a:xfrm>
            <a:off x="6858000" y="2697480"/>
            <a:ext cx="457200" cy="457200"/>
          </a:xfrm>
          <a:prstGeom prst="ellipse">
            <a:avLst/>
          </a:prstGeom>
          <a:solidFill>
            <a:schemeClr val="accent1"/>
          </a:solidFill>
          <a:ln w="12700">
            <a:solidFill>
              <a:schemeClr val="accent1"/>
            </a:solidFill>
            <a:prstDash val="solid"/>
          </a:ln>
        </p:spPr>
      </p:sp>
      <p:sp>
        <p:nvSpPr>
          <p:cNvPr id="13" name="Text 9"/>
          <p:cNvSpPr txBox="1"/>
          <p:nvPr/>
        </p:nvSpPr>
        <p:spPr>
          <a:xfrm>
            <a:off x="6858000" y="2697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step 2"/>
          <p:cNvSpPr/>
          <p:nvPr/>
        </p:nvSpPr>
        <p:spPr>
          <a:xfrm>
            <a:off x="7452360" y="2606040"/>
            <a:ext cx="4160520" cy="640080"/>
          </a:xfrm>
          <a:prstGeom prst="roundRect">
            <a:avLst>
              <a:gd name="adj" fmla="val 17143"/>
            </a:avLst>
          </a:prstGeom>
          <a:solidFill>
            <a:schemeClr val="bg2"/>
          </a:solidFill>
          <a:ln w="12700">
            <a:solidFill>
              <a:schemeClr val="bg2"/>
            </a:solidFill>
            <a:prstDash val="solid"/>
          </a:ln>
        </p:spPr>
      </p:sp>
      <p:sp>
        <p:nvSpPr>
          <p:cNvPr id="15" name="Text 11"/>
          <p:cNvSpPr txBox="1"/>
          <p:nvPr/>
        </p:nvSpPr>
        <p:spPr>
          <a:xfrm>
            <a:off x="7635240" y="2606040"/>
            <a:ext cx="3886200" cy="640080"/>
          </a:xfrm>
          <a:prstGeom prst="rect">
            <a:avLst/>
          </a:prstGeom>
          <a:noFill/>
          <a:ln/>
        </p:spPr>
        <p:txBody>
          <a:bodyPr wrap="square" lIns="0" tIns="0" rIns="0" bIns="0" rtlCol="0" anchor="ctr"/>
          <a:lstStyle/>
          <a:p>
            <a:pPr indent="0" marL="0">
              <a:buNone/>
            </a:pPr>
            <a:r>
              <a:rPr lang="en-US" sz="1600" dirty="0">
                <a:solidFill>
                  <a:schemeClr val="tx1"/>
                </a:solidFill>
              </a:rPr>
              <a:t>Compute its </a:t>
            </a:r>
            <a:r>
              <a:rPr lang="en-US" sz="1600" dirty="0">
                <a:solidFill>
                  <a:schemeClr val="tx1"/>
                </a:solidFill>
                <a:latin typeface="Courier New" pitchFamily="34" charset="0"/>
                <a:ea typeface="Courier New" pitchFamily="34" charset="-122"/>
                <a:cs typeface="Courier New" pitchFamily="34" charset="-120"/>
              </a:rPr>
              <a:t>Q</a:t>
            </a:r>
            <a:r>
              <a:rPr lang="en-US" sz="1600" dirty="0">
                <a:solidFill>
                  <a:schemeClr val="tx1"/>
                </a:solidFill>
              </a:rPr>
              <a:t>, </a:t>
            </a:r>
            <a:r>
              <a:rPr lang="en-US" sz="1600" dirty="0">
                <a:solidFill>
                  <a:schemeClr val="tx1"/>
                </a:solidFill>
                <a:latin typeface="Courier New" pitchFamily="34" charset="0"/>
                <a:ea typeface="Courier New" pitchFamily="34" charset="-122"/>
                <a:cs typeface="Courier New" pitchFamily="34" charset="-120"/>
              </a:rPr>
              <a:t>K</a:t>
            </a:r>
            <a:r>
              <a:rPr lang="en-US" sz="1600" dirty="0">
                <a:solidFill>
                  <a:schemeClr val="tx1"/>
                </a:solidFill>
              </a:rPr>
              <a:t>, </a:t>
            </a:r>
            <a:r>
              <a:rPr lang="en-US" sz="1600" dirty="0">
                <a:solidFill>
                  <a:schemeClr val="tx1"/>
                </a:solidFill>
                <a:latin typeface="Courier New" pitchFamily="34" charset="0"/>
                <a:ea typeface="Courier New" pitchFamily="34" charset="-122"/>
                <a:cs typeface="Courier New" pitchFamily="34" charset="-120"/>
              </a:rPr>
              <a:t>V</a:t>
            </a:r>
            <a:endParaRPr lang="en-US" sz="1600" dirty="0"/>
          </a:p>
        </p:txBody>
      </p:sp>
      <p:sp>
        <p:nvSpPr>
          <p:cNvPr id="16" name="Shape 12"/>
          <p:cNvSpPr/>
          <p:nvPr/>
        </p:nvSpPr>
        <p:spPr>
          <a:xfrm>
            <a:off x="6858000" y="3566160"/>
            <a:ext cx="457200" cy="457200"/>
          </a:xfrm>
          <a:prstGeom prst="ellipse">
            <a:avLst/>
          </a:prstGeom>
          <a:solidFill>
            <a:schemeClr val="accent4"/>
          </a:solidFill>
          <a:ln w="12700">
            <a:solidFill>
              <a:schemeClr val="accent4"/>
            </a:solidFill>
            <a:prstDash val="solid"/>
          </a:ln>
        </p:spPr>
      </p:sp>
      <p:sp>
        <p:nvSpPr>
          <p:cNvPr id="17" name="Text 13"/>
          <p:cNvSpPr txBox="1"/>
          <p:nvPr/>
        </p:nvSpPr>
        <p:spPr>
          <a:xfrm>
            <a:off x="6858000" y="3566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step 3"/>
          <p:cNvSpPr/>
          <p:nvPr/>
        </p:nvSpPr>
        <p:spPr>
          <a:xfrm>
            <a:off x="7452360" y="3474720"/>
            <a:ext cx="4160520" cy="640080"/>
          </a:xfrm>
          <a:prstGeom prst="roundRect">
            <a:avLst>
              <a:gd name="adj" fmla="val 17143"/>
            </a:avLst>
          </a:prstGeom>
          <a:solidFill>
            <a:schemeClr val="accent5"/>
          </a:solidFill>
          <a:ln w="12700">
            <a:solidFill>
              <a:schemeClr val="accent5"/>
            </a:solidFill>
            <a:prstDash val="solid"/>
          </a:ln>
        </p:spPr>
      </p:sp>
      <p:sp>
        <p:nvSpPr>
          <p:cNvPr id="19" name="Text 15"/>
          <p:cNvSpPr txBox="1"/>
          <p:nvPr/>
        </p:nvSpPr>
        <p:spPr>
          <a:xfrm>
            <a:off x="7635240" y="3474720"/>
            <a:ext cx="3886200" cy="640080"/>
          </a:xfrm>
          <a:prstGeom prst="rect">
            <a:avLst/>
          </a:prstGeom>
          <a:noFill/>
          <a:ln/>
        </p:spPr>
        <p:txBody>
          <a:bodyPr wrap="square" lIns="0" tIns="0" rIns="0" bIns="0" rtlCol="0" anchor="ctr"/>
          <a:lstStyle/>
          <a:p>
            <a:pPr indent="0" marL="0">
              <a:buNone/>
            </a:pPr>
            <a:r>
              <a:rPr lang="en-US" sz="1600" b="1" dirty="0">
                <a:solidFill>
                  <a:schemeClr val="tx1"/>
                </a:solidFill>
              </a:rPr>
              <a:t>Append</a:t>
            </a:r>
            <a:r>
              <a:rPr lang="en-US" sz="1600" dirty="0">
                <a:solidFill>
                  <a:schemeClr val="tx1"/>
                </a:solidFill>
              </a:rPr>
              <a:t> the new </a:t>
            </a:r>
            <a:r>
              <a:rPr lang="en-US" sz="1600" dirty="0">
                <a:solidFill>
                  <a:schemeClr val="tx1"/>
                </a:solidFill>
                <a:latin typeface="Courier New" pitchFamily="34" charset="0"/>
                <a:ea typeface="Courier New" pitchFamily="34" charset="-122"/>
                <a:cs typeface="Courier New" pitchFamily="34" charset="-120"/>
              </a:rPr>
              <a:t>K</a:t>
            </a:r>
            <a:r>
              <a:rPr lang="en-US" sz="1600" dirty="0">
                <a:solidFill>
                  <a:schemeClr val="tx1"/>
                </a:solidFill>
              </a:rPr>
              <a:t>, </a:t>
            </a:r>
            <a:r>
              <a:rPr lang="en-US" sz="1600" dirty="0">
                <a:solidFill>
                  <a:schemeClr val="tx1"/>
                </a:solidFill>
                <a:latin typeface="Courier New" pitchFamily="34" charset="0"/>
                <a:ea typeface="Courier New" pitchFamily="34" charset="-122"/>
                <a:cs typeface="Courier New" pitchFamily="34" charset="-120"/>
              </a:rPr>
              <a:t>V</a:t>
            </a:r>
            <a:r>
              <a:rPr lang="en-US" sz="1600" dirty="0">
                <a:solidFill>
                  <a:schemeClr val="tx1"/>
                </a:solidFill>
              </a:rPr>
              <a:t> to the cached ones</a:t>
            </a:r>
            <a:endParaRPr lang="en-US" sz="1600" dirty="0"/>
          </a:p>
        </p:txBody>
      </p:sp>
      <p:sp>
        <p:nvSpPr>
          <p:cNvPr id="20" name="Shape 16"/>
          <p:cNvSpPr/>
          <p:nvPr/>
        </p:nvSpPr>
        <p:spPr>
          <a:xfrm>
            <a:off x="6858000" y="4434840"/>
            <a:ext cx="457200" cy="457200"/>
          </a:xfrm>
          <a:prstGeom prst="ellipse">
            <a:avLst/>
          </a:prstGeom>
          <a:solidFill>
            <a:schemeClr val="accent1"/>
          </a:solidFill>
          <a:ln w="12700">
            <a:solidFill>
              <a:schemeClr val="accent1"/>
            </a:solidFill>
            <a:prstDash val="solid"/>
          </a:ln>
        </p:spPr>
      </p:sp>
      <p:sp>
        <p:nvSpPr>
          <p:cNvPr id="21" name="Text 17"/>
          <p:cNvSpPr txBox="1"/>
          <p:nvPr/>
        </p:nvSpPr>
        <p:spPr>
          <a:xfrm>
            <a:off x="685800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step 4"/>
          <p:cNvSpPr/>
          <p:nvPr/>
        </p:nvSpPr>
        <p:spPr>
          <a:xfrm>
            <a:off x="7452360" y="4343400"/>
            <a:ext cx="4160520" cy="640080"/>
          </a:xfrm>
          <a:prstGeom prst="roundRect">
            <a:avLst>
              <a:gd name="adj" fmla="val 17143"/>
            </a:avLst>
          </a:prstGeom>
          <a:solidFill>
            <a:schemeClr val="bg2"/>
          </a:solidFill>
          <a:ln w="12700">
            <a:solidFill>
              <a:schemeClr val="bg2"/>
            </a:solidFill>
            <a:prstDash val="solid"/>
          </a:ln>
        </p:spPr>
      </p:sp>
      <p:sp>
        <p:nvSpPr>
          <p:cNvPr id="23" name="Text 19"/>
          <p:cNvSpPr txBox="1"/>
          <p:nvPr/>
        </p:nvSpPr>
        <p:spPr>
          <a:xfrm>
            <a:off x="7635240" y="4343400"/>
            <a:ext cx="3886200" cy="640080"/>
          </a:xfrm>
          <a:prstGeom prst="rect">
            <a:avLst/>
          </a:prstGeom>
          <a:noFill/>
          <a:ln/>
        </p:spPr>
        <p:txBody>
          <a:bodyPr wrap="square" lIns="0" tIns="0" rIns="0" bIns="0" rtlCol="0" anchor="ctr"/>
          <a:lstStyle/>
          <a:p>
            <a:pPr indent="0" marL="0">
              <a:buNone/>
            </a:pPr>
            <a:r>
              <a:rPr lang="en-US" sz="1600" dirty="0">
                <a:solidFill>
                  <a:schemeClr val="tx1"/>
                </a:solidFill>
              </a:rPr>
              <a:t>Newest </a:t>
            </a:r>
            <a:r>
              <a:rPr lang="en-US" sz="1600" dirty="0">
                <a:solidFill>
                  <a:schemeClr val="tx1"/>
                </a:solidFill>
                <a:latin typeface="Courier New" pitchFamily="34" charset="0"/>
                <a:ea typeface="Courier New" pitchFamily="34" charset="-122"/>
                <a:cs typeface="Courier New" pitchFamily="34" charset="-120"/>
              </a:rPr>
              <a:t>Q</a:t>
            </a:r>
            <a:r>
              <a:rPr lang="en-US" sz="1600" dirty="0">
                <a:solidFill>
                  <a:schemeClr val="tx1"/>
                </a:solidFill>
              </a:rPr>
              <a:t> attends over </a:t>
            </a:r>
            <a:r>
              <a:rPr lang="en-US" sz="1600" b="1" dirty="0">
                <a:solidFill>
                  <a:schemeClr val="tx1"/>
                </a:solidFill>
              </a:rPr>
              <a:t>all</a:t>
            </a:r>
            <a:r>
              <a:rPr lang="en-US" sz="1600" dirty="0">
                <a:solidFill>
                  <a:schemeClr val="tx1"/>
                </a:solidFill>
              </a:rPr>
              <a:t> cached </a:t>
            </a:r>
            <a:r>
              <a:rPr lang="en-US" sz="1600" dirty="0">
                <a:solidFill>
                  <a:schemeClr val="tx1"/>
                </a:solidFill>
                <a:latin typeface="Courier New" pitchFamily="34" charset="0"/>
                <a:ea typeface="Courier New" pitchFamily="34" charset="-122"/>
                <a:cs typeface="Courier New" pitchFamily="34" charset="-120"/>
              </a:rPr>
              <a:t>K</a:t>
            </a:r>
            <a:r>
              <a:rPr lang="en-US" sz="1600" dirty="0">
                <a:solidFill>
                  <a:schemeClr val="tx1"/>
                </a:solidFill>
              </a:rPr>
              <a:t>, </a:t>
            </a:r>
            <a:r>
              <a:rPr lang="en-US" sz="1600" dirty="0">
                <a:solidFill>
                  <a:schemeClr val="tx1"/>
                </a:solidFill>
                <a:latin typeface="Courier New" pitchFamily="34" charset="0"/>
                <a:ea typeface="Courier New" pitchFamily="34" charset="-122"/>
                <a:cs typeface="Courier New" pitchFamily="34" charset="-120"/>
              </a:rPr>
              <a:t>V</a:t>
            </a:r>
            <a:endParaRPr lang="en-US" sz="1600" dirty="0"/>
          </a:p>
        </p:txBody>
      </p:sp>
      <p:sp>
        <p:nvSpPr>
          <p:cNvPr id="24" name="Shape 20"/>
          <p:cNvSpPr/>
          <p:nvPr/>
        </p:nvSpPr>
        <p:spPr>
          <a:xfrm>
            <a:off x="6858000" y="5303520"/>
            <a:ext cx="457200" cy="457200"/>
          </a:xfrm>
          <a:prstGeom prst="ellipse">
            <a:avLst/>
          </a:prstGeom>
          <a:solidFill>
            <a:schemeClr val="accent1"/>
          </a:solidFill>
          <a:ln w="12700">
            <a:solidFill>
              <a:schemeClr val="accent1"/>
            </a:solidFill>
            <a:prstDash val="solid"/>
          </a:ln>
        </p:spPr>
      </p:sp>
      <p:sp>
        <p:nvSpPr>
          <p:cNvPr id="25" name="Text 21"/>
          <p:cNvSpPr txBox="1"/>
          <p:nvPr/>
        </p:nvSpPr>
        <p:spPr>
          <a:xfrm>
            <a:off x="6858000" y="5303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step 5"/>
          <p:cNvSpPr/>
          <p:nvPr/>
        </p:nvSpPr>
        <p:spPr>
          <a:xfrm>
            <a:off x="7452360" y="5212080"/>
            <a:ext cx="4160520" cy="640080"/>
          </a:xfrm>
          <a:prstGeom prst="roundRect">
            <a:avLst>
              <a:gd name="adj" fmla="val 17143"/>
            </a:avLst>
          </a:prstGeom>
          <a:solidFill>
            <a:schemeClr val="bg2"/>
          </a:solidFill>
          <a:ln w="12700">
            <a:solidFill>
              <a:schemeClr val="bg2"/>
            </a:solidFill>
            <a:prstDash val="solid"/>
          </a:ln>
        </p:spPr>
      </p:sp>
      <p:sp>
        <p:nvSpPr>
          <p:cNvPr id="27" name="Text 23"/>
          <p:cNvSpPr txBox="1"/>
          <p:nvPr/>
        </p:nvSpPr>
        <p:spPr>
          <a:xfrm>
            <a:off x="7635240" y="5212080"/>
            <a:ext cx="3886200" cy="640080"/>
          </a:xfrm>
          <a:prstGeom prst="rect">
            <a:avLst/>
          </a:prstGeom>
          <a:noFill/>
          <a:ln/>
        </p:spPr>
        <p:txBody>
          <a:bodyPr wrap="square" lIns="0" tIns="0" rIns="0" bIns="0" rtlCol="0" anchor="ctr"/>
          <a:lstStyle/>
          <a:p>
            <a:pPr indent="0" marL="0">
              <a:buNone/>
            </a:pPr>
            <a:r>
              <a:rPr lang="en-US" sz="1600" dirty="0">
                <a:solidFill>
                  <a:schemeClr val="tx1"/>
                </a:solidFill>
              </a:rPr>
              <a:t>Produce logits for the next token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Tensor shapes for one cached step</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cells 8, 10</a:t>
            </a:r>
            <a:endParaRPr lang="en-US" sz="1400" dirty="0"/>
          </a:p>
        </p:txBody>
      </p:sp>
      <p:sp>
        <p:nvSpPr>
          <p:cNvPr id="6" name="Text 3"/>
          <p:cNvSpPr txBox="1"/>
          <p:nvPr/>
        </p:nvSpPr>
        <p:spPr>
          <a:xfrm>
            <a:off x="548640" y="1234440"/>
            <a:ext cx="11064240" cy="365760"/>
          </a:xfrm>
          <a:prstGeom prst="rect">
            <a:avLst/>
          </a:prstGeom>
          <a:noFill/>
          <a:ln/>
        </p:spPr>
        <p:txBody>
          <a:bodyPr wrap="square" lIns="0" tIns="0" rIns="0" bIns="0" rtlCol="0" anchor="t"/>
          <a:lstStyle/>
          <a:p>
            <a:pPr indent="0" marL="0">
              <a:buNone/>
            </a:pPr>
            <a:r>
              <a:rPr lang="en-US" sz="1400" dirty="0">
                <a:solidFill>
                  <a:schemeClr val="tx2"/>
                </a:solidFill>
              </a:rPr>
              <a:t>B = batch, h = heads, T = positions so far, dk = d_model / h  (64 in the course Transformer: 512 / 8)</a:t>
            </a:r>
            <a:endParaRPr lang="en-US" sz="1400" dirty="0"/>
          </a:p>
        </p:txBody>
      </p:sp>
      <p:sp>
        <p:nvSpPr>
          <p:cNvPr id="7" name="Shape 4"/>
          <p:cNvSpPr/>
          <p:nvPr/>
        </p:nvSpPr>
        <p:spPr>
          <a:xfrm>
            <a:off x="548640" y="1828800"/>
            <a:ext cx="2651760" cy="868680"/>
          </a:xfrm>
          <a:prstGeom prst="roundRect">
            <a:avLst>
              <a:gd name="adj" fmla="val 8421"/>
            </a:avLst>
          </a:prstGeom>
          <a:solidFill>
            <a:schemeClr val="bg2"/>
          </a:solidFill>
          <a:ln w="12700">
            <a:solidFill>
              <a:schemeClr val="bg2"/>
            </a:solidFill>
            <a:prstDash val="solid"/>
          </a:ln>
        </p:spPr>
      </p:sp>
      <p:sp>
        <p:nvSpPr>
          <p:cNvPr id="8" name="Text 5"/>
          <p:cNvSpPr txBox="1"/>
          <p:nvPr/>
        </p:nvSpPr>
        <p:spPr>
          <a:xfrm>
            <a:off x="548640" y="1901952"/>
            <a:ext cx="265176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cached K, V</a:t>
            </a:r>
            <a:endParaRPr lang="en-US" sz="1600" dirty="0"/>
          </a:p>
        </p:txBody>
      </p:sp>
      <p:sp>
        <p:nvSpPr>
          <p:cNvPr id="9" name="Text 6"/>
          <p:cNvSpPr txBox="1"/>
          <p:nvPr/>
        </p:nvSpPr>
        <p:spPr>
          <a:xfrm>
            <a:off x="548640" y="2286000"/>
            <a:ext cx="2651760" cy="320040"/>
          </a:xfrm>
          <a:prstGeom prst="rect">
            <a:avLst/>
          </a:prstGeom>
          <a:noFill/>
          <a:ln/>
        </p:spPr>
        <p:txBody>
          <a:bodyPr wrap="square" lIns="0" tIns="0" rIns="0" bIns="0" rtlCol="0" anchor="t"/>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(B, h, T−1, dk)</a:t>
            </a:r>
            <a:endParaRPr lang="en-US" sz="1300" dirty="0"/>
          </a:p>
        </p:txBody>
      </p:sp>
      <p:sp>
        <p:nvSpPr>
          <p:cNvPr id="10" name="Text 7"/>
          <p:cNvSpPr txBox="1"/>
          <p:nvPr/>
        </p:nvSpPr>
        <p:spPr>
          <a:xfrm>
            <a:off x="3200400" y="1828800"/>
            <a:ext cx="457200" cy="868680"/>
          </a:xfrm>
          <a:prstGeom prst="rect">
            <a:avLst/>
          </a:prstGeom>
          <a:noFill/>
          <a:ln/>
        </p:spPr>
        <p:txBody>
          <a:bodyPr wrap="square" lIns="0" tIns="0" rIns="0" bIns="0" rtlCol="0" anchor="ctr"/>
          <a:lstStyle/>
          <a:p>
            <a:pPr algn="ctr" indent="0" marL="0">
              <a:buNone/>
            </a:pPr>
            <a:r>
              <a:rPr lang="en-US" sz="2800" b="1" dirty="0">
                <a:solidFill>
                  <a:schemeClr val="tx1"/>
                </a:solidFill>
              </a:rPr>
              <a:t>+</a:t>
            </a:r>
            <a:endParaRPr lang="en-US" sz="2800" dirty="0"/>
          </a:p>
        </p:txBody>
      </p:sp>
      <p:sp>
        <p:nvSpPr>
          <p:cNvPr id="11" name="Shape 8"/>
          <p:cNvSpPr/>
          <p:nvPr/>
        </p:nvSpPr>
        <p:spPr>
          <a:xfrm>
            <a:off x="3657600" y="1828800"/>
            <a:ext cx="2377440" cy="868680"/>
          </a:xfrm>
          <a:prstGeom prst="roundRect">
            <a:avLst>
              <a:gd name="adj" fmla="val 8421"/>
            </a:avLst>
          </a:prstGeom>
          <a:solidFill>
            <a:schemeClr val="accent1"/>
          </a:solidFill>
          <a:ln w="12700">
            <a:solidFill>
              <a:schemeClr val="accent1"/>
            </a:solidFill>
            <a:prstDash val="solid"/>
          </a:ln>
        </p:spPr>
      </p:sp>
      <p:sp>
        <p:nvSpPr>
          <p:cNvPr id="12" name="Text 9"/>
          <p:cNvSpPr txBox="1"/>
          <p:nvPr/>
        </p:nvSpPr>
        <p:spPr>
          <a:xfrm>
            <a:off x="3657600" y="1901952"/>
            <a:ext cx="2377440" cy="365760"/>
          </a:xfrm>
          <a:prstGeom prst="rect">
            <a:avLst/>
          </a:prstGeom>
          <a:noFill/>
          <a:ln/>
        </p:spPr>
        <p:txBody>
          <a:bodyPr wrap="square" lIns="0" tIns="0" rIns="0" bIns="0" rtlCol="0" anchor="t"/>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new K, V</a:t>
            </a:r>
            <a:endParaRPr lang="en-US" sz="1600" dirty="0"/>
          </a:p>
        </p:txBody>
      </p:sp>
      <p:sp>
        <p:nvSpPr>
          <p:cNvPr id="13" name="Text 10"/>
          <p:cNvSpPr txBox="1"/>
          <p:nvPr/>
        </p:nvSpPr>
        <p:spPr>
          <a:xfrm>
            <a:off x="3657600" y="2286000"/>
            <a:ext cx="2377440" cy="320040"/>
          </a:xfrm>
          <a:prstGeom prst="rect">
            <a:avLst/>
          </a:prstGeom>
          <a:noFill/>
          <a:ln/>
        </p:spPr>
        <p:txBody>
          <a:bodyPr wrap="square" lIns="0" tIns="0" rIns="0" bIns="0" rtlCol="0" anchor="t"/>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(B, h, 1, dk)</a:t>
            </a:r>
            <a:endParaRPr lang="en-US" sz="1300" dirty="0"/>
          </a:p>
        </p:txBody>
      </p:sp>
      <p:sp>
        <p:nvSpPr>
          <p:cNvPr id="14" name="Shape 11"/>
          <p:cNvSpPr/>
          <p:nvPr/>
        </p:nvSpPr>
        <p:spPr>
          <a:xfrm>
            <a:off x="6126480" y="2258568"/>
            <a:ext cx="640080" cy="0"/>
          </a:xfrm>
          <a:prstGeom prst="line">
            <a:avLst/>
          </a:prstGeom>
          <a:noFill/>
          <a:ln w="22225">
            <a:solidFill>
              <a:schemeClr val="tx2"/>
            </a:solidFill>
            <a:prstDash val="solid"/>
            <a:tailEnd type="triangle"/>
          </a:ln>
        </p:spPr>
      </p:sp>
      <p:sp>
        <p:nvSpPr>
          <p:cNvPr id="15" name="Shape 12"/>
          <p:cNvSpPr/>
          <p:nvPr/>
        </p:nvSpPr>
        <p:spPr>
          <a:xfrm>
            <a:off x="6858000" y="1828800"/>
            <a:ext cx="2743200" cy="868680"/>
          </a:xfrm>
          <a:prstGeom prst="roundRect">
            <a:avLst>
              <a:gd name="adj" fmla="val 8421"/>
            </a:avLst>
          </a:prstGeom>
          <a:solidFill>
            <a:schemeClr val="accent4"/>
          </a:solidFill>
          <a:ln w="12700">
            <a:solidFill>
              <a:schemeClr val="accent4"/>
            </a:solidFill>
            <a:prstDash val="solid"/>
          </a:ln>
        </p:spPr>
      </p:sp>
      <p:sp>
        <p:nvSpPr>
          <p:cNvPr id="16" name="Text 13"/>
          <p:cNvSpPr txBox="1"/>
          <p:nvPr/>
        </p:nvSpPr>
        <p:spPr>
          <a:xfrm>
            <a:off x="6858000" y="1901952"/>
            <a:ext cx="2743200" cy="365760"/>
          </a:xfrm>
          <a:prstGeom prst="rect">
            <a:avLst/>
          </a:prstGeom>
          <a:noFill/>
          <a:ln/>
        </p:spPr>
        <p:txBody>
          <a:bodyPr wrap="square" lIns="0" tIns="0" rIns="0" bIns="0" rtlCol="0" anchor="t"/>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combined K, V</a:t>
            </a:r>
            <a:endParaRPr lang="en-US" sz="1600" dirty="0"/>
          </a:p>
        </p:txBody>
      </p:sp>
      <p:sp>
        <p:nvSpPr>
          <p:cNvPr id="17" name="Text 14"/>
          <p:cNvSpPr txBox="1"/>
          <p:nvPr/>
        </p:nvSpPr>
        <p:spPr>
          <a:xfrm>
            <a:off x="6858000" y="2286000"/>
            <a:ext cx="2743200" cy="320040"/>
          </a:xfrm>
          <a:prstGeom prst="rect">
            <a:avLst/>
          </a:prstGeom>
          <a:noFill/>
          <a:ln/>
        </p:spPr>
        <p:txBody>
          <a:bodyPr wrap="square" lIns="0" tIns="0" rIns="0" bIns="0" rtlCol="0" anchor="t"/>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(B, h, T, dk)</a:t>
            </a:r>
            <a:endParaRPr lang="en-US" sz="1300" dirty="0"/>
          </a:p>
        </p:txBody>
      </p:sp>
      <p:sp>
        <p:nvSpPr>
          <p:cNvPr id="18" name="Text 15"/>
          <p:cNvSpPr txBox="1"/>
          <p:nvPr/>
        </p:nvSpPr>
        <p:spPr>
          <a:xfrm>
            <a:off x="6858000" y="2743200"/>
            <a:ext cx="4754880" cy="365760"/>
          </a:xfrm>
          <a:prstGeom prst="rect">
            <a:avLst/>
          </a:prstGeom>
          <a:noFill/>
          <a:ln/>
        </p:spPr>
        <p:txBody>
          <a:bodyPr wrap="square" lIns="0" tIns="0" rIns="0" bIns="0" rtlCol="0" anchor="t"/>
          <a:lstStyle/>
          <a:p>
            <a:pPr indent="0" marL="0">
              <a:buNone/>
            </a:pPr>
            <a:r>
              <a:rPr lang="en-US" sz="1300" dirty="0">
                <a:solidFill>
                  <a:schemeClr val="tx2"/>
                </a:solidFill>
                <a:latin typeface="Courier New" pitchFamily="34" charset="0"/>
                <a:ea typeface="Courier New" pitchFamily="34" charset="-122"/>
                <a:cs typeface="Courier New" pitchFamily="34" charset="-120"/>
              </a:rPr>
              <a:t>torch.cat(..., dim=2)</a:t>
            </a:r>
            <a:r>
              <a:rPr lang="en-US" sz="1300" dirty="0">
                <a:solidFill>
                  <a:schemeClr val="tx2"/>
                </a:solidFill>
              </a:rPr>
              <a:t> → becomes the cache for the next step</a:t>
            </a:r>
            <a:endParaRPr lang="en-US" sz="1300" dirty="0"/>
          </a:p>
        </p:txBody>
      </p:sp>
      <p:sp>
        <p:nvSpPr>
          <p:cNvPr id="19" name="Shape 16"/>
          <p:cNvSpPr/>
          <p:nvPr/>
        </p:nvSpPr>
        <p:spPr>
          <a:xfrm>
            <a:off x="548640" y="3429000"/>
            <a:ext cx="2651760" cy="868680"/>
          </a:xfrm>
          <a:prstGeom prst="roundRect">
            <a:avLst>
              <a:gd name="adj" fmla="val 8421"/>
            </a:avLst>
          </a:prstGeom>
          <a:solidFill>
            <a:schemeClr val="accent1"/>
          </a:solidFill>
          <a:ln w="12700">
            <a:solidFill>
              <a:schemeClr val="accent1"/>
            </a:solidFill>
            <a:prstDash val="solid"/>
          </a:ln>
        </p:spPr>
      </p:sp>
      <p:sp>
        <p:nvSpPr>
          <p:cNvPr id="20" name="Text 17"/>
          <p:cNvSpPr txBox="1"/>
          <p:nvPr/>
        </p:nvSpPr>
        <p:spPr>
          <a:xfrm>
            <a:off x="548640" y="3502152"/>
            <a:ext cx="2651760" cy="365760"/>
          </a:xfrm>
          <a:prstGeom prst="rect">
            <a:avLst/>
          </a:prstGeom>
          <a:noFill/>
          <a:ln/>
        </p:spPr>
        <p:txBody>
          <a:bodyPr wrap="square" lIns="0" tIns="0" rIns="0" bIns="0" rtlCol="0" anchor="t"/>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new Q</a:t>
            </a:r>
            <a:endParaRPr lang="en-US" sz="1600" dirty="0"/>
          </a:p>
        </p:txBody>
      </p:sp>
      <p:sp>
        <p:nvSpPr>
          <p:cNvPr id="21" name="Text 18"/>
          <p:cNvSpPr txBox="1"/>
          <p:nvPr/>
        </p:nvSpPr>
        <p:spPr>
          <a:xfrm>
            <a:off x="548640" y="3886200"/>
            <a:ext cx="2651760" cy="320040"/>
          </a:xfrm>
          <a:prstGeom prst="rect">
            <a:avLst/>
          </a:prstGeom>
          <a:noFill/>
          <a:ln/>
        </p:spPr>
        <p:txBody>
          <a:bodyPr wrap="square" lIns="0" tIns="0" rIns="0" bIns="0" rtlCol="0" anchor="t"/>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(B, h, 1, dk)</a:t>
            </a:r>
            <a:endParaRPr lang="en-US" sz="1300" dirty="0"/>
          </a:p>
        </p:txBody>
      </p:sp>
      <p:sp>
        <p:nvSpPr>
          <p:cNvPr id="22" name="Text 19"/>
          <p:cNvSpPr txBox="1"/>
          <p:nvPr/>
        </p:nvSpPr>
        <p:spPr>
          <a:xfrm>
            <a:off x="3200400" y="3429000"/>
            <a:ext cx="457200" cy="868680"/>
          </a:xfrm>
          <a:prstGeom prst="rect">
            <a:avLst/>
          </a:prstGeom>
          <a:noFill/>
          <a:ln/>
        </p:spPr>
        <p:txBody>
          <a:bodyPr wrap="square" lIns="0" tIns="0" rIns="0" bIns="0" rtlCol="0" anchor="ctr"/>
          <a:lstStyle/>
          <a:p>
            <a:pPr algn="ctr" indent="0" marL="0">
              <a:buNone/>
            </a:pPr>
            <a:r>
              <a:rPr lang="en-US" sz="2800" b="1" dirty="0">
                <a:solidFill>
                  <a:schemeClr val="tx1"/>
                </a:solidFill>
              </a:rPr>
              <a:t>×</a:t>
            </a:r>
            <a:endParaRPr lang="en-US" sz="2800" dirty="0"/>
          </a:p>
        </p:txBody>
      </p:sp>
      <p:sp>
        <p:nvSpPr>
          <p:cNvPr id="23" name="Shape 20"/>
          <p:cNvSpPr/>
          <p:nvPr/>
        </p:nvSpPr>
        <p:spPr>
          <a:xfrm>
            <a:off x="3657600" y="3429000"/>
            <a:ext cx="2377440" cy="868680"/>
          </a:xfrm>
          <a:prstGeom prst="roundRect">
            <a:avLst>
              <a:gd name="adj" fmla="val 8421"/>
            </a:avLst>
          </a:prstGeom>
          <a:solidFill>
            <a:schemeClr val="accent4"/>
          </a:solidFill>
          <a:ln w="12700">
            <a:solidFill>
              <a:schemeClr val="accent4"/>
            </a:solidFill>
            <a:prstDash val="solid"/>
          </a:ln>
        </p:spPr>
      </p:sp>
      <p:sp>
        <p:nvSpPr>
          <p:cNvPr id="24" name="Text 21"/>
          <p:cNvSpPr txBox="1"/>
          <p:nvPr/>
        </p:nvSpPr>
        <p:spPr>
          <a:xfrm>
            <a:off x="3657600" y="3502152"/>
            <a:ext cx="2377440" cy="365760"/>
          </a:xfrm>
          <a:prstGeom prst="rect">
            <a:avLst/>
          </a:prstGeom>
          <a:noFill/>
          <a:ln/>
        </p:spPr>
        <p:txBody>
          <a:bodyPr wrap="square" lIns="0" tIns="0" rIns="0" bIns="0" rtlCol="0" anchor="t"/>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combined Kᵀ</a:t>
            </a:r>
            <a:endParaRPr lang="en-US" sz="1600" dirty="0"/>
          </a:p>
        </p:txBody>
      </p:sp>
      <p:sp>
        <p:nvSpPr>
          <p:cNvPr id="25" name="Text 22"/>
          <p:cNvSpPr txBox="1"/>
          <p:nvPr/>
        </p:nvSpPr>
        <p:spPr>
          <a:xfrm>
            <a:off x="3657600" y="3886200"/>
            <a:ext cx="2377440" cy="320040"/>
          </a:xfrm>
          <a:prstGeom prst="rect">
            <a:avLst/>
          </a:prstGeom>
          <a:noFill/>
          <a:ln/>
        </p:spPr>
        <p:txBody>
          <a:bodyPr wrap="square" lIns="0" tIns="0" rIns="0" bIns="0" rtlCol="0" anchor="t"/>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(B, h, dk, T)</a:t>
            </a:r>
            <a:endParaRPr lang="en-US" sz="1300" dirty="0"/>
          </a:p>
        </p:txBody>
      </p:sp>
      <p:sp>
        <p:nvSpPr>
          <p:cNvPr id="26" name="Shape 23"/>
          <p:cNvSpPr/>
          <p:nvPr/>
        </p:nvSpPr>
        <p:spPr>
          <a:xfrm>
            <a:off x="6126480" y="3858768"/>
            <a:ext cx="640080" cy="0"/>
          </a:xfrm>
          <a:prstGeom prst="line">
            <a:avLst/>
          </a:prstGeom>
          <a:noFill/>
          <a:ln w="22225">
            <a:solidFill>
              <a:schemeClr val="tx2"/>
            </a:solidFill>
            <a:prstDash val="solid"/>
            <a:tailEnd type="triangle"/>
          </a:ln>
        </p:spPr>
      </p:sp>
      <p:sp>
        <p:nvSpPr>
          <p:cNvPr id="27" name="Shape 24"/>
          <p:cNvSpPr/>
          <p:nvPr/>
        </p:nvSpPr>
        <p:spPr>
          <a:xfrm>
            <a:off x="6858000" y="3429000"/>
            <a:ext cx="2743200" cy="868680"/>
          </a:xfrm>
          <a:prstGeom prst="roundRect">
            <a:avLst>
              <a:gd name="adj" fmla="val 8421"/>
            </a:avLst>
          </a:prstGeom>
          <a:solidFill>
            <a:schemeClr val="accent5"/>
          </a:solidFill>
          <a:ln w="12700">
            <a:solidFill>
              <a:schemeClr val="accent5"/>
            </a:solidFill>
            <a:prstDash val="solid"/>
          </a:ln>
        </p:spPr>
      </p:sp>
      <p:sp>
        <p:nvSpPr>
          <p:cNvPr id="28" name="Text 25"/>
          <p:cNvSpPr txBox="1"/>
          <p:nvPr/>
        </p:nvSpPr>
        <p:spPr>
          <a:xfrm>
            <a:off x="6858000" y="3502152"/>
            <a:ext cx="274320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scores</a:t>
            </a:r>
            <a:endParaRPr lang="en-US" sz="1600" dirty="0"/>
          </a:p>
        </p:txBody>
      </p:sp>
      <p:sp>
        <p:nvSpPr>
          <p:cNvPr id="29" name="Text 26"/>
          <p:cNvSpPr txBox="1"/>
          <p:nvPr/>
        </p:nvSpPr>
        <p:spPr>
          <a:xfrm>
            <a:off x="6858000" y="3886200"/>
            <a:ext cx="2743200" cy="320040"/>
          </a:xfrm>
          <a:prstGeom prst="rect">
            <a:avLst/>
          </a:prstGeom>
          <a:noFill/>
          <a:ln/>
        </p:spPr>
        <p:txBody>
          <a:bodyPr wrap="square" lIns="0" tIns="0" rIns="0" bIns="0" rtlCol="0" anchor="t"/>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(B, h, 1, T)</a:t>
            </a:r>
            <a:endParaRPr lang="en-US" sz="1300" dirty="0"/>
          </a:p>
        </p:txBody>
      </p:sp>
      <p:sp>
        <p:nvSpPr>
          <p:cNvPr id="30" name="Text 27"/>
          <p:cNvSpPr txBox="1"/>
          <p:nvPr/>
        </p:nvSpPr>
        <p:spPr>
          <a:xfrm>
            <a:off x="9738360" y="3429000"/>
            <a:ext cx="1874520" cy="868680"/>
          </a:xfrm>
          <a:prstGeom prst="rect">
            <a:avLst/>
          </a:prstGeom>
          <a:noFill/>
          <a:ln/>
        </p:spPr>
        <p:txBody>
          <a:bodyPr wrap="square" lIns="0" tIns="0" rIns="0" bIns="0" rtlCol="0" anchor="ctr"/>
          <a:lstStyle/>
          <a:p>
            <a:pPr indent="0" marL="0">
              <a:buNone/>
            </a:pPr>
            <a:r>
              <a:rPr lang="en-US" sz="1400" b="1" dirty="0">
                <a:solidFill>
                  <a:schemeClr val="accent1"/>
                </a:solidFill>
              </a:rPr>
              <a:t>one row, not a T × T square</a:t>
            </a:r>
            <a:endParaRPr lang="en-US" sz="1400" dirty="0"/>
          </a:p>
        </p:txBody>
      </p:sp>
      <p:sp>
        <p:nvSpPr>
          <p:cNvPr id="31" name="no mask"/>
          <p:cNvSpPr/>
          <p:nvPr/>
        </p:nvSpPr>
        <p:spPr>
          <a:xfrm>
            <a:off x="548640" y="4663440"/>
            <a:ext cx="5394960" cy="1463040"/>
          </a:xfrm>
          <a:prstGeom prst="roundRect">
            <a:avLst>
              <a:gd name="adj" fmla="val 7500"/>
            </a:avLst>
          </a:prstGeom>
          <a:solidFill>
            <a:schemeClr val="bg2"/>
          </a:solidFill>
          <a:ln w="12700">
            <a:solidFill>
              <a:schemeClr val="bg2"/>
            </a:solidFill>
            <a:prstDash val="solid"/>
          </a:ln>
        </p:spPr>
      </p:sp>
      <p:sp>
        <p:nvSpPr>
          <p:cNvPr id="32" name="Text 29"/>
          <p:cNvSpPr txBox="1"/>
          <p:nvPr/>
        </p:nvSpPr>
        <p:spPr>
          <a:xfrm>
            <a:off x="777240" y="4663440"/>
            <a:ext cx="4937760" cy="1463040"/>
          </a:xfrm>
          <a:prstGeom prst="rect">
            <a:avLst/>
          </a:prstGeom>
          <a:noFill/>
          <a:ln/>
        </p:spPr>
        <p:txBody>
          <a:bodyPr wrap="square" lIns="0" tIns="0" rIns="0" bIns="0" rtlCol="0" anchor="ctr"/>
          <a:lstStyle/>
          <a:p>
            <a:pPr indent="0" marL="0">
              <a:buNone/>
            </a:pPr>
            <a:r>
              <a:rPr lang="en-US" sz="1500" b="1" dirty="0">
                <a:solidFill>
                  <a:schemeClr val="tx1"/>
                </a:solidFill>
              </a:rPr>
              <a:t>No causal mask needed.</a:t>
            </a:r>
            <a:endParaRPr lang="en-US" sz="1500" dirty="0"/>
          </a:p>
          <a:p>
            <a:pPr indent="0" marL="0">
              <a:buNone/>
            </a:pPr>
            <a:r>
              <a:rPr lang="en-US" sz="1500" dirty="0">
                <a:solidFill>
                  <a:schemeClr val="tx1"/>
                </a:solidFill>
              </a:rPr>
              <a:t>The cache holds only past positions and the current one. Future tokens do not exist yet, so there is nothing to hide.</a:t>
            </a:r>
            <a:endParaRPr lang="en-US" sz="1500" dirty="0"/>
          </a:p>
        </p:txBody>
      </p:sp>
      <p:sp>
        <p:nvSpPr>
          <p:cNvPr id="33" name="check"/>
          <p:cNvSpPr/>
          <p:nvPr/>
        </p:nvSpPr>
        <p:spPr>
          <a:xfrm>
            <a:off x="6217920" y="4663440"/>
            <a:ext cx="5394960" cy="1463040"/>
          </a:xfrm>
          <a:prstGeom prst="roundRect">
            <a:avLst>
              <a:gd name="adj" fmla="val 7500"/>
            </a:avLst>
          </a:prstGeom>
          <a:solidFill>
            <a:schemeClr val="accent5"/>
          </a:solidFill>
          <a:ln w="12700">
            <a:solidFill>
              <a:schemeClr val="accent5"/>
            </a:solidFill>
            <a:prstDash val="solid"/>
          </a:ln>
        </p:spPr>
      </p:sp>
      <p:sp>
        <p:nvSpPr>
          <p:cNvPr id="34" name="Text 31"/>
          <p:cNvSpPr txBox="1"/>
          <p:nvPr/>
        </p:nvSpPr>
        <p:spPr>
          <a:xfrm>
            <a:off x="6446520" y="4663440"/>
            <a:ext cx="4937760" cy="1463040"/>
          </a:xfrm>
          <a:prstGeom prst="rect">
            <a:avLst/>
          </a:prstGeom>
          <a:noFill/>
          <a:ln/>
        </p:spPr>
        <p:txBody>
          <a:bodyPr wrap="square" lIns="0" tIns="0" rIns="0" bIns="0" rtlCol="0" anchor="ctr"/>
          <a:lstStyle/>
          <a:p>
            <a:pPr indent="0" marL="0">
              <a:buNone/>
            </a:pPr>
            <a:r>
              <a:rPr lang="en-US" sz="1500" b="1" dirty="0">
                <a:solidFill>
                  <a:schemeClr val="tx1"/>
                </a:solidFill>
              </a:rPr>
              <a:t>Cell 10 check (T = 5, 2 heads, dk = 4):</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cache K shape: (1, 2, 5, 4)</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Outputs match: True</a:t>
            </a:r>
            <a:r>
              <a:rPr lang="en-US" sz="1500" dirty="0">
                <a:solidFill>
                  <a:schemeClr val="tx1"/>
                </a:solidFill>
              </a:rPr>
              <a:t>  (full prefix vs. cached)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Where the cache lives, and what it costs</a:t>
            </a:r>
            <a:endParaRPr lang="en-US" sz="3200" dirty="0"/>
          </a:p>
        </p:txBody>
      </p:sp>
      <p:sp>
        <p:nvSpPr>
          <p:cNvPr id="4" name="One cache per layer"/>
          <p:cNvSpPr/>
          <p:nvPr/>
        </p:nvSpPr>
        <p:spPr>
          <a:xfrm>
            <a:off x="548640" y="1280160"/>
            <a:ext cx="3474720" cy="2651760"/>
          </a:xfrm>
          <a:prstGeom prst="roundRect">
            <a:avLst>
              <a:gd name="adj" fmla="val 4138"/>
            </a:avLst>
          </a:prstGeom>
          <a:solidFill>
            <a:schemeClr val="bg2"/>
          </a:solidFill>
          <a:ln w="12700">
            <a:solidFill>
              <a:schemeClr val="bg2"/>
            </a:solidFill>
            <a:prstDash val="solid"/>
          </a:ln>
        </p:spPr>
      </p:sp>
      <p:sp>
        <p:nvSpPr>
          <p:cNvPr id="5" name="Shape 2"/>
          <p:cNvSpPr/>
          <p:nvPr/>
        </p:nvSpPr>
        <p:spPr>
          <a:xfrm>
            <a:off x="548640" y="1280160"/>
            <a:ext cx="3474720" cy="109728"/>
          </a:xfrm>
          <a:prstGeom prst="rect">
            <a:avLst/>
          </a:prstGeom>
          <a:solidFill>
            <a:schemeClr val="accent4"/>
          </a:solidFill>
          <a:ln w="12700">
            <a:solidFill>
              <a:schemeClr val="accent4"/>
            </a:solidFill>
            <a:prstDash val="solid"/>
          </a:ln>
        </p:spPr>
      </p:sp>
      <p:sp>
        <p:nvSpPr>
          <p:cNvPr id="6" name="Text 3"/>
          <p:cNvSpPr txBox="1"/>
          <p:nvPr/>
        </p:nvSpPr>
        <p:spPr>
          <a:xfrm>
            <a:off x="777240" y="1463040"/>
            <a:ext cx="3017520" cy="411480"/>
          </a:xfrm>
          <a:prstGeom prst="rect">
            <a:avLst/>
          </a:prstGeom>
          <a:noFill/>
          <a:ln/>
        </p:spPr>
        <p:txBody>
          <a:bodyPr wrap="square" lIns="0" tIns="0" rIns="0" bIns="0" rtlCol="0" anchor="t"/>
          <a:lstStyle/>
          <a:p>
            <a:pPr indent="0" marL="0">
              <a:buNone/>
            </a:pPr>
            <a:r>
              <a:rPr lang="en-US" sz="1800" b="1" dirty="0">
                <a:solidFill>
                  <a:schemeClr val="tx1"/>
                </a:solidFill>
              </a:rPr>
              <a:t>One cache per layer</a:t>
            </a:r>
            <a:endParaRPr lang="en-US" sz="1800" dirty="0"/>
          </a:p>
        </p:txBody>
      </p:sp>
      <p:sp>
        <p:nvSpPr>
          <p:cNvPr id="7" name="Text 4"/>
          <p:cNvSpPr txBox="1"/>
          <p:nvPr/>
        </p:nvSpPr>
        <p:spPr>
          <a:xfrm>
            <a:off x="777240" y="1920240"/>
            <a:ext cx="3017520" cy="192024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chemeClr val="tx1"/>
                </a:solidFill>
              </a:rPr>
              <a:t>Every decoder layer has its own </a:t>
            </a:r>
            <a:r>
              <a:rPr lang="en-US" sz="1300" dirty="0">
                <a:solidFill>
                  <a:schemeClr val="tx1"/>
                </a:solidFill>
                <a:latin typeface="Courier New" pitchFamily="34" charset="0"/>
                <a:ea typeface="Courier New" pitchFamily="34" charset="-122"/>
                <a:cs typeface="Courier New" pitchFamily="34" charset="-120"/>
              </a:rPr>
              <a:t>W_k</a:t>
            </a:r>
            <a:r>
              <a:rPr lang="en-US" sz="1300" dirty="0">
                <a:solidFill>
                  <a:schemeClr val="tx1"/>
                </a:solidFill>
              </a:rPr>
              <a:t>, </a:t>
            </a:r>
            <a:r>
              <a:rPr lang="en-US" sz="1300" dirty="0">
                <a:solidFill>
                  <a:schemeClr val="tx1"/>
                </a:solidFill>
                <a:latin typeface="Courier New" pitchFamily="34" charset="0"/>
                <a:ea typeface="Courier New" pitchFamily="34" charset="-122"/>
                <a:cs typeface="Courier New" pitchFamily="34" charset="-120"/>
              </a:rPr>
              <a:t>W_v</a:t>
            </a:r>
            <a:r>
              <a:rPr lang="en-US" sz="1300" dirty="0">
                <a:solidFill>
                  <a:schemeClr val="tx1"/>
                </a:solidFill>
              </a:rPr>
              <a:t> and hidden states.</a:t>
            </a:r>
            <a:endParaRPr lang="en-US" sz="1300" dirty="0"/>
          </a:p>
          <a:p>
            <a:pPr marL="228600" indent="-228600">
              <a:spcAft>
                <a:spcPts val="800"/>
              </a:spcAft>
              <a:buSzPct val="100000"/>
              <a:buChar char="•"/>
            </a:pPr>
            <a:r>
              <a:rPr lang="en-US" sz="1300" dirty="0">
                <a:solidFill>
                  <a:schemeClr val="tx1"/>
                </a:solidFill>
              </a:rPr>
              <a:t>A 6-layer decoder keeps </a:t>
            </a:r>
            <a:r>
              <a:rPr lang="en-US" sz="1300" b="1" dirty="0">
                <a:solidFill>
                  <a:schemeClr val="tx1"/>
                </a:solidFill>
              </a:rPr>
              <a:t>6 K and 6 V tensors</a:t>
            </a:r>
            <a:r>
              <a:rPr lang="en-US" sz="1300" dirty="0">
                <a:solidFill>
                  <a:schemeClr val="tx1"/>
                </a:solidFill>
              </a:rPr>
              <a:t>, each </a:t>
            </a:r>
            <a:r>
              <a:rPr lang="en-US" sz="1300" dirty="0">
                <a:solidFill>
                  <a:schemeClr val="tx1"/>
                </a:solidFill>
                <a:latin typeface="Courier New" pitchFamily="34" charset="0"/>
                <a:ea typeface="Courier New" pitchFamily="34" charset="-122"/>
                <a:cs typeface="Courier New" pitchFamily="34" charset="-120"/>
              </a:rPr>
              <a:t>(B, h, T, dk)</a:t>
            </a:r>
            <a:r>
              <a:rPr lang="en-US" sz="1300" dirty="0">
                <a:solidFill>
                  <a:schemeClr val="tx1"/>
                </a:solidFill>
              </a:rPr>
              <a:t>.</a:t>
            </a:r>
            <a:endParaRPr lang="en-US" sz="1300" dirty="0"/>
          </a:p>
          <a:p>
            <a:pPr marL="228600" indent="-228600">
              <a:spcAft>
                <a:spcPts val="800"/>
              </a:spcAft>
              <a:buSzPct val="100000"/>
              <a:buChar char="•"/>
            </a:pPr>
            <a:r>
              <a:rPr lang="en-US" sz="1300" dirty="0">
                <a:solidFill>
                  <a:schemeClr val="tx1"/>
                </a:solidFill>
              </a:rPr>
              <a:t>The cache is a list of (K, V) pairs, not one tensor.</a:t>
            </a:r>
            <a:endParaRPr lang="en-US" sz="1300" dirty="0"/>
          </a:p>
        </p:txBody>
      </p:sp>
      <p:sp>
        <p:nvSpPr>
          <p:cNvPr id="8" name="Self- vs. cross-attention"/>
          <p:cNvSpPr/>
          <p:nvPr/>
        </p:nvSpPr>
        <p:spPr>
          <a:xfrm>
            <a:off x="4297680" y="1280160"/>
            <a:ext cx="3474720" cy="2651760"/>
          </a:xfrm>
          <a:prstGeom prst="roundRect">
            <a:avLst>
              <a:gd name="adj" fmla="val 4138"/>
            </a:avLst>
          </a:prstGeom>
          <a:solidFill>
            <a:schemeClr val="bg2"/>
          </a:solidFill>
          <a:ln w="12700">
            <a:solidFill>
              <a:schemeClr val="bg2"/>
            </a:solidFill>
            <a:prstDash val="solid"/>
          </a:ln>
        </p:spPr>
      </p:sp>
      <p:sp>
        <p:nvSpPr>
          <p:cNvPr id="9" name="Shape 6"/>
          <p:cNvSpPr/>
          <p:nvPr/>
        </p:nvSpPr>
        <p:spPr>
          <a:xfrm>
            <a:off x="4297680" y="1280160"/>
            <a:ext cx="3474720" cy="109728"/>
          </a:xfrm>
          <a:prstGeom prst="rect">
            <a:avLst/>
          </a:prstGeom>
          <a:solidFill>
            <a:schemeClr val="accent1"/>
          </a:solidFill>
          <a:ln w="12700">
            <a:solidFill>
              <a:schemeClr val="accent1"/>
            </a:solidFill>
            <a:prstDash val="solid"/>
          </a:ln>
        </p:spPr>
      </p:sp>
      <p:sp>
        <p:nvSpPr>
          <p:cNvPr id="10" name="Text 7"/>
          <p:cNvSpPr txBox="1"/>
          <p:nvPr/>
        </p:nvSpPr>
        <p:spPr>
          <a:xfrm>
            <a:off x="4526280" y="1463040"/>
            <a:ext cx="3017520" cy="411480"/>
          </a:xfrm>
          <a:prstGeom prst="rect">
            <a:avLst/>
          </a:prstGeom>
          <a:noFill/>
          <a:ln/>
        </p:spPr>
        <p:txBody>
          <a:bodyPr wrap="square" lIns="0" tIns="0" rIns="0" bIns="0" rtlCol="0" anchor="t"/>
          <a:lstStyle/>
          <a:p>
            <a:pPr indent="0" marL="0">
              <a:buNone/>
            </a:pPr>
            <a:r>
              <a:rPr lang="en-US" sz="1800" b="1" dirty="0">
                <a:solidFill>
                  <a:schemeClr val="tx1"/>
                </a:solidFill>
              </a:rPr>
              <a:t>Self- vs. cross-attention</a:t>
            </a:r>
            <a:endParaRPr lang="en-US" sz="1800" dirty="0"/>
          </a:p>
        </p:txBody>
      </p:sp>
      <p:sp>
        <p:nvSpPr>
          <p:cNvPr id="11" name="Text 8"/>
          <p:cNvSpPr txBox="1"/>
          <p:nvPr/>
        </p:nvSpPr>
        <p:spPr>
          <a:xfrm>
            <a:off x="4526280" y="1920240"/>
            <a:ext cx="3017520" cy="1920240"/>
          </a:xfrm>
          <a:prstGeom prst="rect">
            <a:avLst/>
          </a:prstGeom>
          <a:noFill/>
          <a:ln/>
        </p:spPr>
        <p:txBody>
          <a:bodyPr wrap="square" lIns="0" tIns="0" rIns="0" bIns="0" rtlCol="0" anchor="t"/>
          <a:lstStyle/>
          <a:p>
            <a:pPr marL="228600" indent="-228600">
              <a:spcAft>
                <a:spcPts val="800"/>
              </a:spcAft>
              <a:buSzPct val="100000"/>
              <a:buChar char="•"/>
            </a:pPr>
            <a:r>
              <a:rPr lang="en-US" sz="1300" b="1" dirty="0">
                <a:solidFill>
                  <a:schemeClr val="tx1"/>
                </a:solidFill>
              </a:rPr>
              <a:t>Decoder self-attention: </a:t>
            </a:r>
            <a:r>
              <a:rPr lang="en-US" sz="1300" dirty="0">
                <a:solidFill>
                  <a:schemeClr val="tx1"/>
                </a:solidFill>
              </a:rPr>
              <a:t>K, V grow by one position per step. This is the KV cache.</a:t>
            </a:r>
            <a:endParaRPr lang="en-US" sz="1300" dirty="0"/>
          </a:p>
          <a:p>
            <a:pPr marL="228600" indent="-228600">
              <a:spcAft>
                <a:spcPts val="800"/>
              </a:spcAft>
              <a:buSzPct val="100000"/>
              <a:buChar char="•"/>
            </a:pPr>
            <a:r>
              <a:rPr lang="en-US" sz="1300" b="1" dirty="0">
                <a:solidFill>
                  <a:schemeClr val="tx1"/>
                </a:solidFill>
              </a:rPr>
              <a:t>Cross-attention: </a:t>
            </a:r>
            <a:r>
              <a:rPr lang="en-US" sz="1300" dirty="0">
                <a:solidFill>
                  <a:schemeClr val="tx1"/>
                </a:solidFill>
              </a:rPr>
              <a:t>K, V come from the fixed encoder output; compute them once per layer and reuse.</a:t>
            </a:r>
            <a:endParaRPr lang="en-US" sz="1300" dirty="0"/>
          </a:p>
          <a:p>
            <a:pPr marL="228600" indent="-228600">
              <a:spcAft>
                <a:spcPts val="800"/>
              </a:spcAft>
              <a:buSzPct val="100000"/>
              <a:buChar char="•"/>
            </a:pPr>
            <a:r>
              <a:rPr lang="en-US" sz="1300" dirty="0">
                <a:solidFill>
                  <a:schemeClr val="tx1"/>
                </a:solidFill>
              </a:rPr>
              <a:t>GPT-style models have only the first kind.</a:t>
            </a:r>
            <a:endParaRPr lang="en-US" sz="1300" dirty="0"/>
          </a:p>
        </p:txBody>
      </p:sp>
      <p:sp>
        <p:nvSpPr>
          <p:cNvPr id="12" name="Inference, not training"/>
          <p:cNvSpPr/>
          <p:nvPr/>
        </p:nvSpPr>
        <p:spPr>
          <a:xfrm>
            <a:off x="8046720" y="1280160"/>
            <a:ext cx="3474720" cy="2651760"/>
          </a:xfrm>
          <a:prstGeom prst="roundRect">
            <a:avLst>
              <a:gd name="adj" fmla="val 4138"/>
            </a:avLst>
          </a:prstGeom>
          <a:solidFill>
            <a:schemeClr val="bg2"/>
          </a:solidFill>
          <a:ln w="12700">
            <a:solidFill>
              <a:schemeClr val="bg2"/>
            </a:solidFill>
            <a:prstDash val="solid"/>
          </a:ln>
        </p:spPr>
      </p:sp>
      <p:sp>
        <p:nvSpPr>
          <p:cNvPr id="13" name="Shape 10"/>
          <p:cNvSpPr/>
          <p:nvPr/>
        </p:nvSpPr>
        <p:spPr>
          <a:xfrm>
            <a:off x="8046720" y="1280160"/>
            <a:ext cx="3474720" cy="109728"/>
          </a:xfrm>
          <a:prstGeom prst="rect">
            <a:avLst/>
          </a:prstGeom>
          <a:solidFill>
            <a:schemeClr val="accent2"/>
          </a:solidFill>
          <a:ln w="12700">
            <a:solidFill>
              <a:schemeClr val="accent2"/>
            </a:solidFill>
            <a:prstDash val="solid"/>
          </a:ln>
        </p:spPr>
      </p:sp>
      <p:sp>
        <p:nvSpPr>
          <p:cNvPr id="14" name="Text 11"/>
          <p:cNvSpPr txBox="1"/>
          <p:nvPr/>
        </p:nvSpPr>
        <p:spPr>
          <a:xfrm>
            <a:off x="8275320" y="1463040"/>
            <a:ext cx="3017520" cy="411480"/>
          </a:xfrm>
          <a:prstGeom prst="rect">
            <a:avLst/>
          </a:prstGeom>
          <a:noFill/>
          <a:ln/>
        </p:spPr>
        <p:txBody>
          <a:bodyPr wrap="square" lIns="0" tIns="0" rIns="0" bIns="0" rtlCol="0" anchor="t"/>
          <a:lstStyle/>
          <a:p>
            <a:pPr indent="0" marL="0">
              <a:buNone/>
            </a:pPr>
            <a:r>
              <a:rPr lang="en-US" sz="1800" b="1" dirty="0">
                <a:solidFill>
                  <a:schemeClr val="tx1"/>
                </a:solidFill>
              </a:rPr>
              <a:t>Inference, not training</a:t>
            </a:r>
            <a:endParaRPr lang="en-US" sz="1800" dirty="0"/>
          </a:p>
        </p:txBody>
      </p:sp>
      <p:sp>
        <p:nvSpPr>
          <p:cNvPr id="15" name="Text 12"/>
          <p:cNvSpPr txBox="1"/>
          <p:nvPr/>
        </p:nvSpPr>
        <p:spPr>
          <a:xfrm>
            <a:off x="8275320" y="1920240"/>
            <a:ext cx="3017520" cy="192024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chemeClr val="tx1"/>
                </a:solidFill>
              </a:rPr>
              <a:t>Teacher-forced training sees the whole target at once with a causal mask; nothing to reuse.</a:t>
            </a:r>
            <a:endParaRPr lang="en-US" sz="1300" dirty="0"/>
          </a:p>
          <a:p>
            <a:pPr marL="228600" indent="-228600">
              <a:spcAft>
                <a:spcPts val="800"/>
              </a:spcAft>
              <a:buSzPct val="100000"/>
              <a:buChar char="•"/>
            </a:pPr>
            <a:r>
              <a:rPr lang="en-US" sz="1300" dirty="0">
                <a:solidFill>
                  <a:schemeClr val="tx1"/>
                </a:solidFill>
              </a:rPr>
              <a:t>Generation is sequential, so it is where the cache pays off.</a:t>
            </a:r>
            <a:endParaRPr lang="en-US" sz="1300" dirty="0"/>
          </a:p>
          <a:p>
            <a:pPr marL="228600" indent="-228600">
              <a:spcAft>
                <a:spcPts val="800"/>
              </a:spcAft>
              <a:buSzPct val="100000"/>
              <a:buChar char="•"/>
            </a:pPr>
            <a:r>
              <a:rPr lang="en-US" sz="1300" dirty="0">
                <a:solidFill>
                  <a:schemeClr val="tx1"/>
                </a:solidFill>
              </a:rPr>
              <a:t>The weights and the outputs are unchanged.</a:t>
            </a:r>
            <a:endParaRPr lang="en-US" sz="1300" dirty="0"/>
          </a:p>
        </p:txBody>
      </p:sp>
      <p:sp>
        <p:nvSpPr>
          <p:cNvPr id="16" name="memory formula"/>
          <p:cNvSpPr/>
          <p:nvPr/>
        </p:nvSpPr>
        <p:spPr>
          <a:xfrm>
            <a:off x="548640" y="4114800"/>
            <a:ext cx="6309360" cy="2011680"/>
          </a:xfrm>
          <a:prstGeom prst="roundRect">
            <a:avLst>
              <a:gd name="adj" fmla="val 5455"/>
            </a:avLst>
          </a:prstGeom>
          <a:solidFill>
            <a:schemeClr val="accent6"/>
          </a:solidFill>
          <a:ln w="12700">
            <a:solidFill>
              <a:schemeClr val="accent6"/>
            </a:solidFill>
            <a:prstDash val="solid"/>
          </a:ln>
        </p:spPr>
      </p:sp>
      <p:sp>
        <p:nvSpPr>
          <p:cNvPr id="17" name="Text 14"/>
          <p:cNvSpPr txBox="1"/>
          <p:nvPr/>
        </p:nvSpPr>
        <p:spPr>
          <a:xfrm>
            <a:off x="777240" y="4206240"/>
            <a:ext cx="5943600" cy="365760"/>
          </a:xfrm>
          <a:prstGeom prst="rect">
            <a:avLst/>
          </a:prstGeom>
          <a:noFill/>
          <a:ln/>
        </p:spPr>
        <p:txBody>
          <a:bodyPr wrap="square" lIns="0" tIns="0" rIns="0" bIns="0" rtlCol="0" anchor="t"/>
          <a:lstStyle/>
          <a:p>
            <a:pPr indent="0" marL="0">
              <a:buNone/>
            </a:pPr>
            <a:r>
              <a:rPr lang="en-US" sz="1700" b="1" dirty="0">
                <a:solidFill>
                  <a:schemeClr val="tx1"/>
                </a:solidFill>
              </a:rPr>
              <a:t>The price is memory</a:t>
            </a:r>
            <a:r>
              <a:rPr lang="en-US" sz="1300" dirty="0">
                <a:solidFill>
                  <a:schemeClr val="tx2"/>
                </a:solidFill>
              </a:rPr>
              <a:t>  (K and V, every layer, every cached token)</a:t>
            </a:r>
            <a:endParaRPr lang="en-US" sz="1700" dirty="0"/>
          </a:p>
        </p:txBody>
      </p:sp>
      <p:sp>
        <p:nvSpPr>
          <p:cNvPr id="18" name="Text 15"/>
          <p:cNvSpPr txBox="1"/>
          <p:nvPr/>
        </p:nvSpPr>
        <p:spPr>
          <a:xfrm>
            <a:off x="777240" y="4617720"/>
            <a:ext cx="5943600" cy="68580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KV bytes = 2 × B × L × n_h × d_k × T × bytes</a:t>
            </a:r>
            <a:endParaRPr lang="en-US" sz="1500" dirty="0"/>
          </a:p>
          <a:p>
            <a:pPr indent="0" marL="0">
              <a:buNone/>
            </a:pPr>
            <a:r>
              <a:rPr lang="en-US" sz="1500" b="1" dirty="0">
                <a:solidFill>
                  <a:schemeClr val="tx1"/>
                </a:solidFill>
                <a:latin typeface="Courier New" pitchFamily="34" charset="0"/>
                <a:ea typeface="Courier New" pitchFamily="34" charset="-122"/>
                <a:cs typeface="Courier New" pitchFamily="34" charset="-120"/>
              </a:rPr>
              <a:t>         = (2 × L × d_model × bytes) × B × T</a:t>
            </a:r>
            <a:endParaRPr lang="en-US" sz="1500" dirty="0"/>
          </a:p>
        </p:txBody>
      </p:sp>
      <p:sp>
        <p:nvSpPr>
          <p:cNvPr id="19" name="Text 16"/>
          <p:cNvSpPr txBox="1"/>
          <p:nvPr/>
        </p:nvSpPr>
        <p:spPr>
          <a:xfrm>
            <a:off x="777240" y="5394960"/>
            <a:ext cx="5943600" cy="640080"/>
          </a:xfrm>
          <a:prstGeom prst="rect">
            <a:avLst/>
          </a:prstGeom>
          <a:noFill/>
          <a:ln/>
        </p:spPr>
        <p:txBody>
          <a:bodyPr wrap="square" lIns="0" tIns="0" rIns="0" bIns="0" rtlCol="0" anchor="t"/>
          <a:lstStyle/>
          <a:p>
            <a:pPr indent="0" marL="0">
              <a:buNone/>
            </a:pPr>
            <a:r>
              <a:rPr lang="en-US" sz="1300" dirty="0">
                <a:solidFill>
                  <a:schemeClr val="tx2"/>
                </a:solidFill>
              </a:rPr>
              <a:t>B batch · T cached tokens · L layers · d_model = n_h × d_k</a:t>
            </a:r>
            <a:endParaRPr lang="en-US" sz="1300" dirty="0"/>
          </a:p>
          <a:p>
            <a:pPr indent="0" marL="0">
              <a:buNone/>
            </a:pPr>
            <a:r>
              <a:rPr lang="en-US" sz="1300" dirty="0">
                <a:solidFill>
                  <a:schemeClr val="tx2"/>
                </a:solidFill>
              </a:rPr>
              <a:t>bytes: 4 for fp32, 2 for fp16 or bf16. Grows by one token per step.</a:t>
            </a:r>
            <a:endParaRPr lang="en-US" sz="1300" dirty="0"/>
          </a:p>
        </p:txBody>
      </p:sp>
      <p:sp>
        <p:nvSpPr>
          <p:cNvPr id="20" name="Text 17"/>
          <p:cNvSpPr txBox="1"/>
          <p:nvPr/>
        </p:nvSpPr>
        <p:spPr>
          <a:xfrm>
            <a:off x="7086600" y="4114800"/>
            <a:ext cx="4434840" cy="365760"/>
          </a:xfrm>
          <a:prstGeom prst="rect">
            <a:avLst/>
          </a:prstGeom>
          <a:noFill/>
          <a:ln/>
        </p:spPr>
        <p:txBody>
          <a:bodyPr wrap="square" lIns="0" tIns="0" rIns="0" bIns="0" rtlCol="0" anchor="t"/>
          <a:lstStyle/>
          <a:p>
            <a:pPr indent="0" marL="0">
              <a:buNone/>
            </a:pPr>
            <a:r>
              <a:rPr lang="en-US" sz="1500" b="1" dirty="0">
                <a:solidFill>
                  <a:schemeClr val="tx1"/>
                </a:solidFill>
              </a:rPr>
              <a:t>GPT-2 small in fp16</a:t>
            </a:r>
            <a:r>
              <a:rPr lang="en-US" sz="1500" dirty="0">
                <a:solidFill>
                  <a:schemeClr val="tx1"/>
                </a:solidFill>
              </a:rPr>
              <a:t>  (L = 12, d_model = 768)</a:t>
            </a:r>
            <a:endParaRPr lang="en-US" sz="1500" dirty="0"/>
          </a:p>
        </p:txBody>
      </p:sp>
      <p:sp>
        <p:nvSpPr>
          <p:cNvPr id="21" name="stat 37.7 MB"/>
          <p:cNvSpPr/>
          <p:nvPr/>
        </p:nvSpPr>
        <p:spPr>
          <a:xfrm>
            <a:off x="7086600" y="4572000"/>
            <a:ext cx="2148840" cy="1554480"/>
          </a:xfrm>
          <a:prstGeom prst="roundRect">
            <a:avLst>
              <a:gd name="adj" fmla="val 7059"/>
            </a:avLst>
          </a:prstGeom>
          <a:solidFill>
            <a:schemeClr val="bg2"/>
          </a:solidFill>
          <a:ln w="12700">
            <a:solidFill>
              <a:schemeClr val="bg2"/>
            </a:solidFill>
            <a:prstDash val="solid"/>
          </a:ln>
        </p:spPr>
      </p:sp>
      <p:sp>
        <p:nvSpPr>
          <p:cNvPr id="22" name="Text 19"/>
          <p:cNvSpPr txBox="1"/>
          <p:nvPr/>
        </p:nvSpPr>
        <p:spPr>
          <a:xfrm>
            <a:off x="7223760" y="4663440"/>
            <a:ext cx="187452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37.7 MB</a:t>
            </a:r>
            <a:endParaRPr lang="en-US" sz="2800" dirty="0"/>
          </a:p>
        </p:txBody>
      </p:sp>
      <p:sp>
        <p:nvSpPr>
          <p:cNvPr id="23" name="Text 20"/>
          <p:cNvSpPr txBox="1"/>
          <p:nvPr/>
        </p:nvSpPr>
        <p:spPr>
          <a:xfrm>
            <a:off x="7223760" y="5230368"/>
            <a:ext cx="1874520" cy="822960"/>
          </a:xfrm>
          <a:prstGeom prst="rect">
            <a:avLst/>
          </a:prstGeom>
          <a:noFill/>
          <a:ln/>
        </p:spPr>
        <p:txBody>
          <a:bodyPr wrap="square" lIns="0" tIns="0" rIns="0" bIns="0" rtlCol="0" anchor="t"/>
          <a:lstStyle/>
          <a:p>
            <a:pPr indent="0" marL="0">
              <a:buNone/>
            </a:pPr>
            <a:r>
              <a:rPr lang="en-US" sz="1300" dirty="0">
                <a:solidFill>
                  <a:schemeClr val="tx1"/>
                </a:solidFill>
              </a:rPr>
              <a:t>one 1,024-token sequence (36,864 bytes per token)</a:t>
            </a:r>
            <a:endParaRPr lang="en-US" sz="1300" dirty="0"/>
          </a:p>
        </p:txBody>
      </p:sp>
      <p:sp>
        <p:nvSpPr>
          <p:cNvPr id="24" name="stat 302 MB"/>
          <p:cNvSpPr/>
          <p:nvPr/>
        </p:nvSpPr>
        <p:spPr>
          <a:xfrm>
            <a:off x="9372600" y="4572000"/>
            <a:ext cx="2148840" cy="1554480"/>
          </a:xfrm>
          <a:prstGeom prst="roundRect">
            <a:avLst>
              <a:gd name="adj" fmla="val 7059"/>
            </a:avLst>
          </a:prstGeom>
          <a:solidFill>
            <a:schemeClr val="bg2"/>
          </a:solidFill>
          <a:ln w="12700">
            <a:solidFill>
              <a:schemeClr val="bg2"/>
            </a:solidFill>
            <a:prstDash val="solid"/>
          </a:ln>
        </p:spPr>
      </p:sp>
      <p:sp>
        <p:nvSpPr>
          <p:cNvPr id="25" name="Text 22"/>
          <p:cNvSpPr txBox="1"/>
          <p:nvPr/>
        </p:nvSpPr>
        <p:spPr>
          <a:xfrm>
            <a:off x="9509760" y="4663440"/>
            <a:ext cx="187452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302 MB</a:t>
            </a:r>
            <a:endParaRPr lang="en-US" sz="2800" dirty="0"/>
          </a:p>
        </p:txBody>
      </p:sp>
      <p:sp>
        <p:nvSpPr>
          <p:cNvPr id="26" name="Text 23"/>
          <p:cNvSpPr txBox="1"/>
          <p:nvPr/>
        </p:nvSpPr>
        <p:spPr>
          <a:xfrm>
            <a:off x="9509760" y="5230368"/>
            <a:ext cx="1874520" cy="822960"/>
          </a:xfrm>
          <a:prstGeom prst="rect">
            <a:avLst/>
          </a:prstGeom>
          <a:noFill/>
          <a:ln/>
        </p:spPr>
        <p:txBody>
          <a:bodyPr wrap="square" lIns="0" tIns="0" rIns="0" bIns="0" rtlCol="0" anchor="t"/>
          <a:lstStyle/>
          <a:p>
            <a:pPr indent="0" marL="0">
              <a:buNone/>
            </a:pPr>
            <a:r>
              <a:rPr lang="en-US" sz="1300" dirty="0">
                <a:solidFill>
                  <a:schemeClr val="tx1"/>
                </a:solidFill>
              </a:rPr>
              <a:t>batch of 8: more than the fp16 weights (≈ 249 MB)</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Common misconceptions and check questions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3200400"/>
                <a:gridCol w="3566160"/>
              </a:tblGrid>
              <a:tr h="566928">
                <a:tc>
                  <a:txBody>
                    <a:bodyPr/>
                    <a:lstStyle/>
                    <a:p>
                      <a:pPr indent="0" marL="0">
                        <a:buNone/>
                      </a:pPr>
                      <a:r>
                        <a:rPr lang="en-US" sz="1400" b="1" dirty="0">
                          <a:solidFill>
                            <a:schemeClr val="bg1"/>
                          </a:solidFill>
                        </a:rPr>
                        <a:t>Misconception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Correction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66928">
                <a:tc>
                  <a:txBody>
                    <a:bodyPr/>
                    <a:lstStyle/>
                    <a:p>
                      <a:pPr indent="0" marL="0">
                        <a:buNone/>
                      </a:pPr>
                      <a:r>
                        <a:rPr lang="en-US" sz="1400" dirty="0">
                          <a:solidFill>
                            <a:schemeClr val="tx1"/>
                          </a:solidFill>
                        </a:rPr>
                        <a:t>The cache changes what the model learned.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It reuses tensors already computed; outputs are unchanged.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With a cache, old tokens are no longer attended to.</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They are. The newest query still attends over all cached K, V.</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The cache speeds up teacher-forced training.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Usually not. Training is already parallel over the target.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There is one global cache for the decoder.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 K and one V per layer.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Q, K and V are all cached.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Only K and V. Q is computed for the newest token.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check questions"/>
          <p:cNvSpPr/>
          <p:nvPr/>
        </p:nvSpPr>
        <p:spPr>
          <a:xfrm>
            <a:off x="7589520" y="1280160"/>
            <a:ext cx="4023360" cy="4846320"/>
          </a:xfrm>
          <a:prstGeom prst="roundRect">
            <a:avLst>
              <a:gd name="adj" fmla="val 2727"/>
            </a:avLst>
          </a:prstGeom>
          <a:solidFill>
            <a:schemeClr val="accent5"/>
          </a:solidFill>
          <a:ln w="12700">
            <a:solidFill>
              <a:schemeClr val="accent5"/>
            </a:solidFill>
            <a:prstDash val="solid"/>
          </a:ln>
        </p:spPr>
      </p:sp>
      <p:sp>
        <p:nvSpPr>
          <p:cNvPr id="6" name="Text 2"/>
          <p:cNvSpPr txBox="1"/>
          <p:nvPr/>
        </p:nvSpPr>
        <p:spPr>
          <a:xfrm>
            <a:off x="7818120" y="1417320"/>
            <a:ext cx="3566160" cy="411480"/>
          </a:xfrm>
          <a:prstGeom prst="rect">
            <a:avLst/>
          </a:prstGeom>
          <a:noFill/>
          <a:ln/>
        </p:spPr>
        <p:txBody>
          <a:bodyPr wrap="square" lIns="0" tIns="0" rIns="0" bIns="0" rtlCol="0" anchor="t"/>
          <a:lstStyle/>
          <a:p>
            <a:pPr indent="0" marL="0">
              <a:buNone/>
            </a:pPr>
            <a:r>
              <a:rPr lang="en-US" sz="1800" b="1" dirty="0">
                <a:solidFill>
                  <a:schemeClr val="tx1"/>
                </a:solidFill>
              </a:rPr>
              <a:t>Check yourself</a:t>
            </a:r>
            <a:endParaRPr lang="en-US" sz="1800" dirty="0"/>
          </a:p>
        </p:txBody>
      </p:sp>
      <p:sp>
        <p:nvSpPr>
          <p:cNvPr id="7" name="Text 3"/>
          <p:cNvSpPr txBox="1"/>
          <p:nvPr/>
        </p:nvSpPr>
        <p:spPr>
          <a:xfrm>
            <a:off x="7818120" y="1920240"/>
            <a:ext cx="3611880" cy="338328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500" dirty="0">
                <a:solidFill>
                  <a:schemeClr val="tx1"/>
                </a:solidFill>
              </a:rPr>
              <a:t>Why does </a:t>
            </a:r>
            <a:r>
              <a:rPr lang="en-US" sz="1500" dirty="0">
                <a:solidFill>
                  <a:schemeClr val="tx1"/>
                </a:solidFill>
                <a:latin typeface="Courier New" pitchFamily="34" charset="0"/>
                <a:ea typeface="Courier New" pitchFamily="34" charset="-122"/>
                <a:cs typeface="Courier New" pitchFamily="34" charset="-120"/>
              </a:rPr>
              <a:t>greedy_decode</a:t>
            </a:r>
            <a:r>
              <a:rPr lang="en-US" sz="1500" dirty="0">
                <a:solidFill>
                  <a:schemeClr val="tx1"/>
                </a:solidFill>
              </a:rPr>
              <a:t> recompute work for old tokens?</a:t>
            </a:r>
            <a:endParaRPr lang="en-US" sz="1500" dirty="0"/>
          </a:p>
          <a:p>
            <a:pPr marL="342900" indent="-342900">
              <a:spcAft>
                <a:spcPts val="1000"/>
              </a:spcAft>
              <a:buSzPct val="100000"/>
              <a:buFont typeface="+mj-lt"/>
              <a:buAutoNum type="arabicPeriod" startAt="1"/>
            </a:pPr>
            <a:r>
              <a:rPr lang="en-US" sz="1500" dirty="0">
                <a:solidFill>
                  <a:schemeClr val="tx1"/>
                </a:solidFill>
              </a:rPr>
              <a:t>Why are K and V reusable, but Q is computed fresh?</a:t>
            </a:r>
            <a:endParaRPr lang="en-US" sz="1500" dirty="0"/>
          </a:p>
          <a:p>
            <a:pPr marL="342900" indent="-342900">
              <a:spcAft>
                <a:spcPts val="1000"/>
              </a:spcAft>
              <a:buSzPct val="100000"/>
              <a:buFont typeface="+mj-lt"/>
              <a:buAutoNum type="arabicPeriod" startAt="1"/>
            </a:pPr>
            <a:r>
              <a:rPr lang="en-US" sz="1500" dirty="0">
                <a:solidFill>
                  <a:schemeClr val="tx1"/>
                </a:solidFill>
              </a:rPr>
              <a:t>Shape of </a:t>
            </a:r>
            <a:r>
              <a:rPr lang="en-US" sz="1500" dirty="0">
                <a:solidFill>
                  <a:schemeClr val="tx1"/>
                </a:solidFill>
                <a:latin typeface="Courier New" pitchFamily="34" charset="0"/>
                <a:ea typeface="Courier New" pitchFamily="34" charset="-122"/>
                <a:cs typeface="Courier New" pitchFamily="34" charset="-120"/>
              </a:rPr>
              <a:t>new_Q</a:t>
            </a:r>
            <a:r>
              <a:rPr lang="en-US" sz="1500" dirty="0">
                <a:solidFill>
                  <a:schemeClr val="tx1"/>
                </a:solidFill>
              </a:rPr>
              <a:t> when generating one token?</a:t>
            </a:r>
            <a:endParaRPr lang="en-US" sz="1500" dirty="0"/>
          </a:p>
          <a:p>
            <a:pPr marL="342900" indent="-342900">
              <a:spcAft>
                <a:spcPts val="1000"/>
              </a:spcAft>
              <a:buSzPct val="100000"/>
              <a:buFont typeface="+mj-lt"/>
              <a:buAutoNum type="arabicPeriod" startAt="1"/>
            </a:pPr>
            <a:r>
              <a:rPr lang="en-US" sz="1500" dirty="0">
                <a:solidFill>
                  <a:schemeClr val="tx1"/>
                </a:solidFill>
              </a:rPr>
              <a:t>Why does each decoder layer need its own cache?</a:t>
            </a:r>
            <a:endParaRPr lang="en-US" sz="1500" dirty="0"/>
          </a:p>
          <a:p>
            <a:pPr marL="342900" indent="-342900">
              <a:spcAft>
                <a:spcPts val="1000"/>
              </a:spcAft>
              <a:buSzPct val="100000"/>
              <a:buFont typeface="+mj-lt"/>
              <a:buAutoNum type="arabicPeriod" startAt="1"/>
            </a:pPr>
            <a:r>
              <a:rPr lang="en-US" sz="1500" dirty="0">
                <a:solidFill>
                  <a:schemeClr val="tx1"/>
                </a:solidFill>
              </a:rPr>
              <a:t>Why does the cache help inference more than training?</a:t>
            </a:r>
            <a:endParaRPr lang="en-US" sz="1500" dirty="0"/>
          </a:p>
        </p:txBody>
      </p:sp>
      <p:sp>
        <p:nvSpPr>
          <p:cNvPr id="8" name="Text 4"/>
          <p:cNvSpPr txBox="1"/>
          <p:nvPr/>
        </p:nvSpPr>
        <p:spPr>
          <a:xfrm>
            <a:off x="7818120" y="5349240"/>
            <a:ext cx="3611880" cy="731520"/>
          </a:xfrm>
          <a:prstGeom prst="rect">
            <a:avLst/>
          </a:prstGeom>
          <a:noFill/>
          <a:ln/>
        </p:spPr>
        <p:txBody>
          <a:bodyPr wrap="square" lIns="0" tIns="0" rIns="0" bIns="0" rtlCol="0" anchor="t"/>
          <a:lstStyle/>
          <a:p>
            <a:pPr indent="0" marL="0">
              <a:buNone/>
            </a:pPr>
            <a:r>
              <a:rPr lang="en-US" sz="1300" b="1" dirty="0">
                <a:solidFill>
                  <a:schemeClr val="tx2"/>
                </a:solidFill>
              </a:rPr>
              <a:t>Next: </a:t>
            </a:r>
            <a:r>
              <a:rPr lang="en-US" sz="1300" dirty="0">
                <a:solidFill>
                  <a:schemeClr val="tx2"/>
                </a:solidFill>
              </a:rPr>
              <a:t>multi-query and grouped-query attention share K and V across heads to shrink this cache.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Key-value cache">
      <a:dk1>
        <a:srgbClr val="1B2238"/>
      </a:dk1>
      <a:lt1>
        <a:srgbClr val="FFFFFF"/>
      </a:lt1>
      <a:dk2>
        <a:srgbClr val="5A6478"/>
      </a:dk2>
      <a:lt2>
        <a:srgbClr val="EEF1F6"/>
      </a:lt2>
      <a:accent1>
        <a:srgbClr val="0F7B6C"/>
      </a:accent1>
      <a:accent2>
        <a:srgbClr val="E0A526"/>
      </a:accent2>
      <a:accent3>
        <a:srgbClr val="C8443F"/>
      </a:accent3>
      <a:accent4>
        <a:srgbClr val="2B6CB0"/>
      </a:accent4>
      <a:accent5>
        <a:srgbClr val="FCF3DC"/>
      </a:accent5>
      <a:accent6>
        <a:srgbClr val="FBE7E6"/>
      </a:accent6>
      <a:hlink>
        <a:srgbClr val="2B6CB0"/>
      </a:hlink>
      <a:folHlink>
        <a:srgbClr val="6B46C1"/>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key–value cache</dc:title>
  <dc:subject>PptxGenJS Presentation</dc:subject>
  <dc:creator>Generative AI (ABAI3009L), Bennett University</dc:creator>
  <cp:lastModifiedBy>Generative AI (ABAI3009L), Bennett University</cp:lastModifiedBy>
  <cp:revision>1</cp:revision>
  <dcterms:created xsi:type="dcterms:W3CDTF">2026-10-27T05:25:50Z</dcterms:created>
  <dcterms:modified xsi:type="dcterms:W3CDTF">2026-10-27T05:25:50Z</dcterms:modified>
</cp:coreProperties>
</file>