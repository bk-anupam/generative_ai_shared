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80a839-ccea-eab8-a2f7-16250b5bc4ce}">
          <p14:sldIdLst>
            <p14:sldId id="256"/>
            <p14:sldId id="257"/>
            <p14:sldId id="258"/>
          </p14:sldIdLst>
        </p14:section>
        <p14:section name="The decoding bottleneck" id="{293d6734-cfa6-87ab-b6cb-270ca75f18cd}">
          <p14:sldIdLst>
            <p14:sldId id="259"/>
            <p14:sldId id="260"/>
            <p14:sldId id="261"/>
            <p14:sldId id="262"/>
          </p14:sldIdLst>
        </p14:section>
        <p14:section name="Sharing K/V heads" id="{eb27b1fb-2afa-f851-1927-5a98563158f2}">
          <p14:sldIdLst>
            <p14:sldId id="263"/>
            <p14:sldId id="264"/>
            <p14:sldId id="265"/>
            <p14:sldId id="266"/>
          </p14:sldIdLst>
        </p14:section>
        <p14:section name="At real scale" id="{fe81f70a-119b-6817-d6f9-7bf7d80e1375}">
          <p14:sldIdLst>
            <p14:sldId id="267"/>
            <p14:sldId id="268"/>
            <p14:sldId id="269"/>
            <p14:sldId id="270"/>
          </p14:sldIdLst>
        </p14:section>
        <p14:section name="Optional: sliding windows and attention sinks" id="{4e735d88-dedb-21e8-8582-e76e5c53d1f2}">
          <p14:sldIdLst>
            <p14:sldId id="271"/>
            <p14:sldId id="272"/>
            <p14:sldId id="273"/>
            <p14:sldId id="274"/>
            <p14:sldId id="275"/>
          </p14:sldIdLst>
        </p14:section>
        <p14:section name="Wrap-up" id="{ed4d0980-a304-20b0-cbcf-7b6e506fdc8c}">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companion notebook in a second window and run it once top to bottom before class (a few seconds on a CPU), so every live demo already has output. The attention-sink demo (cell 40) downloads distilgpt2 from Hugging Face (about 350 MB) on its first run; do that before class or set RUN_SINK_DEMO = False and use the figure on slide 20. Amber 'LIVE DEMO' tags mark where to switch to the notebook; the cell numbers are 0-based positions in the notebook. Prerequisites: the key-value cache notebook and its slides. Suggested split for 60 minutes: slides 2-15 are the core (about 47 min, with notebook demos), slides 21-24 wrap up (about 5 min), and if time allows, the optional block on sliding windows and attention sinks (slides 16-20, about 15 min); otherwise set it as reading. FlashAttention, formerly an optional block here, now has its own notebook (flash_attention.ipynb) and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numbers on the slide: one 4,096-token conversation with Llama-2-7B needs about 2 GiB of key-value cache (fp16), and serving 32 conversations at once needs 64 GiB of cache, several times the 13.4 GB of weights. Every generated token reads all of it. The lecture answers the question on the right. Preview the five parts; part 5 is an optional extension. The dark card points to the FlashAttention lecture, which has its own notebook and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refresher, two minutes at most. Keys are used only for matching, values only for information transfer: that split is what makes sharing them across heads possible later. Each head has its own query, key and value projections, so each can learn a different lookup. Section 2 of the notebook shows what that flexibility costs at generation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key-value cache lecture. During generation each step processes one new token, so the query length is 1, but that query must attend to every earlier token's key and value, in every layer. Past keys and values never change, so they are stored rather than recomputed. Point at the cache shape: the H in it is what this lecture shrinks. Its length T_past is what sliding windows cap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figure in cell 4, or draw it on the board. Toy sizes: T = 6 cached tokens, head width d = 4, one query head, one decoding step. Left: each score is the dot product of q with one column of K transposed, so it costs d = 4 multiply-adds; T scores cost T times d. Right: each output value is the weights dotted with one column of V, so it costs T = 6 multiply-adds; d outputs cost T times d again. A multiply-add counts as 2 FLOPs, so each product is 2 T d FLOPs and one head does 4 T d. The key observation for the next slide: every number in K and V takes part in exactly one multiply-add per query head. The count leaves out the softmax and the 1/sqrt(d) scaling (about T operations per head) and the Q, K, V, O projections, which are a separate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slide counted one head; now put it in a table with the class. Arithmetic: q dot K is H times T times head_dim multiply-adds, and weights times V the same, so about 4 H T head_dim FLOPs (a multiply-add counts as 2). Bytes: K and V, for G heads, T positions, head_dim values, 2 bytes each in fp16, so 4 G T head_dim. The ratio is H over G. With MHA, G = H, about 1 FLOP per byte. A modern data-centre GPU can do on the order of 100 FLOPs in the time it reads one byte, so it mostly waits for data. The arithmetic is set by the number of query heads, which we want to keep. So the only lever is to read fewer bytes. End on the question in the callout; the next slide previews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figure in cell 6. Each grey chip is one query head's arithmetic, 4 T d FLOPs; each blue chip is one K/V head read from the cache, 4 T d bytes in fp16. The top row is the same in all three variants: 8 query heads, each doing its own work. Only the bottom row shrinks. A K/V head is read from memory once and then used by every query head connected to it, so FLOPs per byte is just the number of query heads per K/V head, H/G: 1 for MHA, 4 for this GQA, 8 for MQA. This answers the question on the previous slide: yes, heads can share keys and values, and every head still asks its own question. The next section shows how the sharing is implemented and what it costs in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figure in cell 11. Colours show which query heads share a K/V head. Stress the first point: every variant still has 8 query heads, so it still produces 8 different attention patterns. MQA does not remove heads. Only the bottom row, the part that is cached and read at every step, gets smaller. The formula per head is unchanged; only which K and V it reads changes: head h reads K/V head g(h) = floor(h / (H/G)), so consecutive query heads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GroupedQueryAttention in cell 14. Change 1: W_k and W_v produce G times head_dim features instead of H times head_dim. Change 2: before attention, each K/V head is repeated for the H/G query heads in its group with repeat_interleave. The crucial line is new_cache = (K, V) before the repeat: the cache stores only the G original heads, which is where the memory saving comes from. Then run the cell and read the shapes: cached K shrinks 4, 2, 1 heads; scores stay (B, H, T, T) because every query head still has its own attention pattern; the output is unchanged, so the variants are drop-in replacements for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17 runs two checks. With G = H the class matches PyTorch's nn.MultiheadAttention after copying the weights across. With G = 1, repeat_interleave gives the same result as broadcasting the size-1 head axis, which is what efficient kernels do without copying. Then cell 19: a random MQA layer with a single K/V head, yet four clearly different patterns (the largest difference between two heads' weights is 1.00, so some query reads a key with weight near 1 in one head and near 0 in another). The inputs are scaled by 3 to make the random-weight patterns sharp. Ask the class why, before revealing the right-hand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22 runs a single attention layer: prefill 5 prompt positions, then decode 3 new positions one at a time, with random vectors standing in for token embeddings. Read the trace: the third axis, the sequence, grows by one per generated token. The second axis, the heads, stays at 4, 2 or 1: that is the factor GQA and MQA save on every step. Each variant's cached result matches a full recomputation without a cache, so the cache changes the amount of work, not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25 uses Llama-2-7B's sizes: 32 layers, 32 heads, head width 128, fp16, about 6.7B parameters, so about 13.4 GB of weights. Left: one 4,096-token sequence needs 2 GiB of cache with MHA, 0.5 with GQA-8, 1/16 GiB with MQA. Right: the memory read at every decoding step as the batch grows. Weights are read once per step whatever the batch; the cache grows with batch times context. With MHA the cache outgrows the weights at about 7 sequences and weights plus cache pass one 80 GB GPU at about 32. With GQA-8, batch 64 still stays under 50 GB. Note: these are arithmetic from published sizes, not measurements. Llama-2-7B itself uses MHA; GQA-8 here is a what-if.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'Where GQA and MQA help' table in notebook cell 26 (markdown, nothing to run). Each step must read the weights (13.4 GB) plus every sequence's cache; the table divides that by the A100's 2.0 TB/s from Section 2. These are idealized estimates from reads only, not measurements: compute, activations and overheads are ignored. Read it in two directions. Down a column: with MHA the step time grows fast because the cache dominates; with MQA it hardly grows. Across a row: at batch 1 GQA-8 is only about 10 percent faster, because the weights dominate; at batch 16 it more than halves the step; at batch 32 MHA no longer fits on one 80 GB GPU (about 31 sequences of 4,096 tokens at most, against about 124 with GQA-8). The main payoff is throughput: a bigger batch makes each step a little slower but gives one token per sequence per step, so GQA-8 at batch 16 makes about 1,450 tokens per second against about 140 at batch 1. The teal second line in each cell is that throughput, batch divided by step time. Compare columns at batch 16: MHA reaches only about 670 tokens per second because its cache reads grow four times faster than GQA-8's; MQA reaches about 2,200. Then the right-hand card: the attention FLOPs are unchanged, training and prefill are compute-bound so barely change, and the cache still grows with context, which is what sliding windows address. Ask: a chatbot serving one user with short prompts switches from MHA to GQA. Should it expect a big speed-up? (No: at batch 1 the weights dominate what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lookup-table picture: with MHA every head has its own index and its own notes. With MQA every head asks a different question but consults one shared index and one shared set of notes. GQA gives each group of heads its own index and notes. The GQA paper (Ainslie et al., 2023) reports quality close to MHA with speed close to MQA. Point out that GPT-2 and Llama-2-7B use plain MHA, while Llama-2-70B, Llama-3-8B and Mistral-7B use GQA with 8 K/V heads, and Falcon-7B uses MQA. Ask: why might a model family use MHA at 7B but GQA at 70B? (The larger model is the one most expensive to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GQA paper does not train GQA models from scratch. It converts an existing MHA checkpoint: mean-pool the K and V projection weights of the heads in each group into one K/V head, then continue pretraining briefly, about 5 percent of the original compute, so the model adapts. Cell 27 does step 1 in a few lines. The grouping matches repeat_interleave: consecutive heads 0 and 1 share K/V head 0, heads 2 and 3 share K/V head 1. Right after pooling the output of this random layer changes by 52 percent: pooling throws away the differences between heads in a group, which is why step 2 is needed. The pooled weights are a starting point, not a finished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extension. GQA and MQA store fewer heads; a sliding window stores fewer positions. Each token attends only to the last W tokens including itself. The cache stops growing at W entries per layer and becomes a rolling buffer. Mechanically it is just a different mask: a diagonal band instead of the full lower triangle. The third panel adds two attention sinks, explained on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token sees only 4 positions, how can it use something said 100 tokens earlier? Indirectly. In layer 1 position 10 reads positions 7 to 10, but position 7's vector already holds information from 4 to 7, collected in the layer below. Each layer extends the reach by W minus 1, like the receptive field of stacked convolutions. Cell 32 computes it exactly by multiplying the window masks layer by layer. Mistral 7B: W = 4,096 and 32 layers, a theoretical reach of about 131K tokens with at most 4,096 cached entries per layer. The catch: distant information is passed along through intermediate positions and can be diluted; it is never read directly. That is why models mix layer types. Local layers use a sliding window; global layers use ordinary full attention, still causal, so they read any earlier token directly, and only their caches grow with the context. Gemma 2 alternates them one to one with a 4,096-token window; Gemma 3 uses five local layers for every global one, with a 1,024-token window (Gemma 3 Technical Report,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34 subclasses GroupedQueryAttention with two changes: prefill applies the band mask, and whenever a token is appended the cache is trimmed to the sink tokens plus the last W tokens. The trimmed cache then holds exactly the keys the new token may see, so decoding needs no mask. The printed check: cache length stays at 4 (no sinks) or 6 (2 sinks) for all ten steps, and the outputs match a full masked pass. One caveat for real models: with RoPE you must decide which position each cached token has; StreamingLLM uses positions within the cache. Cell 36: with Mistral-like sizes the two savings multiply. At 128K tokens: MHA 64 GiB, GQA-8 16 GiB, GQA-8 with a 4,096 window 0.5 GiB. The price is the indirect reach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trained LLMs a large share of attention goes to the very first tokens even when they mean nothing, such as &lt;s&gt; or 'The'. Xiao et al. (2023) call them attention sinks. A plausible explanation: softmax forces each head's weights to sum to 1 even when there is nothing useful to read, and the first token is visible to every later position, so models learn to park unneeded attention there; its value contributes little. Once a plain window evicts it, softmax spreads that weight over real tokens and hidden states drift away from anything seen in training. StreamingLLM reports perplexity exploding as soon as the initial tokens leave the window, and stable generation over millions of tokens with 4 sink tokens plus a recent window, without retraining. Cell 38 uses made-up scores that mimic the pattern; say so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40 downloads distilgpt2 (about 350 MB on first run) and plots its attention averaged over heads for one sentence. Layer 1 mostly attends to the token itself and its neighbours: ordinary local patterns. From the middle layers on, the first column dominates: about 70 percent of all attention in layers 4 to 6 goes to the first token, which here is just 'The'. This is exactly the attention a plain sliding window would throw away. Scope: one sentence, one small model, averaged over heads; it illustrates the pattern rather than measuring it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the 'what changes' column: three rows change the heads, two change which positions are kept, and one is bookkeeping. Rows marked optional were covered only if time allowed. FlashAttention, which changes only how attention is computed, is in its own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vote true or false on each claim before revealing. All four are false. They are the confusions most often seen on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 questions at the end of the notebook; 6 needs the optional sliding-window block. Good for think-pair-share. Answers: 1) MHA 16 K and 16 V heads; GQA-4 4 of each; MQA 1 of each. 2) each head has its own query projection, so its dot products with the shared keys, and its softmax weights, differ. 3) with Tq = 1 each cached byte is used for only about H/G FLOPs; the GPU waits on memory, so reading less is what speeds it up. 4) the repeated copies carry no new information; storing only the G original heads is the saving; repetition or broadcasting happens on the fly. 5) GQA keeps most of the cache saving while each group keeps its own keys and values, so quality stays closer to MHA. 6) models learn to park unneeded attention on the first tokens; after eviction softmax spreads that weight over real tokens and the hidden states drift from what the model saw in training; keeping a few sink tokens restores a place to park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separate lab for this unit. The notebook's Section 9 has seven questions with answers. FlashAttention has its own notebook and deck. Good small experiments: change n_kv_heads and check the shapes; change W and n_sink in window_mask and predict the plot before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Attention mechanisms · Generative AI, Module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rPr>
              <a:t>Attention mechanisms</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Multi-head, multi-query, and grouped-query attention, and what else modern LLMs change</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2: Transformers &amp;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module2/transformers/attention_mechanisms.ipynb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you will learn</a:t>
            </a:r>
            <a:endParaRPr lang="en-US" sz="3200" dirty="0"/>
          </a:p>
        </p:txBody>
      </p:sp>
      <p:sp>
        <p:nvSpPr>
          <p:cNvPr id="4" name="hook"/>
          <p:cNvSpPr/>
          <p:nvPr/>
        </p:nvSpPr>
        <p:spPr>
          <a:xfrm>
            <a:off x="548640" y="1234440"/>
            <a:ext cx="5852160" cy="1051560"/>
          </a:xfrm>
          <a:prstGeom prst="roundRect">
            <a:avLst>
              <a:gd name="adj" fmla="val 10435"/>
            </a:avLst>
          </a:prstGeom>
          <a:solidFill>
            <a:schemeClr val="accent5"/>
          </a:solidFill>
          <a:ln w="12700">
            <a:solidFill>
              <a:schemeClr val="accent5"/>
            </a:solidFill>
            <a:prstDash val="solid"/>
          </a:ln>
        </p:spPr>
      </p:sp>
      <p:sp>
        <p:nvSpPr>
          <p:cNvPr id="5" name="Text 2"/>
          <p:cNvSpPr txBox="1"/>
          <p:nvPr/>
        </p:nvSpPr>
        <p:spPr>
          <a:xfrm>
            <a:off x="777240" y="1234440"/>
            <a:ext cx="5486400" cy="1051560"/>
          </a:xfrm>
          <a:prstGeom prst="rect">
            <a:avLst/>
          </a:prstGeom>
          <a:noFill/>
          <a:ln/>
        </p:spPr>
        <p:txBody>
          <a:bodyPr wrap="square" lIns="0" tIns="0" rIns="0" bIns="0" rtlCol="0" anchor="ctr"/>
          <a:lstStyle/>
          <a:p>
            <a:pPr indent="0" marL="0">
              <a:buNone/>
            </a:pPr>
            <a:r>
              <a:rPr lang="en-US" sz="1600" b="1" dirty="0">
                <a:solidFill>
                  <a:schemeClr val="tx1"/>
                </a:solidFill>
              </a:rPr>
              <a:t>Llama-2-7B, fp16: </a:t>
            </a:r>
            <a:endParaRPr lang="en-US" sz="1600" dirty="0"/>
          </a:p>
          <a:p>
            <a:pPr indent="0" marL="0">
              <a:buNone/>
            </a:pPr>
            <a:r>
              <a:rPr lang="en-US" sz="1600" dirty="0">
                <a:solidFill>
                  <a:schemeClr val="tx1"/>
                </a:solidFill>
              </a:rPr>
              <a:t>one 4,096-token conversation → ~2 GiB of KV cache. 32 at once → 64 GiB, more than 4× the weights.</a:t>
            </a:r>
            <a:endParaRPr lang="en-US" sz="1600" dirty="0"/>
          </a:p>
        </p:txBody>
      </p:sp>
      <p:sp>
        <p:nvSpPr>
          <p:cNvPr id="6" name="Text 3"/>
          <p:cNvSpPr txBox="1"/>
          <p:nvPr/>
        </p:nvSpPr>
        <p:spPr>
          <a:xfrm>
            <a:off x="6720840" y="1234440"/>
            <a:ext cx="4892040" cy="1051560"/>
          </a:xfrm>
          <a:prstGeom prst="rect">
            <a:avLst/>
          </a:prstGeom>
          <a:noFill/>
          <a:ln/>
        </p:spPr>
        <p:txBody>
          <a:bodyPr wrap="square" lIns="0" tIns="0" rIns="0" bIns="0" rtlCol="0" anchor="ctr"/>
          <a:lstStyle/>
          <a:p>
            <a:pPr indent="0" marL="0">
              <a:buNone/>
            </a:pPr>
            <a:r>
              <a:rPr lang="en-US" sz="1700" i="1" dirty="0">
                <a:solidFill>
                  <a:schemeClr val="tx2"/>
                </a:solidFill>
              </a:rPr>
              <a:t>Every new token reads that whole cache. How do modern LLMs shrink it without removing attention heads?</a:t>
            </a:r>
            <a:endParaRPr lang="en-US" sz="1700" dirty="0"/>
          </a:p>
        </p:txBody>
      </p:sp>
      <p:sp>
        <p:nvSpPr>
          <p:cNvPr id="7" name="objective 1"/>
          <p:cNvSpPr/>
          <p:nvPr/>
        </p:nvSpPr>
        <p:spPr>
          <a:xfrm>
            <a:off x="548640" y="2514600"/>
            <a:ext cx="3566160" cy="1691640"/>
          </a:xfrm>
          <a:prstGeom prst="roundRect">
            <a:avLst>
              <a:gd name="adj" fmla="val 6486"/>
            </a:avLst>
          </a:prstGeom>
          <a:solidFill>
            <a:schemeClr val="bg2"/>
          </a:solidFill>
          <a:ln w="12700">
            <a:solidFill>
              <a:schemeClr val="bg2"/>
            </a:solidFill>
            <a:prstDash val="solid"/>
          </a:ln>
        </p:spPr>
      </p:sp>
      <p:sp>
        <p:nvSpPr>
          <p:cNvPr id="8" name="Shape 5"/>
          <p:cNvSpPr/>
          <p:nvPr/>
        </p:nvSpPr>
        <p:spPr>
          <a:xfrm>
            <a:off x="777240" y="2743200"/>
            <a:ext cx="502920" cy="502920"/>
          </a:xfrm>
          <a:prstGeom prst="ellipse">
            <a:avLst/>
          </a:prstGeom>
          <a:solidFill>
            <a:schemeClr val="accent1"/>
          </a:solidFill>
          <a:ln w="12700">
            <a:solidFill>
              <a:schemeClr val="accent1"/>
            </a:solidFill>
            <a:prstDash val="solid"/>
          </a:ln>
        </p:spPr>
      </p:sp>
      <p:sp>
        <p:nvSpPr>
          <p:cNvPr id="9" name="Text 6"/>
          <p:cNvSpPr txBox="1"/>
          <p:nvPr/>
        </p:nvSpPr>
        <p:spPr>
          <a:xfrm>
            <a:off x="77724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7"/>
          <p:cNvSpPr txBox="1"/>
          <p:nvPr/>
        </p:nvSpPr>
        <p:spPr>
          <a:xfrm>
            <a:off x="141732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The decoding bottleneck</a:t>
            </a:r>
            <a:endParaRPr lang="en-US" sz="1800" dirty="0"/>
          </a:p>
        </p:txBody>
      </p:sp>
      <p:sp>
        <p:nvSpPr>
          <p:cNvPr id="11" name="Text 8"/>
          <p:cNvSpPr txBox="1"/>
          <p:nvPr/>
        </p:nvSpPr>
        <p:spPr>
          <a:xfrm>
            <a:off x="77724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Why generation waits on memory reads, not arithmetic</a:t>
            </a:r>
            <a:endParaRPr lang="en-US" sz="1500" dirty="0"/>
          </a:p>
        </p:txBody>
      </p:sp>
      <p:sp>
        <p:nvSpPr>
          <p:cNvPr id="12" name="objective 2"/>
          <p:cNvSpPr/>
          <p:nvPr/>
        </p:nvSpPr>
        <p:spPr>
          <a:xfrm>
            <a:off x="4297680" y="2514600"/>
            <a:ext cx="3566160" cy="1691640"/>
          </a:xfrm>
          <a:prstGeom prst="roundRect">
            <a:avLst>
              <a:gd name="adj" fmla="val 6486"/>
            </a:avLst>
          </a:prstGeom>
          <a:solidFill>
            <a:schemeClr val="bg2"/>
          </a:solidFill>
          <a:ln w="12700">
            <a:solidFill>
              <a:schemeClr val="bg2"/>
            </a:solidFill>
            <a:prstDash val="solid"/>
          </a:ln>
        </p:spPr>
      </p:sp>
      <p:sp>
        <p:nvSpPr>
          <p:cNvPr id="13" name="Shape 10"/>
          <p:cNvSpPr/>
          <p:nvPr/>
        </p:nvSpPr>
        <p:spPr>
          <a:xfrm>
            <a:off x="4526280" y="2743200"/>
            <a:ext cx="502920" cy="502920"/>
          </a:xfrm>
          <a:prstGeom prst="ellipse">
            <a:avLst/>
          </a:prstGeom>
          <a:solidFill>
            <a:schemeClr val="accent4"/>
          </a:solidFill>
          <a:ln w="12700">
            <a:solidFill>
              <a:schemeClr val="accent4"/>
            </a:solidFill>
            <a:prstDash val="solid"/>
          </a:ln>
        </p:spPr>
      </p:sp>
      <p:sp>
        <p:nvSpPr>
          <p:cNvPr id="14" name="Text 11"/>
          <p:cNvSpPr txBox="1"/>
          <p:nvPr/>
        </p:nvSpPr>
        <p:spPr>
          <a:xfrm>
            <a:off x="452628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516636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MHA → GQA → MQA</a:t>
            </a:r>
            <a:endParaRPr lang="en-US" sz="1800" dirty="0"/>
          </a:p>
        </p:txBody>
      </p:sp>
      <p:sp>
        <p:nvSpPr>
          <p:cNvPr id="16" name="Text 13"/>
          <p:cNvSpPr txBox="1"/>
          <p:nvPr/>
        </p:nvSpPr>
        <p:spPr>
          <a:xfrm>
            <a:off x="452628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Three variants that differ in one setting: the number of K/V heads</a:t>
            </a:r>
            <a:endParaRPr lang="en-US" sz="1500" dirty="0"/>
          </a:p>
        </p:txBody>
      </p:sp>
      <p:sp>
        <p:nvSpPr>
          <p:cNvPr id="17" name="objective 3"/>
          <p:cNvSpPr/>
          <p:nvPr/>
        </p:nvSpPr>
        <p:spPr>
          <a:xfrm>
            <a:off x="8046720" y="2514600"/>
            <a:ext cx="3566160" cy="1691640"/>
          </a:xfrm>
          <a:prstGeom prst="roundRect">
            <a:avLst>
              <a:gd name="adj" fmla="val 6486"/>
            </a:avLst>
          </a:prstGeom>
          <a:solidFill>
            <a:schemeClr val="bg2"/>
          </a:solidFill>
          <a:ln w="12700">
            <a:solidFill>
              <a:schemeClr val="bg2"/>
            </a:solidFill>
            <a:prstDash val="solid"/>
          </a:ln>
        </p:spPr>
      </p:sp>
      <p:sp>
        <p:nvSpPr>
          <p:cNvPr id="18" name="Shape 15"/>
          <p:cNvSpPr/>
          <p:nvPr/>
        </p:nvSpPr>
        <p:spPr>
          <a:xfrm>
            <a:off x="8275320" y="2743200"/>
            <a:ext cx="502920" cy="502920"/>
          </a:xfrm>
          <a:prstGeom prst="ellipse">
            <a:avLst/>
          </a:prstGeom>
          <a:solidFill>
            <a:schemeClr val="accent1"/>
          </a:solidFill>
          <a:ln w="12700">
            <a:solidFill>
              <a:schemeClr val="accent1"/>
            </a:solidFill>
            <a:prstDash val="solid"/>
          </a:ln>
        </p:spPr>
      </p:sp>
      <p:sp>
        <p:nvSpPr>
          <p:cNvPr id="19" name="Text 16"/>
          <p:cNvSpPr txBox="1"/>
          <p:nvPr/>
        </p:nvSpPr>
        <p:spPr>
          <a:xfrm>
            <a:off x="827532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7"/>
          <p:cNvSpPr txBox="1"/>
          <p:nvPr/>
        </p:nvSpPr>
        <p:spPr>
          <a:xfrm>
            <a:off x="891540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One class for all three</a:t>
            </a:r>
            <a:endParaRPr lang="en-US" sz="1800" dirty="0"/>
          </a:p>
        </p:txBody>
      </p:sp>
      <p:sp>
        <p:nvSpPr>
          <p:cNvPr id="21" name="Text 18"/>
          <p:cNvSpPr txBox="1"/>
          <p:nvPr/>
        </p:nvSpPr>
        <p:spPr>
          <a:xfrm>
            <a:off x="827532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Two code changes, and checks that the implementation is correct</a:t>
            </a:r>
            <a:endParaRPr lang="en-US" sz="1500" dirty="0"/>
          </a:p>
        </p:txBody>
      </p:sp>
      <p:sp>
        <p:nvSpPr>
          <p:cNvPr id="22" name="objective 4"/>
          <p:cNvSpPr/>
          <p:nvPr/>
        </p:nvSpPr>
        <p:spPr>
          <a:xfrm>
            <a:off x="548640" y="4389120"/>
            <a:ext cx="3566160" cy="1691640"/>
          </a:xfrm>
          <a:prstGeom prst="roundRect">
            <a:avLst>
              <a:gd name="adj" fmla="val 6486"/>
            </a:avLst>
          </a:prstGeom>
          <a:solidFill>
            <a:schemeClr val="bg2"/>
          </a:solidFill>
          <a:ln w="12700">
            <a:solidFill>
              <a:schemeClr val="bg2"/>
            </a:solidFill>
            <a:prstDash val="solid"/>
          </a:ln>
        </p:spPr>
      </p:sp>
      <p:sp>
        <p:nvSpPr>
          <p:cNvPr id="23" name="Shape 20"/>
          <p:cNvSpPr/>
          <p:nvPr/>
        </p:nvSpPr>
        <p:spPr>
          <a:xfrm>
            <a:off x="777240" y="4617720"/>
            <a:ext cx="502920" cy="502920"/>
          </a:xfrm>
          <a:prstGeom prst="ellipse">
            <a:avLst/>
          </a:prstGeom>
          <a:solidFill>
            <a:schemeClr val="accent4"/>
          </a:solidFill>
          <a:ln w="12700">
            <a:solidFill>
              <a:schemeClr val="accent4"/>
            </a:solidFill>
            <a:prstDash val="solid"/>
          </a:ln>
        </p:spPr>
      </p:sp>
      <p:sp>
        <p:nvSpPr>
          <p:cNvPr id="24" name="Text 21"/>
          <p:cNvSpPr txBox="1"/>
          <p:nvPr/>
        </p:nvSpPr>
        <p:spPr>
          <a:xfrm>
            <a:off x="777240" y="46177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2"/>
          <p:cNvSpPr txBox="1"/>
          <p:nvPr/>
        </p:nvSpPr>
        <p:spPr>
          <a:xfrm>
            <a:off x="1417320" y="461772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The trade-off at scale</a:t>
            </a:r>
            <a:endParaRPr lang="en-US" sz="1800" dirty="0"/>
          </a:p>
        </p:txBody>
      </p:sp>
      <p:sp>
        <p:nvSpPr>
          <p:cNvPr id="26" name="Text 23"/>
          <p:cNvSpPr txBox="1"/>
          <p:nvPr/>
        </p:nvSpPr>
        <p:spPr>
          <a:xfrm>
            <a:off x="777240" y="5257800"/>
            <a:ext cx="3154680" cy="731520"/>
          </a:xfrm>
          <a:prstGeom prst="rect">
            <a:avLst/>
          </a:prstGeom>
          <a:noFill/>
          <a:ln/>
        </p:spPr>
        <p:txBody>
          <a:bodyPr wrap="square" lIns="0" tIns="0" rIns="0" bIns="0" rtlCol="0" anchor="t"/>
          <a:lstStyle/>
          <a:p>
            <a:pPr indent="0" marL="0">
              <a:buNone/>
            </a:pPr>
            <a:r>
              <a:rPr lang="en-US" sz="1500" dirty="0">
                <a:solidFill>
                  <a:schemeClr val="tx2"/>
                </a:solidFill>
              </a:rPr>
              <a:t>Memory, parameters, quality, and what Llama, Mistral and Falcon use</a:t>
            </a:r>
            <a:endParaRPr lang="en-US" sz="1500" dirty="0"/>
          </a:p>
        </p:txBody>
      </p:sp>
      <p:sp>
        <p:nvSpPr>
          <p:cNvPr id="27" name="objective 5"/>
          <p:cNvSpPr/>
          <p:nvPr/>
        </p:nvSpPr>
        <p:spPr>
          <a:xfrm>
            <a:off x="4297680" y="4389120"/>
            <a:ext cx="3566160" cy="1691640"/>
          </a:xfrm>
          <a:prstGeom prst="roundRect">
            <a:avLst>
              <a:gd name="adj" fmla="val 6486"/>
            </a:avLst>
          </a:prstGeom>
          <a:solidFill>
            <a:schemeClr val="bg2"/>
          </a:solidFill>
          <a:ln w="12700">
            <a:solidFill>
              <a:schemeClr val="bg2"/>
            </a:solidFill>
            <a:prstDash val="solid"/>
          </a:ln>
        </p:spPr>
      </p:sp>
      <p:sp>
        <p:nvSpPr>
          <p:cNvPr id="28" name="Shape 25"/>
          <p:cNvSpPr/>
          <p:nvPr/>
        </p:nvSpPr>
        <p:spPr>
          <a:xfrm>
            <a:off x="4526280" y="4617720"/>
            <a:ext cx="502920" cy="502920"/>
          </a:xfrm>
          <a:prstGeom prst="ellipse">
            <a:avLst/>
          </a:prstGeom>
          <a:solidFill>
            <a:schemeClr val="tx2"/>
          </a:solidFill>
          <a:ln w="12700">
            <a:solidFill>
              <a:schemeClr val="tx2"/>
            </a:solidFill>
            <a:prstDash val="solid"/>
          </a:ln>
        </p:spPr>
      </p:sp>
      <p:sp>
        <p:nvSpPr>
          <p:cNvPr id="29" name="Text 26"/>
          <p:cNvSpPr txBox="1"/>
          <p:nvPr/>
        </p:nvSpPr>
        <p:spPr>
          <a:xfrm>
            <a:off x="4526280" y="46177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7"/>
          <p:cNvSpPr txBox="1"/>
          <p:nvPr/>
        </p:nvSpPr>
        <p:spPr>
          <a:xfrm>
            <a:off x="5166360" y="461772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Sliding windows and sinks</a:t>
            </a:r>
            <a:endParaRPr lang="en-US" sz="1800" dirty="0"/>
          </a:p>
        </p:txBody>
      </p:sp>
      <p:sp>
        <p:nvSpPr>
          <p:cNvPr id="31" name="Text 28"/>
          <p:cNvSpPr txBox="1"/>
          <p:nvPr/>
        </p:nvSpPr>
        <p:spPr>
          <a:xfrm>
            <a:off x="4526280" y="5257800"/>
            <a:ext cx="3154680" cy="731520"/>
          </a:xfrm>
          <a:prstGeom prst="rect">
            <a:avLst/>
          </a:prstGeom>
          <a:noFill/>
          <a:ln/>
        </p:spPr>
        <p:txBody>
          <a:bodyPr wrap="square" lIns="0" tIns="0" rIns="0" bIns="0" rtlCol="0" anchor="t"/>
          <a:lstStyle/>
          <a:p>
            <a:pPr indent="0" marL="0">
              <a:buNone/>
            </a:pPr>
            <a:r>
              <a:rPr lang="en-US" sz="1500" dirty="0">
                <a:solidFill>
                  <a:schemeClr val="tx2"/>
                </a:solidFill>
              </a:rPr>
              <a:t>Capping the cache length, and why the first tokens must stay (optional)</a:t>
            </a:r>
            <a:endParaRPr lang="en-US" sz="1500" dirty="0"/>
          </a:p>
        </p:txBody>
      </p:sp>
      <p:sp>
        <p:nvSpPr>
          <p:cNvPr id="32" name="next lecture"/>
          <p:cNvSpPr/>
          <p:nvPr/>
        </p:nvSpPr>
        <p:spPr>
          <a:xfrm>
            <a:off x="8046720" y="4389120"/>
            <a:ext cx="3566160" cy="1691640"/>
          </a:xfrm>
          <a:prstGeom prst="roundRect">
            <a:avLst>
              <a:gd name="adj" fmla="val 6486"/>
            </a:avLst>
          </a:prstGeom>
          <a:solidFill>
            <a:schemeClr val="tx1"/>
          </a:solidFill>
          <a:ln w="12700">
            <a:solidFill>
              <a:schemeClr val="tx1"/>
            </a:solidFill>
            <a:prstDash val="solid"/>
          </a:ln>
        </p:spPr>
      </p:sp>
      <p:sp>
        <p:nvSpPr>
          <p:cNvPr id="33" name="Text 30"/>
          <p:cNvSpPr txBox="1"/>
          <p:nvPr/>
        </p:nvSpPr>
        <p:spPr>
          <a:xfrm>
            <a:off x="8275320" y="4389120"/>
            <a:ext cx="3108960" cy="1691640"/>
          </a:xfrm>
          <a:prstGeom prst="rect">
            <a:avLst/>
          </a:prstGeom>
          <a:noFill/>
          <a:ln/>
        </p:spPr>
        <p:txBody>
          <a:bodyPr wrap="square" lIns="0" tIns="0" rIns="0" bIns="0" rtlCol="0" anchor="ctr"/>
          <a:lstStyle/>
          <a:p>
            <a:pPr indent="0" marL="0">
              <a:buNone/>
            </a:pPr>
            <a:r>
              <a:rPr lang="en-US" sz="1600" b="1" dirty="0">
                <a:solidFill>
                  <a:schemeClr val="accent2"/>
                </a:solidFill>
              </a:rPr>
              <a:t>Next: FlashAttention</a:t>
            </a:r>
            <a:endParaRPr lang="en-US" sz="1600" dirty="0"/>
          </a:p>
          <a:p>
            <a:pPr indent="0" marL="0">
              <a:buNone/>
            </a:pPr>
            <a:r>
              <a:rPr lang="en-US" sz="1600" dirty="0">
                <a:solidFill>
                  <a:schemeClr val="bg1"/>
                </a:solidFill>
              </a:rPr>
              <a:t>the same attention, computed without the T × T matrix. Its own notebook and slides.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Reminder: attention is a soft lookup table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1371600"/>
                <a:gridCol w="2651760"/>
                <a:gridCol w="2743200"/>
              </a:tblGrid>
              <a:tr h="502920">
                <a:tc>
                  <a:txBody>
                    <a:bodyPr/>
                    <a:lstStyle/>
                    <a:p>
                      <a:pPr indent="0" marL="0">
                        <a:buNone/>
                      </a:pPr>
                      <a:r>
                        <a:rPr lang="en-US" sz="1500" b="1" dirty="0">
                          <a:solidFill>
                            <a:schemeClr val="bg1"/>
                          </a:solidFill>
                        </a:rPr>
                        <a:t>Vector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Question it answers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Role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500" b="1" dirty="0">
                          <a:solidFill>
                            <a:schemeClr val="tx1"/>
                          </a:solidFill>
                        </a:rPr>
                        <a:t>Query Q</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am I looking for?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the current position's request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Key K</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What do I offer as a match?</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used only for matching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500" b="1" dirty="0">
                          <a:solidFill>
                            <a:schemeClr val="tx1"/>
                          </a:solidFill>
                        </a:rPr>
                        <a:t>Value V</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do I actually pass 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used only for information transfer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formula"/>
          <p:cNvSpPr/>
          <p:nvPr/>
        </p:nvSpPr>
        <p:spPr>
          <a:xfrm>
            <a:off x="548640" y="3520440"/>
            <a:ext cx="6766560" cy="1097280"/>
          </a:xfrm>
          <a:prstGeom prst="roundRect">
            <a:avLst>
              <a:gd name="adj" fmla="val 10000"/>
            </a:avLst>
          </a:prstGeom>
          <a:solidFill>
            <a:schemeClr val="bg2"/>
          </a:solidFill>
          <a:ln w="12700">
            <a:solidFill>
              <a:schemeClr val="bg2"/>
            </a:solidFill>
            <a:prstDash val="solid"/>
          </a:ln>
        </p:spPr>
      </p:sp>
      <p:sp>
        <p:nvSpPr>
          <p:cNvPr id="6" name="Text 2"/>
          <p:cNvSpPr txBox="1"/>
          <p:nvPr/>
        </p:nvSpPr>
        <p:spPr>
          <a:xfrm>
            <a:off x="822960" y="3520440"/>
            <a:ext cx="6217920" cy="1097280"/>
          </a:xfrm>
          <a:prstGeom prst="rect">
            <a:avLst/>
          </a:prstGeom>
          <a:noFill/>
          <a:ln/>
        </p:spPr>
        <p:txBody>
          <a:bodyPr wrap="square" lIns="0" tIns="0" rIns="0" bIns="0" rtlCol="0" anchor="ctr"/>
          <a:lstStyle/>
          <a:p>
            <a:pPr algn="ctr" indent="0" marL="0">
              <a:buNone/>
            </a:pPr>
            <a:r>
              <a:rPr lang="en-US" sz="2400" dirty="0">
                <a:solidFill>
                  <a:schemeClr val="tx1"/>
                </a:solidFill>
                <a:latin typeface="Cambria" pitchFamily="34" charset="0"/>
                <a:ea typeface="Cambria" pitchFamily="34" charset="-122"/>
                <a:cs typeface="Cambria" pitchFamily="34" charset="-120"/>
              </a:rPr>
              <a:t>Attention(Q, K, V) = softmax( QK</a:t>
            </a:r>
            <a:r>
              <a:rPr lang="en-US" sz="2400" baseline="30000" dirty="0">
                <a:solidFill>
                  <a:schemeClr val="tx1"/>
                </a:solidFill>
                <a:latin typeface="Cambria" pitchFamily="34" charset="0"/>
                <a:ea typeface="Cambria" pitchFamily="34" charset="-122"/>
                <a:cs typeface="Cambria" pitchFamily="34" charset="-120"/>
              </a:rPr>
              <a:t>T</a:t>
            </a:r>
            <a:r>
              <a:rPr lang="en-US" sz="2400" dirty="0">
                <a:solidFill>
                  <a:schemeClr val="tx1"/>
                </a:solidFill>
                <a:latin typeface="Cambria" pitchFamily="34" charset="0"/>
                <a:ea typeface="Cambria" pitchFamily="34" charset="-122"/>
                <a:cs typeface="Cambria" pitchFamily="34" charset="-120"/>
              </a:rPr>
              <a:t> / √d</a:t>
            </a:r>
            <a:r>
              <a:rPr lang="en-US" sz="2400" baseline="-40000" dirty="0">
                <a:solidFill>
                  <a:schemeClr val="tx1"/>
                </a:solidFill>
                <a:latin typeface="Cambria" pitchFamily="34" charset="0"/>
                <a:ea typeface="Cambria" pitchFamily="34" charset="-122"/>
                <a:cs typeface="Cambria" pitchFamily="34" charset="-120"/>
              </a:rPr>
              <a:t>k</a:t>
            </a:r>
            <a:r>
              <a:rPr lang="en-US" sz="2400" dirty="0">
                <a:solidFill>
                  <a:schemeClr val="tx1"/>
                </a:solidFill>
                <a:latin typeface="Cambria" pitchFamily="34" charset="0"/>
                <a:ea typeface="Cambria" pitchFamily="34" charset="-122"/>
                <a:cs typeface="Cambria" pitchFamily="34" charset="-120"/>
              </a:rPr>
              <a:t> ) V</a:t>
            </a:r>
            <a:endParaRPr lang="en-US" sz="2400" dirty="0"/>
          </a:p>
        </p:txBody>
      </p:sp>
      <p:sp>
        <p:nvSpPr>
          <p:cNvPr id="7" name="Text 3"/>
          <p:cNvSpPr txBox="1"/>
          <p:nvPr/>
        </p:nvSpPr>
        <p:spPr>
          <a:xfrm>
            <a:off x="548640" y="4846320"/>
            <a:ext cx="6766560" cy="731520"/>
          </a:xfrm>
          <a:prstGeom prst="rect">
            <a:avLst/>
          </a:prstGeom>
          <a:noFill/>
          <a:ln/>
        </p:spPr>
        <p:txBody>
          <a:bodyPr wrap="square" lIns="0" tIns="0" rIns="0" bIns="0" rtlCol="0" anchor="t"/>
          <a:lstStyle/>
          <a:p>
            <a:pPr indent="0" marL="0">
              <a:buNone/>
            </a:pPr>
            <a:r>
              <a:rPr lang="en-US" sz="1600" b="1" dirty="0">
                <a:solidFill>
                  <a:schemeClr val="tx1"/>
                </a:solidFill>
              </a:rPr>
              <a:t>Multi-head attention (MHA) </a:t>
            </a:r>
            <a:r>
              <a:rPr lang="en-US" sz="1600" dirty="0">
                <a:solidFill>
                  <a:schemeClr val="tx1"/>
                </a:solidFill>
              </a:rPr>
              <a:t>runs H lookups in parallel, each on its own head_dim = d_model / H slice, with its own Q, K and V projections.</a:t>
            </a:r>
            <a:endParaRPr lang="en-US" sz="1600" dirty="0"/>
          </a:p>
        </p:txBody>
      </p:sp>
      <p:sp>
        <p:nvSpPr>
          <p:cNvPr id="8" name="Text 4"/>
          <p:cNvSpPr txBox="1"/>
          <p:nvPr/>
        </p:nvSpPr>
        <p:spPr>
          <a:xfrm>
            <a:off x="7680960" y="1280160"/>
            <a:ext cx="3931920" cy="365760"/>
          </a:xfrm>
          <a:prstGeom prst="rect">
            <a:avLst/>
          </a:prstGeom>
          <a:noFill/>
          <a:ln/>
        </p:spPr>
        <p:txBody>
          <a:bodyPr wrap="square" lIns="0" tIns="0" rIns="0" bIns="0" rtlCol="0" anchor="t"/>
          <a:lstStyle/>
          <a:p>
            <a:pPr indent="0" marL="0">
              <a:buNone/>
            </a:pPr>
            <a:r>
              <a:rPr lang="en-US" sz="1600" b="1" dirty="0">
                <a:solidFill>
                  <a:schemeClr val="tx1"/>
                </a:solidFill>
              </a:rPr>
              <a:t>In MHA every head has its own Q, K and V</a:t>
            </a:r>
            <a:endParaRPr lang="en-US" sz="1600" dirty="0"/>
          </a:p>
        </p:txBody>
      </p:sp>
      <p:sp>
        <p:nvSpPr>
          <p:cNvPr id="9" name="Shape 5"/>
          <p:cNvSpPr/>
          <p:nvPr/>
        </p:nvSpPr>
        <p:spPr>
          <a:xfrm>
            <a:off x="7680960" y="1783080"/>
            <a:ext cx="914400" cy="502920"/>
          </a:xfrm>
          <a:prstGeom prst="roundRect">
            <a:avLst>
              <a:gd name="adj" fmla="val 14545"/>
            </a:avLst>
          </a:prstGeom>
          <a:solidFill>
            <a:schemeClr val="bg2"/>
          </a:solidFill>
          <a:ln w="12700">
            <a:solidFill>
              <a:srgbClr val="AAB2C0"/>
            </a:solidFill>
            <a:prstDash val="solid"/>
          </a:ln>
        </p:spPr>
      </p:sp>
      <p:sp>
        <p:nvSpPr>
          <p:cNvPr id="10" name="Text 6"/>
          <p:cNvSpPr txBox="1"/>
          <p:nvPr/>
        </p:nvSpPr>
        <p:spPr>
          <a:xfrm>
            <a:off x="7680960" y="1783080"/>
            <a:ext cx="91440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Q1</a:t>
            </a:r>
            <a:endParaRPr lang="en-US" sz="1400" dirty="0"/>
          </a:p>
        </p:txBody>
      </p:sp>
      <p:sp>
        <p:nvSpPr>
          <p:cNvPr id="11" name="Shape 7"/>
          <p:cNvSpPr/>
          <p:nvPr/>
        </p:nvSpPr>
        <p:spPr>
          <a:xfrm>
            <a:off x="8641080" y="2034540"/>
            <a:ext cx="411480" cy="0"/>
          </a:xfrm>
          <a:prstGeom prst="line">
            <a:avLst/>
          </a:prstGeom>
          <a:noFill/>
          <a:ln w="22225">
            <a:solidFill>
              <a:schemeClr val="tx2"/>
            </a:solidFill>
            <a:prstDash val="solid"/>
            <a:tailEnd type="triangle"/>
          </a:ln>
        </p:spPr>
      </p:sp>
      <p:sp>
        <p:nvSpPr>
          <p:cNvPr id="12" name="Text 8"/>
          <p:cNvSpPr txBox="1"/>
          <p:nvPr/>
        </p:nvSpPr>
        <p:spPr>
          <a:xfrm>
            <a:off x="8641080" y="1600200"/>
            <a:ext cx="457200" cy="182880"/>
          </a:xfrm>
          <a:prstGeom prst="rect">
            <a:avLst/>
          </a:prstGeom>
          <a:noFill/>
          <a:ln/>
        </p:spPr>
        <p:txBody>
          <a:bodyPr wrap="square" lIns="0" tIns="0" rIns="0" bIns="0" rtlCol="0" anchor="t"/>
          <a:lstStyle/>
          <a:p>
            <a:pPr algn="ctr" indent="0" marL="0">
              <a:buNone/>
            </a:pPr>
            <a:r>
              <a:rPr lang="en-US" sz="900" dirty="0">
                <a:solidFill>
                  <a:schemeClr val="tx2"/>
                </a:solidFill>
              </a:rPr>
              <a:t>searches</a:t>
            </a:r>
            <a:endParaRPr lang="en-US" sz="900" dirty="0"/>
          </a:p>
        </p:txBody>
      </p:sp>
      <p:sp>
        <p:nvSpPr>
          <p:cNvPr id="13" name="Shape 9"/>
          <p:cNvSpPr/>
          <p:nvPr/>
        </p:nvSpPr>
        <p:spPr>
          <a:xfrm>
            <a:off x="9098280" y="1783080"/>
            <a:ext cx="1097280" cy="502920"/>
          </a:xfrm>
          <a:prstGeom prst="roundRect">
            <a:avLst>
              <a:gd name="adj" fmla="val 14545"/>
            </a:avLst>
          </a:prstGeom>
          <a:solidFill>
            <a:schemeClr val="accent4"/>
          </a:solidFill>
          <a:ln w="12700">
            <a:solidFill>
              <a:schemeClr val="accent4"/>
            </a:solidFill>
            <a:prstDash val="solid"/>
          </a:ln>
        </p:spPr>
      </p:sp>
      <p:sp>
        <p:nvSpPr>
          <p:cNvPr id="14" name="Text 10"/>
          <p:cNvSpPr txBox="1"/>
          <p:nvPr/>
        </p:nvSpPr>
        <p:spPr>
          <a:xfrm>
            <a:off x="9098280" y="1783080"/>
            <a:ext cx="10972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K1, V1</a:t>
            </a:r>
            <a:endParaRPr lang="en-US" sz="1400" dirty="0"/>
          </a:p>
        </p:txBody>
      </p:sp>
      <p:sp>
        <p:nvSpPr>
          <p:cNvPr id="15" name="Shape 11"/>
          <p:cNvSpPr/>
          <p:nvPr/>
        </p:nvSpPr>
        <p:spPr>
          <a:xfrm>
            <a:off x="7680960" y="2560320"/>
            <a:ext cx="914400" cy="502920"/>
          </a:xfrm>
          <a:prstGeom prst="roundRect">
            <a:avLst>
              <a:gd name="adj" fmla="val 14545"/>
            </a:avLst>
          </a:prstGeom>
          <a:solidFill>
            <a:schemeClr val="bg2"/>
          </a:solidFill>
          <a:ln w="12700">
            <a:solidFill>
              <a:srgbClr val="AAB2C0"/>
            </a:solidFill>
            <a:prstDash val="solid"/>
          </a:ln>
        </p:spPr>
      </p:sp>
      <p:sp>
        <p:nvSpPr>
          <p:cNvPr id="16" name="Text 12"/>
          <p:cNvSpPr txBox="1"/>
          <p:nvPr/>
        </p:nvSpPr>
        <p:spPr>
          <a:xfrm>
            <a:off x="7680960" y="2560320"/>
            <a:ext cx="91440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Q2</a:t>
            </a:r>
            <a:endParaRPr lang="en-US" sz="1400" dirty="0"/>
          </a:p>
        </p:txBody>
      </p:sp>
      <p:sp>
        <p:nvSpPr>
          <p:cNvPr id="17" name="Shape 13"/>
          <p:cNvSpPr/>
          <p:nvPr/>
        </p:nvSpPr>
        <p:spPr>
          <a:xfrm>
            <a:off x="8641080" y="2811780"/>
            <a:ext cx="411480" cy="0"/>
          </a:xfrm>
          <a:prstGeom prst="line">
            <a:avLst/>
          </a:prstGeom>
          <a:noFill/>
          <a:ln w="22225">
            <a:solidFill>
              <a:schemeClr val="tx2"/>
            </a:solidFill>
            <a:prstDash val="solid"/>
            <a:tailEnd type="triangle"/>
          </a:ln>
        </p:spPr>
      </p:sp>
      <p:sp>
        <p:nvSpPr>
          <p:cNvPr id="18" name="Text 14"/>
          <p:cNvSpPr txBox="1"/>
          <p:nvPr/>
        </p:nvSpPr>
        <p:spPr>
          <a:xfrm>
            <a:off x="8641080" y="2377440"/>
            <a:ext cx="457200" cy="182880"/>
          </a:xfrm>
          <a:prstGeom prst="rect">
            <a:avLst/>
          </a:prstGeom>
          <a:noFill/>
          <a:ln/>
        </p:spPr>
        <p:txBody>
          <a:bodyPr wrap="square" lIns="0" tIns="0" rIns="0" bIns="0" rtlCol="0" anchor="t"/>
          <a:lstStyle/>
          <a:p>
            <a:pPr algn="ctr" indent="0" marL="0">
              <a:buNone/>
            </a:pPr>
            <a:r>
              <a:rPr lang="en-US" sz="900" dirty="0">
                <a:solidFill>
                  <a:schemeClr val="tx2"/>
                </a:solidFill>
              </a:rPr>
              <a:t>searches</a:t>
            </a:r>
            <a:endParaRPr lang="en-US" sz="900" dirty="0"/>
          </a:p>
        </p:txBody>
      </p:sp>
      <p:sp>
        <p:nvSpPr>
          <p:cNvPr id="19" name="Shape 15"/>
          <p:cNvSpPr/>
          <p:nvPr/>
        </p:nvSpPr>
        <p:spPr>
          <a:xfrm>
            <a:off x="9098280" y="2560320"/>
            <a:ext cx="1097280" cy="502920"/>
          </a:xfrm>
          <a:prstGeom prst="roundRect">
            <a:avLst>
              <a:gd name="adj" fmla="val 14545"/>
            </a:avLst>
          </a:prstGeom>
          <a:solidFill>
            <a:schemeClr val="accent4"/>
          </a:solidFill>
          <a:ln w="12700">
            <a:solidFill>
              <a:schemeClr val="accent4"/>
            </a:solidFill>
            <a:prstDash val="solid"/>
          </a:ln>
        </p:spPr>
      </p:sp>
      <p:sp>
        <p:nvSpPr>
          <p:cNvPr id="20" name="Text 16"/>
          <p:cNvSpPr txBox="1"/>
          <p:nvPr/>
        </p:nvSpPr>
        <p:spPr>
          <a:xfrm>
            <a:off x="9098280" y="2560320"/>
            <a:ext cx="10972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K2, V2</a:t>
            </a:r>
            <a:endParaRPr lang="en-US" sz="1400" dirty="0"/>
          </a:p>
        </p:txBody>
      </p:sp>
      <p:sp>
        <p:nvSpPr>
          <p:cNvPr id="21" name="Shape 17"/>
          <p:cNvSpPr/>
          <p:nvPr/>
        </p:nvSpPr>
        <p:spPr>
          <a:xfrm>
            <a:off x="7680960" y="3337560"/>
            <a:ext cx="914400" cy="502920"/>
          </a:xfrm>
          <a:prstGeom prst="roundRect">
            <a:avLst>
              <a:gd name="adj" fmla="val 14545"/>
            </a:avLst>
          </a:prstGeom>
          <a:solidFill>
            <a:schemeClr val="bg2"/>
          </a:solidFill>
          <a:ln w="12700">
            <a:solidFill>
              <a:srgbClr val="AAB2C0"/>
            </a:solidFill>
            <a:prstDash val="solid"/>
          </a:ln>
        </p:spPr>
      </p:sp>
      <p:sp>
        <p:nvSpPr>
          <p:cNvPr id="22" name="Text 18"/>
          <p:cNvSpPr txBox="1"/>
          <p:nvPr/>
        </p:nvSpPr>
        <p:spPr>
          <a:xfrm>
            <a:off x="7680960" y="3337560"/>
            <a:ext cx="91440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Q3</a:t>
            </a:r>
            <a:endParaRPr lang="en-US" sz="1400" dirty="0"/>
          </a:p>
        </p:txBody>
      </p:sp>
      <p:sp>
        <p:nvSpPr>
          <p:cNvPr id="23" name="Shape 19"/>
          <p:cNvSpPr/>
          <p:nvPr/>
        </p:nvSpPr>
        <p:spPr>
          <a:xfrm>
            <a:off x="8641080" y="3589020"/>
            <a:ext cx="411480" cy="0"/>
          </a:xfrm>
          <a:prstGeom prst="line">
            <a:avLst/>
          </a:prstGeom>
          <a:noFill/>
          <a:ln w="22225">
            <a:solidFill>
              <a:schemeClr val="tx2"/>
            </a:solidFill>
            <a:prstDash val="solid"/>
            <a:tailEnd type="triangle"/>
          </a:ln>
        </p:spPr>
      </p:sp>
      <p:sp>
        <p:nvSpPr>
          <p:cNvPr id="24" name="Text 20"/>
          <p:cNvSpPr txBox="1"/>
          <p:nvPr/>
        </p:nvSpPr>
        <p:spPr>
          <a:xfrm>
            <a:off x="8641080" y="3154680"/>
            <a:ext cx="457200" cy="182880"/>
          </a:xfrm>
          <a:prstGeom prst="rect">
            <a:avLst/>
          </a:prstGeom>
          <a:noFill/>
          <a:ln/>
        </p:spPr>
        <p:txBody>
          <a:bodyPr wrap="square" lIns="0" tIns="0" rIns="0" bIns="0" rtlCol="0" anchor="t"/>
          <a:lstStyle/>
          <a:p>
            <a:pPr algn="ctr" indent="0" marL="0">
              <a:buNone/>
            </a:pPr>
            <a:r>
              <a:rPr lang="en-US" sz="900" dirty="0">
                <a:solidFill>
                  <a:schemeClr val="tx2"/>
                </a:solidFill>
              </a:rPr>
              <a:t>searches</a:t>
            </a:r>
            <a:endParaRPr lang="en-US" sz="900" dirty="0"/>
          </a:p>
        </p:txBody>
      </p:sp>
      <p:sp>
        <p:nvSpPr>
          <p:cNvPr id="25" name="Shape 21"/>
          <p:cNvSpPr/>
          <p:nvPr/>
        </p:nvSpPr>
        <p:spPr>
          <a:xfrm>
            <a:off x="9098280" y="3337560"/>
            <a:ext cx="1097280" cy="502920"/>
          </a:xfrm>
          <a:prstGeom prst="roundRect">
            <a:avLst>
              <a:gd name="adj" fmla="val 14545"/>
            </a:avLst>
          </a:prstGeom>
          <a:solidFill>
            <a:schemeClr val="accent4"/>
          </a:solidFill>
          <a:ln w="12700">
            <a:solidFill>
              <a:schemeClr val="accent4"/>
            </a:solidFill>
            <a:prstDash val="solid"/>
          </a:ln>
        </p:spPr>
      </p:sp>
      <p:sp>
        <p:nvSpPr>
          <p:cNvPr id="26" name="Text 22"/>
          <p:cNvSpPr txBox="1"/>
          <p:nvPr/>
        </p:nvSpPr>
        <p:spPr>
          <a:xfrm>
            <a:off x="9098280" y="3337560"/>
            <a:ext cx="10972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K3, V3</a:t>
            </a:r>
            <a:endParaRPr lang="en-US" sz="1400" dirty="0"/>
          </a:p>
        </p:txBody>
      </p:sp>
      <p:sp>
        <p:nvSpPr>
          <p:cNvPr id="27" name="Shape 23"/>
          <p:cNvSpPr/>
          <p:nvPr/>
        </p:nvSpPr>
        <p:spPr>
          <a:xfrm>
            <a:off x="7680960" y="4114800"/>
            <a:ext cx="914400" cy="502920"/>
          </a:xfrm>
          <a:prstGeom prst="roundRect">
            <a:avLst>
              <a:gd name="adj" fmla="val 14545"/>
            </a:avLst>
          </a:prstGeom>
          <a:solidFill>
            <a:schemeClr val="bg2"/>
          </a:solidFill>
          <a:ln w="12700">
            <a:solidFill>
              <a:srgbClr val="AAB2C0"/>
            </a:solidFill>
            <a:prstDash val="solid"/>
          </a:ln>
        </p:spPr>
      </p:sp>
      <p:sp>
        <p:nvSpPr>
          <p:cNvPr id="28" name="Text 24"/>
          <p:cNvSpPr txBox="1"/>
          <p:nvPr/>
        </p:nvSpPr>
        <p:spPr>
          <a:xfrm>
            <a:off x="7680960" y="4114800"/>
            <a:ext cx="91440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Q4</a:t>
            </a:r>
            <a:endParaRPr lang="en-US" sz="1400" dirty="0"/>
          </a:p>
        </p:txBody>
      </p:sp>
      <p:sp>
        <p:nvSpPr>
          <p:cNvPr id="29" name="Shape 25"/>
          <p:cNvSpPr/>
          <p:nvPr/>
        </p:nvSpPr>
        <p:spPr>
          <a:xfrm>
            <a:off x="8641080" y="4366260"/>
            <a:ext cx="411480" cy="0"/>
          </a:xfrm>
          <a:prstGeom prst="line">
            <a:avLst/>
          </a:prstGeom>
          <a:noFill/>
          <a:ln w="22225">
            <a:solidFill>
              <a:schemeClr val="tx2"/>
            </a:solidFill>
            <a:prstDash val="solid"/>
            <a:tailEnd type="triangle"/>
          </a:ln>
        </p:spPr>
      </p:sp>
      <p:sp>
        <p:nvSpPr>
          <p:cNvPr id="30" name="Text 26"/>
          <p:cNvSpPr txBox="1"/>
          <p:nvPr/>
        </p:nvSpPr>
        <p:spPr>
          <a:xfrm>
            <a:off x="8641080" y="3931920"/>
            <a:ext cx="457200" cy="182880"/>
          </a:xfrm>
          <a:prstGeom prst="rect">
            <a:avLst/>
          </a:prstGeom>
          <a:noFill/>
          <a:ln/>
        </p:spPr>
        <p:txBody>
          <a:bodyPr wrap="square" lIns="0" tIns="0" rIns="0" bIns="0" rtlCol="0" anchor="t"/>
          <a:lstStyle/>
          <a:p>
            <a:pPr algn="ctr" indent="0" marL="0">
              <a:buNone/>
            </a:pPr>
            <a:r>
              <a:rPr lang="en-US" sz="900" dirty="0">
                <a:solidFill>
                  <a:schemeClr val="tx2"/>
                </a:solidFill>
              </a:rPr>
              <a:t>searches</a:t>
            </a:r>
            <a:endParaRPr lang="en-US" sz="900" dirty="0"/>
          </a:p>
        </p:txBody>
      </p:sp>
      <p:sp>
        <p:nvSpPr>
          <p:cNvPr id="31" name="Shape 27"/>
          <p:cNvSpPr/>
          <p:nvPr/>
        </p:nvSpPr>
        <p:spPr>
          <a:xfrm>
            <a:off x="9098280" y="4114800"/>
            <a:ext cx="1097280" cy="502920"/>
          </a:xfrm>
          <a:prstGeom prst="roundRect">
            <a:avLst>
              <a:gd name="adj" fmla="val 14545"/>
            </a:avLst>
          </a:prstGeom>
          <a:solidFill>
            <a:schemeClr val="accent4"/>
          </a:solidFill>
          <a:ln w="12700">
            <a:solidFill>
              <a:schemeClr val="accent4"/>
            </a:solidFill>
            <a:prstDash val="solid"/>
          </a:ln>
        </p:spPr>
      </p:sp>
      <p:sp>
        <p:nvSpPr>
          <p:cNvPr id="32" name="Text 28"/>
          <p:cNvSpPr txBox="1"/>
          <p:nvPr/>
        </p:nvSpPr>
        <p:spPr>
          <a:xfrm>
            <a:off x="9098280" y="4114800"/>
            <a:ext cx="10972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K4, V4</a:t>
            </a:r>
            <a:endParaRPr lang="en-US" sz="1400" dirty="0"/>
          </a:p>
        </p:txBody>
      </p:sp>
      <p:sp>
        <p:nvSpPr>
          <p:cNvPr id="33" name="Text 29"/>
          <p:cNvSpPr txBox="1"/>
          <p:nvPr/>
        </p:nvSpPr>
        <p:spPr>
          <a:xfrm>
            <a:off x="7680960" y="4892040"/>
            <a:ext cx="2514600" cy="320040"/>
          </a:xfrm>
          <a:prstGeom prst="rect">
            <a:avLst/>
          </a:prstGeom>
          <a:noFill/>
          <a:ln/>
        </p:spPr>
        <p:txBody>
          <a:bodyPr wrap="square" lIns="0" tIns="0" rIns="0" bIns="0" rtlCol="0" anchor="t"/>
          <a:lstStyle/>
          <a:p>
            <a:pPr indent="0" marL="0">
              <a:buNone/>
            </a:pPr>
            <a:r>
              <a:rPr lang="en-US" sz="1400" dirty="0">
                <a:solidFill>
                  <a:schemeClr val="tx2"/>
                </a:solidFill>
              </a:rPr>
              <a:t>… up to head H</a:t>
            </a:r>
            <a:endParaRPr lang="en-US" sz="1400" dirty="0"/>
          </a:p>
        </p:txBody>
      </p:sp>
      <p:sp>
        <p:nvSpPr>
          <p:cNvPr id="34" name="Text 30"/>
          <p:cNvSpPr txBox="1"/>
          <p:nvPr/>
        </p:nvSpPr>
        <p:spPr>
          <a:xfrm>
            <a:off x="7680960" y="5257800"/>
            <a:ext cx="3931920" cy="914400"/>
          </a:xfrm>
          <a:prstGeom prst="rect">
            <a:avLst/>
          </a:prstGeom>
          <a:noFill/>
          <a:ln/>
        </p:spPr>
        <p:txBody>
          <a:bodyPr wrap="square" lIns="0" tIns="0" rIns="0" bIns="0" rtlCol="0" anchor="t"/>
          <a:lstStyle/>
          <a:p>
            <a:pPr indent="0" marL="0">
              <a:buNone/>
            </a:pPr>
            <a:r>
              <a:rPr lang="en-US" sz="1400" dirty="0">
                <a:solidFill>
                  <a:schemeClr val="tx2"/>
                </a:solidFill>
              </a:rPr>
              <a:t>Different heads can learn different lookups, e.g. nearby tokens vs. long-range links. That flexibility has a cost at generation time.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Generation: one new query reads the whole cache</a:t>
            </a:r>
            <a:endParaRPr lang="en-US" sz="3200" dirty="0"/>
          </a:p>
        </p:txBody>
      </p:sp>
      <p:sp>
        <p:nvSpPr>
          <p:cNvPr id="4" name="Text 1"/>
          <p:cNvSpPr txBox="1"/>
          <p:nvPr/>
        </p:nvSpPr>
        <p:spPr>
          <a:xfrm>
            <a:off x="548640" y="1280160"/>
            <a:ext cx="6583680" cy="365760"/>
          </a:xfrm>
          <a:prstGeom prst="rect">
            <a:avLst/>
          </a:prstGeom>
          <a:noFill/>
          <a:ln/>
        </p:spPr>
        <p:txBody>
          <a:bodyPr wrap="square" lIns="0" tIns="0" rIns="0" bIns="0" rtlCol="0" anchor="t"/>
          <a:lstStyle/>
          <a:p>
            <a:pPr indent="0" marL="0">
              <a:buNone/>
            </a:pPr>
            <a:r>
              <a:rPr lang="en-US" sz="1600" b="1" dirty="0">
                <a:solidFill>
                  <a:schemeClr val="tx1"/>
                </a:solidFill>
              </a:rPr>
              <a:t>Prefill: the whole prompt in one pass, store its K and V</a:t>
            </a:r>
            <a:endParaRPr lang="en-US" sz="1600" dirty="0"/>
          </a:p>
        </p:txBody>
      </p:sp>
      <p:sp>
        <p:nvSpPr>
          <p:cNvPr id="5" name="Shape 2"/>
          <p:cNvSpPr/>
          <p:nvPr/>
        </p:nvSpPr>
        <p:spPr>
          <a:xfrm>
            <a:off x="548640" y="1737360"/>
            <a:ext cx="1051560" cy="457200"/>
          </a:xfrm>
          <a:prstGeom prst="roundRect">
            <a:avLst>
              <a:gd name="adj" fmla="val 16000"/>
            </a:avLst>
          </a:prstGeom>
          <a:solidFill>
            <a:schemeClr val="bg2"/>
          </a:solidFill>
          <a:ln w="12700">
            <a:solidFill>
              <a:schemeClr val="bg2"/>
            </a:solidFill>
            <a:prstDash val="solid"/>
          </a:ln>
        </p:spPr>
      </p:sp>
      <p:sp>
        <p:nvSpPr>
          <p:cNvPr id="6" name="Text 3"/>
          <p:cNvSpPr txBox="1"/>
          <p:nvPr/>
        </p:nvSpPr>
        <p:spPr>
          <a:xfrm>
            <a:off x="548640" y="1737360"/>
            <a:ext cx="10515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The</a:t>
            </a:r>
            <a:endParaRPr lang="en-US" sz="1400" dirty="0"/>
          </a:p>
        </p:txBody>
      </p:sp>
      <p:sp>
        <p:nvSpPr>
          <p:cNvPr id="7" name="Shape 4"/>
          <p:cNvSpPr/>
          <p:nvPr/>
        </p:nvSpPr>
        <p:spPr>
          <a:xfrm>
            <a:off x="1673352" y="1737360"/>
            <a:ext cx="1051560" cy="457200"/>
          </a:xfrm>
          <a:prstGeom prst="roundRect">
            <a:avLst>
              <a:gd name="adj" fmla="val 16000"/>
            </a:avLst>
          </a:prstGeom>
          <a:solidFill>
            <a:schemeClr val="bg2"/>
          </a:solidFill>
          <a:ln w="12700">
            <a:solidFill>
              <a:schemeClr val="bg2"/>
            </a:solidFill>
            <a:prstDash val="solid"/>
          </a:ln>
        </p:spPr>
      </p:sp>
      <p:sp>
        <p:nvSpPr>
          <p:cNvPr id="8" name="Text 5"/>
          <p:cNvSpPr txBox="1"/>
          <p:nvPr/>
        </p:nvSpPr>
        <p:spPr>
          <a:xfrm>
            <a:off x="1673352" y="1737360"/>
            <a:ext cx="10515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robot</a:t>
            </a:r>
            <a:endParaRPr lang="en-US" sz="1400" dirty="0"/>
          </a:p>
        </p:txBody>
      </p:sp>
      <p:sp>
        <p:nvSpPr>
          <p:cNvPr id="9" name="Shape 6"/>
          <p:cNvSpPr/>
          <p:nvPr/>
        </p:nvSpPr>
        <p:spPr>
          <a:xfrm>
            <a:off x="2798064" y="1737360"/>
            <a:ext cx="1051560" cy="457200"/>
          </a:xfrm>
          <a:prstGeom prst="roundRect">
            <a:avLst>
              <a:gd name="adj" fmla="val 16000"/>
            </a:avLst>
          </a:prstGeom>
          <a:solidFill>
            <a:schemeClr val="bg2"/>
          </a:solidFill>
          <a:ln w="12700">
            <a:solidFill>
              <a:schemeClr val="bg2"/>
            </a:solidFill>
            <a:prstDash val="solid"/>
          </a:ln>
        </p:spPr>
      </p:sp>
      <p:sp>
        <p:nvSpPr>
          <p:cNvPr id="10" name="Text 7"/>
          <p:cNvSpPr txBox="1"/>
          <p:nvPr/>
        </p:nvSpPr>
        <p:spPr>
          <a:xfrm>
            <a:off x="2798064" y="1737360"/>
            <a:ext cx="10515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opened</a:t>
            </a:r>
            <a:endParaRPr lang="en-US" sz="1400" dirty="0"/>
          </a:p>
        </p:txBody>
      </p:sp>
      <p:sp>
        <p:nvSpPr>
          <p:cNvPr id="11" name="Shape 8"/>
          <p:cNvSpPr/>
          <p:nvPr/>
        </p:nvSpPr>
        <p:spPr>
          <a:xfrm>
            <a:off x="3922776" y="1737360"/>
            <a:ext cx="1051560" cy="457200"/>
          </a:xfrm>
          <a:prstGeom prst="roundRect">
            <a:avLst>
              <a:gd name="adj" fmla="val 16000"/>
            </a:avLst>
          </a:prstGeom>
          <a:solidFill>
            <a:schemeClr val="bg2"/>
          </a:solidFill>
          <a:ln w="12700">
            <a:solidFill>
              <a:schemeClr val="bg2"/>
            </a:solidFill>
            <a:prstDash val="solid"/>
          </a:ln>
        </p:spPr>
      </p:sp>
      <p:sp>
        <p:nvSpPr>
          <p:cNvPr id="12" name="Text 9"/>
          <p:cNvSpPr txBox="1"/>
          <p:nvPr/>
        </p:nvSpPr>
        <p:spPr>
          <a:xfrm>
            <a:off x="3922776" y="1737360"/>
            <a:ext cx="10515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the</a:t>
            </a:r>
            <a:endParaRPr lang="en-US" sz="1400" dirty="0"/>
          </a:p>
        </p:txBody>
      </p:sp>
      <p:sp>
        <p:nvSpPr>
          <p:cNvPr id="13" name="Text 10"/>
          <p:cNvSpPr txBox="1"/>
          <p:nvPr/>
        </p:nvSpPr>
        <p:spPr>
          <a:xfrm>
            <a:off x="548640" y="2514600"/>
            <a:ext cx="6583680" cy="365760"/>
          </a:xfrm>
          <a:prstGeom prst="rect">
            <a:avLst/>
          </a:prstGeom>
          <a:noFill/>
          <a:ln/>
        </p:spPr>
        <p:txBody>
          <a:bodyPr wrap="square" lIns="0" tIns="0" rIns="0" bIns="0" rtlCol="0" anchor="t"/>
          <a:lstStyle/>
          <a:p>
            <a:pPr indent="0" marL="0">
              <a:buNone/>
            </a:pPr>
            <a:r>
              <a:rPr lang="en-US" sz="1600" b="1" dirty="0">
                <a:solidFill>
                  <a:schemeClr val="tx1"/>
                </a:solidFill>
              </a:rPr>
              <a:t>Decode: one token per step, attending to everything cached</a:t>
            </a:r>
            <a:endParaRPr lang="en-US" sz="1600" dirty="0"/>
          </a:p>
        </p:txBody>
      </p:sp>
      <p:sp>
        <p:nvSpPr>
          <p:cNvPr id="14" name="Shape 11"/>
          <p:cNvSpPr/>
          <p:nvPr/>
        </p:nvSpPr>
        <p:spPr>
          <a:xfrm>
            <a:off x="548640" y="3017520"/>
            <a:ext cx="896112" cy="457200"/>
          </a:xfrm>
          <a:prstGeom prst="roundRect">
            <a:avLst>
              <a:gd name="adj" fmla="val 16000"/>
            </a:avLst>
          </a:prstGeom>
          <a:solidFill>
            <a:schemeClr val="bg2"/>
          </a:solidFill>
          <a:ln w="12700">
            <a:solidFill>
              <a:schemeClr val="bg2"/>
            </a:solidFill>
            <a:prstDash val="solid"/>
          </a:ln>
        </p:spPr>
      </p:sp>
      <p:sp>
        <p:nvSpPr>
          <p:cNvPr id="15" name="Text 12"/>
          <p:cNvSpPr txBox="1"/>
          <p:nvPr/>
        </p:nvSpPr>
        <p:spPr>
          <a:xfrm>
            <a:off x="548640"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16" name="Shape 13"/>
          <p:cNvSpPr/>
          <p:nvPr/>
        </p:nvSpPr>
        <p:spPr>
          <a:xfrm>
            <a:off x="1499616" y="3017520"/>
            <a:ext cx="896112" cy="457200"/>
          </a:xfrm>
          <a:prstGeom prst="roundRect">
            <a:avLst>
              <a:gd name="adj" fmla="val 16000"/>
            </a:avLst>
          </a:prstGeom>
          <a:solidFill>
            <a:schemeClr val="bg2"/>
          </a:solidFill>
          <a:ln w="12700">
            <a:solidFill>
              <a:schemeClr val="bg2"/>
            </a:solidFill>
            <a:prstDash val="solid"/>
          </a:ln>
        </p:spPr>
      </p:sp>
      <p:sp>
        <p:nvSpPr>
          <p:cNvPr id="17" name="Text 14"/>
          <p:cNvSpPr txBox="1"/>
          <p:nvPr/>
        </p:nvSpPr>
        <p:spPr>
          <a:xfrm>
            <a:off x="1499616"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18" name="Shape 15"/>
          <p:cNvSpPr/>
          <p:nvPr/>
        </p:nvSpPr>
        <p:spPr>
          <a:xfrm>
            <a:off x="2450592" y="3017520"/>
            <a:ext cx="896112" cy="457200"/>
          </a:xfrm>
          <a:prstGeom prst="roundRect">
            <a:avLst>
              <a:gd name="adj" fmla="val 16000"/>
            </a:avLst>
          </a:prstGeom>
          <a:solidFill>
            <a:schemeClr val="bg2"/>
          </a:solidFill>
          <a:ln w="12700">
            <a:solidFill>
              <a:schemeClr val="bg2"/>
            </a:solidFill>
            <a:prstDash val="solid"/>
          </a:ln>
        </p:spPr>
      </p:sp>
      <p:sp>
        <p:nvSpPr>
          <p:cNvPr id="19" name="Text 16"/>
          <p:cNvSpPr txBox="1"/>
          <p:nvPr/>
        </p:nvSpPr>
        <p:spPr>
          <a:xfrm>
            <a:off x="2450592"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20" name="Shape 17"/>
          <p:cNvSpPr/>
          <p:nvPr/>
        </p:nvSpPr>
        <p:spPr>
          <a:xfrm>
            <a:off x="3401568" y="3017520"/>
            <a:ext cx="896112" cy="457200"/>
          </a:xfrm>
          <a:prstGeom prst="roundRect">
            <a:avLst>
              <a:gd name="adj" fmla="val 16000"/>
            </a:avLst>
          </a:prstGeom>
          <a:solidFill>
            <a:schemeClr val="bg2"/>
          </a:solidFill>
          <a:ln w="12700">
            <a:solidFill>
              <a:schemeClr val="bg2"/>
            </a:solidFill>
            <a:prstDash val="solid"/>
          </a:ln>
        </p:spPr>
      </p:sp>
      <p:sp>
        <p:nvSpPr>
          <p:cNvPr id="21" name="Text 18"/>
          <p:cNvSpPr txBox="1"/>
          <p:nvPr/>
        </p:nvSpPr>
        <p:spPr>
          <a:xfrm>
            <a:off x="3401568"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2" name="Shape 19"/>
          <p:cNvSpPr/>
          <p:nvPr/>
        </p:nvSpPr>
        <p:spPr>
          <a:xfrm>
            <a:off x="4352544" y="3017520"/>
            <a:ext cx="896112" cy="457200"/>
          </a:xfrm>
          <a:prstGeom prst="roundRect">
            <a:avLst>
              <a:gd name="adj" fmla="val 16000"/>
            </a:avLst>
          </a:prstGeom>
          <a:solidFill>
            <a:schemeClr val="accent1"/>
          </a:solidFill>
          <a:ln w="12700">
            <a:solidFill>
              <a:schemeClr val="accent1"/>
            </a:solidFill>
            <a:prstDash val="solid"/>
          </a:ln>
        </p:spPr>
      </p:sp>
      <p:sp>
        <p:nvSpPr>
          <p:cNvPr id="23" name="Text 20"/>
          <p:cNvSpPr txBox="1"/>
          <p:nvPr/>
        </p:nvSpPr>
        <p:spPr>
          <a:xfrm>
            <a:off x="4352544" y="3017520"/>
            <a:ext cx="896112"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door</a:t>
            </a:r>
            <a:endParaRPr lang="en-US" sz="1300" dirty="0"/>
          </a:p>
        </p:txBody>
      </p:sp>
      <p:sp>
        <p:nvSpPr>
          <p:cNvPr id="24" name="Text 21"/>
          <p:cNvSpPr txBox="1"/>
          <p:nvPr/>
        </p:nvSpPr>
        <p:spPr>
          <a:xfrm>
            <a:off x="6400800" y="3017520"/>
            <a:ext cx="1371600" cy="457200"/>
          </a:xfrm>
          <a:prstGeom prst="rect">
            <a:avLst/>
          </a:prstGeom>
          <a:noFill/>
          <a:ln/>
        </p:spPr>
        <p:txBody>
          <a:bodyPr wrap="square" lIns="0" tIns="0" rIns="0" bIns="0" rtlCol="0" anchor="ctr"/>
          <a:lstStyle/>
          <a:p>
            <a:pPr indent="0" marL="0">
              <a:buNone/>
            </a:pPr>
            <a:r>
              <a:rPr lang="en-US" sz="1200" dirty="0">
                <a:solidFill>
                  <a:schemeClr val="tx2"/>
                </a:solidFill>
              </a:rPr>
              <a:t>step 1: 5 keys</a:t>
            </a:r>
            <a:endParaRPr lang="en-US" sz="1200" dirty="0"/>
          </a:p>
        </p:txBody>
      </p:sp>
      <p:sp>
        <p:nvSpPr>
          <p:cNvPr id="25" name="Shape 22"/>
          <p:cNvSpPr/>
          <p:nvPr/>
        </p:nvSpPr>
        <p:spPr>
          <a:xfrm>
            <a:off x="548640" y="3749040"/>
            <a:ext cx="896112" cy="457200"/>
          </a:xfrm>
          <a:prstGeom prst="roundRect">
            <a:avLst>
              <a:gd name="adj" fmla="val 16000"/>
            </a:avLst>
          </a:prstGeom>
          <a:solidFill>
            <a:schemeClr val="bg2"/>
          </a:solidFill>
          <a:ln w="12700">
            <a:solidFill>
              <a:schemeClr val="bg2"/>
            </a:solidFill>
            <a:prstDash val="solid"/>
          </a:ln>
        </p:spPr>
      </p:sp>
      <p:sp>
        <p:nvSpPr>
          <p:cNvPr id="26" name="Text 23"/>
          <p:cNvSpPr txBox="1"/>
          <p:nvPr/>
        </p:nvSpPr>
        <p:spPr>
          <a:xfrm>
            <a:off x="548640"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7" name="Shape 24"/>
          <p:cNvSpPr/>
          <p:nvPr/>
        </p:nvSpPr>
        <p:spPr>
          <a:xfrm>
            <a:off x="1499616" y="3749040"/>
            <a:ext cx="896112" cy="457200"/>
          </a:xfrm>
          <a:prstGeom prst="roundRect">
            <a:avLst>
              <a:gd name="adj" fmla="val 16000"/>
            </a:avLst>
          </a:prstGeom>
          <a:solidFill>
            <a:schemeClr val="bg2"/>
          </a:solidFill>
          <a:ln w="12700">
            <a:solidFill>
              <a:schemeClr val="bg2"/>
            </a:solidFill>
            <a:prstDash val="solid"/>
          </a:ln>
        </p:spPr>
      </p:sp>
      <p:sp>
        <p:nvSpPr>
          <p:cNvPr id="28" name="Text 25"/>
          <p:cNvSpPr txBox="1"/>
          <p:nvPr/>
        </p:nvSpPr>
        <p:spPr>
          <a:xfrm>
            <a:off x="1499616"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29" name="Shape 26"/>
          <p:cNvSpPr/>
          <p:nvPr/>
        </p:nvSpPr>
        <p:spPr>
          <a:xfrm>
            <a:off x="2450592" y="3749040"/>
            <a:ext cx="896112" cy="457200"/>
          </a:xfrm>
          <a:prstGeom prst="roundRect">
            <a:avLst>
              <a:gd name="adj" fmla="val 16000"/>
            </a:avLst>
          </a:prstGeom>
          <a:solidFill>
            <a:schemeClr val="bg2"/>
          </a:solidFill>
          <a:ln w="12700">
            <a:solidFill>
              <a:schemeClr val="bg2"/>
            </a:solidFill>
            <a:prstDash val="solid"/>
          </a:ln>
        </p:spPr>
      </p:sp>
      <p:sp>
        <p:nvSpPr>
          <p:cNvPr id="30" name="Text 27"/>
          <p:cNvSpPr txBox="1"/>
          <p:nvPr/>
        </p:nvSpPr>
        <p:spPr>
          <a:xfrm>
            <a:off x="2450592"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31" name="Shape 28"/>
          <p:cNvSpPr/>
          <p:nvPr/>
        </p:nvSpPr>
        <p:spPr>
          <a:xfrm>
            <a:off x="3401568" y="3749040"/>
            <a:ext cx="896112" cy="457200"/>
          </a:xfrm>
          <a:prstGeom prst="roundRect">
            <a:avLst>
              <a:gd name="adj" fmla="val 16000"/>
            </a:avLst>
          </a:prstGeom>
          <a:solidFill>
            <a:schemeClr val="bg2"/>
          </a:solidFill>
          <a:ln w="12700">
            <a:solidFill>
              <a:schemeClr val="bg2"/>
            </a:solidFill>
            <a:prstDash val="solid"/>
          </a:ln>
        </p:spPr>
      </p:sp>
      <p:sp>
        <p:nvSpPr>
          <p:cNvPr id="32" name="Text 29"/>
          <p:cNvSpPr txBox="1"/>
          <p:nvPr/>
        </p:nvSpPr>
        <p:spPr>
          <a:xfrm>
            <a:off x="3401568"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33" name="Shape 30"/>
          <p:cNvSpPr/>
          <p:nvPr/>
        </p:nvSpPr>
        <p:spPr>
          <a:xfrm>
            <a:off x="4352544" y="3749040"/>
            <a:ext cx="896112" cy="457200"/>
          </a:xfrm>
          <a:prstGeom prst="roundRect">
            <a:avLst>
              <a:gd name="adj" fmla="val 16000"/>
            </a:avLst>
          </a:prstGeom>
          <a:solidFill>
            <a:schemeClr val="bg2"/>
          </a:solidFill>
          <a:ln w="12700">
            <a:solidFill>
              <a:schemeClr val="bg2"/>
            </a:solidFill>
            <a:prstDash val="solid"/>
          </a:ln>
        </p:spPr>
      </p:sp>
      <p:sp>
        <p:nvSpPr>
          <p:cNvPr id="34" name="Text 31"/>
          <p:cNvSpPr txBox="1"/>
          <p:nvPr/>
        </p:nvSpPr>
        <p:spPr>
          <a:xfrm>
            <a:off x="4352544"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door</a:t>
            </a:r>
            <a:endParaRPr lang="en-US" sz="1300" dirty="0"/>
          </a:p>
        </p:txBody>
      </p:sp>
      <p:sp>
        <p:nvSpPr>
          <p:cNvPr id="35" name="Shape 32"/>
          <p:cNvSpPr/>
          <p:nvPr/>
        </p:nvSpPr>
        <p:spPr>
          <a:xfrm>
            <a:off x="5303520" y="3749040"/>
            <a:ext cx="896112" cy="457200"/>
          </a:xfrm>
          <a:prstGeom prst="roundRect">
            <a:avLst>
              <a:gd name="adj" fmla="val 16000"/>
            </a:avLst>
          </a:prstGeom>
          <a:solidFill>
            <a:schemeClr val="accent1"/>
          </a:solidFill>
          <a:ln w="12700">
            <a:solidFill>
              <a:schemeClr val="accent1"/>
            </a:solidFill>
            <a:prstDash val="solid"/>
          </a:ln>
        </p:spPr>
      </p:sp>
      <p:sp>
        <p:nvSpPr>
          <p:cNvPr id="36" name="Text 33"/>
          <p:cNvSpPr txBox="1"/>
          <p:nvPr/>
        </p:nvSpPr>
        <p:spPr>
          <a:xfrm>
            <a:off x="5303520" y="3749040"/>
            <a:ext cx="896112"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and</a:t>
            </a:r>
            <a:endParaRPr lang="en-US" sz="1300" dirty="0"/>
          </a:p>
        </p:txBody>
      </p:sp>
      <p:sp>
        <p:nvSpPr>
          <p:cNvPr id="37" name="Text 34"/>
          <p:cNvSpPr txBox="1"/>
          <p:nvPr/>
        </p:nvSpPr>
        <p:spPr>
          <a:xfrm>
            <a:off x="6400800" y="3749040"/>
            <a:ext cx="1371600" cy="457200"/>
          </a:xfrm>
          <a:prstGeom prst="rect">
            <a:avLst/>
          </a:prstGeom>
          <a:noFill/>
          <a:ln/>
        </p:spPr>
        <p:txBody>
          <a:bodyPr wrap="square" lIns="0" tIns="0" rIns="0" bIns="0" rtlCol="0" anchor="ctr"/>
          <a:lstStyle/>
          <a:p>
            <a:pPr indent="0" marL="0">
              <a:buNone/>
            </a:pPr>
            <a:r>
              <a:rPr lang="en-US" sz="1200" dirty="0">
                <a:solidFill>
                  <a:schemeClr val="tx2"/>
                </a:solidFill>
              </a:rPr>
              <a:t>step 2: 6 keys</a:t>
            </a:r>
            <a:endParaRPr lang="en-US" sz="1200" dirty="0"/>
          </a:p>
        </p:txBody>
      </p:sp>
      <p:sp>
        <p:nvSpPr>
          <p:cNvPr id="38" name="Text 35"/>
          <p:cNvSpPr txBox="1"/>
          <p:nvPr/>
        </p:nvSpPr>
        <p:spPr>
          <a:xfrm>
            <a:off x="548640" y="4526280"/>
            <a:ext cx="6949440" cy="457200"/>
          </a:xfrm>
          <a:prstGeom prst="rect">
            <a:avLst/>
          </a:prstGeom>
          <a:noFill/>
          <a:ln/>
        </p:spPr>
        <p:txBody>
          <a:bodyPr wrap="square" lIns="0" tIns="0" rIns="0" bIns="0" rtlCol="0" anchor="t"/>
          <a:lstStyle/>
          <a:p>
            <a:pPr indent="0" marL="0">
              <a:buNone/>
            </a:pPr>
            <a:r>
              <a:rPr lang="en-US" sz="1300" dirty="0">
                <a:solidFill>
                  <a:schemeClr val="tx2"/>
                </a:solidFill>
              </a:rPr>
              <a:t>Grey: K and V read from the cache. Teal: the new token, the only one whose Q, K, V are computed.</a:t>
            </a:r>
            <a:endParaRPr lang="en-US" sz="1300" dirty="0"/>
          </a:p>
        </p:txBody>
      </p:sp>
      <p:sp>
        <p:nvSpPr>
          <p:cNvPr id="39" name="cache shape"/>
          <p:cNvSpPr/>
          <p:nvPr/>
        </p:nvSpPr>
        <p:spPr>
          <a:xfrm>
            <a:off x="548640" y="5120640"/>
            <a:ext cx="6949440" cy="1051560"/>
          </a:xfrm>
          <a:prstGeom prst="roundRect">
            <a:avLst>
              <a:gd name="adj" fmla="val 10435"/>
            </a:avLst>
          </a:prstGeom>
          <a:solidFill>
            <a:schemeClr val="bg2"/>
          </a:solidFill>
          <a:ln w="12700">
            <a:solidFill>
              <a:schemeClr val="bg2"/>
            </a:solidFill>
            <a:prstDash val="solid"/>
          </a:ln>
        </p:spPr>
      </p:sp>
      <p:sp>
        <p:nvSpPr>
          <p:cNvPr id="40" name="Text 37"/>
          <p:cNvSpPr txBox="1"/>
          <p:nvPr/>
        </p:nvSpPr>
        <p:spPr>
          <a:xfrm>
            <a:off x="822960" y="5120640"/>
            <a:ext cx="6492240" cy="1051560"/>
          </a:xfrm>
          <a:prstGeom prst="rect">
            <a:avLst/>
          </a:prstGeom>
          <a:noFill/>
          <a:ln/>
        </p:spPr>
        <p:txBody>
          <a:bodyPr wrap="square" lIns="0" tIns="0" rIns="0" bIns="0" rtlCol="0" anchor="ctr"/>
          <a:lstStyle/>
          <a:p>
            <a:pPr indent="0" marL="0">
              <a:buNone/>
            </a:pPr>
            <a:r>
              <a:rPr lang="en-US" sz="1600" b="1" dirty="0">
                <a:solidFill>
                  <a:schemeClr val="tx1"/>
                </a:solidFill>
              </a:rPr>
              <a:t>MHA cache, per layer:</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cached_K, cached_V: (B, </a:t>
            </a:r>
            <a:r>
              <a:rPr lang="en-US" sz="1600" b="1" dirty="0">
                <a:solidFill>
                  <a:schemeClr val="accent4"/>
                </a:solidFill>
                <a:latin typeface="Courier New" pitchFamily="34" charset="0"/>
                <a:ea typeface="Courier New" pitchFamily="34" charset="-122"/>
                <a:cs typeface="Courier New" pitchFamily="34" charset="-120"/>
              </a:rPr>
              <a:t>H</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T_past</a:t>
            </a:r>
            <a:r>
              <a:rPr lang="en-US" sz="1600" dirty="0">
                <a:solidFill>
                  <a:schemeClr val="tx1"/>
                </a:solidFill>
                <a:latin typeface="Courier New" pitchFamily="34" charset="0"/>
                <a:ea typeface="Courier New" pitchFamily="34" charset="-122"/>
                <a:cs typeface="Courier New" pitchFamily="34" charset="-120"/>
              </a:rPr>
              <a:t>, head_dim)</a:t>
            </a:r>
            <a:endParaRPr lang="en-US" sz="1600" dirty="0"/>
          </a:p>
        </p:txBody>
      </p:sp>
      <p:sp>
        <p:nvSpPr>
          <p:cNvPr id="41" name="what is read"/>
          <p:cNvSpPr/>
          <p:nvPr/>
        </p:nvSpPr>
        <p:spPr>
          <a:xfrm>
            <a:off x="7863840" y="1280160"/>
            <a:ext cx="3749040" cy="4892040"/>
          </a:xfrm>
          <a:prstGeom prst="roundRect">
            <a:avLst>
              <a:gd name="adj" fmla="val 2927"/>
            </a:avLst>
          </a:prstGeom>
          <a:solidFill>
            <a:schemeClr val="accent5"/>
          </a:solidFill>
          <a:ln w="12700">
            <a:solidFill>
              <a:schemeClr val="accent5"/>
            </a:solidFill>
            <a:prstDash val="solid"/>
          </a:ln>
        </p:spPr>
      </p:sp>
      <p:sp>
        <p:nvSpPr>
          <p:cNvPr id="42" name="Text 39"/>
          <p:cNvSpPr txBox="1"/>
          <p:nvPr/>
        </p:nvSpPr>
        <p:spPr>
          <a:xfrm>
            <a:off x="8138160" y="1463040"/>
            <a:ext cx="3291840" cy="411480"/>
          </a:xfrm>
          <a:prstGeom prst="rect">
            <a:avLst/>
          </a:prstGeom>
          <a:noFill/>
          <a:ln/>
        </p:spPr>
        <p:txBody>
          <a:bodyPr wrap="square" lIns="0" tIns="0" rIns="0" bIns="0" rtlCol="0" anchor="t"/>
          <a:lstStyle/>
          <a:p>
            <a:pPr indent="0" marL="0">
              <a:buNone/>
            </a:pPr>
            <a:r>
              <a:rPr lang="en-US" sz="1800" b="1" dirty="0">
                <a:solidFill>
                  <a:schemeClr val="tx1"/>
                </a:solidFill>
              </a:rPr>
              <a:t>At every decoding step</a:t>
            </a:r>
            <a:endParaRPr lang="en-US" sz="1800" dirty="0"/>
          </a:p>
        </p:txBody>
      </p:sp>
      <p:sp>
        <p:nvSpPr>
          <p:cNvPr id="43" name="Text 40"/>
          <p:cNvSpPr txBox="1"/>
          <p:nvPr/>
        </p:nvSpPr>
        <p:spPr>
          <a:xfrm>
            <a:off x="8138160" y="1965960"/>
            <a:ext cx="329184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query length </a:t>
            </a:r>
            <a:r>
              <a:rPr lang="en-US" sz="1500" dirty="0">
                <a:solidFill>
                  <a:schemeClr val="tx1"/>
                </a:solidFill>
                <a:latin typeface="Courier New" pitchFamily="34" charset="0"/>
                <a:ea typeface="Courier New" pitchFamily="34" charset="-122"/>
                <a:cs typeface="Courier New" pitchFamily="34" charset="-120"/>
              </a:rPr>
              <a:t>Tq = 1</a:t>
            </a:r>
            <a:endParaRPr lang="en-US" sz="1500" dirty="0"/>
          </a:p>
          <a:p>
            <a:pPr marL="228600" indent="-228600">
              <a:spcAft>
                <a:spcPts val="800"/>
              </a:spcAft>
              <a:buSzPct val="100000"/>
              <a:buChar char="•"/>
            </a:pPr>
            <a:r>
              <a:rPr lang="en-US" sz="1500" dirty="0">
                <a:solidFill>
                  <a:schemeClr val="tx1"/>
                </a:solidFill>
              </a:rPr>
              <a:t>keys read: all </a:t>
            </a:r>
            <a:r>
              <a:rPr lang="en-US" sz="1500" dirty="0">
                <a:solidFill>
                  <a:schemeClr val="tx1"/>
                </a:solidFill>
                <a:latin typeface="Courier New" pitchFamily="34" charset="0"/>
                <a:ea typeface="Courier New" pitchFamily="34" charset="-122"/>
                <a:cs typeface="Courier New" pitchFamily="34" charset="-120"/>
              </a:rPr>
              <a:t>T_past</a:t>
            </a:r>
            <a:r>
              <a:rPr lang="en-US" sz="1500" dirty="0">
                <a:solidFill>
                  <a:schemeClr val="tx1"/>
                </a:solidFill>
              </a:rPr>
              <a:t> earlier tokens</a:t>
            </a:r>
            <a:endParaRPr lang="en-US" sz="1500" dirty="0"/>
          </a:p>
          <a:p>
            <a:pPr marL="228600" indent="-228600">
              <a:spcAft>
                <a:spcPts val="800"/>
              </a:spcAft>
              <a:buSzPct val="100000"/>
              <a:buChar char="•"/>
            </a:pPr>
            <a:r>
              <a:rPr lang="en-US" sz="1500" dirty="0">
                <a:solidFill>
                  <a:schemeClr val="tx1"/>
                </a:solidFill>
              </a:rPr>
              <a:t>in </a:t>
            </a:r>
            <a:r>
              <a:rPr lang="en-US" sz="1500" b="1" dirty="0">
                <a:solidFill>
                  <a:schemeClr val="tx1"/>
                </a:solidFill>
              </a:rPr>
              <a:t>every</a:t>
            </a:r>
            <a:r>
              <a:rPr lang="en-US" sz="1500" dirty="0">
                <a:solidFill>
                  <a:schemeClr val="tx1"/>
                </a:solidFill>
              </a:rPr>
              <a:t> layer and </a:t>
            </a:r>
            <a:r>
              <a:rPr lang="en-US" sz="1500" b="1" dirty="0">
                <a:solidFill>
                  <a:schemeClr val="tx1"/>
                </a:solidFill>
              </a:rPr>
              <a:t>every</a:t>
            </a:r>
            <a:r>
              <a:rPr lang="en-US" sz="1500" dirty="0">
                <a:solidFill>
                  <a:schemeClr val="tx1"/>
                </a:solidFill>
              </a:rPr>
              <a:t> head</a:t>
            </a:r>
            <a:endParaRPr lang="en-US" sz="1500" dirty="0"/>
          </a:p>
          <a:p>
            <a:pPr marL="228600" indent="-228600">
              <a:spcAft>
                <a:spcPts val="800"/>
              </a:spcAft>
              <a:buSzPct val="100000"/>
              <a:buChar char="•"/>
            </a:pPr>
            <a:r>
              <a:rPr lang="en-US" sz="1500" dirty="0">
                <a:solidFill>
                  <a:schemeClr val="tx1"/>
                </a:solidFill>
              </a:rPr>
              <a:t>nothing is recomputed, but everything is </a:t>
            </a:r>
            <a:r>
              <a:rPr lang="en-US" sz="1500" b="1" dirty="0">
                <a:solidFill>
                  <a:schemeClr val="tx1"/>
                </a:solidFill>
              </a:rPr>
              <a:t>read from memory</a:t>
            </a:r>
            <a:endParaRPr lang="en-US" sz="1500" dirty="0"/>
          </a:p>
        </p:txBody>
      </p:sp>
      <p:sp>
        <p:nvSpPr>
          <p:cNvPr id="44" name="Text 41"/>
          <p:cNvSpPr txBox="1"/>
          <p:nvPr/>
        </p:nvSpPr>
        <p:spPr>
          <a:xfrm>
            <a:off x="8138160" y="4480560"/>
            <a:ext cx="3291840" cy="1554480"/>
          </a:xfrm>
          <a:prstGeom prst="rect">
            <a:avLst/>
          </a:prstGeom>
          <a:noFill/>
          <a:ln/>
        </p:spPr>
        <p:txBody>
          <a:bodyPr wrap="square" lIns="0" tIns="0" rIns="0" bIns="0" rtlCol="0" anchor="t"/>
          <a:lstStyle/>
          <a:p>
            <a:pPr indent="0" marL="0">
              <a:buNone/>
            </a:pPr>
            <a:r>
              <a:rPr lang="en-US" sz="1500" b="1" dirty="0">
                <a:solidFill>
                  <a:schemeClr val="accent1"/>
                </a:solidFill>
              </a:rPr>
              <a:t>Two ways to read less: </a:t>
            </a:r>
            <a:endParaRPr lang="en-US" sz="1500" dirty="0"/>
          </a:p>
          <a:p>
            <a:pPr indent="0" marL="0">
              <a:buNone/>
            </a:pPr>
            <a:r>
              <a:rPr lang="en-US" sz="1500" dirty="0">
                <a:solidFill>
                  <a:schemeClr val="tx1"/>
                </a:solidFill>
              </a:rPr>
              <a:t>fewer </a:t>
            </a:r>
            <a:r>
              <a:rPr lang="en-US" sz="1500" b="1" dirty="0">
                <a:solidFill>
                  <a:schemeClr val="accent4"/>
                </a:solidFill>
              </a:rPr>
              <a:t>heads</a:t>
            </a:r>
            <a:r>
              <a:rPr lang="en-US" sz="1500" dirty="0">
                <a:solidFill>
                  <a:schemeClr val="tx1"/>
                </a:solidFill>
              </a:rPr>
              <a:t> in the cache (this lecture), or fewer </a:t>
            </a:r>
            <a:r>
              <a:rPr lang="en-US" sz="1500" b="1" dirty="0">
                <a:solidFill>
                  <a:schemeClr val="accent1"/>
                </a:solidFill>
              </a:rPr>
              <a:t>positions</a:t>
            </a:r>
            <a:r>
              <a:rPr lang="en-US" sz="1500" dirty="0">
                <a:solidFill>
                  <a:schemeClr val="tx1"/>
                </a:solidFill>
              </a:rPr>
              <a:t> (sliding windows, optional).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Counting one head's arithmetic</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4</a:t>
            </a:r>
            <a:endParaRPr lang="en-US" sz="1400" dirty="0"/>
          </a:p>
        </p:txBody>
      </p:sp>
      <p:sp>
        <p:nvSpPr>
          <p:cNvPr id="6" name="Text 3"/>
          <p:cNvSpPr txBox="1"/>
          <p:nvPr/>
        </p:nvSpPr>
        <p:spPr>
          <a:xfrm>
            <a:off x="548640" y="1234440"/>
            <a:ext cx="5394960" cy="365760"/>
          </a:xfrm>
          <a:prstGeom prst="rect">
            <a:avLst/>
          </a:prstGeom>
          <a:noFill/>
          <a:ln/>
        </p:spPr>
        <p:txBody>
          <a:bodyPr wrap="square" lIns="0" tIns="0" rIns="0" bIns="0" rtlCol="0" anchor="t"/>
          <a:lstStyle/>
          <a:p>
            <a:pPr indent="0" marL="0">
              <a:buNone/>
            </a:pPr>
            <a:r>
              <a:rPr lang="en-US" sz="1700" b="1" dirty="0">
                <a:solidFill>
                  <a:schemeClr val="tx1"/>
                </a:solidFill>
              </a:rPr>
              <a:t>Step 1: scores = q · K</a:t>
            </a:r>
            <a:r>
              <a:rPr lang="en-US" sz="1700" b="1" baseline="30000" dirty="0">
                <a:solidFill>
                  <a:schemeClr val="tx1"/>
                </a:solidFill>
              </a:rPr>
              <a:t>T</a:t>
            </a:r>
            <a:endParaRPr lang="en-US" sz="1700" dirty="0"/>
          </a:p>
        </p:txBody>
      </p:sp>
      <p:sp>
        <p:nvSpPr>
          <p:cNvPr id="7" name="Shape 4"/>
          <p:cNvSpPr/>
          <p:nvPr/>
        </p:nvSpPr>
        <p:spPr>
          <a:xfrm>
            <a:off x="548640" y="4206240"/>
            <a:ext cx="365760" cy="365760"/>
          </a:xfrm>
          <a:prstGeom prst="rect">
            <a:avLst/>
          </a:prstGeom>
          <a:solidFill>
            <a:schemeClr val="accent1"/>
          </a:solidFill>
          <a:ln w="9525">
            <a:solidFill>
              <a:srgbClr val="8A93A6"/>
            </a:solidFill>
            <a:prstDash val="solid"/>
          </a:ln>
        </p:spPr>
      </p:sp>
      <p:sp>
        <p:nvSpPr>
          <p:cNvPr id="8" name="Shape 5"/>
          <p:cNvSpPr/>
          <p:nvPr/>
        </p:nvSpPr>
        <p:spPr>
          <a:xfrm>
            <a:off x="914400" y="4206240"/>
            <a:ext cx="365760" cy="365760"/>
          </a:xfrm>
          <a:prstGeom prst="rect">
            <a:avLst/>
          </a:prstGeom>
          <a:solidFill>
            <a:schemeClr val="accent1"/>
          </a:solidFill>
          <a:ln w="9525">
            <a:solidFill>
              <a:srgbClr val="8A93A6"/>
            </a:solidFill>
            <a:prstDash val="solid"/>
          </a:ln>
        </p:spPr>
      </p:sp>
      <p:sp>
        <p:nvSpPr>
          <p:cNvPr id="9" name="Shape 6"/>
          <p:cNvSpPr/>
          <p:nvPr/>
        </p:nvSpPr>
        <p:spPr>
          <a:xfrm>
            <a:off x="1280160" y="4206240"/>
            <a:ext cx="365760" cy="365760"/>
          </a:xfrm>
          <a:prstGeom prst="rect">
            <a:avLst/>
          </a:prstGeom>
          <a:solidFill>
            <a:schemeClr val="accent1"/>
          </a:solidFill>
          <a:ln w="9525">
            <a:solidFill>
              <a:srgbClr val="8A93A6"/>
            </a:solidFill>
            <a:prstDash val="solid"/>
          </a:ln>
        </p:spPr>
      </p:sp>
      <p:sp>
        <p:nvSpPr>
          <p:cNvPr id="10" name="Shape 7"/>
          <p:cNvSpPr/>
          <p:nvPr/>
        </p:nvSpPr>
        <p:spPr>
          <a:xfrm>
            <a:off x="1645920" y="4206240"/>
            <a:ext cx="365760" cy="365760"/>
          </a:xfrm>
          <a:prstGeom prst="rect">
            <a:avLst/>
          </a:prstGeom>
          <a:solidFill>
            <a:schemeClr val="accent1"/>
          </a:solidFill>
          <a:ln w="9525">
            <a:solidFill>
              <a:srgbClr val="8A93A6"/>
            </a:solidFill>
            <a:prstDash val="solid"/>
          </a:ln>
        </p:spPr>
      </p:sp>
      <p:sp>
        <p:nvSpPr>
          <p:cNvPr id="11" name="Text 8"/>
          <p:cNvSpPr txBox="1"/>
          <p:nvPr/>
        </p:nvSpPr>
        <p:spPr>
          <a:xfrm>
            <a:off x="548640" y="4617720"/>
            <a:ext cx="1463040" cy="274320"/>
          </a:xfrm>
          <a:prstGeom prst="rect">
            <a:avLst/>
          </a:prstGeom>
          <a:noFill/>
          <a:ln/>
        </p:spPr>
        <p:txBody>
          <a:bodyPr wrap="square" lIns="0" tIns="0" rIns="0" bIns="0" rtlCol="0" anchor="t"/>
          <a:lstStyle/>
          <a:p>
            <a:pPr algn="ctr" indent="0" marL="0">
              <a:buNone/>
            </a:pPr>
            <a:r>
              <a:rPr lang="en-US" sz="1200" dirty="0">
                <a:solidFill>
                  <a:schemeClr val="tx2"/>
                </a:solidFill>
              </a:rPr>
              <a:t>q  (1 × d)</a:t>
            </a:r>
            <a:endParaRPr lang="en-US" sz="1200" dirty="0"/>
          </a:p>
        </p:txBody>
      </p:sp>
      <p:sp>
        <p:nvSpPr>
          <p:cNvPr id="12" name="Shape 9"/>
          <p:cNvSpPr/>
          <p:nvPr/>
        </p:nvSpPr>
        <p:spPr>
          <a:xfrm>
            <a:off x="2331720" y="2651760"/>
            <a:ext cx="365760" cy="365760"/>
          </a:xfrm>
          <a:prstGeom prst="rect">
            <a:avLst/>
          </a:prstGeom>
          <a:solidFill>
            <a:srgbClr val="D5E2F2"/>
          </a:solidFill>
          <a:ln w="9525">
            <a:solidFill>
              <a:srgbClr val="8A93A6"/>
            </a:solidFill>
            <a:prstDash val="solid"/>
          </a:ln>
        </p:spPr>
      </p:sp>
      <p:sp>
        <p:nvSpPr>
          <p:cNvPr id="13" name="Shape 10"/>
          <p:cNvSpPr/>
          <p:nvPr/>
        </p:nvSpPr>
        <p:spPr>
          <a:xfrm>
            <a:off x="2697480" y="2651760"/>
            <a:ext cx="365760" cy="365760"/>
          </a:xfrm>
          <a:prstGeom prst="rect">
            <a:avLst/>
          </a:prstGeom>
          <a:solidFill>
            <a:srgbClr val="D5E2F2"/>
          </a:solidFill>
          <a:ln w="9525">
            <a:solidFill>
              <a:srgbClr val="8A93A6"/>
            </a:solidFill>
            <a:prstDash val="solid"/>
          </a:ln>
        </p:spPr>
      </p:sp>
      <p:sp>
        <p:nvSpPr>
          <p:cNvPr id="14" name="Shape 11"/>
          <p:cNvSpPr/>
          <p:nvPr/>
        </p:nvSpPr>
        <p:spPr>
          <a:xfrm>
            <a:off x="3063240" y="2651760"/>
            <a:ext cx="365760" cy="365760"/>
          </a:xfrm>
          <a:prstGeom prst="rect">
            <a:avLst/>
          </a:prstGeom>
          <a:solidFill>
            <a:schemeClr val="accent4"/>
          </a:solidFill>
          <a:ln w="9525">
            <a:solidFill>
              <a:srgbClr val="8A93A6"/>
            </a:solidFill>
            <a:prstDash val="solid"/>
          </a:ln>
        </p:spPr>
      </p:sp>
      <p:sp>
        <p:nvSpPr>
          <p:cNvPr id="15" name="Shape 12"/>
          <p:cNvSpPr/>
          <p:nvPr/>
        </p:nvSpPr>
        <p:spPr>
          <a:xfrm>
            <a:off x="3429000" y="2651760"/>
            <a:ext cx="365760" cy="365760"/>
          </a:xfrm>
          <a:prstGeom prst="rect">
            <a:avLst/>
          </a:prstGeom>
          <a:solidFill>
            <a:srgbClr val="D5E2F2"/>
          </a:solidFill>
          <a:ln w="9525">
            <a:solidFill>
              <a:srgbClr val="8A93A6"/>
            </a:solidFill>
            <a:prstDash val="solid"/>
          </a:ln>
        </p:spPr>
      </p:sp>
      <p:sp>
        <p:nvSpPr>
          <p:cNvPr id="16" name="Shape 13"/>
          <p:cNvSpPr/>
          <p:nvPr/>
        </p:nvSpPr>
        <p:spPr>
          <a:xfrm>
            <a:off x="3794760" y="2651760"/>
            <a:ext cx="365760" cy="365760"/>
          </a:xfrm>
          <a:prstGeom prst="rect">
            <a:avLst/>
          </a:prstGeom>
          <a:solidFill>
            <a:srgbClr val="D5E2F2"/>
          </a:solidFill>
          <a:ln w="9525">
            <a:solidFill>
              <a:srgbClr val="8A93A6"/>
            </a:solidFill>
            <a:prstDash val="solid"/>
          </a:ln>
        </p:spPr>
      </p:sp>
      <p:sp>
        <p:nvSpPr>
          <p:cNvPr id="17" name="Shape 14"/>
          <p:cNvSpPr/>
          <p:nvPr/>
        </p:nvSpPr>
        <p:spPr>
          <a:xfrm>
            <a:off x="4160520" y="2651760"/>
            <a:ext cx="365760" cy="365760"/>
          </a:xfrm>
          <a:prstGeom prst="rect">
            <a:avLst/>
          </a:prstGeom>
          <a:solidFill>
            <a:srgbClr val="D5E2F2"/>
          </a:solidFill>
          <a:ln w="9525">
            <a:solidFill>
              <a:srgbClr val="8A93A6"/>
            </a:solidFill>
            <a:prstDash val="solid"/>
          </a:ln>
        </p:spPr>
      </p:sp>
      <p:sp>
        <p:nvSpPr>
          <p:cNvPr id="18" name="Shape 15"/>
          <p:cNvSpPr/>
          <p:nvPr/>
        </p:nvSpPr>
        <p:spPr>
          <a:xfrm>
            <a:off x="2331720" y="3017520"/>
            <a:ext cx="365760" cy="365760"/>
          </a:xfrm>
          <a:prstGeom prst="rect">
            <a:avLst/>
          </a:prstGeom>
          <a:solidFill>
            <a:srgbClr val="D5E2F2"/>
          </a:solidFill>
          <a:ln w="9525">
            <a:solidFill>
              <a:srgbClr val="8A93A6"/>
            </a:solidFill>
            <a:prstDash val="solid"/>
          </a:ln>
        </p:spPr>
      </p:sp>
      <p:sp>
        <p:nvSpPr>
          <p:cNvPr id="19" name="Shape 16"/>
          <p:cNvSpPr/>
          <p:nvPr/>
        </p:nvSpPr>
        <p:spPr>
          <a:xfrm>
            <a:off x="2697480" y="3017520"/>
            <a:ext cx="365760" cy="365760"/>
          </a:xfrm>
          <a:prstGeom prst="rect">
            <a:avLst/>
          </a:prstGeom>
          <a:solidFill>
            <a:srgbClr val="D5E2F2"/>
          </a:solidFill>
          <a:ln w="9525">
            <a:solidFill>
              <a:srgbClr val="8A93A6"/>
            </a:solidFill>
            <a:prstDash val="solid"/>
          </a:ln>
        </p:spPr>
      </p:sp>
      <p:sp>
        <p:nvSpPr>
          <p:cNvPr id="20" name="Shape 17"/>
          <p:cNvSpPr/>
          <p:nvPr/>
        </p:nvSpPr>
        <p:spPr>
          <a:xfrm>
            <a:off x="3063240" y="3017520"/>
            <a:ext cx="365760" cy="365760"/>
          </a:xfrm>
          <a:prstGeom prst="rect">
            <a:avLst/>
          </a:prstGeom>
          <a:solidFill>
            <a:schemeClr val="accent4"/>
          </a:solidFill>
          <a:ln w="9525">
            <a:solidFill>
              <a:srgbClr val="8A93A6"/>
            </a:solidFill>
            <a:prstDash val="solid"/>
          </a:ln>
        </p:spPr>
      </p:sp>
      <p:sp>
        <p:nvSpPr>
          <p:cNvPr id="21" name="Shape 18"/>
          <p:cNvSpPr/>
          <p:nvPr/>
        </p:nvSpPr>
        <p:spPr>
          <a:xfrm>
            <a:off x="3429000" y="3017520"/>
            <a:ext cx="365760" cy="365760"/>
          </a:xfrm>
          <a:prstGeom prst="rect">
            <a:avLst/>
          </a:prstGeom>
          <a:solidFill>
            <a:srgbClr val="D5E2F2"/>
          </a:solidFill>
          <a:ln w="9525">
            <a:solidFill>
              <a:srgbClr val="8A93A6"/>
            </a:solidFill>
            <a:prstDash val="solid"/>
          </a:ln>
        </p:spPr>
      </p:sp>
      <p:sp>
        <p:nvSpPr>
          <p:cNvPr id="22" name="Shape 19"/>
          <p:cNvSpPr/>
          <p:nvPr/>
        </p:nvSpPr>
        <p:spPr>
          <a:xfrm>
            <a:off x="3794760" y="3017520"/>
            <a:ext cx="365760" cy="365760"/>
          </a:xfrm>
          <a:prstGeom prst="rect">
            <a:avLst/>
          </a:prstGeom>
          <a:solidFill>
            <a:srgbClr val="D5E2F2"/>
          </a:solidFill>
          <a:ln w="9525">
            <a:solidFill>
              <a:srgbClr val="8A93A6"/>
            </a:solidFill>
            <a:prstDash val="solid"/>
          </a:ln>
        </p:spPr>
      </p:sp>
      <p:sp>
        <p:nvSpPr>
          <p:cNvPr id="23" name="Shape 20"/>
          <p:cNvSpPr/>
          <p:nvPr/>
        </p:nvSpPr>
        <p:spPr>
          <a:xfrm>
            <a:off x="4160520" y="3017520"/>
            <a:ext cx="365760" cy="365760"/>
          </a:xfrm>
          <a:prstGeom prst="rect">
            <a:avLst/>
          </a:prstGeom>
          <a:solidFill>
            <a:srgbClr val="D5E2F2"/>
          </a:solidFill>
          <a:ln w="9525">
            <a:solidFill>
              <a:srgbClr val="8A93A6"/>
            </a:solidFill>
            <a:prstDash val="solid"/>
          </a:ln>
        </p:spPr>
      </p:sp>
      <p:sp>
        <p:nvSpPr>
          <p:cNvPr id="24" name="Shape 21"/>
          <p:cNvSpPr/>
          <p:nvPr/>
        </p:nvSpPr>
        <p:spPr>
          <a:xfrm>
            <a:off x="2331720" y="3383280"/>
            <a:ext cx="365760" cy="365760"/>
          </a:xfrm>
          <a:prstGeom prst="rect">
            <a:avLst/>
          </a:prstGeom>
          <a:solidFill>
            <a:srgbClr val="D5E2F2"/>
          </a:solidFill>
          <a:ln w="9525">
            <a:solidFill>
              <a:srgbClr val="8A93A6"/>
            </a:solidFill>
            <a:prstDash val="solid"/>
          </a:ln>
        </p:spPr>
      </p:sp>
      <p:sp>
        <p:nvSpPr>
          <p:cNvPr id="25" name="Shape 22"/>
          <p:cNvSpPr/>
          <p:nvPr/>
        </p:nvSpPr>
        <p:spPr>
          <a:xfrm>
            <a:off x="2697480" y="3383280"/>
            <a:ext cx="365760" cy="365760"/>
          </a:xfrm>
          <a:prstGeom prst="rect">
            <a:avLst/>
          </a:prstGeom>
          <a:solidFill>
            <a:srgbClr val="D5E2F2"/>
          </a:solidFill>
          <a:ln w="9525">
            <a:solidFill>
              <a:srgbClr val="8A93A6"/>
            </a:solidFill>
            <a:prstDash val="solid"/>
          </a:ln>
        </p:spPr>
      </p:sp>
      <p:sp>
        <p:nvSpPr>
          <p:cNvPr id="26" name="Shape 23"/>
          <p:cNvSpPr/>
          <p:nvPr/>
        </p:nvSpPr>
        <p:spPr>
          <a:xfrm>
            <a:off x="3063240" y="3383280"/>
            <a:ext cx="365760" cy="365760"/>
          </a:xfrm>
          <a:prstGeom prst="rect">
            <a:avLst/>
          </a:prstGeom>
          <a:solidFill>
            <a:schemeClr val="accent4"/>
          </a:solidFill>
          <a:ln w="9525">
            <a:solidFill>
              <a:srgbClr val="8A93A6"/>
            </a:solidFill>
            <a:prstDash val="solid"/>
          </a:ln>
        </p:spPr>
      </p:sp>
      <p:sp>
        <p:nvSpPr>
          <p:cNvPr id="27" name="Shape 24"/>
          <p:cNvSpPr/>
          <p:nvPr/>
        </p:nvSpPr>
        <p:spPr>
          <a:xfrm>
            <a:off x="3429000" y="3383280"/>
            <a:ext cx="365760" cy="365760"/>
          </a:xfrm>
          <a:prstGeom prst="rect">
            <a:avLst/>
          </a:prstGeom>
          <a:solidFill>
            <a:srgbClr val="D5E2F2"/>
          </a:solidFill>
          <a:ln w="9525">
            <a:solidFill>
              <a:srgbClr val="8A93A6"/>
            </a:solidFill>
            <a:prstDash val="solid"/>
          </a:ln>
        </p:spPr>
      </p:sp>
      <p:sp>
        <p:nvSpPr>
          <p:cNvPr id="28" name="Shape 25"/>
          <p:cNvSpPr/>
          <p:nvPr/>
        </p:nvSpPr>
        <p:spPr>
          <a:xfrm>
            <a:off x="3794760" y="3383280"/>
            <a:ext cx="365760" cy="365760"/>
          </a:xfrm>
          <a:prstGeom prst="rect">
            <a:avLst/>
          </a:prstGeom>
          <a:solidFill>
            <a:srgbClr val="D5E2F2"/>
          </a:solidFill>
          <a:ln w="9525">
            <a:solidFill>
              <a:srgbClr val="8A93A6"/>
            </a:solidFill>
            <a:prstDash val="solid"/>
          </a:ln>
        </p:spPr>
      </p:sp>
      <p:sp>
        <p:nvSpPr>
          <p:cNvPr id="29" name="Shape 26"/>
          <p:cNvSpPr/>
          <p:nvPr/>
        </p:nvSpPr>
        <p:spPr>
          <a:xfrm>
            <a:off x="4160520" y="3383280"/>
            <a:ext cx="365760" cy="365760"/>
          </a:xfrm>
          <a:prstGeom prst="rect">
            <a:avLst/>
          </a:prstGeom>
          <a:solidFill>
            <a:srgbClr val="D5E2F2"/>
          </a:solidFill>
          <a:ln w="9525">
            <a:solidFill>
              <a:srgbClr val="8A93A6"/>
            </a:solidFill>
            <a:prstDash val="solid"/>
          </a:ln>
        </p:spPr>
      </p:sp>
      <p:sp>
        <p:nvSpPr>
          <p:cNvPr id="30" name="Shape 27"/>
          <p:cNvSpPr/>
          <p:nvPr/>
        </p:nvSpPr>
        <p:spPr>
          <a:xfrm>
            <a:off x="2331720" y="3749040"/>
            <a:ext cx="365760" cy="365760"/>
          </a:xfrm>
          <a:prstGeom prst="rect">
            <a:avLst/>
          </a:prstGeom>
          <a:solidFill>
            <a:srgbClr val="D5E2F2"/>
          </a:solidFill>
          <a:ln w="9525">
            <a:solidFill>
              <a:srgbClr val="8A93A6"/>
            </a:solidFill>
            <a:prstDash val="solid"/>
          </a:ln>
        </p:spPr>
      </p:sp>
      <p:sp>
        <p:nvSpPr>
          <p:cNvPr id="31" name="Shape 28"/>
          <p:cNvSpPr/>
          <p:nvPr/>
        </p:nvSpPr>
        <p:spPr>
          <a:xfrm>
            <a:off x="2697480" y="3749040"/>
            <a:ext cx="365760" cy="365760"/>
          </a:xfrm>
          <a:prstGeom prst="rect">
            <a:avLst/>
          </a:prstGeom>
          <a:solidFill>
            <a:srgbClr val="D5E2F2"/>
          </a:solidFill>
          <a:ln w="9525">
            <a:solidFill>
              <a:srgbClr val="8A93A6"/>
            </a:solidFill>
            <a:prstDash val="solid"/>
          </a:ln>
        </p:spPr>
      </p:sp>
      <p:sp>
        <p:nvSpPr>
          <p:cNvPr id="32" name="Shape 29"/>
          <p:cNvSpPr/>
          <p:nvPr/>
        </p:nvSpPr>
        <p:spPr>
          <a:xfrm>
            <a:off x="3063240" y="3749040"/>
            <a:ext cx="365760" cy="365760"/>
          </a:xfrm>
          <a:prstGeom prst="rect">
            <a:avLst/>
          </a:prstGeom>
          <a:solidFill>
            <a:schemeClr val="accent4"/>
          </a:solidFill>
          <a:ln w="9525">
            <a:solidFill>
              <a:srgbClr val="8A93A6"/>
            </a:solidFill>
            <a:prstDash val="solid"/>
          </a:ln>
        </p:spPr>
      </p:sp>
      <p:sp>
        <p:nvSpPr>
          <p:cNvPr id="33" name="Shape 30"/>
          <p:cNvSpPr/>
          <p:nvPr/>
        </p:nvSpPr>
        <p:spPr>
          <a:xfrm>
            <a:off x="3429000" y="3749040"/>
            <a:ext cx="365760" cy="365760"/>
          </a:xfrm>
          <a:prstGeom prst="rect">
            <a:avLst/>
          </a:prstGeom>
          <a:solidFill>
            <a:srgbClr val="D5E2F2"/>
          </a:solidFill>
          <a:ln w="9525">
            <a:solidFill>
              <a:srgbClr val="8A93A6"/>
            </a:solidFill>
            <a:prstDash val="solid"/>
          </a:ln>
        </p:spPr>
      </p:sp>
      <p:sp>
        <p:nvSpPr>
          <p:cNvPr id="34" name="Shape 31"/>
          <p:cNvSpPr/>
          <p:nvPr/>
        </p:nvSpPr>
        <p:spPr>
          <a:xfrm>
            <a:off x="3794760" y="3749040"/>
            <a:ext cx="365760" cy="365760"/>
          </a:xfrm>
          <a:prstGeom prst="rect">
            <a:avLst/>
          </a:prstGeom>
          <a:solidFill>
            <a:srgbClr val="D5E2F2"/>
          </a:solidFill>
          <a:ln w="9525">
            <a:solidFill>
              <a:srgbClr val="8A93A6"/>
            </a:solidFill>
            <a:prstDash val="solid"/>
          </a:ln>
        </p:spPr>
      </p:sp>
      <p:sp>
        <p:nvSpPr>
          <p:cNvPr id="35" name="Shape 32"/>
          <p:cNvSpPr/>
          <p:nvPr/>
        </p:nvSpPr>
        <p:spPr>
          <a:xfrm>
            <a:off x="4160520" y="3749040"/>
            <a:ext cx="365760" cy="365760"/>
          </a:xfrm>
          <a:prstGeom prst="rect">
            <a:avLst/>
          </a:prstGeom>
          <a:solidFill>
            <a:srgbClr val="D5E2F2"/>
          </a:solidFill>
          <a:ln w="9525">
            <a:solidFill>
              <a:srgbClr val="8A93A6"/>
            </a:solidFill>
            <a:prstDash val="solid"/>
          </a:ln>
        </p:spPr>
      </p:sp>
      <p:sp>
        <p:nvSpPr>
          <p:cNvPr id="36" name="Text 33"/>
          <p:cNvSpPr txBox="1"/>
          <p:nvPr/>
        </p:nvSpPr>
        <p:spPr>
          <a:xfrm>
            <a:off x="1965960" y="2331720"/>
            <a:ext cx="2926080" cy="274320"/>
          </a:xfrm>
          <a:prstGeom prst="rect">
            <a:avLst/>
          </a:prstGeom>
          <a:noFill/>
          <a:ln/>
        </p:spPr>
        <p:txBody>
          <a:bodyPr wrap="square" lIns="0" tIns="0" rIns="0" bIns="0" rtlCol="0" anchor="t"/>
          <a:lstStyle/>
          <a:p>
            <a:pPr algn="ctr" indent="0" marL="0">
              <a:buNone/>
            </a:pPr>
            <a:r>
              <a:rPr lang="en-US" sz="1200" dirty="0">
                <a:solidFill>
                  <a:schemeClr val="tx2"/>
                </a:solidFill>
              </a:rPr>
              <a:t>Kᵀ  (d × T), from the cache</a:t>
            </a:r>
            <a:endParaRPr lang="en-US" sz="1200" dirty="0"/>
          </a:p>
        </p:txBody>
      </p:sp>
      <p:sp>
        <p:nvSpPr>
          <p:cNvPr id="37" name="Shape 34"/>
          <p:cNvSpPr/>
          <p:nvPr/>
        </p:nvSpPr>
        <p:spPr>
          <a:xfrm>
            <a:off x="2331720" y="4206240"/>
            <a:ext cx="365760" cy="365760"/>
          </a:xfrm>
          <a:prstGeom prst="rect">
            <a:avLst/>
          </a:prstGeom>
          <a:solidFill>
            <a:schemeClr val="bg2"/>
          </a:solidFill>
          <a:ln w="9525">
            <a:solidFill>
              <a:srgbClr val="8A93A6"/>
            </a:solidFill>
            <a:prstDash val="solid"/>
          </a:ln>
        </p:spPr>
      </p:sp>
      <p:sp>
        <p:nvSpPr>
          <p:cNvPr id="38" name="Shape 35"/>
          <p:cNvSpPr/>
          <p:nvPr/>
        </p:nvSpPr>
        <p:spPr>
          <a:xfrm>
            <a:off x="2697480" y="4206240"/>
            <a:ext cx="365760" cy="365760"/>
          </a:xfrm>
          <a:prstGeom prst="rect">
            <a:avLst/>
          </a:prstGeom>
          <a:solidFill>
            <a:schemeClr val="bg2"/>
          </a:solidFill>
          <a:ln w="9525">
            <a:solidFill>
              <a:srgbClr val="8A93A6"/>
            </a:solidFill>
            <a:prstDash val="solid"/>
          </a:ln>
        </p:spPr>
      </p:sp>
      <p:sp>
        <p:nvSpPr>
          <p:cNvPr id="39" name="Shape 36"/>
          <p:cNvSpPr/>
          <p:nvPr/>
        </p:nvSpPr>
        <p:spPr>
          <a:xfrm>
            <a:off x="3063240" y="4206240"/>
            <a:ext cx="365760" cy="365760"/>
          </a:xfrm>
          <a:prstGeom prst="rect">
            <a:avLst/>
          </a:prstGeom>
          <a:solidFill>
            <a:schemeClr val="accent1"/>
          </a:solidFill>
          <a:ln w="9525">
            <a:solidFill>
              <a:srgbClr val="8A93A6"/>
            </a:solidFill>
            <a:prstDash val="solid"/>
          </a:ln>
        </p:spPr>
      </p:sp>
      <p:sp>
        <p:nvSpPr>
          <p:cNvPr id="40" name="Shape 37"/>
          <p:cNvSpPr/>
          <p:nvPr/>
        </p:nvSpPr>
        <p:spPr>
          <a:xfrm>
            <a:off x="3429000" y="4206240"/>
            <a:ext cx="365760" cy="365760"/>
          </a:xfrm>
          <a:prstGeom prst="rect">
            <a:avLst/>
          </a:prstGeom>
          <a:solidFill>
            <a:schemeClr val="bg2"/>
          </a:solidFill>
          <a:ln w="9525">
            <a:solidFill>
              <a:srgbClr val="8A93A6"/>
            </a:solidFill>
            <a:prstDash val="solid"/>
          </a:ln>
        </p:spPr>
      </p:sp>
      <p:sp>
        <p:nvSpPr>
          <p:cNvPr id="41" name="Shape 38"/>
          <p:cNvSpPr/>
          <p:nvPr/>
        </p:nvSpPr>
        <p:spPr>
          <a:xfrm>
            <a:off x="3794760" y="4206240"/>
            <a:ext cx="365760" cy="365760"/>
          </a:xfrm>
          <a:prstGeom prst="rect">
            <a:avLst/>
          </a:prstGeom>
          <a:solidFill>
            <a:schemeClr val="bg2"/>
          </a:solidFill>
          <a:ln w="9525">
            <a:solidFill>
              <a:srgbClr val="8A93A6"/>
            </a:solidFill>
            <a:prstDash val="solid"/>
          </a:ln>
        </p:spPr>
      </p:sp>
      <p:sp>
        <p:nvSpPr>
          <p:cNvPr id="42" name="Shape 39"/>
          <p:cNvSpPr/>
          <p:nvPr/>
        </p:nvSpPr>
        <p:spPr>
          <a:xfrm>
            <a:off x="4160520" y="4206240"/>
            <a:ext cx="365760" cy="365760"/>
          </a:xfrm>
          <a:prstGeom prst="rect">
            <a:avLst/>
          </a:prstGeom>
          <a:solidFill>
            <a:schemeClr val="bg2"/>
          </a:solidFill>
          <a:ln w="9525">
            <a:solidFill>
              <a:srgbClr val="8A93A6"/>
            </a:solidFill>
            <a:prstDash val="solid"/>
          </a:ln>
        </p:spPr>
      </p:sp>
      <p:sp>
        <p:nvSpPr>
          <p:cNvPr id="43" name="Text 40"/>
          <p:cNvSpPr txBox="1"/>
          <p:nvPr/>
        </p:nvSpPr>
        <p:spPr>
          <a:xfrm>
            <a:off x="2331720" y="4617720"/>
            <a:ext cx="2194560" cy="274320"/>
          </a:xfrm>
          <a:prstGeom prst="rect">
            <a:avLst/>
          </a:prstGeom>
          <a:noFill/>
          <a:ln/>
        </p:spPr>
        <p:txBody>
          <a:bodyPr wrap="square" lIns="0" tIns="0" rIns="0" bIns="0" rtlCol="0" anchor="t"/>
          <a:lstStyle/>
          <a:p>
            <a:pPr algn="ctr" indent="0" marL="0">
              <a:buNone/>
            </a:pPr>
            <a:r>
              <a:rPr lang="en-US" sz="1200" dirty="0">
                <a:solidFill>
                  <a:schemeClr val="tx2"/>
                </a:solidFill>
              </a:rPr>
              <a:t>scores  (1 × T)</a:t>
            </a:r>
            <a:endParaRPr lang="en-US" sz="1200" dirty="0"/>
          </a:p>
        </p:txBody>
      </p:sp>
      <p:sp>
        <p:nvSpPr>
          <p:cNvPr id="44" name="Text 41"/>
          <p:cNvSpPr txBox="1"/>
          <p:nvPr/>
        </p:nvSpPr>
        <p:spPr>
          <a:xfrm>
            <a:off x="4709160" y="2788920"/>
            <a:ext cx="1417320" cy="914400"/>
          </a:xfrm>
          <a:prstGeom prst="rect">
            <a:avLst/>
          </a:prstGeom>
          <a:noFill/>
          <a:ln/>
        </p:spPr>
        <p:txBody>
          <a:bodyPr wrap="square" lIns="0" tIns="0" rIns="0" bIns="0" rtlCol="0" anchor="t"/>
          <a:lstStyle/>
          <a:p>
            <a:pPr indent="0" marL="0">
              <a:buNone/>
            </a:pPr>
            <a:r>
              <a:rPr lang="en-US" sz="1200" b="1" dirty="0">
                <a:solidFill>
                  <a:schemeClr val="tx1"/>
                </a:solidFill>
              </a:rPr>
              <a:t>score 3</a:t>
            </a:r>
            <a:endParaRPr lang="en-US" sz="1200" dirty="0"/>
          </a:p>
          <a:p>
            <a:pPr indent="0" marL="0">
              <a:buNone/>
            </a:pPr>
            <a:r>
              <a:rPr lang="en-US" sz="1200" dirty="0">
                <a:solidFill>
                  <a:schemeClr val="tx1"/>
                </a:solidFill>
              </a:rPr>
              <a:t>q · column 3</a:t>
            </a:r>
            <a:endParaRPr lang="en-US" sz="1200" dirty="0"/>
          </a:p>
          <a:p>
            <a:pPr indent="0" marL="0">
              <a:buNone/>
            </a:pPr>
            <a:r>
              <a:rPr lang="en-US" sz="1200" dirty="0">
                <a:solidFill>
                  <a:schemeClr val="tx1"/>
                </a:solidFill>
              </a:rPr>
              <a:t>d = 4 multiply-adds</a:t>
            </a:r>
            <a:endParaRPr lang="en-US" sz="1200" dirty="0"/>
          </a:p>
        </p:txBody>
      </p:sp>
      <p:sp>
        <p:nvSpPr>
          <p:cNvPr id="45" name="Text 42"/>
          <p:cNvSpPr txBox="1"/>
          <p:nvPr/>
        </p:nvSpPr>
        <p:spPr>
          <a:xfrm>
            <a:off x="548640" y="4937760"/>
            <a:ext cx="5394960" cy="320040"/>
          </a:xfrm>
          <a:prstGeom prst="rect">
            <a:avLst/>
          </a:prstGeom>
          <a:noFill/>
          <a:ln/>
        </p:spPr>
        <p:txBody>
          <a:bodyPr wrap="square" lIns="0" tIns="0" rIns="0" bIns="0" rtlCol="0" anchor="t"/>
          <a:lstStyle/>
          <a:p>
            <a:pPr indent="0" marL="0">
              <a:buNone/>
            </a:pPr>
            <a:r>
              <a:rPr lang="en-US" sz="1400" dirty="0">
                <a:solidFill>
                  <a:schemeClr val="tx1"/>
                </a:solidFill>
              </a:rPr>
              <a:t>6 scores × 4 = T·d multiply-adds = </a:t>
            </a:r>
            <a:r>
              <a:rPr lang="en-US" sz="1400" b="1" dirty="0">
                <a:solidFill>
                  <a:schemeClr val="tx1"/>
                </a:solidFill>
              </a:rPr>
              <a:t>2·T·d FLOPs</a:t>
            </a:r>
            <a:endParaRPr lang="en-US" sz="1400" dirty="0"/>
          </a:p>
        </p:txBody>
      </p:sp>
      <p:sp>
        <p:nvSpPr>
          <p:cNvPr id="46" name="Text 43"/>
          <p:cNvSpPr txBox="1"/>
          <p:nvPr/>
        </p:nvSpPr>
        <p:spPr>
          <a:xfrm>
            <a:off x="6263640" y="1234440"/>
            <a:ext cx="5349240" cy="365760"/>
          </a:xfrm>
          <a:prstGeom prst="rect">
            <a:avLst/>
          </a:prstGeom>
          <a:noFill/>
          <a:ln/>
        </p:spPr>
        <p:txBody>
          <a:bodyPr wrap="square" lIns="0" tIns="0" rIns="0" bIns="0" rtlCol="0" anchor="t"/>
          <a:lstStyle/>
          <a:p>
            <a:pPr indent="0" marL="0">
              <a:buNone/>
            </a:pPr>
            <a:r>
              <a:rPr lang="en-US" sz="1700" b="1" dirty="0">
                <a:solidFill>
                  <a:schemeClr val="tx1"/>
                </a:solidFill>
              </a:rPr>
              <a:t>Step 2: output = weights · V</a:t>
            </a:r>
            <a:endParaRPr lang="en-US" sz="1700" dirty="0"/>
          </a:p>
        </p:txBody>
      </p:sp>
      <p:sp>
        <p:nvSpPr>
          <p:cNvPr id="47" name="Shape 44"/>
          <p:cNvSpPr/>
          <p:nvPr/>
        </p:nvSpPr>
        <p:spPr>
          <a:xfrm>
            <a:off x="6263640" y="4206240"/>
            <a:ext cx="365760" cy="365760"/>
          </a:xfrm>
          <a:prstGeom prst="rect">
            <a:avLst/>
          </a:prstGeom>
          <a:solidFill>
            <a:schemeClr val="accent1"/>
          </a:solidFill>
          <a:ln w="9525">
            <a:solidFill>
              <a:srgbClr val="8A93A6"/>
            </a:solidFill>
            <a:prstDash val="solid"/>
          </a:ln>
        </p:spPr>
      </p:sp>
      <p:sp>
        <p:nvSpPr>
          <p:cNvPr id="48" name="Shape 45"/>
          <p:cNvSpPr/>
          <p:nvPr/>
        </p:nvSpPr>
        <p:spPr>
          <a:xfrm>
            <a:off x="6629400" y="4206240"/>
            <a:ext cx="365760" cy="365760"/>
          </a:xfrm>
          <a:prstGeom prst="rect">
            <a:avLst/>
          </a:prstGeom>
          <a:solidFill>
            <a:schemeClr val="accent1"/>
          </a:solidFill>
          <a:ln w="9525">
            <a:solidFill>
              <a:srgbClr val="8A93A6"/>
            </a:solidFill>
            <a:prstDash val="solid"/>
          </a:ln>
        </p:spPr>
      </p:sp>
      <p:sp>
        <p:nvSpPr>
          <p:cNvPr id="49" name="Shape 46"/>
          <p:cNvSpPr/>
          <p:nvPr/>
        </p:nvSpPr>
        <p:spPr>
          <a:xfrm>
            <a:off x="6995160" y="4206240"/>
            <a:ext cx="365760" cy="365760"/>
          </a:xfrm>
          <a:prstGeom prst="rect">
            <a:avLst/>
          </a:prstGeom>
          <a:solidFill>
            <a:schemeClr val="accent1"/>
          </a:solidFill>
          <a:ln w="9525">
            <a:solidFill>
              <a:srgbClr val="8A93A6"/>
            </a:solidFill>
            <a:prstDash val="solid"/>
          </a:ln>
        </p:spPr>
      </p:sp>
      <p:sp>
        <p:nvSpPr>
          <p:cNvPr id="50" name="Shape 47"/>
          <p:cNvSpPr/>
          <p:nvPr/>
        </p:nvSpPr>
        <p:spPr>
          <a:xfrm>
            <a:off x="7360920" y="4206240"/>
            <a:ext cx="365760" cy="365760"/>
          </a:xfrm>
          <a:prstGeom prst="rect">
            <a:avLst/>
          </a:prstGeom>
          <a:solidFill>
            <a:schemeClr val="accent1"/>
          </a:solidFill>
          <a:ln w="9525">
            <a:solidFill>
              <a:srgbClr val="8A93A6"/>
            </a:solidFill>
            <a:prstDash val="solid"/>
          </a:ln>
        </p:spPr>
      </p:sp>
      <p:sp>
        <p:nvSpPr>
          <p:cNvPr id="51" name="Shape 48"/>
          <p:cNvSpPr/>
          <p:nvPr/>
        </p:nvSpPr>
        <p:spPr>
          <a:xfrm>
            <a:off x="7726680" y="4206240"/>
            <a:ext cx="365760" cy="365760"/>
          </a:xfrm>
          <a:prstGeom prst="rect">
            <a:avLst/>
          </a:prstGeom>
          <a:solidFill>
            <a:schemeClr val="accent1"/>
          </a:solidFill>
          <a:ln w="9525">
            <a:solidFill>
              <a:srgbClr val="8A93A6"/>
            </a:solidFill>
            <a:prstDash val="solid"/>
          </a:ln>
        </p:spPr>
      </p:sp>
      <p:sp>
        <p:nvSpPr>
          <p:cNvPr id="52" name="Shape 49"/>
          <p:cNvSpPr/>
          <p:nvPr/>
        </p:nvSpPr>
        <p:spPr>
          <a:xfrm>
            <a:off x="8092440" y="4206240"/>
            <a:ext cx="365760" cy="365760"/>
          </a:xfrm>
          <a:prstGeom prst="rect">
            <a:avLst/>
          </a:prstGeom>
          <a:solidFill>
            <a:schemeClr val="accent1"/>
          </a:solidFill>
          <a:ln w="9525">
            <a:solidFill>
              <a:srgbClr val="8A93A6"/>
            </a:solidFill>
            <a:prstDash val="solid"/>
          </a:ln>
        </p:spPr>
      </p:sp>
      <p:sp>
        <p:nvSpPr>
          <p:cNvPr id="53" name="Text 50"/>
          <p:cNvSpPr txBox="1"/>
          <p:nvPr/>
        </p:nvSpPr>
        <p:spPr>
          <a:xfrm>
            <a:off x="6263640" y="4617720"/>
            <a:ext cx="2194560" cy="274320"/>
          </a:xfrm>
          <a:prstGeom prst="rect">
            <a:avLst/>
          </a:prstGeom>
          <a:noFill/>
          <a:ln/>
        </p:spPr>
        <p:txBody>
          <a:bodyPr wrap="square" lIns="0" tIns="0" rIns="0" bIns="0" rtlCol="0" anchor="t"/>
          <a:lstStyle/>
          <a:p>
            <a:pPr algn="ctr" indent="0" marL="0">
              <a:buNone/>
            </a:pPr>
            <a:r>
              <a:rPr lang="en-US" sz="1200" dirty="0">
                <a:solidFill>
                  <a:schemeClr val="tx2"/>
                </a:solidFill>
              </a:rPr>
              <a:t>weights  (1 × T)</a:t>
            </a:r>
            <a:endParaRPr lang="en-US" sz="1200" dirty="0"/>
          </a:p>
        </p:txBody>
      </p:sp>
      <p:sp>
        <p:nvSpPr>
          <p:cNvPr id="54" name="Shape 51"/>
          <p:cNvSpPr/>
          <p:nvPr/>
        </p:nvSpPr>
        <p:spPr>
          <a:xfrm>
            <a:off x="8778240" y="1920240"/>
            <a:ext cx="365760" cy="365760"/>
          </a:xfrm>
          <a:prstGeom prst="rect">
            <a:avLst/>
          </a:prstGeom>
          <a:solidFill>
            <a:srgbClr val="D5E2F2"/>
          </a:solidFill>
          <a:ln w="9525">
            <a:solidFill>
              <a:srgbClr val="8A93A6"/>
            </a:solidFill>
            <a:prstDash val="solid"/>
          </a:ln>
        </p:spPr>
      </p:sp>
      <p:sp>
        <p:nvSpPr>
          <p:cNvPr id="55" name="Shape 52"/>
          <p:cNvSpPr/>
          <p:nvPr/>
        </p:nvSpPr>
        <p:spPr>
          <a:xfrm>
            <a:off x="9144000" y="1920240"/>
            <a:ext cx="365760" cy="365760"/>
          </a:xfrm>
          <a:prstGeom prst="rect">
            <a:avLst/>
          </a:prstGeom>
          <a:solidFill>
            <a:schemeClr val="accent4"/>
          </a:solidFill>
          <a:ln w="9525">
            <a:solidFill>
              <a:srgbClr val="8A93A6"/>
            </a:solidFill>
            <a:prstDash val="solid"/>
          </a:ln>
        </p:spPr>
      </p:sp>
      <p:sp>
        <p:nvSpPr>
          <p:cNvPr id="56" name="Shape 53"/>
          <p:cNvSpPr/>
          <p:nvPr/>
        </p:nvSpPr>
        <p:spPr>
          <a:xfrm>
            <a:off x="9509760" y="1920240"/>
            <a:ext cx="365760" cy="365760"/>
          </a:xfrm>
          <a:prstGeom prst="rect">
            <a:avLst/>
          </a:prstGeom>
          <a:solidFill>
            <a:srgbClr val="D5E2F2"/>
          </a:solidFill>
          <a:ln w="9525">
            <a:solidFill>
              <a:srgbClr val="8A93A6"/>
            </a:solidFill>
            <a:prstDash val="solid"/>
          </a:ln>
        </p:spPr>
      </p:sp>
      <p:sp>
        <p:nvSpPr>
          <p:cNvPr id="57" name="Shape 54"/>
          <p:cNvSpPr/>
          <p:nvPr/>
        </p:nvSpPr>
        <p:spPr>
          <a:xfrm>
            <a:off x="9875520" y="1920240"/>
            <a:ext cx="365760" cy="365760"/>
          </a:xfrm>
          <a:prstGeom prst="rect">
            <a:avLst/>
          </a:prstGeom>
          <a:solidFill>
            <a:srgbClr val="D5E2F2"/>
          </a:solidFill>
          <a:ln w="9525">
            <a:solidFill>
              <a:srgbClr val="8A93A6"/>
            </a:solidFill>
            <a:prstDash val="solid"/>
          </a:ln>
        </p:spPr>
      </p:sp>
      <p:sp>
        <p:nvSpPr>
          <p:cNvPr id="58" name="Shape 55"/>
          <p:cNvSpPr/>
          <p:nvPr/>
        </p:nvSpPr>
        <p:spPr>
          <a:xfrm>
            <a:off x="8778240" y="2286000"/>
            <a:ext cx="365760" cy="365760"/>
          </a:xfrm>
          <a:prstGeom prst="rect">
            <a:avLst/>
          </a:prstGeom>
          <a:solidFill>
            <a:srgbClr val="D5E2F2"/>
          </a:solidFill>
          <a:ln w="9525">
            <a:solidFill>
              <a:srgbClr val="8A93A6"/>
            </a:solidFill>
            <a:prstDash val="solid"/>
          </a:ln>
        </p:spPr>
      </p:sp>
      <p:sp>
        <p:nvSpPr>
          <p:cNvPr id="59" name="Shape 56"/>
          <p:cNvSpPr/>
          <p:nvPr/>
        </p:nvSpPr>
        <p:spPr>
          <a:xfrm>
            <a:off x="9144000" y="2286000"/>
            <a:ext cx="365760" cy="365760"/>
          </a:xfrm>
          <a:prstGeom prst="rect">
            <a:avLst/>
          </a:prstGeom>
          <a:solidFill>
            <a:schemeClr val="accent4"/>
          </a:solidFill>
          <a:ln w="9525">
            <a:solidFill>
              <a:srgbClr val="8A93A6"/>
            </a:solidFill>
            <a:prstDash val="solid"/>
          </a:ln>
        </p:spPr>
      </p:sp>
      <p:sp>
        <p:nvSpPr>
          <p:cNvPr id="60" name="Shape 57"/>
          <p:cNvSpPr/>
          <p:nvPr/>
        </p:nvSpPr>
        <p:spPr>
          <a:xfrm>
            <a:off x="9509760" y="2286000"/>
            <a:ext cx="365760" cy="365760"/>
          </a:xfrm>
          <a:prstGeom prst="rect">
            <a:avLst/>
          </a:prstGeom>
          <a:solidFill>
            <a:srgbClr val="D5E2F2"/>
          </a:solidFill>
          <a:ln w="9525">
            <a:solidFill>
              <a:srgbClr val="8A93A6"/>
            </a:solidFill>
            <a:prstDash val="solid"/>
          </a:ln>
        </p:spPr>
      </p:sp>
      <p:sp>
        <p:nvSpPr>
          <p:cNvPr id="61" name="Shape 58"/>
          <p:cNvSpPr/>
          <p:nvPr/>
        </p:nvSpPr>
        <p:spPr>
          <a:xfrm>
            <a:off x="9875520" y="2286000"/>
            <a:ext cx="365760" cy="365760"/>
          </a:xfrm>
          <a:prstGeom prst="rect">
            <a:avLst/>
          </a:prstGeom>
          <a:solidFill>
            <a:srgbClr val="D5E2F2"/>
          </a:solidFill>
          <a:ln w="9525">
            <a:solidFill>
              <a:srgbClr val="8A93A6"/>
            </a:solidFill>
            <a:prstDash val="solid"/>
          </a:ln>
        </p:spPr>
      </p:sp>
      <p:sp>
        <p:nvSpPr>
          <p:cNvPr id="62" name="Shape 59"/>
          <p:cNvSpPr/>
          <p:nvPr/>
        </p:nvSpPr>
        <p:spPr>
          <a:xfrm>
            <a:off x="8778240" y="2651760"/>
            <a:ext cx="365760" cy="365760"/>
          </a:xfrm>
          <a:prstGeom prst="rect">
            <a:avLst/>
          </a:prstGeom>
          <a:solidFill>
            <a:srgbClr val="D5E2F2"/>
          </a:solidFill>
          <a:ln w="9525">
            <a:solidFill>
              <a:srgbClr val="8A93A6"/>
            </a:solidFill>
            <a:prstDash val="solid"/>
          </a:ln>
        </p:spPr>
      </p:sp>
      <p:sp>
        <p:nvSpPr>
          <p:cNvPr id="63" name="Shape 60"/>
          <p:cNvSpPr/>
          <p:nvPr/>
        </p:nvSpPr>
        <p:spPr>
          <a:xfrm>
            <a:off x="9144000" y="2651760"/>
            <a:ext cx="365760" cy="365760"/>
          </a:xfrm>
          <a:prstGeom prst="rect">
            <a:avLst/>
          </a:prstGeom>
          <a:solidFill>
            <a:schemeClr val="accent4"/>
          </a:solidFill>
          <a:ln w="9525">
            <a:solidFill>
              <a:srgbClr val="8A93A6"/>
            </a:solidFill>
            <a:prstDash val="solid"/>
          </a:ln>
        </p:spPr>
      </p:sp>
      <p:sp>
        <p:nvSpPr>
          <p:cNvPr id="64" name="Shape 61"/>
          <p:cNvSpPr/>
          <p:nvPr/>
        </p:nvSpPr>
        <p:spPr>
          <a:xfrm>
            <a:off x="9509760" y="2651760"/>
            <a:ext cx="365760" cy="365760"/>
          </a:xfrm>
          <a:prstGeom prst="rect">
            <a:avLst/>
          </a:prstGeom>
          <a:solidFill>
            <a:srgbClr val="D5E2F2"/>
          </a:solidFill>
          <a:ln w="9525">
            <a:solidFill>
              <a:srgbClr val="8A93A6"/>
            </a:solidFill>
            <a:prstDash val="solid"/>
          </a:ln>
        </p:spPr>
      </p:sp>
      <p:sp>
        <p:nvSpPr>
          <p:cNvPr id="65" name="Shape 62"/>
          <p:cNvSpPr/>
          <p:nvPr/>
        </p:nvSpPr>
        <p:spPr>
          <a:xfrm>
            <a:off x="9875520" y="2651760"/>
            <a:ext cx="365760" cy="365760"/>
          </a:xfrm>
          <a:prstGeom prst="rect">
            <a:avLst/>
          </a:prstGeom>
          <a:solidFill>
            <a:srgbClr val="D5E2F2"/>
          </a:solidFill>
          <a:ln w="9525">
            <a:solidFill>
              <a:srgbClr val="8A93A6"/>
            </a:solidFill>
            <a:prstDash val="solid"/>
          </a:ln>
        </p:spPr>
      </p:sp>
      <p:sp>
        <p:nvSpPr>
          <p:cNvPr id="66" name="Shape 63"/>
          <p:cNvSpPr/>
          <p:nvPr/>
        </p:nvSpPr>
        <p:spPr>
          <a:xfrm>
            <a:off x="8778240" y="3017520"/>
            <a:ext cx="365760" cy="365760"/>
          </a:xfrm>
          <a:prstGeom prst="rect">
            <a:avLst/>
          </a:prstGeom>
          <a:solidFill>
            <a:srgbClr val="D5E2F2"/>
          </a:solidFill>
          <a:ln w="9525">
            <a:solidFill>
              <a:srgbClr val="8A93A6"/>
            </a:solidFill>
            <a:prstDash val="solid"/>
          </a:ln>
        </p:spPr>
      </p:sp>
      <p:sp>
        <p:nvSpPr>
          <p:cNvPr id="67" name="Shape 64"/>
          <p:cNvSpPr/>
          <p:nvPr/>
        </p:nvSpPr>
        <p:spPr>
          <a:xfrm>
            <a:off x="9144000" y="3017520"/>
            <a:ext cx="365760" cy="365760"/>
          </a:xfrm>
          <a:prstGeom prst="rect">
            <a:avLst/>
          </a:prstGeom>
          <a:solidFill>
            <a:schemeClr val="accent4"/>
          </a:solidFill>
          <a:ln w="9525">
            <a:solidFill>
              <a:srgbClr val="8A93A6"/>
            </a:solidFill>
            <a:prstDash val="solid"/>
          </a:ln>
        </p:spPr>
      </p:sp>
      <p:sp>
        <p:nvSpPr>
          <p:cNvPr id="68" name="Shape 65"/>
          <p:cNvSpPr/>
          <p:nvPr/>
        </p:nvSpPr>
        <p:spPr>
          <a:xfrm>
            <a:off x="9509760" y="3017520"/>
            <a:ext cx="365760" cy="365760"/>
          </a:xfrm>
          <a:prstGeom prst="rect">
            <a:avLst/>
          </a:prstGeom>
          <a:solidFill>
            <a:srgbClr val="D5E2F2"/>
          </a:solidFill>
          <a:ln w="9525">
            <a:solidFill>
              <a:srgbClr val="8A93A6"/>
            </a:solidFill>
            <a:prstDash val="solid"/>
          </a:ln>
        </p:spPr>
      </p:sp>
      <p:sp>
        <p:nvSpPr>
          <p:cNvPr id="69" name="Shape 66"/>
          <p:cNvSpPr/>
          <p:nvPr/>
        </p:nvSpPr>
        <p:spPr>
          <a:xfrm>
            <a:off x="9875520" y="3017520"/>
            <a:ext cx="365760" cy="365760"/>
          </a:xfrm>
          <a:prstGeom prst="rect">
            <a:avLst/>
          </a:prstGeom>
          <a:solidFill>
            <a:srgbClr val="D5E2F2"/>
          </a:solidFill>
          <a:ln w="9525">
            <a:solidFill>
              <a:srgbClr val="8A93A6"/>
            </a:solidFill>
            <a:prstDash val="solid"/>
          </a:ln>
        </p:spPr>
      </p:sp>
      <p:sp>
        <p:nvSpPr>
          <p:cNvPr id="70" name="Shape 67"/>
          <p:cNvSpPr/>
          <p:nvPr/>
        </p:nvSpPr>
        <p:spPr>
          <a:xfrm>
            <a:off x="8778240" y="3383280"/>
            <a:ext cx="365760" cy="365760"/>
          </a:xfrm>
          <a:prstGeom prst="rect">
            <a:avLst/>
          </a:prstGeom>
          <a:solidFill>
            <a:srgbClr val="D5E2F2"/>
          </a:solidFill>
          <a:ln w="9525">
            <a:solidFill>
              <a:srgbClr val="8A93A6"/>
            </a:solidFill>
            <a:prstDash val="solid"/>
          </a:ln>
        </p:spPr>
      </p:sp>
      <p:sp>
        <p:nvSpPr>
          <p:cNvPr id="71" name="Shape 68"/>
          <p:cNvSpPr/>
          <p:nvPr/>
        </p:nvSpPr>
        <p:spPr>
          <a:xfrm>
            <a:off x="9144000" y="3383280"/>
            <a:ext cx="365760" cy="365760"/>
          </a:xfrm>
          <a:prstGeom prst="rect">
            <a:avLst/>
          </a:prstGeom>
          <a:solidFill>
            <a:schemeClr val="accent4"/>
          </a:solidFill>
          <a:ln w="9525">
            <a:solidFill>
              <a:srgbClr val="8A93A6"/>
            </a:solidFill>
            <a:prstDash val="solid"/>
          </a:ln>
        </p:spPr>
      </p:sp>
      <p:sp>
        <p:nvSpPr>
          <p:cNvPr id="72" name="Shape 69"/>
          <p:cNvSpPr/>
          <p:nvPr/>
        </p:nvSpPr>
        <p:spPr>
          <a:xfrm>
            <a:off x="9509760" y="3383280"/>
            <a:ext cx="365760" cy="365760"/>
          </a:xfrm>
          <a:prstGeom prst="rect">
            <a:avLst/>
          </a:prstGeom>
          <a:solidFill>
            <a:srgbClr val="D5E2F2"/>
          </a:solidFill>
          <a:ln w="9525">
            <a:solidFill>
              <a:srgbClr val="8A93A6"/>
            </a:solidFill>
            <a:prstDash val="solid"/>
          </a:ln>
        </p:spPr>
      </p:sp>
      <p:sp>
        <p:nvSpPr>
          <p:cNvPr id="73" name="Shape 70"/>
          <p:cNvSpPr/>
          <p:nvPr/>
        </p:nvSpPr>
        <p:spPr>
          <a:xfrm>
            <a:off x="9875520" y="3383280"/>
            <a:ext cx="365760" cy="365760"/>
          </a:xfrm>
          <a:prstGeom prst="rect">
            <a:avLst/>
          </a:prstGeom>
          <a:solidFill>
            <a:srgbClr val="D5E2F2"/>
          </a:solidFill>
          <a:ln w="9525">
            <a:solidFill>
              <a:srgbClr val="8A93A6"/>
            </a:solidFill>
            <a:prstDash val="solid"/>
          </a:ln>
        </p:spPr>
      </p:sp>
      <p:sp>
        <p:nvSpPr>
          <p:cNvPr id="74" name="Shape 71"/>
          <p:cNvSpPr/>
          <p:nvPr/>
        </p:nvSpPr>
        <p:spPr>
          <a:xfrm>
            <a:off x="8778240" y="3749040"/>
            <a:ext cx="365760" cy="365760"/>
          </a:xfrm>
          <a:prstGeom prst="rect">
            <a:avLst/>
          </a:prstGeom>
          <a:solidFill>
            <a:srgbClr val="D5E2F2"/>
          </a:solidFill>
          <a:ln w="9525">
            <a:solidFill>
              <a:srgbClr val="8A93A6"/>
            </a:solidFill>
            <a:prstDash val="solid"/>
          </a:ln>
        </p:spPr>
      </p:sp>
      <p:sp>
        <p:nvSpPr>
          <p:cNvPr id="75" name="Shape 72"/>
          <p:cNvSpPr/>
          <p:nvPr/>
        </p:nvSpPr>
        <p:spPr>
          <a:xfrm>
            <a:off x="9144000" y="3749040"/>
            <a:ext cx="365760" cy="365760"/>
          </a:xfrm>
          <a:prstGeom prst="rect">
            <a:avLst/>
          </a:prstGeom>
          <a:solidFill>
            <a:schemeClr val="accent4"/>
          </a:solidFill>
          <a:ln w="9525">
            <a:solidFill>
              <a:srgbClr val="8A93A6"/>
            </a:solidFill>
            <a:prstDash val="solid"/>
          </a:ln>
        </p:spPr>
      </p:sp>
      <p:sp>
        <p:nvSpPr>
          <p:cNvPr id="76" name="Shape 73"/>
          <p:cNvSpPr/>
          <p:nvPr/>
        </p:nvSpPr>
        <p:spPr>
          <a:xfrm>
            <a:off x="9509760" y="3749040"/>
            <a:ext cx="365760" cy="365760"/>
          </a:xfrm>
          <a:prstGeom prst="rect">
            <a:avLst/>
          </a:prstGeom>
          <a:solidFill>
            <a:srgbClr val="D5E2F2"/>
          </a:solidFill>
          <a:ln w="9525">
            <a:solidFill>
              <a:srgbClr val="8A93A6"/>
            </a:solidFill>
            <a:prstDash val="solid"/>
          </a:ln>
        </p:spPr>
      </p:sp>
      <p:sp>
        <p:nvSpPr>
          <p:cNvPr id="77" name="Shape 74"/>
          <p:cNvSpPr/>
          <p:nvPr/>
        </p:nvSpPr>
        <p:spPr>
          <a:xfrm>
            <a:off x="9875520" y="3749040"/>
            <a:ext cx="365760" cy="365760"/>
          </a:xfrm>
          <a:prstGeom prst="rect">
            <a:avLst/>
          </a:prstGeom>
          <a:solidFill>
            <a:srgbClr val="D5E2F2"/>
          </a:solidFill>
          <a:ln w="9525">
            <a:solidFill>
              <a:srgbClr val="8A93A6"/>
            </a:solidFill>
            <a:prstDash val="solid"/>
          </a:ln>
        </p:spPr>
      </p:sp>
      <p:sp>
        <p:nvSpPr>
          <p:cNvPr id="78" name="Text 75"/>
          <p:cNvSpPr txBox="1"/>
          <p:nvPr/>
        </p:nvSpPr>
        <p:spPr>
          <a:xfrm>
            <a:off x="8229600" y="1600200"/>
            <a:ext cx="2560320" cy="274320"/>
          </a:xfrm>
          <a:prstGeom prst="rect">
            <a:avLst/>
          </a:prstGeom>
          <a:noFill/>
          <a:ln/>
        </p:spPr>
        <p:txBody>
          <a:bodyPr wrap="square" lIns="0" tIns="0" rIns="0" bIns="0" rtlCol="0" anchor="t"/>
          <a:lstStyle/>
          <a:p>
            <a:pPr algn="ctr" indent="0" marL="0">
              <a:buNone/>
            </a:pPr>
            <a:r>
              <a:rPr lang="en-US" sz="1200" dirty="0">
                <a:solidFill>
                  <a:schemeClr val="tx2"/>
                </a:solidFill>
              </a:rPr>
              <a:t>V  (T × d), from the cache</a:t>
            </a:r>
            <a:endParaRPr lang="en-US" sz="1200" dirty="0"/>
          </a:p>
        </p:txBody>
      </p:sp>
      <p:sp>
        <p:nvSpPr>
          <p:cNvPr id="79" name="Shape 76"/>
          <p:cNvSpPr/>
          <p:nvPr/>
        </p:nvSpPr>
        <p:spPr>
          <a:xfrm>
            <a:off x="8778240" y="4206240"/>
            <a:ext cx="365760" cy="365760"/>
          </a:xfrm>
          <a:prstGeom prst="rect">
            <a:avLst/>
          </a:prstGeom>
          <a:solidFill>
            <a:schemeClr val="bg2"/>
          </a:solidFill>
          <a:ln w="9525">
            <a:solidFill>
              <a:srgbClr val="8A93A6"/>
            </a:solidFill>
            <a:prstDash val="solid"/>
          </a:ln>
        </p:spPr>
      </p:sp>
      <p:sp>
        <p:nvSpPr>
          <p:cNvPr id="80" name="Shape 77"/>
          <p:cNvSpPr/>
          <p:nvPr/>
        </p:nvSpPr>
        <p:spPr>
          <a:xfrm>
            <a:off x="9144000" y="4206240"/>
            <a:ext cx="365760" cy="365760"/>
          </a:xfrm>
          <a:prstGeom prst="rect">
            <a:avLst/>
          </a:prstGeom>
          <a:solidFill>
            <a:schemeClr val="accent1"/>
          </a:solidFill>
          <a:ln w="9525">
            <a:solidFill>
              <a:srgbClr val="8A93A6"/>
            </a:solidFill>
            <a:prstDash val="solid"/>
          </a:ln>
        </p:spPr>
      </p:sp>
      <p:sp>
        <p:nvSpPr>
          <p:cNvPr id="81" name="Shape 78"/>
          <p:cNvSpPr/>
          <p:nvPr/>
        </p:nvSpPr>
        <p:spPr>
          <a:xfrm>
            <a:off x="9509760" y="4206240"/>
            <a:ext cx="365760" cy="365760"/>
          </a:xfrm>
          <a:prstGeom prst="rect">
            <a:avLst/>
          </a:prstGeom>
          <a:solidFill>
            <a:schemeClr val="bg2"/>
          </a:solidFill>
          <a:ln w="9525">
            <a:solidFill>
              <a:srgbClr val="8A93A6"/>
            </a:solidFill>
            <a:prstDash val="solid"/>
          </a:ln>
        </p:spPr>
      </p:sp>
      <p:sp>
        <p:nvSpPr>
          <p:cNvPr id="82" name="Shape 79"/>
          <p:cNvSpPr/>
          <p:nvPr/>
        </p:nvSpPr>
        <p:spPr>
          <a:xfrm>
            <a:off x="9875520" y="4206240"/>
            <a:ext cx="365760" cy="365760"/>
          </a:xfrm>
          <a:prstGeom prst="rect">
            <a:avLst/>
          </a:prstGeom>
          <a:solidFill>
            <a:schemeClr val="bg2"/>
          </a:solidFill>
          <a:ln w="9525">
            <a:solidFill>
              <a:srgbClr val="8A93A6"/>
            </a:solidFill>
            <a:prstDash val="solid"/>
          </a:ln>
        </p:spPr>
      </p:sp>
      <p:sp>
        <p:nvSpPr>
          <p:cNvPr id="83" name="Text 80"/>
          <p:cNvSpPr txBox="1"/>
          <p:nvPr/>
        </p:nvSpPr>
        <p:spPr>
          <a:xfrm>
            <a:off x="8595360" y="4617720"/>
            <a:ext cx="1828800" cy="274320"/>
          </a:xfrm>
          <a:prstGeom prst="rect">
            <a:avLst/>
          </a:prstGeom>
          <a:noFill/>
          <a:ln/>
        </p:spPr>
        <p:txBody>
          <a:bodyPr wrap="square" lIns="0" tIns="0" rIns="0" bIns="0" rtlCol="0" anchor="t"/>
          <a:lstStyle/>
          <a:p>
            <a:pPr algn="ctr" indent="0" marL="0">
              <a:buNone/>
            </a:pPr>
            <a:r>
              <a:rPr lang="en-US" sz="1200" dirty="0">
                <a:solidFill>
                  <a:schemeClr val="tx2"/>
                </a:solidFill>
              </a:rPr>
              <a:t>output  (1 × d)</a:t>
            </a:r>
            <a:endParaRPr lang="en-US" sz="1200" dirty="0"/>
          </a:p>
        </p:txBody>
      </p:sp>
      <p:sp>
        <p:nvSpPr>
          <p:cNvPr id="84" name="Text 81"/>
          <p:cNvSpPr txBox="1"/>
          <p:nvPr/>
        </p:nvSpPr>
        <p:spPr>
          <a:xfrm>
            <a:off x="10351008" y="2788920"/>
            <a:ext cx="1325880" cy="914400"/>
          </a:xfrm>
          <a:prstGeom prst="rect">
            <a:avLst/>
          </a:prstGeom>
          <a:noFill/>
          <a:ln/>
        </p:spPr>
        <p:txBody>
          <a:bodyPr wrap="square" lIns="0" tIns="0" rIns="0" bIns="0" rtlCol="0" anchor="t"/>
          <a:lstStyle/>
          <a:p>
            <a:pPr indent="0" marL="0">
              <a:buNone/>
            </a:pPr>
            <a:r>
              <a:rPr lang="en-US" sz="1200" b="1" dirty="0">
                <a:solidFill>
                  <a:schemeClr val="tx1"/>
                </a:solidFill>
              </a:rPr>
              <a:t>output 2</a:t>
            </a:r>
            <a:endParaRPr lang="en-US" sz="1200" dirty="0"/>
          </a:p>
          <a:p>
            <a:pPr indent="0" marL="0">
              <a:buNone/>
            </a:pPr>
            <a:r>
              <a:rPr lang="en-US" sz="1200" dirty="0">
                <a:solidFill>
                  <a:schemeClr val="tx1"/>
                </a:solidFill>
              </a:rPr>
              <a:t>weights · column 2</a:t>
            </a:r>
            <a:endParaRPr lang="en-US" sz="1200" dirty="0"/>
          </a:p>
          <a:p>
            <a:pPr indent="0" marL="0">
              <a:buNone/>
            </a:pPr>
            <a:r>
              <a:rPr lang="en-US" sz="1200" dirty="0">
                <a:solidFill>
                  <a:schemeClr val="tx1"/>
                </a:solidFill>
              </a:rPr>
              <a:t>T = 6 multiply-adds</a:t>
            </a:r>
            <a:endParaRPr lang="en-US" sz="1200" dirty="0"/>
          </a:p>
        </p:txBody>
      </p:sp>
      <p:sp>
        <p:nvSpPr>
          <p:cNvPr id="85" name="Text 82"/>
          <p:cNvSpPr txBox="1"/>
          <p:nvPr/>
        </p:nvSpPr>
        <p:spPr>
          <a:xfrm>
            <a:off x="6263640" y="4937760"/>
            <a:ext cx="5349240" cy="320040"/>
          </a:xfrm>
          <a:prstGeom prst="rect">
            <a:avLst/>
          </a:prstGeom>
          <a:noFill/>
          <a:ln/>
        </p:spPr>
        <p:txBody>
          <a:bodyPr wrap="square" lIns="0" tIns="0" rIns="0" bIns="0" rtlCol="0" anchor="t"/>
          <a:lstStyle/>
          <a:p>
            <a:pPr indent="0" marL="0">
              <a:buNone/>
            </a:pPr>
            <a:r>
              <a:rPr lang="en-US" sz="1400" dirty="0">
                <a:solidFill>
                  <a:schemeClr val="tx1"/>
                </a:solidFill>
              </a:rPr>
              <a:t>4 outputs × 6 = T·d multiply-adds = </a:t>
            </a:r>
            <a:r>
              <a:rPr lang="en-US" sz="1400" b="1" dirty="0">
                <a:solidFill>
                  <a:schemeClr val="tx1"/>
                </a:solidFill>
              </a:rPr>
              <a:t>2·T·d FLOPs</a:t>
            </a:r>
            <a:endParaRPr lang="en-US" sz="1400" dirty="0"/>
          </a:p>
        </p:txBody>
      </p:sp>
      <p:sp>
        <p:nvSpPr>
          <p:cNvPr id="86" name="every number once"/>
          <p:cNvSpPr/>
          <p:nvPr/>
        </p:nvSpPr>
        <p:spPr>
          <a:xfrm>
            <a:off x="548640" y="5440680"/>
            <a:ext cx="11064240" cy="777240"/>
          </a:xfrm>
          <a:prstGeom prst="roundRect">
            <a:avLst>
              <a:gd name="adj" fmla="val 14118"/>
            </a:avLst>
          </a:prstGeom>
          <a:solidFill>
            <a:schemeClr val="accent5"/>
          </a:solidFill>
          <a:ln w="12700">
            <a:solidFill>
              <a:schemeClr val="accent5"/>
            </a:solidFill>
            <a:prstDash val="solid"/>
          </a:ln>
        </p:spPr>
      </p:sp>
      <p:sp>
        <p:nvSpPr>
          <p:cNvPr id="87" name="Text 84"/>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600" b="1" dirty="0">
                <a:solidFill>
                  <a:schemeClr val="tx1"/>
                </a:solidFill>
              </a:rPr>
              <a:t>Every number in K and V is used in exactly one multiply-add per query head: </a:t>
            </a:r>
            <a:r>
              <a:rPr lang="en-US" sz="1600" dirty="0">
                <a:solidFill>
                  <a:schemeClr val="tx1"/>
                </a:solidFill>
              </a:rPr>
              <a:t>2·T·d + 2·T·d = </a:t>
            </a:r>
            <a:r>
              <a:rPr lang="en-US" sz="1600" b="1" dirty="0">
                <a:solidFill>
                  <a:schemeClr val="accent1"/>
                </a:solidFill>
              </a:rPr>
              <a:t>4·T·d FLOPs per head</a:t>
            </a:r>
            <a:r>
              <a:rPr lang="en-US" sz="1600" dirty="0">
                <a:solidFill>
                  <a:schemeClr val="tx1"/>
                </a:solidFill>
              </a:rPr>
              <a:t>, 4·H·T·d for H heads.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reading the cache, not computing, is the limit</a:t>
            </a:r>
            <a:endParaRPr lang="en-US" sz="3200" dirty="0"/>
          </a:p>
        </p:txBody>
      </p:sp>
      <p:sp>
        <p:nvSpPr>
          <p:cNvPr id="4" name="Text 1"/>
          <p:cNvSpPr txBox="1"/>
          <p:nvPr/>
        </p:nvSpPr>
        <p:spPr>
          <a:xfrm>
            <a:off x="548640" y="1280160"/>
            <a:ext cx="6766560" cy="365760"/>
          </a:xfrm>
          <a:prstGeom prst="rect">
            <a:avLst/>
          </a:prstGeom>
          <a:noFill/>
          <a:ln/>
        </p:spPr>
        <p:txBody>
          <a:bodyPr wrap="square" lIns="0" tIns="0" rIns="0" bIns="0" rtlCol="0" anchor="t"/>
          <a:lstStyle/>
          <a:p>
            <a:pPr indent="0" marL="0">
              <a:buNone/>
            </a:pPr>
            <a:r>
              <a:rPr lang="en-US" sz="1600" b="1" dirty="0">
                <a:solidFill>
                  <a:schemeClr val="tx1"/>
                </a:solidFill>
              </a:rPr>
              <a:t>One decoding step, one layer, G key/value heads (fp16)</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766560" cy="914400"/>
        </p:xfrm>
        <a:graphic>
          <a:graphicData uri="http://schemas.openxmlformats.org/drawingml/2006/table">
            <a:tbl>
              <a:tblPr/>
              <a:tblGrid>
                <a:gridCol w="3291840"/>
                <a:gridCol w="3474720"/>
              </a:tblGrid>
              <a:tr h="502920">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Amount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400" dirty="0">
                          <a:solidFill>
                            <a:schemeClr val="tx1"/>
                          </a:solidFill>
                        </a:rPr>
                        <a:t>Arithmetic: q·K and weights·V for H query heads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 4 · H · T · head_dim  FLOPs</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Cache read: K and V for G heads, 2 bytes each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 4 · G · T · head_dim  bytes</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Arithmetic per byte read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H / G  FLOP/byte</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6" name="FLOP per byte read with MHA (G = H)"/>
          <p:cNvSpPr/>
          <p:nvPr/>
        </p:nvSpPr>
        <p:spPr>
          <a:xfrm>
            <a:off x="548640" y="4069080"/>
            <a:ext cx="324612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777240" y="4160520"/>
            <a:ext cx="2788920" cy="59436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 1</a:t>
            </a:r>
            <a:endParaRPr lang="en-US" sz="3600" dirty="0"/>
          </a:p>
        </p:txBody>
      </p:sp>
      <p:sp>
        <p:nvSpPr>
          <p:cNvPr id="8" name="Text 4"/>
          <p:cNvSpPr txBox="1"/>
          <p:nvPr/>
        </p:nvSpPr>
        <p:spPr>
          <a:xfrm>
            <a:off x="777240" y="4800600"/>
            <a:ext cx="2788920" cy="548640"/>
          </a:xfrm>
          <a:prstGeom prst="rect">
            <a:avLst/>
          </a:prstGeom>
          <a:noFill/>
          <a:ln/>
        </p:spPr>
        <p:txBody>
          <a:bodyPr wrap="square" lIns="0" tIns="0" rIns="0" bIns="0" rtlCol="0" anchor="t"/>
          <a:lstStyle/>
          <a:p>
            <a:pPr indent="0" marL="0">
              <a:buNone/>
            </a:pPr>
            <a:r>
              <a:rPr lang="en-US" sz="1300" dirty="0">
                <a:solidFill>
                  <a:schemeClr val="tx2"/>
                </a:solidFill>
              </a:rPr>
              <a:t>FLOP per byte read with MHA (G = H)</a:t>
            </a:r>
            <a:endParaRPr lang="en-US" sz="1300" dirty="0"/>
          </a:p>
        </p:txBody>
      </p:sp>
      <p:sp>
        <p:nvSpPr>
          <p:cNvPr id="9" name="FLOPs a modern GPU can do in the time it reads one byte"/>
          <p:cNvSpPr/>
          <p:nvPr/>
        </p:nvSpPr>
        <p:spPr>
          <a:xfrm>
            <a:off x="4069080" y="4069080"/>
            <a:ext cx="324612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4297680" y="4160520"/>
            <a:ext cx="2788920" cy="59436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~100</a:t>
            </a:r>
            <a:endParaRPr lang="en-US" sz="3600" dirty="0"/>
          </a:p>
        </p:txBody>
      </p:sp>
      <p:sp>
        <p:nvSpPr>
          <p:cNvPr id="11" name="Text 7"/>
          <p:cNvSpPr txBox="1"/>
          <p:nvPr/>
        </p:nvSpPr>
        <p:spPr>
          <a:xfrm>
            <a:off x="4297680" y="4800600"/>
            <a:ext cx="2788920" cy="548640"/>
          </a:xfrm>
          <a:prstGeom prst="rect">
            <a:avLst/>
          </a:prstGeom>
          <a:noFill/>
          <a:ln/>
        </p:spPr>
        <p:txBody>
          <a:bodyPr wrap="square" lIns="0" tIns="0" rIns="0" bIns="0" rtlCol="0" anchor="t"/>
          <a:lstStyle/>
          <a:p>
            <a:pPr indent="0" marL="0">
              <a:buNone/>
            </a:pPr>
            <a:r>
              <a:rPr lang="en-US" sz="1300" dirty="0">
                <a:solidFill>
                  <a:schemeClr val="tx2"/>
                </a:solidFill>
              </a:rPr>
              <a:t>FLOPs a modern GPU can do in the time it reads one byte</a:t>
            </a:r>
            <a:endParaRPr lang="en-US" sz="1300" dirty="0"/>
          </a:p>
        </p:txBody>
      </p:sp>
      <p:sp>
        <p:nvSpPr>
          <p:cNvPr id="12" name="Text 8"/>
          <p:cNvSpPr txBox="1"/>
          <p:nvPr/>
        </p:nvSpPr>
        <p:spPr>
          <a:xfrm>
            <a:off x="548640" y="5669280"/>
            <a:ext cx="6766560" cy="365760"/>
          </a:xfrm>
          <a:prstGeom prst="rect">
            <a:avLst/>
          </a:prstGeom>
          <a:noFill/>
          <a:ln/>
        </p:spPr>
        <p:txBody>
          <a:bodyPr wrap="square" lIns="0" tIns="0" rIns="0" bIns="0" rtlCol="0" anchor="t"/>
          <a:lstStyle/>
          <a:p>
            <a:pPr indent="0" marL="0">
              <a:buNone/>
            </a:pPr>
            <a:r>
              <a:rPr lang="en-US" sz="1600" b="1" dirty="0">
                <a:solidFill>
                  <a:schemeClr val="accent3"/>
                </a:solidFill>
              </a:rPr>
              <a:t>So the GPU spends most of each decoding step waiting for data.</a:t>
            </a:r>
            <a:endParaRPr lang="en-US" sz="1600" dirty="0"/>
          </a:p>
        </p:txBody>
      </p:sp>
      <p:sp>
        <p:nvSpPr>
          <p:cNvPr id="13" name="conclusion"/>
          <p:cNvSpPr/>
          <p:nvPr/>
        </p:nvSpPr>
        <p:spPr>
          <a:xfrm>
            <a:off x="7680960" y="1280160"/>
            <a:ext cx="3931920" cy="2743200"/>
          </a:xfrm>
          <a:prstGeom prst="roundRect">
            <a:avLst>
              <a:gd name="adj" fmla="val 4000"/>
            </a:avLst>
          </a:prstGeom>
          <a:solidFill>
            <a:schemeClr val="accent5"/>
          </a:solidFill>
          <a:ln w="12700">
            <a:solidFill>
              <a:schemeClr val="accent5"/>
            </a:solidFill>
            <a:prstDash val="solid"/>
          </a:ln>
        </p:spPr>
      </p:sp>
      <p:sp>
        <p:nvSpPr>
          <p:cNvPr id="14" name="Text 10"/>
          <p:cNvSpPr txBox="1"/>
          <p:nvPr/>
        </p:nvSpPr>
        <p:spPr>
          <a:xfrm>
            <a:off x="7955280" y="1280160"/>
            <a:ext cx="3383280" cy="2743200"/>
          </a:xfrm>
          <a:prstGeom prst="rect">
            <a:avLst/>
          </a:prstGeom>
          <a:noFill/>
          <a:ln/>
        </p:spPr>
        <p:txBody>
          <a:bodyPr wrap="square" lIns="0" tIns="0" rIns="0" bIns="0" rtlCol="0" anchor="ctr"/>
          <a:lstStyle/>
          <a:p>
            <a:pPr indent="0" marL="0">
              <a:buNone/>
            </a:pPr>
            <a:r>
              <a:rPr lang="en-US" sz="1700" b="1" dirty="0">
                <a:solidFill>
                  <a:schemeClr val="tx1"/>
                </a:solidFill>
              </a:rPr>
              <a:t>The arithmetic is fixed by the number of query heads.</a:t>
            </a:r>
            <a:endParaRPr lang="en-US" sz="1700" dirty="0"/>
          </a:p>
          <a:p>
            <a:pPr indent="0" marL="0">
              <a:buNone/>
            </a:pPr>
            <a:r>
              <a:rPr lang="en-US" sz="1700" dirty="0">
                <a:solidFill>
                  <a:schemeClr val="tx1"/>
                </a:solidFill>
              </a:rPr>
              <a:t>The only way to speed decoding up is to </a:t>
            </a:r>
            <a:r>
              <a:rPr lang="en-US" sz="1700" b="1" dirty="0">
                <a:solidFill>
                  <a:schemeClr val="accent1"/>
                </a:solidFill>
              </a:rPr>
              <a:t>read fewer bytes</a:t>
            </a:r>
            <a:r>
              <a:rPr lang="en-US" sz="1700" dirty="0">
                <a:solidFill>
                  <a:schemeClr val="tx1"/>
                </a:solidFill>
              </a:rPr>
              <a:t>, which means storing fewer K/V heads.</a:t>
            </a:r>
            <a:endParaRPr lang="en-US" sz="1700" dirty="0"/>
          </a:p>
        </p:txBody>
      </p:sp>
      <p:sp>
        <p:nvSpPr>
          <p:cNvPr id="15" name="question"/>
          <p:cNvSpPr/>
          <p:nvPr/>
        </p:nvSpPr>
        <p:spPr>
          <a:xfrm>
            <a:off x="7680960" y="4206240"/>
            <a:ext cx="3931920" cy="1965960"/>
          </a:xfrm>
          <a:prstGeom prst="roundRect">
            <a:avLst>
              <a:gd name="adj" fmla="val 5581"/>
            </a:avLst>
          </a:prstGeom>
          <a:solidFill>
            <a:schemeClr val="tx1"/>
          </a:solidFill>
          <a:ln w="12700">
            <a:solidFill>
              <a:schemeClr val="tx1"/>
            </a:solidFill>
            <a:prstDash val="solid"/>
          </a:ln>
        </p:spPr>
      </p:sp>
      <p:sp>
        <p:nvSpPr>
          <p:cNvPr id="16" name="Text 12"/>
          <p:cNvSpPr txBox="1"/>
          <p:nvPr/>
        </p:nvSpPr>
        <p:spPr>
          <a:xfrm>
            <a:off x="7955280" y="4206240"/>
            <a:ext cx="3383280" cy="1965960"/>
          </a:xfrm>
          <a:prstGeom prst="rect">
            <a:avLst/>
          </a:prstGeom>
          <a:noFill/>
          <a:ln/>
        </p:spPr>
        <p:txBody>
          <a:bodyPr wrap="square" lIns="0" tIns="0" rIns="0" bIns="0" rtlCol="0" anchor="ctr"/>
          <a:lstStyle/>
          <a:p>
            <a:pPr indent="0" marL="0">
              <a:buNone/>
            </a:pPr>
            <a:r>
              <a:rPr lang="en-US" sz="1600" i="1" dirty="0">
                <a:solidFill>
                  <a:schemeClr val="bg1"/>
                </a:solidFill>
              </a:rPr>
              <a:t>Do all heads really need separate keys and values? Or can each head ask its own question (its own query) and search a shared table?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Each byte read serves H/G heads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6</a:t>
            </a:r>
            <a:endParaRPr lang="en-US" sz="1400" dirty="0"/>
          </a:p>
        </p:txBody>
      </p:sp>
      <p:sp>
        <p:nvSpPr>
          <p:cNvPr id="6" name="Text 3"/>
          <p:cNvSpPr txBox="1"/>
          <p:nvPr/>
        </p:nvSpPr>
        <p:spPr>
          <a:xfrm>
            <a:off x="548640" y="1234440"/>
            <a:ext cx="1828800" cy="411480"/>
          </a:xfrm>
          <a:prstGeom prst="rect">
            <a:avLst/>
          </a:prstGeom>
          <a:noFill/>
          <a:ln/>
        </p:spPr>
        <p:txBody>
          <a:bodyPr wrap="square" lIns="0" tIns="0" rIns="0" bIns="0" rtlCol="0" anchor="ctr"/>
          <a:lstStyle/>
          <a:p>
            <a:pPr indent="0" marL="0">
              <a:buNone/>
            </a:pPr>
            <a:r>
              <a:rPr lang="en-US" sz="1800" b="1" dirty="0">
                <a:solidFill>
                  <a:schemeClr val="tx1"/>
                </a:solidFill>
              </a:rPr>
              <a:t>MHA</a:t>
            </a:r>
            <a:endParaRPr lang="en-US" sz="1800" dirty="0"/>
          </a:p>
        </p:txBody>
      </p:sp>
      <p:sp>
        <p:nvSpPr>
          <p:cNvPr id="7" name="Text 4"/>
          <p:cNvSpPr txBox="1"/>
          <p:nvPr/>
        </p:nvSpPr>
        <p:spPr>
          <a:xfrm>
            <a:off x="548640" y="2011680"/>
            <a:ext cx="1828800" cy="365760"/>
          </a:xfrm>
          <a:prstGeom prst="rect">
            <a:avLst/>
          </a:prstGeom>
          <a:noFill/>
          <a:ln/>
        </p:spPr>
        <p:txBody>
          <a:bodyPr wrap="square" lIns="0" tIns="0" rIns="0" bIns="0" rtlCol="0" anchor="ctr"/>
          <a:lstStyle/>
          <a:p>
            <a:pPr indent="0" marL="0">
              <a:buNone/>
            </a:pPr>
            <a:r>
              <a:rPr lang="en-US" sz="1300" dirty="0">
                <a:solidFill>
                  <a:schemeClr val="tx2"/>
                </a:solidFill>
              </a:rPr>
              <a:t>G = 8 K/V heads</a:t>
            </a:r>
            <a:endParaRPr lang="en-US" sz="1300" dirty="0"/>
          </a:p>
        </p:txBody>
      </p:sp>
      <p:sp>
        <p:nvSpPr>
          <p:cNvPr id="8" name="Shape 5"/>
          <p:cNvSpPr/>
          <p:nvPr/>
        </p:nvSpPr>
        <p:spPr>
          <a:xfrm>
            <a:off x="2880360" y="1600200"/>
            <a:ext cx="0" cy="411480"/>
          </a:xfrm>
          <a:prstGeom prst="line">
            <a:avLst/>
          </a:prstGeom>
          <a:noFill/>
          <a:ln w="12700">
            <a:solidFill>
              <a:schemeClr val="tx2"/>
            </a:solidFill>
            <a:prstDash val="solid"/>
          </a:ln>
        </p:spPr>
      </p:sp>
      <p:sp>
        <p:nvSpPr>
          <p:cNvPr id="9" name="Shape 6"/>
          <p:cNvSpPr/>
          <p:nvPr/>
        </p:nvSpPr>
        <p:spPr>
          <a:xfrm>
            <a:off x="2514600" y="2011680"/>
            <a:ext cx="731520" cy="365760"/>
          </a:xfrm>
          <a:prstGeom prst="roundRect">
            <a:avLst>
              <a:gd name="adj" fmla="val 20000"/>
            </a:avLst>
          </a:prstGeom>
          <a:solidFill>
            <a:schemeClr val="accent4"/>
          </a:solidFill>
          <a:ln w="12700">
            <a:solidFill>
              <a:schemeClr val="accent4"/>
            </a:solidFill>
            <a:prstDash val="solid"/>
          </a:ln>
        </p:spPr>
      </p:sp>
      <p:sp>
        <p:nvSpPr>
          <p:cNvPr id="10" name="Text 7"/>
          <p:cNvSpPr txBox="1"/>
          <p:nvPr/>
        </p:nvSpPr>
        <p:spPr>
          <a:xfrm>
            <a:off x="251460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K,V1</a:t>
            </a:r>
            <a:endParaRPr lang="en-US" sz="1100" dirty="0"/>
          </a:p>
        </p:txBody>
      </p:sp>
      <p:sp>
        <p:nvSpPr>
          <p:cNvPr id="11" name="Shape 8"/>
          <p:cNvSpPr/>
          <p:nvPr/>
        </p:nvSpPr>
        <p:spPr>
          <a:xfrm>
            <a:off x="3749040" y="1600200"/>
            <a:ext cx="0" cy="411480"/>
          </a:xfrm>
          <a:prstGeom prst="line">
            <a:avLst/>
          </a:prstGeom>
          <a:noFill/>
          <a:ln w="12700">
            <a:solidFill>
              <a:schemeClr val="tx2"/>
            </a:solidFill>
            <a:prstDash val="solid"/>
          </a:ln>
        </p:spPr>
      </p:sp>
      <p:sp>
        <p:nvSpPr>
          <p:cNvPr id="12" name="Shape 9"/>
          <p:cNvSpPr/>
          <p:nvPr/>
        </p:nvSpPr>
        <p:spPr>
          <a:xfrm>
            <a:off x="3383280" y="2011680"/>
            <a:ext cx="731520" cy="365760"/>
          </a:xfrm>
          <a:prstGeom prst="roundRect">
            <a:avLst>
              <a:gd name="adj" fmla="val 20000"/>
            </a:avLst>
          </a:prstGeom>
          <a:solidFill>
            <a:schemeClr val="accent4"/>
          </a:solidFill>
          <a:ln w="12700">
            <a:solidFill>
              <a:schemeClr val="accent4"/>
            </a:solidFill>
            <a:prstDash val="solid"/>
          </a:ln>
        </p:spPr>
      </p:sp>
      <p:sp>
        <p:nvSpPr>
          <p:cNvPr id="13" name="Text 10"/>
          <p:cNvSpPr txBox="1"/>
          <p:nvPr/>
        </p:nvSpPr>
        <p:spPr>
          <a:xfrm>
            <a:off x="338328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K,V2</a:t>
            </a:r>
            <a:endParaRPr lang="en-US" sz="1100" dirty="0"/>
          </a:p>
        </p:txBody>
      </p:sp>
      <p:sp>
        <p:nvSpPr>
          <p:cNvPr id="14" name="Shape 11"/>
          <p:cNvSpPr/>
          <p:nvPr/>
        </p:nvSpPr>
        <p:spPr>
          <a:xfrm>
            <a:off x="4617720" y="1600200"/>
            <a:ext cx="0" cy="411480"/>
          </a:xfrm>
          <a:prstGeom prst="line">
            <a:avLst/>
          </a:prstGeom>
          <a:noFill/>
          <a:ln w="12700">
            <a:solidFill>
              <a:schemeClr val="tx2"/>
            </a:solidFill>
            <a:prstDash val="solid"/>
          </a:ln>
        </p:spPr>
      </p:sp>
      <p:sp>
        <p:nvSpPr>
          <p:cNvPr id="15" name="Shape 12"/>
          <p:cNvSpPr/>
          <p:nvPr/>
        </p:nvSpPr>
        <p:spPr>
          <a:xfrm>
            <a:off x="4251960" y="2011680"/>
            <a:ext cx="731520" cy="365760"/>
          </a:xfrm>
          <a:prstGeom prst="roundRect">
            <a:avLst>
              <a:gd name="adj" fmla="val 20000"/>
            </a:avLst>
          </a:prstGeom>
          <a:solidFill>
            <a:schemeClr val="accent4"/>
          </a:solidFill>
          <a:ln w="12700">
            <a:solidFill>
              <a:schemeClr val="accent4"/>
            </a:solidFill>
            <a:prstDash val="solid"/>
          </a:ln>
        </p:spPr>
      </p:sp>
      <p:sp>
        <p:nvSpPr>
          <p:cNvPr id="16" name="Text 13"/>
          <p:cNvSpPr txBox="1"/>
          <p:nvPr/>
        </p:nvSpPr>
        <p:spPr>
          <a:xfrm>
            <a:off x="425196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K,V3</a:t>
            </a:r>
            <a:endParaRPr lang="en-US" sz="1100" dirty="0"/>
          </a:p>
        </p:txBody>
      </p:sp>
      <p:sp>
        <p:nvSpPr>
          <p:cNvPr id="17" name="Shape 14"/>
          <p:cNvSpPr/>
          <p:nvPr/>
        </p:nvSpPr>
        <p:spPr>
          <a:xfrm>
            <a:off x="5486400" y="1600200"/>
            <a:ext cx="0" cy="411480"/>
          </a:xfrm>
          <a:prstGeom prst="line">
            <a:avLst/>
          </a:prstGeom>
          <a:noFill/>
          <a:ln w="12700">
            <a:solidFill>
              <a:schemeClr val="tx2"/>
            </a:solidFill>
            <a:prstDash val="solid"/>
          </a:ln>
        </p:spPr>
      </p:sp>
      <p:sp>
        <p:nvSpPr>
          <p:cNvPr id="18" name="Shape 15"/>
          <p:cNvSpPr/>
          <p:nvPr/>
        </p:nvSpPr>
        <p:spPr>
          <a:xfrm>
            <a:off x="5120640" y="2011680"/>
            <a:ext cx="731520" cy="365760"/>
          </a:xfrm>
          <a:prstGeom prst="roundRect">
            <a:avLst>
              <a:gd name="adj" fmla="val 20000"/>
            </a:avLst>
          </a:prstGeom>
          <a:solidFill>
            <a:schemeClr val="accent4"/>
          </a:solidFill>
          <a:ln w="12700">
            <a:solidFill>
              <a:schemeClr val="accent4"/>
            </a:solidFill>
            <a:prstDash val="solid"/>
          </a:ln>
        </p:spPr>
      </p:sp>
      <p:sp>
        <p:nvSpPr>
          <p:cNvPr id="19" name="Text 16"/>
          <p:cNvSpPr txBox="1"/>
          <p:nvPr/>
        </p:nvSpPr>
        <p:spPr>
          <a:xfrm>
            <a:off x="512064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K,V4</a:t>
            </a:r>
            <a:endParaRPr lang="en-US" sz="1100" dirty="0"/>
          </a:p>
        </p:txBody>
      </p:sp>
      <p:sp>
        <p:nvSpPr>
          <p:cNvPr id="20" name="Shape 17"/>
          <p:cNvSpPr/>
          <p:nvPr/>
        </p:nvSpPr>
        <p:spPr>
          <a:xfrm>
            <a:off x="6355080" y="1600200"/>
            <a:ext cx="0" cy="411480"/>
          </a:xfrm>
          <a:prstGeom prst="line">
            <a:avLst/>
          </a:prstGeom>
          <a:noFill/>
          <a:ln w="12700">
            <a:solidFill>
              <a:schemeClr val="tx2"/>
            </a:solidFill>
            <a:prstDash val="solid"/>
          </a:ln>
        </p:spPr>
      </p:sp>
      <p:sp>
        <p:nvSpPr>
          <p:cNvPr id="21" name="Shape 18"/>
          <p:cNvSpPr/>
          <p:nvPr/>
        </p:nvSpPr>
        <p:spPr>
          <a:xfrm>
            <a:off x="5989320" y="2011680"/>
            <a:ext cx="731520" cy="365760"/>
          </a:xfrm>
          <a:prstGeom prst="roundRect">
            <a:avLst>
              <a:gd name="adj" fmla="val 20000"/>
            </a:avLst>
          </a:prstGeom>
          <a:solidFill>
            <a:schemeClr val="accent4"/>
          </a:solidFill>
          <a:ln w="12700">
            <a:solidFill>
              <a:schemeClr val="accent4"/>
            </a:solidFill>
            <a:prstDash val="solid"/>
          </a:ln>
        </p:spPr>
      </p:sp>
      <p:sp>
        <p:nvSpPr>
          <p:cNvPr id="22" name="Text 19"/>
          <p:cNvSpPr txBox="1"/>
          <p:nvPr/>
        </p:nvSpPr>
        <p:spPr>
          <a:xfrm>
            <a:off x="598932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K,V5</a:t>
            </a:r>
            <a:endParaRPr lang="en-US" sz="1100" dirty="0"/>
          </a:p>
        </p:txBody>
      </p:sp>
      <p:sp>
        <p:nvSpPr>
          <p:cNvPr id="23" name="Shape 20"/>
          <p:cNvSpPr/>
          <p:nvPr/>
        </p:nvSpPr>
        <p:spPr>
          <a:xfrm>
            <a:off x="7223760" y="1600200"/>
            <a:ext cx="0" cy="411480"/>
          </a:xfrm>
          <a:prstGeom prst="line">
            <a:avLst/>
          </a:prstGeom>
          <a:noFill/>
          <a:ln w="12700">
            <a:solidFill>
              <a:schemeClr val="tx2"/>
            </a:solidFill>
            <a:prstDash val="solid"/>
          </a:ln>
        </p:spPr>
      </p:sp>
      <p:sp>
        <p:nvSpPr>
          <p:cNvPr id="24" name="Shape 21"/>
          <p:cNvSpPr/>
          <p:nvPr/>
        </p:nvSpPr>
        <p:spPr>
          <a:xfrm>
            <a:off x="6858000" y="2011680"/>
            <a:ext cx="731520" cy="365760"/>
          </a:xfrm>
          <a:prstGeom prst="roundRect">
            <a:avLst>
              <a:gd name="adj" fmla="val 20000"/>
            </a:avLst>
          </a:prstGeom>
          <a:solidFill>
            <a:schemeClr val="accent4"/>
          </a:solidFill>
          <a:ln w="12700">
            <a:solidFill>
              <a:schemeClr val="accent4"/>
            </a:solidFill>
            <a:prstDash val="solid"/>
          </a:ln>
        </p:spPr>
      </p:sp>
      <p:sp>
        <p:nvSpPr>
          <p:cNvPr id="25" name="Text 22"/>
          <p:cNvSpPr txBox="1"/>
          <p:nvPr/>
        </p:nvSpPr>
        <p:spPr>
          <a:xfrm>
            <a:off x="685800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K,V6</a:t>
            </a:r>
            <a:endParaRPr lang="en-US" sz="1100" dirty="0"/>
          </a:p>
        </p:txBody>
      </p:sp>
      <p:sp>
        <p:nvSpPr>
          <p:cNvPr id="26" name="Shape 23"/>
          <p:cNvSpPr/>
          <p:nvPr/>
        </p:nvSpPr>
        <p:spPr>
          <a:xfrm>
            <a:off x="8092440" y="1600200"/>
            <a:ext cx="0" cy="411480"/>
          </a:xfrm>
          <a:prstGeom prst="line">
            <a:avLst/>
          </a:prstGeom>
          <a:noFill/>
          <a:ln w="12700">
            <a:solidFill>
              <a:schemeClr val="tx2"/>
            </a:solidFill>
            <a:prstDash val="solid"/>
          </a:ln>
        </p:spPr>
      </p:sp>
      <p:sp>
        <p:nvSpPr>
          <p:cNvPr id="27" name="Shape 24"/>
          <p:cNvSpPr/>
          <p:nvPr/>
        </p:nvSpPr>
        <p:spPr>
          <a:xfrm>
            <a:off x="7726680" y="2011680"/>
            <a:ext cx="731520" cy="365760"/>
          </a:xfrm>
          <a:prstGeom prst="roundRect">
            <a:avLst>
              <a:gd name="adj" fmla="val 20000"/>
            </a:avLst>
          </a:prstGeom>
          <a:solidFill>
            <a:schemeClr val="accent4"/>
          </a:solidFill>
          <a:ln w="12700">
            <a:solidFill>
              <a:schemeClr val="accent4"/>
            </a:solidFill>
            <a:prstDash val="solid"/>
          </a:ln>
        </p:spPr>
      </p:sp>
      <p:sp>
        <p:nvSpPr>
          <p:cNvPr id="28" name="Text 25"/>
          <p:cNvSpPr txBox="1"/>
          <p:nvPr/>
        </p:nvSpPr>
        <p:spPr>
          <a:xfrm>
            <a:off x="772668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K,V7</a:t>
            </a:r>
            <a:endParaRPr lang="en-US" sz="1100" dirty="0"/>
          </a:p>
        </p:txBody>
      </p:sp>
      <p:sp>
        <p:nvSpPr>
          <p:cNvPr id="29" name="Shape 26"/>
          <p:cNvSpPr/>
          <p:nvPr/>
        </p:nvSpPr>
        <p:spPr>
          <a:xfrm>
            <a:off x="8961120" y="1600200"/>
            <a:ext cx="0" cy="411480"/>
          </a:xfrm>
          <a:prstGeom prst="line">
            <a:avLst/>
          </a:prstGeom>
          <a:noFill/>
          <a:ln w="12700">
            <a:solidFill>
              <a:schemeClr val="tx2"/>
            </a:solidFill>
            <a:prstDash val="solid"/>
          </a:ln>
        </p:spPr>
      </p:sp>
      <p:sp>
        <p:nvSpPr>
          <p:cNvPr id="30" name="Shape 27"/>
          <p:cNvSpPr/>
          <p:nvPr/>
        </p:nvSpPr>
        <p:spPr>
          <a:xfrm>
            <a:off x="8595360" y="2011680"/>
            <a:ext cx="731520" cy="365760"/>
          </a:xfrm>
          <a:prstGeom prst="roundRect">
            <a:avLst>
              <a:gd name="adj" fmla="val 20000"/>
            </a:avLst>
          </a:prstGeom>
          <a:solidFill>
            <a:schemeClr val="accent4"/>
          </a:solidFill>
          <a:ln w="12700">
            <a:solidFill>
              <a:schemeClr val="accent4"/>
            </a:solidFill>
            <a:prstDash val="solid"/>
          </a:ln>
        </p:spPr>
      </p:sp>
      <p:sp>
        <p:nvSpPr>
          <p:cNvPr id="31" name="Text 28"/>
          <p:cNvSpPr txBox="1"/>
          <p:nvPr/>
        </p:nvSpPr>
        <p:spPr>
          <a:xfrm>
            <a:off x="8595360" y="20116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K,V8</a:t>
            </a:r>
            <a:endParaRPr lang="en-US" sz="1100" dirty="0"/>
          </a:p>
        </p:txBody>
      </p:sp>
      <p:sp>
        <p:nvSpPr>
          <p:cNvPr id="32" name="Shape 29"/>
          <p:cNvSpPr/>
          <p:nvPr/>
        </p:nvSpPr>
        <p:spPr>
          <a:xfrm>
            <a:off x="2514600" y="1234440"/>
            <a:ext cx="731520" cy="365760"/>
          </a:xfrm>
          <a:prstGeom prst="roundRect">
            <a:avLst>
              <a:gd name="adj" fmla="val 20000"/>
            </a:avLst>
          </a:prstGeom>
          <a:solidFill>
            <a:schemeClr val="bg2"/>
          </a:solidFill>
          <a:ln w="12700">
            <a:solidFill>
              <a:srgbClr val="AAB2C0"/>
            </a:solidFill>
            <a:prstDash val="solid"/>
          </a:ln>
        </p:spPr>
      </p:sp>
      <p:sp>
        <p:nvSpPr>
          <p:cNvPr id="33" name="Text 30"/>
          <p:cNvSpPr txBox="1"/>
          <p:nvPr/>
        </p:nvSpPr>
        <p:spPr>
          <a:xfrm>
            <a:off x="251460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Q1</a:t>
            </a:r>
            <a:endParaRPr lang="en-US" sz="1200" dirty="0"/>
          </a:p>
        </p:txBody>
      </p:sp>
      <p:sp>
        <p:nvSpPr>
          <p:cNvPr id="34" name="Shape 31"/>
          <p:cNvSpPr/>
          <p:nvPr/>
        </p:nvSpPr>
        <p:spPr>
          <a:xfrm>
            <a:off x="3383280" y="1234440"/>
            <a:ext cx="731520" cy="365760"/>
          </a:xfrm>
          <a:prstGeom prst="roundRect">
            <a:avLst>
              <a:gd name="adj" fmla="val 20000"/>
            </a:avLst>
          </a:prstGeom>
          <a:solidFill>
            <a:schemeClr val="bg2"/>
          </a:solidFill>
          <a:ln w="12700">
            <a:solidFill>
              <a:srgbClr val="AAB2C0"/>
            </a:solidFill>
            <a:prstDash val="solid"/>
          </a:ln>
        </p:spPr>
      </p:sp>
      <p:sp>
        <p:nvSpPr>
          <p:cNvPr id="35" name="Text 32"/>
          <p:cNvSpPr txBox="1"/>
          <p:nvPr/>
        </p:nvSpPr>
        <p:spPr>
          <a:xfrm>
            <a:off x="338328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Q2</a:t>
            </a:r>
            <a:endParaRPr lang="en-US" sz="1200" dirty="0"/>
          </a:p>
        </p:txBody>
      </p:sp>
      <p:sp>
        <p:nvSpPr>
          <p:cNvPr id="36" name="Shape 33"/>
          <p:cNvSpPr/>
          <p:nvPr/>
        </p:nvSpPr>
        <p:spPr>
          <a:xfrm>
            <a:off x="4251960" y="1234440"/>
            <a:ext cx="731520" cy="365760"/>
          </a:xfrm>
          <a:prstGeom prst="roundRect">
            <a:avLst>
              <a:gd name="adj" fmla="val 20000"/>
            </a:avLst>
          </a:prstGeom>
          <a:solidFill>
            <a:schemeClr val="bg2"/>
          </a:solidFill>
          <a:ln w="12700">
            <a:solidFill>
              <a:srgbClr val="AAB2C0"/>
            </a:solidFill>
            <a:prstDash val="solid"/>
          </a:ln>
        </p:spPr>
      </p:sp>
      <p:sp>
        <p:nvSpPr>
          <p:cNvPr id="37" name="Text 34"/>
          <p:cNvSpPr txBox="1"/>
          <p:nvPr/>
        </p:nvSpPr>
        <p:spPr>
          <a:xfrm>
            <a:off x="425196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Q3</a:t>
            </a:r>
            <a:endParaRPr lang="en-US" sz="1200" dirty="0"/>
          </a:p>
        </p:txBody>
      </p:sp>
      <p:sp>
        <p:nvSpPr>
          <p:cNvPr id="38" name="Shape 35"/>
          <p:cNvSpPr/>
          <p:nvPr/>
        </p:nvSpPr>
        <p:spPr>
          <a:xfrm>
            <a:off x="5120640" y="1234440"/>
            <a:ext cx="731520" cy="365760"/>
          </a:xfrm>
          <a:prstGeom prst="roundRect">
            <a:avLst>
              <a:gd name="adj" fmla="val 20000"/>
            </a:avLst>
          </a:prstGeom>
          <a:solidFill>
            <a:schemeClr val="bg2"/>
          </a:solidFill>
          <a:ln w="12700">
            <a:solidFill>
              <a:srgbClr val="AAB2C0"/>
            </a:solidFill>
            <a:prstDash val="solid"/>
          </a:ln>
        </p:spPr>
      </p:sp>
      <p:sp>
        <p:nvSpPr>
          <p:cNvPr id="39" name="Text 36"/>
          <p:cNvSpPr txBox="1"/>
          <p:nvPr/>
        </p:nvSpPr>
        <p:spPr>
          <a:xfrm>
            <a:off x="512064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Q4</a:t>
            </a:r>
            <a:endParaRPr lang="en-US" sz="1200" dirty="0"/>
          </a:p>
        </p:txBody>
      </p:sp>
      <p:sp>
        <p:nvSpPr>
          <p:cNvPr id="40" name="Shape 37"/>
          <p:cNvSpPr/>
          <p:nvPr/>
        </p:nvSpPr>
        <p:spPr>
          <a:xfrm>
            <a:off x="5989320" y="1234440"/>
            <a:ext cx="731520" cy="365760"/>
          </a:xfrm>
          <a:prstGeom prst="roundRect">
            <a:avLst>
              <a:gd name="adj" fmla="val 20000"/>
            </a:avLst>
          </a:prstGeom>
          <a:solidFill>
            <a:schemeClr val="bg2"/>
          </a:solidFill>
          <a:ln w="12700">
            <a:solidFill>
              <a:srgbClr val="AAB2C0"/>
            </a:solidFill>
            <a:prstDash val="solid"/>
          </a:ln>
        </p:spPr>
      </p:sp>
      <p:sp>
        <p:nvSpPr>
          <p:cNvPr id="41" name="Text 38"/>
          <p:cNvSpPr txBox="1"/>
          <p:nvPr/>
        </p:nvSpPr>
        <p:spPr>
          <a:xfrm>
            <a:off x="598932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Q5</a:t>
            </a:r>
            <a:endParaRPr lang="en-US" sz="1200" dirty="0"/>
          </a:p>
        </p:txBody>
      </p:sp>
      <p:sp>
        <p:nvSpPr>
          <p:cNvPr id="42" name="Shape 39"/>
          <p:cNvSpPr/>
          <p:nvPr/>
        </p:nvSpPr>
        <p:spPr>
          <a:xfrm>
            <a:off x="6858000" y="1234440"/>
            <a:ext cx="731520" cy="365760"/>
          </a:xfrm>
          <a:prstGeom prst="roundRect">
            <a:avLst>
              <a:gd name="adj" fmla="val 20000"/>
            </a:avLst>
          </a:prstGeom>
          <a:solidFill>
            <a:schemeClr val="bg2"/>
          </a:solidFill>
          <a:ln w="12700">
            <a:solidFill>
              <a:srgbClr val="AAB2C0"/>
            </a:solidFill>
            <a:prstDash val="solid"/>
          </a:ln>
        </p:spPr>
      </p:sp>
      <p:sp>
        <p:nvSpPr>
          <p:cNvPr id="43" name="Text 40"/>
          <p:cNvSpPr txBox="1"/>
          <p:nvPr/>
        </p:nvSpPr>
        <p:spPr>
          <a:xfrm>
            <a:off x="685800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Q6</a:t>
            </a:r>
            <a:endParaRPr lang="en-US" sz="1200" dirty="0"/>
          </a:p>
        </p:txBody>
      </p:sp>
      <p:sp>
        <p:nvSpPr>
          <p:cNvPr id="44" name="Shape 41"/>
          <p:cNvSpPr/>
          <p:nvPr/>
        </p:nvSpPr>
        <p:spPr>
          <a:xfrm>
            <a:off x="7726680" y="1234440"/>
            <a:ext cx="731520" cy="365760"/>
          </a:xfrm>
          <a:prstGeom prst="roundRect">
            <a:avLst>
              <a:gd name="adj" fmla="val 20000"/>
            </a:avLst>
          </a:prstGeom>
          <a:solidFill>
            <a:schemeClr val="bg2"/>
          </a:solidFill>
          <a:ln w="12700">
            <a:solidFill>
              <a:srgbClr val="AAB2C0"/>
            </a:solidFill>
            <a:prstDash val="solid"/>
          </a:ln>
        </p:spPr>
      </p:sp>
      <p:sp>
        <p:nvSpPr>
          <p:cNvPr id="45" name="Text 42"/>
          <p:cNvSpPr txBox="1"/>
          <p:nvPr/>
        </p:nvSpPr>
        <p:spPr>
          <a:xfrm>
            <a:off x="772668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Q7</a:t>
            </a:r>
            <a:endParaRPr lang="en-US" sz="1200" dirty="0"/>
          </a:p>
        </p:txBody>
      </p:sp>
      <p:sp>
        <p:nvSpPr>
          <p:cNvPr id="46" name="Shape 43"/>
          <p:cNvSpPr/>
          <p:nvPr/>
        </p:nvSpPr>
        <p:spPr>
          <a:xfrm>
            <a:off x="8595360" y="1234440"/>
            <a:ext cx="731520" cy="365760"/>
          </a:xfrm>
          <a:prstGeom prst="roundRect">
            <a:avLst>
              <a:gd name="adj" fmla="val 20000"/>
            </a:avLst>
          </a:prstGeom>
          <a:solidFill>
            <a:schemeClr val="bg2"/>
          </a:solidFill>
          <a:ln w="12700">
            <a:solidFill>
              <a:srgbClr val="AAB2C0"/>
            </a:solidFill>
            <a:prstDash val="solid"/>
          </a:ln>
        </p:spPr>
      </p:sp>
      <p:sp>
        <p:nvSpPr>
          <p:cNvPr id="47" name="Text 44"/>
          <p:cNvSpPr txBox="1"/>
          <p:nvPr/>
        </p:nvSpPr>
        <p:spPr>
          <a:xfrm>
            <a:off x="8595360" y="12344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Q8</a:t>
            </a:r>
            <a:endParaRPr lang="en-US" sz="1200" dirty="0"/>
          </a:p>
        </p:txBody>
      </p:sp>
      <p:sp>
        <p:nvSpPr>
          <p:cNvPr id="48" name="Text 45"/>
          <p:cNvSpPr txBox="1"/>
          <p:nvPr/>
        </p:nvSpPr>
        <p:spPr>
          <a:xfrm>
            <a:off x="9692640" y="1188720"/>
            <a:ext cx="1920240" cy="118872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1</a:t>
            </a:r>
            <a:r>
              <a:rPr lang="en-US" sz="1500" b="1" dirty="0">
                <a:solidFill>
                  <a:schemeClr val="accent3"/>
                </a:solidFill>
              </a:rPr>
              <a:t> FLOP/byte</a:t>
            </a:r>
            <a:endParaRPr lang="en-US" sz="1600" dirty="0"/>
          </a:p>
          <a:p>
            <a:pPr indent="0" marL="0">
              <a:buNone/>
            </a:pPr>
            <a:r>
              <a:rPr lang="en-US" sz="1300" dirty="0">
                <a:solidFill>
                  <a:schemeClr val="tx2"/>
                </a:solidFill>
              </a:rPr>
              <a:t>8 / 8 = H / G</a:t>
            </a:r>
            <a:endParaRPr lang="en-US" sz="1600" dirty="0"/>
          </a:p>
        </p:txBody>
      </p:sp>
      <p:sp>
        <p:nvSpPr>
          <p:cNvPr id="49" name="Text 46"/>
          <p:cNvSpPr txBox="1"/>
          <p:nvPr/>
        </p:nvSpPr>
        <p:spPr>
          <a:xfrm>
            <a:off x="548640" y="2606040"/>
            <a:ext cx="1828800" cy="411480"/>
          </a:xfrm>
          <a:prstGeom prst="rect">
            <a:avLst/>
          </a:prstGeom>
          <a:noFill/>
          <a:ln/>
        </p:spPr>
        <p:txBody>
          <a:bodyPr wrap="square" lIns="0" tIns="0" rIns="0" bIns="0" rtlCol="0" anchor="ctr"/>
          <a:lstStyle/>
          <a:p>
            <a:pPr indent="0" marL="0">
              <a:buNone/>
            </a:pPr>
            <a:r>
              <a:rPr lang="en-US" sz="1800" b="1" dirty="0">
                <a:solidFill>
                  <a:schemeClr val="tx1"/>
                </a:solidFill>
              </a:rPr>
              <a:t>GQA</a:t>
            </a:r>
            <a:endParaRPr lang="en-US" sz="1800" dirty="0"/>
          </a:p>
        </p:txBody>
      </p:sp>
      <p:sp>
        <p:nvSpPr>
          <p:cNvPr id="50" name="Text 47"/>
          <p:cNvSpPr txBox="1"/>
          <p:nvPr/>
        </p:nvSpPr>
        <p:spPr>
          <a:xfrm>
            <a:off x="548640" y="3383280"/>
            <a:ext cx="1828800" cy="365760"/>
          </a:xfrm>
          <a:prstGeom prst="rect">
            <a:avLst/>
          </a:prstGeom>
          <a:noFill/>
          <a:ln/>
        </p:spPr>
        <p:txBody>
          <a:bodyPr wrap="square" lIns="0" tIns="0" rIns="0" bIns="0" rtlCol="0" anchor="ctr"/>
          <a:lstStyle/>
          <a:p>
            <a:pPr indent="0" marL="0">
              <a:buNone/>
            </a:pPr>
            <a:r>
              <a:rPr lang="en-US" sz="1300" dirty="0">
                <a:solidFill>
                  <a:schemeClr val="tx2"/>
                </a:solidFill>
              </a:rPr>
              <a:t>G = 2 K/V heads</a:t>
            </a:r>
            <a:endParaRPr lang="en-US" sz="1300" dirty="0"/>
          </a:p>
        </p:txBody>
      </p:sp>
      <p:sp>
        <p:nvSpPr>
          <p:cNvPr id="51" name="Shape 48"/>
          <p:cNvSpPr/>
          <p:nvPr/>
        </p:nvSpPr>
        <p:spPr>
          <a:xfrm>
            <a:off x="2880360" y="2971800"/>
            <a:ext cx="1303020" cy="411480"/>
          </a:xfrm>
          <a:prstGeom prst="line">
            <a:avLst/>
          </a:prstGeom>
          <a:noFill/>
          <a:ln w="12700">
            <a:solidFill>
              <a:schemeClr val="tx2"/>
            </a:solidFill>
            <a:prstDash val="solid"/>
          </a:ln>
        </p:spPr>
      </p:sp>
      <p:sp>
        <p:nvSpPr>
          <p:cNvPr id="52" name="Shape 49"/>
          <p:cNvSpPr/>
          <p:nvPr/>
        </p:nvSpPr>
        <p:spPr>
          <a:xfrm>
            <a:off x="3749040" y="2971800"/>
            <a:ext cx="434340" cy="411480"/>
          </a:xfrm>
          <a:prstGeom prst="line">
            <a:avLst/>
          </a:prstGeom>
          <a:noFill/>
          <a:ln w="12700">
            <a:solidFill>
              <a:schemeClr val="tx2"/>
            </a:solidFill>
            <a:prstDash val="solid"/>
          </a:ln>
        </p:spPr>
      </p:sp>
      <p:sp>
        <p:nvSpPr>
          <p:cNvPr id="53" name="Shape 50"/>
          <p:cNvSpPr/>
          <p:nvPr/>
        </p:nvSpPr>
        <p:spPr>
          <a:xfrm flipH="1">
            <a:off x="4183380" y="2971800"/>
            <a:ext cx="434340" cy="411480"/>
          </a:xfrm>
          <a:prstGeom prst="line">
            <a:avLst/>
          </a:prstGeom>
          <a:noFill/>
          <a:ln w="12700">
            <a:solidFill>
              <a:schemeClr val="tx2"/>
            </a:solidFill>
            <a:prstDash val="solid"/>
          </a:ln>
        </p:spPr>
      </p:sp>
      <p:sp>
        <p:nvSpPr>
          <p:cNvPr id="54" name="Shape 51"/>
          <p:cNvSpPr/>
          <p:nvPr/>
        </p:nvSpPr>
        <p:spPr>
          <a:xfrm flipH="1">
            <a:off x="4183380" y="2971800"/>
            <a:ext cx="1303020" cy="411480"/>
          </a:xfrm>
          <a:prstGeom prst="line">
            <a:avLst/>
          </a:prstGeom>
          <a:noFill/>
          <a:ln w="12700">
            <a:solidFill>
              <a:schemeClr val="tx2"/>
            </a:solidFill>
            <a:prstDash val="solid"/>
          </a:ln>
        </p:spPr>
      </p:sp>
      <p:sp>
        <p:nvSpPr>
          <p:cNvPr id="55" name="Shape 52"/>
          <p:cNvSpPr/>
          <p:nvPr/>
        </p:nvSpPr>
        <p:spPr>
          <a:xfrm>
            <a:off x="3817620" y="3383280"/>
            <a:ext cx="731520" cy="365760"/>
          </a:xfrm>
          <a:prstGeom prst="roundRect">
            <a:avLst>
              <a:gd name="adj" fmla="val 20000"/>
            </a:avLst>
          </a:prstGeom>
          <a:solidFill>
            <a:schemeClr val="accent4"/>
          </a:solidFill>
          <a:ln w="12700">
            <a:solidFill>
              <a:schemeClr val="accent4"/>
            </a:solidFill>
            <a:prstDash val="solid"/>
          </a:ln>
        </p:spPr>
      </p:sp>
      <p:sp>
        <p:nvSpPr>
          <p:cNvPr id="56" name="Text 53"/>
          <p:cNvSpPr txBox="1"/>
          <p:nvPr/>
        </p:nvSpPr>
        <p:spPr>
          <a:xfrm>
            <a:off x="3817620" y="33832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K,V1</a:t>
            </a:r>
            <a:endParaRPr lang="en-US" sz="1100" dirty="0"/>
          </a:p>
        </p:txBody>
      </p:sp>
      <p:sp>
        <p:nvSpPr>
          <p:cNvPr id="57" name="Shape 54"/>
          <p:cNvSpPr/>
          <p:nvPr/>
        </p:nvSpPr>
        <p:spPr>
          <a:xfrm>
            <a:off x="6355080" y="2971800"/>
            <a:ext cx="1303020" cy="411480"/>
          </a:xfrm>
          <a:prstGeom prst="line">
            <a:avLst/>
          </a:prstGeom>
          <a:noFill/>
          <a:ln w="12700">
            <a:solidFill>
              <a:schemeClr val="tx2"/>
            </a:solidFill>
            <a:prstDash val="solid"/>
          </a:ln>
        </p:spPr>
      </p:sp>
      <p:sp>
        <p:nvSpPr>
          <p:cNvPr id="58" name="Shape 55"/>
          <p:cNvSpPr/>
          <p:nvPr/>
        </p:nvSpPr>
        <p:spPr>
          <a:xfrm>
            <a:off x="7223760" y="2971800"/>
            <a:ext cx="434340" cy="411480"/>
          </a:xfrm>
          <a:prstGeom prst="line">
            <a:avLst/>
          </a:prstGeom>
          <a:noFill/>
          <a:ln w="12700">
            <a:solidFill>
              <a:schemeClr val="tx2"/>
            </a:solidFill>
            <a:prstDash val="solid"/>
          </a:ln>
        </p:spPr>
      </p:sp>
      <p:sp>
        <p:nvSpPr>
          <p:cNvPr id="59" name="Shape 56"/>
          <p:cNvSpPr/>
          <p:nvPr/>
        </p:nvSpPr>
        <p:spPr>
          <a:xfrm flipH="1">
            <a:off x="7658100" y="2971800"/>
            <a:ext cx="434340" cy="411480"/>
          </a:xfrm>
          <a:prstGeom prst="line">
            <a:avLst/>
          </a:prstGeom>
          <a:noFill/>
          <a:ln w="12700">
            <a:solidFill>
              <a:schemeClr val="tx2"/>
            </a:solidFill>
            <a:prstDash val="solid"/>
          </a:ln>
        </p:spPr>
      </p:sp>
      <p:sp>
        <p:nvSpPr>
          <p:cNvPr id="60" name="Shape 57"/>
          <p:cNvSpPr/>
          <p:nvPr/>
        </p:nvSpPr>
        <p:spPr>
          <a:xfrm flipH="1">
            <a:off x="7658100" y="2971800"/>
            <a:ext cx="1303020" cy="411480"/>
          </a:xfrm>
          <a:prstGeom prst="line">
            <a:avLst/>
          </a:prstGeom>
          <a:noFill/>
          <a:ln w="12700">
            <a:solidFill>
              <a:schemeClr val="tx2"/>
            </a:solidFill>
            <a:prstDash val="solid"/>
          </a:ln>
        </p:spPr>
      </p:sp>
      <p:sp>
        <p:nvSpPr>
          <p:cNvPr id="61" name="Shape 58"/>
          <p:cNvSpPr/>
          <p:nvPr/>
        </p:nvSpPr>
        <p:spPr>
          <a:xfrm>
            <a:off x="7292340" y="3383280"/>
            <a:ext cx="731520" cy="365760"/>
          </a:xfrm>
          <a:prstGeom prst="roundRect">
            <a:avLst>
              <a:gd name="adj" fmla="val 20000"/>
            </a:avLst>
          </a:prstGeom>
          <a:solidFill>
            <a:schemeClr val="accent4"/>
          </a:solidFill>
          <a:ln w="12700">
            <a:solidFill>
              <a:schemeClr val="accent4"/>
            </a:solidFill>
            <a:prstDash val="solid"/>
          </a:ln>
        </p:spPr>
      </p:sp>
      <p:sp>
        <p:nvSpPr>
          <p:cNvPr id="62" name="Text 59"/>
          <p:cNvSpPr txBox="1"/>
          <p:nvPr/>
        </p:nvSpPr>
        <p:spPr>
          <a:xfrm>
            <a:off x="7292340" y="33832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K,V2</a:t>
            </a:r>
            <a:endParaRPr lang="en-US" sz="1100" dirty="0"/>
          </a:p>
        </p:txBody>
      </p:sp>
      <p:sp>
        <p:nvSpPr>
          <p:cNvPr id="63" name="Shape 60"/>
          <p:cNvSpPr/>
          <p:nvPr/>
        </p:nvSpPr>
        <p:spPr>
          <a:xfrm>
            <a:off x="2514600" y="2606040"/>
            <a:ext cx="731520" cy="365760"/>
          </a:xfrm>
          <a:prstGeom prst="roundRect">
            <a:avLst>
              <a:gd name="adj" fmla="val 20000"/>
            </a:avLst>
          </a:prstGeom>
          <a:solidFill>
            <a:schemeClr val="bg2"/>
          </a:solidFill>
          <a:ln w="12700">
            <a:solidFill>
              <a:srgbClr val="AAB2C0"/>
            </a:solidFill>
            <a:prstDash val="solid"/>
          </a:ln>
        </p:spPr>
      </p:sp>
      <p:sp>
        <p:nvSpPr>
          <p:cNvPr id="64" name="Text 61"/>
          <p:cNvSpPr txBox="1"/>
          <p:nvPr/>
        </p:nvSpPr>
        <p:spPr>
          <a:xfrm>
            <a:off x="251460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Q1</a:t>
            </a:r>
            <a:endParaRPr lang="en-US" sz="1200" dirty="0"/>
          </a:p>
        </p:txBody>
      </p:sp>
      <p:sp>
        <p:nvSpPr>
          <p:cNvPr id="65" name="Shape 62"/>
          <p:cNvSpPr/>
          <p:nvPr/>
        </p:nvSpPr>
        <p:spPr>
          <a:xfrm>
            <a:off x="3383280" y="2606040"/>
            <a:ext cx="731520" cy="365760"/>
          </a:xfrm>
          <a:prstGeom prst="roundRect">
            <a:avLst>
              <a:gd name="adj" fmla="val 20000"/>
            </a:avLst>
          </a:prstGeom>
          <a:solidFill>
            <a:schemeClr val="bg2"/>
          </a:solidFill>
          <a:ln w="12700">
            <a:solidFill>
              <a:srgbClr val="AAB2C0"/>
            </a:solidFill>
            <a:prstDash val="solid"/>
          </a:ln>
        </p:spPr>
      </p:sp>
      <p:sp>
        <p:nvSpPr>
          <p:cNvPr id="66" name="Text 63"/>
          <p:cNvSpPr txBox="1"/>
          <p:nvPr/>
        </p:nvSpPr>
        <p:spPr>
          <a:xfrm>
            <a:off x="338328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Q2</a:t>
            </a:r>
            <a:endParaRPr lang="en-US" sz="1200" dirty="0"/>
          </a:p>
        </p:txBody>
      </p:sp>
      <p:sp>
        <p:nvSpPr>
          <p:cNvPr id="67" name="Shape 64"/>
          <p:cNvSpPr/>
          <p:nvPr/>
        </p:nvSpPr>
        <p:spPr>
          <a:xfrm>
            <a:off x="4251960" y="2606040"/>
            <a:ext cx="731520" cy="365760"/>
          </a:xfrm>
          <a:prstGeom prst="roundRect">
            <a:avLst>
              <a:gd name="adj" fmla="val 20000"/>
            </a:avLst>
          </a:prstGeom>
          <a:solidFill>
            <a:schemeClr val="bg2"/>
          </a:solidFill>
          <a:ln w="12700">
            <a:solidFill>
              <a:srgbClr val="AAB2C0"/>
            </a:solidFill>
            <a:prstDash val="solid"/>
          </a:ln>
        </p:spPr>
      </p:sp>
      <p:sp>
        <p:nvSpPr>
          <p:cNvPr id="68" name="Text 65"/>
          <p:cNvSpPr txBox="1"/>
          <p:nvPr/>
        </p:nvSpPr>
        <p:spPr>
          <a:xfrm>
            <a:off x="425196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Q3</a:t>
            </a:r>
            <a:endParaRPr lang="en-US" sz="1200" dirty="0"/>
          </a:p>
        </p:txBody>
      </p:sp>
      <p:sp>
        <p:nvSpPr>
          <p:cNvPr id="69" name="Shape 66"/>
          <p:cNvSpPr/>
          <p:nvPr/>
        </p:nvSpPr>
        <p:spPr>
          <a:xfrm>
            <a:off x="5120640" y="2606040"/>
            <a:ext cx="731520" cy="365760"/>
          </a:xfrm>
          <a:prstGeom prst="roundRect">
            <a:avLst>
              <a:gd name="adj" fmla="val 20000"/>
            </a:avLst>
          </a:prstGeom>
          <a:solidFill>
            <a:schemeClr val="bg2"/>
          </a:solidFill>
          <a:ln w="12700">
            <a:solidFill>
              <a:srgbClr val="AAB2C0"/>
            </a:solidFill>
            <a:prstDash val="solid"/>
          </a:ln>
        </p:spPr>
      </p:sp>
      <p:sp>
        <p:nvSpPr>
          <p:cNvPr id="70" name="Text 67"/>
          <p:cNvSpPr txBox="1"/>
          <p:nvPr/>
        </p:nvSpPr>
        <p:spPr>
          <a:xfrm>
            <a:off x="512064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Q4</a:t>
            </a:r>
            <a:endParaRPr lang="en-US" sz="1200" dirty="0"/>
          </a:p>
        </p:txBody>
      </p:sp>
      <p:sp>
        <p:nvSpPr>
          <p:cNvPr id="71" name="Shape 68"/>
          <p:cNvSpPr/>
          <p:nvPr/>
        </p:nvSpPr>
        <p:spPr>
          <a:xfrm>
            <a:off x="5989320" y="2606040"/>
            <a:ext cx="731520" cy="365760"/>
          </a:xfrm>
          <a:prstGeom prst="roundRect">
            <a:avLst>
              <a:gd name="adj" fmla="val 20000"/>
            </a:avLst>
          </a:prstGeom>
          <a:solidFill>
            <a:schemeClr val="bg2"/>
          </a:solidFill>
          <a:ln w="12700">
            <a:solidFill>
              <a:srgbClr val="AAB2C0"/>
            </a:solidFill>
            <a:prstDash val="solid"/>
          </a:ln>
        </p:spPr>
      </p:sp>
      <p:sp>
        <p:nvSpPr>
          <p:cNvPr id="72" name="Text 69"/>
          <p:cNvSpPr txBox="1"/>
          <p:nvPr/>
        </p:nvSpPr>
        <p:spPr>
          <a:xfrm>
            <a:off x="598932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Q5</a:t>
            </a:r>
            <a:endParaRPr lang="en-US" sz="1200" dirty="0"/>
          </a:p>
        </p:txBody>
      </p:sp>
      <p:sp>
        <p:nvSpPr>
          <p:cNvPr id="73" name="Shape 70"/>
          <p:cNvSpPr/>
          <p:nvPr/>
        </p:nvSpPr>
        <p:spPr>
          <a:xfrm>
            <a:off x="6858000" y="2606040"/>
            <a:ext cx="731520" cy="365760"/>
          </a:xfrm>
          <a:prstGeom prst="roundRect">
            <a:avLst>
              <a:gd name="adj" fmla="val 20000"/>
            </a:avLst>
          </a:prstGeom>
          <a:solidFill>
            <a:schemeClr val="bg2"/>
          </a:solidFill>
          <a:ln w="12700">
            <a:solidFill>
              <a:srgbClr val="AAB2C0"/>
            </a:solidFill>
            <a:prstDash val="solid"/>
          </a:ln>
        </p:spPr>
      </p:sp>
      <p:sp>
        <p:nvSpPr>
          <p:cNvPr id="74" name="Text 71"/>
          <p:cNvSpPr txBox="1"/>
          <p:nvPr/>
        </p:nvSpPr>
        <p:spPr>
          <a:xfrm>
            <a:off x="685800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Q6</a:t>
            </a:r>
            <a:endParaRPr lang="en-US" sz="1200" dirty="0"/>
          </a:p>
        </p:txBody>
      </p:sp>
      <p:sp>
        <p:nvSpPr>
          <p:cNvPr id="75" name="Shape 72"/>
          <p:cNvSpPr/>
          <p:nvPr/>
        </p:nvSpPr>
        <p:spPr>
          <a:xfrm>
            <a:off x="7726680" y="2606040"/>
            <a:ext cx="731520" cy="365760"/>
          </a:xfrm>
          <a:prstGeom prst="roundRect">
            <a:avLst>
              <a:gd name="adj" fmla="val 20000"/>
            </a:avLst>
          </a:prstGeom>
          <a:solidFill>
            <a:schemeClr val="bg2"/>
          </a:solidFill>
          <a:ln w="12700">
            <a:solidFill>
              <a:srgbClr val="AAB2C0"/>
            </a:solidFill>
            <a:prstDash val="solid"/>
          </a:ln>
        </p:spPr>
      </p:sp>
      <p:sp>
        <p:nvSpPr>
          <p:cNvPr id="76" name="Text 73"/>
          <p:cNvSpPr txBox="1"/>
          <p:nvPr/>
        </p:nvSpPr>
        <p:spPr>
          <a:xfrm>
            <a:off x="772668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Q7</a:t>
            </a:r>
            <a:endParaRPr lang="en-US" sz="1200" dirty="0"/>
          </a:p>
        </p:txBody>
      </p:sp>
      <p:sp>
        <p:nvSpPr>
          <p:cNvPr id="77" name="Shape 74"/>
          <p:cNvSpPr/>
          <p:nvPr/>
        </p:nvSpPr>
        <p:spPr>
          <a:xfrm>
            <a:off x="8595360" y="2606040"/>
            <a:ext cx="731520" cy="365760"/>
          </a:xfrm>
          <a:prstGeom prst="roundRect">
            <a:avLst>
              <a:gd name="adj" fmla="val 20000"/>
            </a:avLst>
          </a:prstGeom>
          <a:solidFill>
            <a:schemeClr val="bg2"/>
          </a:solidFill>
          <a:ln w="12700">
            <a:solidFill>
              <a:srgbClr val="AAB2C0"/>
            </a:solidFill>
            <a:prstDash val="solid"/>
          </a:ln>
        </p:spPr>
      </p:sp>
      <p:sp>
        <p:nvSpPr>
          <p:cNvPr id="78" name="Text 75"/>
          <p:cNvSpPr txBox="1"/>
          <p:nvPr/>
        </p:nvSpPr>
        <p:spPr>
          <a:xfrm>
            <a:off x="8595360" y="26060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Q8</a:t>
            </a:r>
            <a:endParaRPr lang="en-US" sz="1200" dirty="0"/>
          </a:p>
        </p:txBody>
      </p:sp>
      <p:sp>
        <p:nvSpPr>
          <p:cNvPr id="79" name="Text 76"/>
          <p:cNvSpPr txBox="1"/>
          <p:nvPr/>
        </p:nvSpPr>
        <p:spPr>
          <a:xfrm>
            <a:off x="9692640" y="2560320"/>
            <a:ext cx="1920240" cy="11887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a:t>
            </a:r>
            <a:r>
              <a:rPr lang="en-US" sz="1500" b="1" dirty="0">
                <a:solidFill>
                  <a:schemeClr val="accent1"/>
                </a:solidFill>
              </a:rPr>
              <a:t> FLOP/byte</a:t>
            </a:r>
            <a:endParaRPr lang="en-US" sz="1600" dirty="0"/>
          </a:p>
          <a:p>
            <a:pPr indent="0" marL="0">
              <a:buNone/>
            </a:pPr>
            <a:r>
              <a:rPr lang="en-US" sz="1300" dirty="0">
                <a:solidFill>
                  <a:schemeClr val="tx2"/>
                </a:solidFill>
              </a:rPr>
              <a:t>8 / 2 = H / G</a:t>
            </a:r>
            <a:endParaRPr lang="en-US" sz="1600" dirty="0"/>
          </a:p>
        </p:txBody>
      </p:sp>
      <p:sp>
        <p:nvSpPr>
          <p:cNvPr id="80" name="Text 77"/>
          <p:cNvSpPr txBox="1"/>
          <p:nvPr/>
        </p:nvSpPr>
        <p:spPr>
          <a:xfrm>
            <a:off x="548640" y="3977640"/>
            <a:ext cx="1828800" cy="411480"/>
          </a:xfrm>
          <a:prstGeom prst="rect">
            <a:avLst/>
          </a:prstGeom>
          <a:noFill/>
          <a:ln/>
        </p:spPr>
        <p:txBody>
          <a:bodyPr wrap="square" lIns="0" tIns="0" rIns="0" bIns="0" rtlCol="0" anchor="ctr"/>
          <a:lstStyle/>
          <a:p>
            <a:pPr indent="0" marL="0">
              <a:buNone/>
            </a:pPr>
            <a:r>
              <a:rPr lang="en-US" sz="1800" b="1" dirty="0">
                <a:solidFill>
                  <a:schemeClr val="tx1"/>
                </a:solidFill>
              </a:rPr>
              <a:t>MQA</a:t>
            </a:r>
            <a:endParaRPr lang="en-US" sz="1800" dirty="0"/>
          </a:p>
        </p:txBody>
      </p:sp>
      <p:sp>
        <p:nvSpPr>
          <p:cNvPr id="81" name="Text 78"/>
          <p:cNvSpPr txBox="1"/>
          <p:nvPr/>
        </p:nvSpPr>
        <p:spPr>
          <a:xfrm>
            <a:off x="548640" y="4754880"/>
            <a:ext cx="1828800" cy="365760"/>
          </a:xfrm>
          <a:prstGeom prst="rect">
            <a:avLst/>
          </a:prstGeom>
          <a:noFill/>
          <a:ln/>
        </p:spPr>
        <p:txBody>
          <a:bodyPr wrap="square" lIns="0" tIns="0" rIns="0" bIns="0" rtlCol="0" anchor="ctr"/>
          <a:lstStyle/>
          <a:p>
            <a:pPr indent="0" marL="0">
              <a:buNone/>
            </a:pPr>
            <a:r>
              <a:rPr lang="en-US" sz="1300" dirty="0">
                <a:solidFill>
                  <a:schemeClr val="tx2"/>
                </a:solidFill>
              </a:rPr>
              <a:t>G = 1 K/V head</a:t>
            </a:r>
            <a:endParaRPr lang="en-US" sz="1300" dirty="0"/>
          </a:p>
        </p:txBody>
      </p:sp>
      <p:sp>
        <p:nvSpPr>
          <p:cNvPr id="82" name="Shape 79"/>
          <p:cNvSpPr/>
          <p:nvPr/>
        </p:nvSpPr>
        <p:spPr>
          <a:xfrm>
            <a:off x="2880360" y="4343400"/>
            <a:ext cx="3040380" cy="411480"/>
          </a:xfrm>
          <a:prstGeom prst="line">
            <a:avLst/>
          </a:prstGeom>
          <a:noFill/>
          <a:ln w="12700">
            <a:solidFill>
              <a:schemeClr val="tx2"/>
            </a:solidFill>
            <a:prstDash val="solid"/>
          </a:ln>
        </p:spPr>
      </p:sp>
      <p:sp>
        <p:nvSpPr>
          <p:cNvPr id="83" name="Shape 80"/>
          <p:cNvSpPr/>
          <p:nvPr/>
        </p:nvSpPr>
        <p:spPr>
          <a:xfrm>
            <a:off x="3749040" y="4343400"/>
            <a:ext cx="2171700" cy="411480"/>
          </a:xfrm>
          <a:prstGeom prst="line">
            <a:avLst/>
          </a:prstGeom>
          <a:noFill/>
          <a:ln w="12700">
            <a:solidFill>
              <a:schemeClr val="tx2"/>
            </a:solidFill>
            <a:prstDash val="solid"/>
          </a:ln>
        </p:spPr>
      </p:sp>
      <p:sp>
        <p:nvSpPr>
          <p:cNvPr id="84" name="Shape 81"/>
          <p:cNvSpPr/>
          <p:nvPr/>
        </p:nvSpPr>
        <p:spPr>
          <a:xfrm>
            <a:off x="4617720" y="4343400"/>
            <a:ext cx="1303020" cy="411480"/>
          </a:xfrm>
          <a:prstGeom prst="line">
            <a:avLst/>
          </a:prstGeom>
          <a:noFill/>
          <a:ln w="12700">
            <a:solidFill>
              <a:schemeClr val="tx2"/>
            </a:solidFill>
            <a:prstDash val="solid"/>
          </a:ln>
        </p:spPr>
      </p:sp>
      <p:sp>
        <p:nvSpPr>
          <p:cNvPr id="85" name="Shape 82"/>
          <p:cNvSpPr/>
          <p:nvPr/>
        </p:nvSpPr>
        <p:spPr>
          <a:xfrm>
            <a:off x="5486400" y="4343400"/>
            <a:ext cx="434340" cy="411480"/>
          </a:xfrm>
          <a:prstGeom prst="line">
            <a:avLst/>
          </a:prstGeom>
          <a:noFill/>
          <a:ln w="12700">
            <a:solidFill>
              <a:schemeClr val="tx2"/>
            </a:solidFill>
            <a:prstDash val="solid"/>
          </a:ln>
        </p:spPr>
      </p:sp>
      <p:sp>
        <p:nvSpPr>
          <p:cNvPr id="86" name="Shape 83"/>
          <p:cNvSpPr/>
          <p:nvPr/>
        </p:nvSpPr>
        <p:spPr>
          <a:xfrm flipH="1">
            <a:off x="5920740" y="4343400"/>
            <a:ext cx="434340" cy="411480"/>
          </a:xfrm>
          <a:prstGeom prst="line">
            <a:avLst/>
          </a:prstGeom>
          <a:noFill/>
          <a:ln w="12700">
            <a:solidFill>
              <a:schemeClr val="tx2"/>
            </a:solidFill>
            <a:prstDash val="solid"/>
          </a:ln>
        </p:spPr>
      </p:sp>
      <p:sp>
        <p:nvSpPr>
          <p:cNvPr id="87" name="Shape 84"/>
          <p:cNvSpPr/>
          <p:nvPr/>
        </p:nvSpPr>
        <p:spPr>
          <a:xfrm flipH="1">
            <a:off x="5920740" y="4343400"/>
            <a:ext cx="1303020" cy="411480"/>
          </a:xfrm>
          <a:prstGeom prst="line">
            <a:avLst/>
          </a:prstGeom>
          <a:noFill/>
          <a:ln w="12700">
            <a:solidFill>
              <a:schemeClr val="tx2"/>
            </a:solidFill>
            <a:prstDash val="solid"/>
          </a:ln>
        </p:spPr>
      </p:sp>
      <p:sp>
        <p:nvSpPr>
          <p:cNvPr id="88" name="Shape 85"/>
          <p:cNvSpPr/>
          <p:nvPr/>
        </p:nvSpPr>
        <p:spPr>
          <a:xfrm flipH="1">
            <a:off x="5920740" y="4343400"/>
            <a:ext cx="2171700" cy="411480"/>
          </a:xfrm>
          <a:prstGeom prst="line">
            <a:avLst/>
          </a:prstGeom>
          <a:noFill/>
          <a:ln w="12700">
            <a:solidFill>
              <a:schemeClr val="tx2"/>
            </a:solidFill>
            <a:prstDash val="solid"/>
          </a:ln>
        </p:spPr>
      </p:sp>
      <p:sp>
        <p:nvSpPr>
          <p:cNvPr id="89" name="Shape 86"/>
          <p:cNvSpPr/>
          <p:nvPr/>
        </p:nvSpPr>
        <p:spPr>
          <a:xfrm flipH="1">
            <a:off x="5920740" y="4343400"/>
            <a:ext cx="3040380" cy="411480"/>
          </a:xfrm>
          <a:prstGeom prst="line">
            <a:avLst/>
          </a:prstGeom>
          <a:noFill/>
          <a:ln w="12700">
            <a:solidFill>
              <a:schemeClr val="tx2"/>
            </a:solidFill>
            <a:prstDash val="solid"/>
          </a:ln>
        </p:spPr>
      </p:sp>
      <p:sp>
        <p:nvSpPr>
          <p:cNvPr id="90" name="Shape 87"/>
          <p:cNvSpPr/>
          <p:nvPr/>
        </p:nvSpPr>
        <p:spPr>
          <a:xfrm>
            <a:off x="5554980" y="4754880"/>
            <a:ext cx="731520" cy="365760"/>
          </a:xfrm>
          <a:prstGeom prst="roundRect">
            <a:avLst>
              <a:gd name="adj" fmla="val 20000"/>
            </a:avLst>
          </a:prstGeom>
          <a:solidFill>
            <a:schemeClr val="accent4"/>
          </a:solidFill>
          <a:ln w="12700">
            <a:solidFill>
              <a:schemeClr val="accent4"/>
            </a:solidFill>
            <a:prstDash val="solid"/>
          </a:ln>
        </p:spPr>
      </p:sp>
      <p:sp>
        <p:nvSpPr>
          <p:cNvPr id="91" name="Text 88"/>
          <p:cNvSpPr txBox="1"/>
          <p:nvPr/>
        </p:nvSpPr>
        <p:spPr>
          <a:xfrm>
            <a:off x="5554980" y="4754880"/>
            <a:ext cx="73152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K,V1</a:t>
            </a:r>
            <a:endParaRPr lang="en-US" sz="1100" dirty="0"/>
          </a:p>
        </p:txBody>
      </p:sp>
      <p:sp>
        <p:nvSpPr>
          <p:cNvPr id="92" name="Shape 89"/>
          <p:cNvSpPr/>
          <p:nvPr/>
        </p:nvSpPr>
        <p:spPr>
          <a:xfrm>
            <a:off x="2514600" y="3977640"/>
            <a:ext cx="731520" cy="365760"/>
          </a:xfrm>
          <a:prstGeom prst="roundRect">
            <a:avLst>
              <a:gd name="adj" fmla="val 20000"/>
            </a:avLst>
          </a:prstGeom>
          <a:solidFill>
            <a:schemeClr val="bg2"/>
          </a:solidFill>
          <a:ln w="12700">
            <a:solidFill>
              <a:srgbClr val="AAB2C0"/>
            </a:solidFill>
            <a:prstDash val="solid"/>
          </a:ln>
        </p:spPr>
      </p:sp>
      <p:sp>
        <p:nvSpPr>
          <p:cNvPr id="93" name="Text 90"/>
          <p:cNvSpPr txBox="1"/>
          <p:nvPr/>
        </p:nvSpPr>
        <p:spPr>
          <a:xfrm>
            <a:off x="251460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Q1</a:t>
            </a:r>
            <a:endParaRPr lang="en-US" sz="1200" dirty="0"/>
          </a:p>
        </p:txBody>
      </p:sp>
      <p:sp>
        <p:nvSpPr>
          <p:cNvPr id="94" name="Shape 91"/>
          <p:cNvSpPr/>
          <p:nvPr/>
        </p:nvSpPr>
        <p:spPr>
          <a:xfrm>
            <a:off x="3383280" y="3977640"/>
            <a:ext cx="731520" cy="365760"/>
          </a:xfrm>
          <a:prstGeom prst="roundRect">
            <a:avLst>
              <a:gd name="adj" fmla="val 20000"/>
            </a:avLst>
          </a:prstGeom>
          <a:solidFill>
            <a:schemeClr val="bg2"/>
          </a:solidFill>
          <a:ln w="12700">
            <a:solidFill>
              <a:srgbClr val="AAB2C0"/>
            </a:solidFill>
            <a:prstDash val="solid"/>
          </a:ln>
        </p:spPr>
      </p:sp>
      <p:sp>
        <p:nvSpPr>
          <p:cNvPr id="95" name="Text 92"/>
          <p:cNvSpPr txBox="1"/>
          <p:nvPr/>
        </p:nvSpPr>
        <p:spPr>
          <a:xfrm>
            <a:off x="338328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Q2</a:t>
            </a:r>
            <a:endParaRPr lang="en-US" sz="1200" dirty="0"/>
          </a:p>
        </p:txBody>
      </p:sp>
      <p:sp>
        <p:nvSpPr>
          <p:cNvPr id="96" name="Shape 93"/>
          <p:cNvSpPr/>
          <p:nvPr/>
        </p:nvSpPr>
        <p:spPr>
          <a:xfrm>
            <a:off x="4251960" y="3977640"/>
            <a:ext cx="731520" cy="365760"/>
          </a:xfrm>
          <a:prstGeom prst="roundRect">
            <a:avLst>
              <a:gd name="adj" fmla="val 20000"/>
            </a:avLst>
          </a:prstGeom>
          <a:solidFill>
            <a:schemeClr val="bg2"/>
          </a:solidFill>
          <a:ln w="12700">
            <a:solidFill>
              <a:srgbClr val="AAB2C0"/>
            </a:solidFill>
            <a:prstDash val="solid"/>
          </a:ln>
        </p:spPr>
      </p:sp>
      <p:sp>
        <p:nvSpPr>
          <p:cNvPr id="97" name="Text 94"/>
          <p:cNvSpPr txBox="1"/>
          <p:nvPr/>
        </p:nvSpPr>
        <p:spPr>
          <a:xfrm>
            <a:off x="425196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Q3</a:t>
            </a:r>
            <a:endParaRPr lang="en-US" sz="1200" dirty="0"/>
          </a:p>
        </p:txBody>
      </p:sp>
      <p:sp>
        <p:nvSpPr>
          <p:cNvPr id="98" name="Shape 95"/>
          <p:cNvSpPr/>
          <p:nvPr/>
        </p:nvSpPr>
        <p:spPr>
          <a:xfrm>
            <a:off x="5120640" y="3977640"/>
            <a:ext cx="731520" cy="365760"/>
          </a:xfrm>
          <a:prstGeom prst="roundRect">
            <a:avLst>
              <a:gd name="adj" fmla="val 20000"/>
            </a:avLst>
          </a:prstGeom>
          <a:solidFill>
            <a:schemeClr val="bg2"/>
          </a:solidFill>
          <a:ln w="12700">
            <a:solidFill>
              <a:srgbClr val="AAB2C0"/>
            </a:solidFill>
            <a:prstDash val="solid"/>
          </a:ln>
        </p:spPr>
      </p:sp>
      <p:sp>
        <p:nvSpPr>
          <p:cNvPr id="99" name="Text 96"/>
          <p:cNvSpPr txBox="1"/>
          <p:nvPr/>
        </p:nvSpPr>
        <p:spPr>
          <a:xfrm>
            <a:off x="512064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Q4</a:t>
            </a:r>
            <a:endParaRPr lang="en-US" sz="1200" dirty="0"/>
          </a:p>
        </p:txBody>
      </p:sp>
      <p:sp>
        <p:nvSpPr>
          <p:cNvPr id="100" name="Shape 97"/>
          <p:cNvSpPr/>
          <p:nvPr/>
        </p:nvSpPr>
        <p:spPr>
          <a:xfrm>
            <a:off x="5989320" y="3977640"/>
            <a:ext cx="731520" cy="365760"/>
          </a:xfrm>
          <a:prstGeom prst="roundRect">
            <a:avLst>
              <a:gd name="adj" fmla="val 20000"/>
            </a:avLst>
          </a:prstGeom>
          <a:solidFill>
            <a:schemeClr val="bg2"/>
          </a:solidFill>
          <a:ln w="12700">
            <a:solidFill>
              <a:srgbClr val="AAB2C0"/>
            </a:solidFill>
            <a:prstDash val="solid"/>
          </a:ln>
        </p:spPr>
      </p:sp>
      <p:sp>
        <p:nvSpPr>
          <p:cNvPr id="101" name="Text 98"/>
          <p:cNvSpPr txBox="1"/>
          <p:nvPr/>
        </p:nvSpPr>
        <p:spPr>
          <a:xfrm>
            <a:off x="598932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Q5</a:t>
            </a:r>
            <a:endParaRPr lang="en-US" sz="1200" dirty="0"/>
          </a:p>
        </p:txBody>
      </p:sp>
      <p:sp>
        <p:nvSpPr>
          <p:cNvPr id="102" name="Shape 99"/>
          <p:cNvSpPr/>
          <p:nvPr/>
        </p:nvSpPr>
        <p:spPr>
          <a:xfrm>
            <a:off x="6858000" y="3977640"/>
            <a:ext cx="731520" cy="365760"/>
          </a:xfrm>
          <a:prstGeom prst="roundRect">
            <a:avLst>
              <a:gd name="adj" fmla="val 20000"/>
            </a:avLst>
          </a:prstGeom>
          <a:solidFill>
            <a:schemeClr val="bg2"/>
          </a:solidFill>
          <a:ln w="12700">
            <a:solidFill>
              <a:srgbClr val="AAB2C0"/>
            </a:solidFill>
            <a:prstDash val="solid"/>
          </a:ln>
        </p:spPr>
      </p:sp>
      <p:sp>
        <p:nvSpPr>
          <p:cNvPr id="103" name="Text 100"/>
          <p:cNvSpPr txBox="1"/>
          <p:nvPr/>
        </p:nvSpPr>
        <p:spPr>
          <a:xfrm>
            <a:off x="685800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Q6</a:t>
            </a:r>
            <a:endParaRPr lang="en-US" sz="1200" dirty="0"/>
          </a:p>
        </p:txBody>
      </p:sp>
      <p:sp>
        <p:nvSpPr>
          <p:cNvPr id="104" name="Shape 101"/>
          <p:cNvSpPr/>
          <p:nvPr/>
        </p:nvSpPr>
        <p:spPr>
          <a:xfrm>
            <a:off x="7726680" y="3977640"/>
            <a:ext cx="731520" cy="365760"/>
          </a:xfrm>
          <a:prstGeom prst="roundRect">
            <a:avLst>
              <a:gd name="adj" fmla="val 20000"/>
            </a:avLst>
          </a:prstGeom>
          <a:solidFill>
            <a:schemeClr val="bg2"/>
          </a:solidFill>
          <a:ln w="12700">
            <a:solidFill>
              <a:srgbClr val="AAB2C0"/>
            </a:solidFill>
            <a:prstDash val="solid"/>
          </a:ln>
        </p:spPr>
      </p:sp>
      <p:sp>
        <p:nvSpPr>
          <p:cNvPr id="105" name="Text 102"/>
          <p:cNvSpPr txBox="1"/>
          <p:nvPr/>
        </p:nvSpPr>
        <p:spPr>
          <a:xfrm>
            <a:off x="772668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Q7</a:t>
            </a:r>
            <a:endParaRPr lang="en-US" sz="1200" dirty="0"/>
          </a:p>
        </p:txBody>
      </p:sp>
      <p:sp>
        <p:nvSpPr>
          <p:cNvPr id="106" name="Shape 103"/>
          <p:cNvSpPr/>
          <p:nvPr/>
        </p:nvSpPr>
        <p:spPr>
          <a:xfrm>
            <a:off x="8595360" y="3977640"/>
            <a:ext cx="731520" cy="365760"/>
          </a:xfrm>
          <a:prstGeom prst="roundRect">
            <a:avLst>
              <a:gd name="adj" fmla="val 20000"/>
            </a:avLst>
          </a:prstGeom>
          <a:solidFill>
            <a:schemeClr val="bg2"/>
          </a:solidFill>
          <a:ln w="12700">
            <a:solidFill>
              <a:srgbClr val="AAB2C0"/>
            </a:solidFill>
            <a:prstDash val="solid"/>
          </a:ln>
        </p:spPr>
      </p:sp>
      <p:sp>
        <p:nvSpPr>
          <p:cNvPr id="107" name="Text 104"/>
          <p:cNvSpPr txBox="1"/>
          <p:nvPr/>
        </p:nvSpPr>
        <p:spPr>
          <a:xfrm>
            <a:off x="8595360" y="3977640"/>
            <a:ext cx="731520" cy="36576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Q8</a:t>
            </a:r>
            <a:endParaRPr lang="en-US" sz="1200" dirty="0"/>
          </a:p>
        </p:txBody>
      </p:sp>
      <p:sp>
        <p:nvSpPr>
          <p:cNvPr id="108" name="Text 105"/>
          <p:cNvSpPr txBox="1"/>
          <p:nvPr/>
        </p:nvSpPr>
        <p:spPr>
          <a:xfrm>
            <a:off x="9692640" y="3931920"/>
            <a:ext cx="1920240" cy="11887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a:t>
            </a:r>
            <a:r>
              <a:rPr lang="en-US" sz="1500" b="1" dirty="0">
                <a:solidFill>
                  <a:schemeClr val="accent1"/>
                </a:solidFill>
              </a:rPr>
              <a:t> FLOP/byte</a:t>
            </a:r>
            <a:endParaRPr lang="en-US" sz="1600" dirty="0"/>
          </a:p>
          <a:p>
            <a:pPr indent="0" marL="0">
              <a:buNone/>
            </a:pPr>
            <a:r>
              <a:rPr lang="en-US" sz="1300" dirty="0">
                <a:solidFill>
                  <a:schemeClr val="tx2"/>
                </a:solidFill>
              </a:rPr>
              <a:t>8 / 1 = H / G</a:t>
            </a:r>
            <a:endParaRPr lang="en-US" sz="1600" dirty="0"/>
          </a:p>
        </p:txBody>
      </p:sp>
      <p:sp>
        <p:nvSpPr>
          <p:cNvPr id="109" name="legend"/>
          <p:cNvSpPr/>
          <p:nvPr/>
        </p:nvSpPr>
        <p:spPr>
          <a:xfrm>
            <a:off x="548640" y="5349240"/>
            <a:ext cx="11064240" cy="868680"/>
          </a:xfrm>
          <a:prstGeom prst="roundRect">
            <a:avLst>
              <a:gd name="adj" fmla="val 12632"/>
            </a:avLst>
          </a:prstGeom>
          <a:solidFill>
            <a:schemeClr val="bg2"/>
          </a:solidFill>
          <a:ln w="12700">
            <a:solidFill>
              <a:schemeClr val="bg2"/>
            </a:solidFill>
            <a:prstDash val="solid"/>
          </a:ln>
        </p:spPr>
      </p:sp>
      <p:sp>
        <p:nvSpPr>
          <p:cNvPr id="110" name="Text 107"/>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500" b="1" dirty="0">
                <a:solidFill>
                  <a:schemeClr val="tx1"/>
                </a:solidFill>
              </a:rPr>
              <a:t>Grey: </a:t>
            </a:r>
            <a:r>
              <a:rPr lang="en-US" sz="1500" dirty="0">
                <a:solidFill>
                  <a:schemeClr val="tx1"/>
                </a:solidFill>
              </a:rPr>
              <a:t>one query head's arithmetic, 4·T·d FLOPs, the same in every row.  </a:t>
            </a:r>
            <a:r>
              <a:rPr lang="en-US" sz="1500" b="1" dirty="0">
                <a:solidFill>
                  <a:schemeClr val="accent4"/>
                </a:solidFill>
              </a:rPr>
              <a:t>Blue: </a:t>
            </a:r>
            <a:r>
              <a:rPr lang="en-US" sz="1500" dirty="0">
                <a:solidFill>
                  <a:schemeClr val="tx1"/>
                </a:solidFill>
              </a:rPr>
              <a:t>one K/V head read from the cache, 4·T·d bytes, read once and used by every head connected to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MHA, GQA and MQA: one setting differs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11</a:t>
            </a:r>
            <a:endParaRPr lang="en-US" sz="1400" dirty="0"/>
          </a:p>
        </p:txBody>
      </p:sp>
      <p:pic>
        <p:nvPicPr>
          <p:cNvPr id="6" name="Image 0" descr="Three panels with 8 query heads each. Multi-head: 8 K,V heads, one per query head. Grouped-query: 2 K,V heads, each shared by 4 consecutive query heads; KV cache divided by 4. Multi-query: one shared K,V head; KV cache divided by 8.">    </p:cNvPr>
          <p:cNvPicPr>
            <a:picLocks noChangeAspect="1"/>
          </p:cNvPicPr>
          <p:nvPr/>
        </p:nvPicPr>
        <p:blipFill>
          <a:blip r:embed="rId1"/>
          <a:stretch>
            <a:fillRect/>
          </a:stretch>
        </p:blipFill>
        <p:spPr>
          <a:xfrm>
            <a:off x="548640" y="1188720"/>
            <a:ext cx="11064240" cy="2741685"/>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021845"/>
          <a:ext cx="7223760" cy="914400"/>
        </p:xfrm>
        <a:graphic>
          <a:graphicData uri="http://schemas.openxmlformats.org/drawingml/2006/table">
            <a:tbl>
              <a:tblPr/>
              <a:tblGrid>
                <a:gridCol w="1737360"/>
                <a:gridCol w="1051560"/>
                <a:gridCol w="1097280"/>
                <a:gridCol w="2057400"/>
                <a:gridCol w="1280160"/>
              </a:tblGrid>
              <a:tr h="384048">
                <a:tc>
                  <a:txBody>
                    <a:bodyPr/>
                    <a:lstStyle/>
                    <a:p>
                      <a:pPr indent="0" marL="0">
                        <a:buNone/>
                      </a:pPr>
                      <a:r>
                        <a:rPr lang="en-US" sz="1300" b="1" dirty="0">
                          <a:solidFill>
                            <a:schemeClr val="bg1"/>
                          </a:solidFill>
                        </a:rPr>
                        <a:t>Variant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Query heads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K/V heads 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Who shares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KV cache vs. MHA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84048">
                <a:tc>
                  <a:txBody>
                    <a:bodyPr/>
                    <a:lstStyle/>
                    <a:p>
                      <a:pPr indent="0" marL="0">
                        <a:buNone/>
                      </a:pPr>
                      <a:r>
                        <a:rPr lang="en-US" sz="1300" b="1" dirty="0">
                          <a:solidFill>
                            <a:schemeClr val="tx1"/>
                          </a:solidFill>
                        </a:rPr>
                        <a:t>Multi-head (MHA)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nothing is shared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Grouped-query (GQA)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&lt; G &lt; 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each group of H/G query heads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G / 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Multi-query (MQA)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query heads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1 / 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8" name="per-head formula"/>
          <p:cNvSpPr/>
          <p:nvPr/>
        </p:nvSpPr>
        <p:spPr>
          <a:xfrm>
            <a:off x="8046720" y="4021845"/>
            <a:ext cx="3566160" cy="2240280"/>
          </a:xfrm>
          <a:prstGeom prst="roundRect">
            <a:avLst>
              <a:gd name="adj" fmla="val 4898"/>
            </a:avLst>
          </a:prstGeom>
          <a:solidFill>
            <a:schemeClr val="accent5"/>
          </a:solidFill>
          <a:ln w="12700">
            <a:solidFill>
              <a:schemeClr val="accent5"/>
            </a:solidFill>
            <a:prstDash val="solid"/>
          </a:ln>
        </p:spPr>
      </p:sp>
      <p:sp>
        <p:nvSpPr>
          <p:cNvPr id="9" name="Text 4"/>
          <p:cNvSpPr txBox="1"/>
          <p:nvPr/>
        </p:nvSpPr>
        <p:spPr>
          <a:xfrm>
            <a:off x="8275320" y="4113285"/>
            <a:ext cx="3154680" cy="20574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Per head, the formula is unchanged:</a:t>
            </a:r>
            <a:endParaRPr lang="en-US" sz="1500" dirty="0"/>
          </a:p>
          <a:p>
            <a:pPr indent="0" marL="0">
              <a:buNone/>
            </a:pPr>
            <a:r>
              <a:rPr lang="en-US" sz="1500" dirty="0">
                <a:solidFill>
                  <a:schemeClr val="tx1"/>
                </a:solidFill>
                <a:latin typeface="Cambria" pitchFamily="34" charset="0"/>
                <a:ea typeface="Cambria" pitchFamily="34" charset="-122"/>
                <a:cs typeface="Cambria" pitchFamily="34" charset="-120"/>
              </a:rPr>
              <a:t>head</a:t>
            </a:r>
            <a:r>
              <a:rPr lang="en-US" sz="1500" baseline="-40000" dirty="0">
                <a:solidFill>
                  <a:schemeClr val="tx1"/>
                </a:solidFill>
                <a:latin typeface="Cambria" pitchFamily="34" charset="0"/>
                <a:ea typeface="Cambria" pitchFamily="34" charset="-122"/>
                <a:cs typeface="Cambria" pitchFamily="34" charset="-120"/>
              </a:rPr>
              <a:t>h</a:t>
            </a:r>
            <a:r>
              <a:rPr lang="en-US" sz="1500" dirty="0">
                <a:solidFill>
                  <a:schemeClr val="tx1"/>
                </a:solidFill>
                <a:latin typeface="Cambria" pitchFamily="34" charset="0"/>
                <a:ea typeface="Cambria" pitchFamily="34" charset="-122"/>
                <a:cs typeface="Cambria" pitchFamily="34" charset="-120"/>
              </a:rPr>
              <a:t> = softmax( Q</a:t>
            </a:r>
            <a:r>
              <a:rPr lang="en-US" sz="1500" baseline="-40000" dirty="0">
                <a:solidFill>
                  <a:schemeClr val="tx1"/>
                </a:solidFill>
                <a:latin typeface="Cambria" pitchFamily="34" charset="0"/>
                <a:ea typeface="Cambria" pitchFamily="34" charset="-122"/>
                <a:cs typeface="Cambria" pitchFamily="34" charset="-120"/>
              </a:rPr>
              <a:t>h</a:t>
            </a:r>
            <a:r>
              <a:rPr lang="en-US" sz="1500" dirty="0">
                <a:solidFill>
                  <a:schemeClr val="tx1"/>
                </a:solidFill>
                <a:latin typeface="Cambria" pitchFamily="34" charset="0"/>
                <a:ea typeface="Cambria" pitchFamily="34" charset="-122"/>
                <a:cs typeface="Cambria" pitchFamily="34" charset="-120"/>
              </a:rPr>
              <a:t> K</a:t>
            </a:r>
            <a:r>
              <a:rPr lang="en-US" sz="1500" baseline="-40000" dirty="0">
                <a:solidFill>
                  <a:schemeClr val="tx1"/>
                </a:solidFill>
                <a:latin typeface="Cambria" pitchFamily="34" charset="0"/>
                <a:ea typeface="Cambria" pitchFamily="34" charset="-122"/>
                <a:cs typeface="Cambria" pitchFamily="34" charset="-120"/>
              </a:rPr>
              <a:t>g(h)</a:t>
            </a:r>
            <a:r>
              <a:rPr lang="en-US" sz="1500" baseline="30000" dirty="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 / √d</a:t>
            </a:r>
            <a:r>
              <a:rPr lang="en-US" sz="1500" baseline="-40000" dirty="0">
                <a:solidFill>
                  <a:schemeClr val="tx1"/>
                </a:solidFill>
                <a:latin typeface="Cambria" pitchFamily="34" charset="0"/>
                <a:ea typeface="Cambria" pitchFamily="34" charset="-122"/>
                <a:cs typeface="Cambria" pitchFamily="34" charset="-120"/>
              </a:rPr>
              <a:t>k</a:t>
            </a:r>
            <a:r>
              <a:rPr lang="en-US" sz="1500" dirty="0">
                <a:solidFill>
                  <a:schemeClr val="tx1"/>
                </a:solidFill>
                <a:latin typeface="Cambria" pitchFamily="34" charset="0"/>
                <a:ea typeface="Cambria" pitchFamily="34" charset="-122"/>
                <a:cs typeface="Cambria" pitchFamily="34" charset="-120"/>
              </a:rPr>
              <a:t> ) V</a:t>
            </a:r>
            <a:r>
              <a:rPr lang="en-US" sz="1500" baseline="-40000" dirty="0">
                <a:solidFill>
                  <a:schemeClr val="tx1"/>
                </a:solidFill>
                <a:latin typeface="Cambria" pitchFamily="34" charset="0"/>
                <a:ea typeface="Cambria" pitchFamily="34" charset="-122"/>
                <a:cs typeface="Cambria" pitchFamily="34" charset="-120"/>
              </a:rPr>
              <a:t>g(h)</a:t>
            </a:r>
            <a:endParaRPr lang="en-US" sz="1500" dirty="0"/>
          </a:p>
          <a:p>
            <a:pPr indent="0" marL="0">
              <a:buNone/>
            </a:pPr>
            <a:r>
              <a:rPr lang="en-US" sz="1500" dirty="0">
                <a:solidFill>
                  <a:schemeClr val="tx1"/>
                </a:solidFill>
                <a:latin typeface="Cambria" pitchFamily="34" charset="0"/>
                <a:ea typeface="Cambria" pitchFamily="34" charset="-122"/>
                <a:cs typeface="Cambria" pitchFamily="34" charset="-120"/>
              </a:rPr>
              <a:t>g(h) = ⌊ h / (H/G) ⌋</a:t>
            </a:r>
            <a:endParaRPr lang="en-US" sz="1500" dirty="0"/>
          </a:p>
          <a:p>
            <a:pPr indent="0" marL="0">
              <a:buNone/>
            </a:pPr>
            <a:r>
              <a:rPr lang="en-US" sz="1500" dirty="0">
                <a:solidFill>
                  <a:schemeClr val="tx2"/>
                </a:solidFill>
                <a:latin typeface="Cambria" pitchFamily="34" charset="0"/>
                <a:ea typeface="Cambria" pitchFamily="34" charset="-122"/>
                <a:cs typeface="Cambria" pitchFamily="34" charset="-120"/>
              </a:rPr>
              <a:t>Only which K and V each head reads changes.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class, two changes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14</a:t>
            </a:r>
            <a:endParaRPr lang="en-US" sz="1400" dirty="0"/>
          </a:p>
        </p:txBody>
      </p:sp>
      <p:sp>
        <p:nvSpPr>
          <p:cNvPr id="6" name="code"/>
          <p:cNvSpPr/>
          <p:nvPr/>
        </p:nvSpPr>
        <p:spPr>
          <a:xfrm>
            <a:off x="548640" y="1280160"/>
            <a:ext cx="6858000" cy="3291840"/>
          </a:xfrm>
          <a:prstGeom prst="roundRect">
            <a:avLst>
              <a:gd name="adj" fmla="val 3333"/>
            </a:avLst>
          </a:prstGeom>
          <a:solidFill>
            <a:schemeClr val="tx1"/>
          </a:solidFill>
          <a:ln w="12700">
            <a:solidFill>
              <a:schemeClr val="tx1"/>
            </a:solidFill>
            <a:prstDash val="solid"/>
          </a:ln>
        </p:spPr>
      </p:sp>
      <p:sp>
        <p:nvSpPr>
          <p:cNvPr id="7" name="Text 4"/>
          <p:cNvSpPr txBox="1"/>
          <p:nvPr/>
        </p:nvSpPr>
        <p:spPr>
          <a:xfrm>
            <a:off x="777240" y="1417320"/>
            <a:ext cx="6492240" cy="3063240"/>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W_q = nn.Linear(d_model, n_heads    * head_dim)</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W_k = nn.Linear(d_model, n_kv_heads * head_dim)  # change 1</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W_v = nn.Linear(d_model, n_kv_heads * head_dim)</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Q = split_heads(W_q(x), n_heads)       # (B, H, T, Dh)</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 = split_heads(W_k(x), n_kv_heads)    # (B, G, T, Dh)</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if cache: K = torch.cat([cache[0], K], dim=2)  # + V</a:t>
            </a:r>
            <a:endParaRPr lang="en-US" sz="1250" dirty="0"/>
          </a:p>
          <a:p>
            <a:pPr indent="0" marL="0">
              <a:buNone/>
            </a:pPr>
            <a:r>
              <a:rPr lang="en-US" sz="1250" dirty="0">
                <a:solidFill>
                  <a:srgbClr val="7FD1C3"/>
                </a:solidFill>
                <a:latin typeface="Courier New" pitchFamily="34" charset="0"/>
                <a:ea typeface="Courier New" pitchFamily="34" charset="-122"/>
                <a:cs typeface="Courier New" pitchFamily="34" charset="-120"/>
              </a:rPr>
              <a:t>new_cache = (K, V)                 # stored with G heads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K_shared = K.repeat_interleave(group_size, dim=1)</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V_shared = V.repeat_interleave(group_size, dim=1)</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scores = Q @ K_shared.transpose(-2, -1) / sqrt(Dh)</a:t>
            </a:r>
            <a:endParaRPr lang="en-US" sz="1250" dirty="0"/>
          </a:p>
        </p:txBody>
      </p:sp>
      <p:sp>
        <p:nvSpPr>
          <p:cNvPr id="8" name="Text 5"/>
          <p:cNvSpPr txBox="1"/>
          <p:nvPr/>
        </p:nvSpPr>
        <p:spPr>
          <a:xfrm>
            <a:off x="548640" y="4709160"/>
            <a:ext cx="6858000" cy="548640"/>
          </a:xfrm>
          <a:prstGeom prst="rect">
            <a:avLst/>
          </a:prstGeom>
          <a:noFill/>
          <a:ln/>
        </p:spPr>
        <p:txBody>
          <a:bodyPr wrap="square" lIns="0" tIns="0" rIns="0" bIns="0" rtlCol="0" anchor="t"/>
          <a:lstStyle/>
          <a:p>
            <a:pPr indent="0" marL="0">
              <a:buNone/>
            </a:pPr>
            <a:r>
              <a:rPr lang="en-US" sz="1300" dirty="0">
                <a:solidFill>
                  <a:schemeClr val="tx2"/>
                </a:solidFill>
              </a:rPr>
              <a:t>Amber: the two changes from standard MHA. Teal: the cache is stored </a:t>
            </a:r>
            <a:r>
              <a:rPr lang="en-US" sz="1300" b="1" dirty="0">
                <a:solidFill>
                  <a:schemeClr val="tx2"/>
                </a:solidFill>
              </a:rPr>
              <a:t>before</a:t>
            </a:r>
            <a:r>
              <a:rPr lang="en-US" sz="1300" dirty="0">
                <a:solidFill>
                  <a:schemeClr val="tx2"/>
                </a:solidFill>
              </a:rPr>
              <a:t> the repeat. </a:t>
            </a:r>
            <a:r>
              <a:rPr lang="en-US" sz="1300" dirty="0">
                <a:solidFill>
                  <a:schemeClr val="tx2"/>
                </a:solidFill>
                <a:latin typeface="Courier New" pitchFamily="34" charset="0"/>
                <a:ea typeface="Courier New" pitchFamily="34" charset="-122"/>
                <a:cs typeface="Courier New" pitchFamily="34" charset="-120"/>
              </a:rPr>
              <a:t>group_size = H / G</a:t>
            </a:r>
            <a:r>
              <a:rPr lang="en-US" sz="1300" dirty="0">
                <a:solidFill>
                  <a:schemeClr val="tx2"/>
                </a:solidFill>
              </a:rPr>
              <a:t>.</a:t>
            </a:r>
            <a:endParaRPr lang="en-US" sz="1300" dirty="0"/>
          </a:p>
        </p:txBody>
      </p:sp>
      <p:sp>
        <p:nvSpPr>
          <p:cNvPr id="9" name="Text 6"/>
          <p:cNvSpPr txBox="1"/>
          <p:nvPr/>
        </p:nvSpPr>
        <p:spPr>
          <a:xfrm>
            <a:off x="7726680" y="1280160"/>
            <a:ext cx="3886200" cy="548640"/>
          </a:xfrm>
          <a:prstGeom prst="rect">
            <a:avLst/>
          </a:prstGeom>
          <a:noFill/>
          <a:ln/>
        </p:spPr>
        <p:txBody>
          <a:bodyPr wrap="square" lIns="0" tIns="0" rIns="0" bIns="0" rtlCol="0" anchor="t"/>
          <a:lstStyle/>
          <a:p>
            <a:pPr indent="0" marL="0">
              <a:buNone/>
            </a:pPr>
            <a:r>
              <a:rPr lang="en-US" sz="1500" b="1" dirty="0">
                <a:solidFill>
                  <a:schemeClr val="tx1"/>
                </a:solidFill>
              </a:rPr>
              <a:t>Shapes printed by cell 14 (B = 2, T = 6, d_model = 32, H = 4)</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26680" y="1920240"/>
          <a:ext cx="3886200" cy="914400"/>
        </p:xfrm>
        <a:graphic>
          <a:graphicData uri="http://schemas.openxmlformats.org/drawingml/2006/table">
            <a:tbl>
              <a:tblPr/>
              <a:tblGrid>
                <a:gridCol w="685800"/>
                <a:gridCol w="411480"/>
                <a:gridCol w="1417320"/>
                <a:gridCol w="1371600"/>
              </a:tblGrid>
              <a:tr h="411480">
                <a:tc>
                  <a:txBody>
                    <a:bodyPr/>
                    <a:lstStyle/>
                    <a:p>
                      <a:pPr indent="0" marL="0">
                        <a:buNone/>
                      </a:pP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cached K</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scores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300" b="1" dirty="0">
                          <a:solidFill>
                            <a:schemeClr val="tx1"/>
                          </a:solidFill>
                        </a:rPr>
                        <a:t>MHA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(2, 4, 6, 8)</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(2, 4, 6, 6)</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GQA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(2, 2, 6, 8)</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(2, 4, 6, 6)</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MQA</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(2, 1, 6, 8)</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(2, 4, 6, 6)</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11" name="Text 7"/>
          <p:cNvSpPr txBox="1"/>
          <p:nvPr/>
        </p:nvSpPr>
        <p:spPr>
          <a:xfrm>
            <a:off x="7726680" y="3703320"/>
            <a:ext cx="3886200" cy="320040"/>
          </a:xfrm>
          <a:prstGeom prst="rect">
            <a:avLst/>
          </a:prstGeom>
          <a:noFill/>
          <a:ln/>
        </p:spPr>
        <p:txBody>
          <a:bodyPr wrap="square" lIns="0" tIns="0" rIns="0" bIns="0" rtlCol="0" anchor="t"/>
          <a:lstStyle/>
          <a:p>
            <a:pPr indent="0" marL="0">
              <a:buNone/>
            </a:pPr>
            <a:r>
              <a:rPr lang="en-US" sz="1400" dirty="0">
                <a:solidFill>
                  <a:schemeClr val="tx1"/>
                </a:solidFill>
              </a:rPr>
              <a:t>Output: </a:t>
            </a:r>
            <a:r>
              <a:rPr lang="en-US" sz="1400" dirty="0">
                <a:solidFill>
                  <a:schemeClr val="tx1"/>
                </a:solidFill>
                <a:latin typeface="Courier New" pitchFamily="34" charset="0"/>
                <a:ea typeface="Courier New" pitchFamily="34" charset="-122"/>
                <a:cs typeface="Courier New" pitchFamily="34" charset="-120"/>
              </a:rPr>
              <a:t>(2, 6, 32)</a:t>
            </a:r>
            <a:r>
              <a:rPr lang="en-US" sz="1400" dirty="0">
                <a:solidFill>
                  <a:schemeClr val="tx1"/>
                </a:solidFill>
              </a:rPr>
              <a:t> in all three</a:t>
            </a:r>
            <a:endParaRPr lang="en-US" sz="1400" dirty="0"/>
          </a:p>
        </p:txBody>
      </p:sp>
      <p:sp>
        <p:nvSpPr>
          <p:cNvPr id="12" name="Text 8"/>
          <p:cNvSpPr txBox="1"/>
          <p:nvPr/>
        </p:nvSpPr>
        <p:spPr>
          <a:xfrm>
            <a:off x="7726680" y="4114800"/>
            <a:ext cx="3886200" cy="210312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accent4"/>
                </a:solidFill>
              </a:rPr>
              <a:t>Cached K shrinks </a:t>
            </a:r>
            <a:r>
              <a:rPr lang="en-US" sz="1400" dirty="0">
                <a:solidFill>
                  <a:schemeClr val="tx1"/>
                </a:solidFill>
              </a:rPr>
              <a:t>4 → 2 → 1 heads: the saving</a:t>
            </a:r>
            <a:endParaRPr lang="en-US" sz="1400" dirty="0"/>
          </a:p>
          <a:p>
            <a:pPr marL="228600" indent="-228600">
              <a:spcAft>
                <a:spcPts val="800"/>
              </a:spcAft>
              <a:buSzPct val="100000"/>
              <a:buChar char="•"/>
            </a:pPr>
            <a:r>
              <a:rPr lang="en-US" sz="1400" b="1" dirty="0">
                <a:solidFill>
                  <a:schemeClr val="tx1"/>
                </a:solidFill>
              </a:rPr>
              <a:t>Scores stay (B, H, T, T): </a:t>
            </a:r>
            <a:r>
              <a:rPr lang="en-US" sz="1400" dirty="0">
                <a:solidFill>
                  <a:schemeClr val="tx1"/>
                </a:solidFill>
              </a:rPr>
              <a:t>every query head keeps its own pattern</a:t>
            </a:r>
            <a:endParaRPr lang="en-US" sz="1400" dirty="0"/>
          </a:p>
          <a:p>
            <a:pPr marL="228600" indent="-228600">
              <a:spcAft>
                <a:spcPts val="800"/>
              </a:spcAft>
              <a:buSzPct val="100000"/>
              <a:buChar char="•"/>
            </a:pPr>
            <a:r>
              <a:rPr lang="en-US" sz="1400" b="1" dirty="0">
                <a:solidFill>
                  <a:schemeClr val="tx1"/>
                </a:solidFill>
              </a:rPr>
              <a:t>Same output shape: </a:t>
            </a:r>
            <a:r>
              <a:rPr lang="en-US" sz="1400" dirty="0">
                <a:solidFill>
                  <a:schemeClr val="tx1"/>
                </a:solidFill>
              </a:rPr>
              <a:t>the variants swap into a block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Shared keys, different patterns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17–19</a:t>
            </a:r>
            <a:endParaRPr lang="en-US" sz="1400" dirty="0"/>
          </a:p>
        </p:txBody>
      </p:sp>
      <p:pic>
        <p:nvPicPr>
          <p:cNvPr id="6" name="Image 0" descr="Four 8 by 8 attention maps of a random MQA layer with one shared K,V head: all are lower-triangular, and each query head puts its weight on different key positions.">    </p:cNvPr>
          <p:cNvPicPr>
            <a:picLocks noChangeAspect="1"/>
          </p:cNvPicPr>
          <p:nvPr/>
        </p:nvPicPr>
        <p:blipFill>
          <a:blip r:embed="rId1"/>
          <a:stretch>
            <a:fillRect/>
          </a:stretch>
        </p:blipFill>
        <p:spPr>
          <a:xfrm>
            <a:off x="548640" y="1188720"/>
            <a:ext cx="11064240" cy="3113314"/>
          </a:xfrm>
          <a:prstGeom prst="rect">
            <a:avLst/>
          </a:prstGeom>
        </p:spPr>
      </p:pic>
      <p:sp>
        <p:nvSpPr>
          <p:cNvPr id="7" name="checks"/>
          <p:cNvSpPr/>
          <p:nvPr/>
        </p:nvSpPr>
        <p:spPr>
          <a:xfrm>
            <a:off x="548640" y="4439194"/>
            <a:ext cx="5349240" cy="1733006"/>
          </a:xfrm>
          <a:prstGeom prst="roundRect">
            <a:avLst>
              <a:gd name="adj" fmla="val 6332"/>
            </a:avLst>
          </a:prstGeom>
          <a:solidFill>
            <a:schemeClr val="bg2"/>
          </a:solidFill>
          <a:ln w="12700">
            <a:solidFill>
              <a:schemeClr val="bg2"/>
            </a:solidFill>
            <a:prstDash val="solid"/>
          </a:ln>
        </p:spPr>
      </p:sp>
      <p:sp>
        <p:nvSpPr>
          <p:cNvPr id="8" name="Text 4"/>
          <p:cNvSpPr txBox="1"/>
          <p:nvPr/>
        </p:nvSpPr>
        <p:spPr>
          <a:xfrm>
            <a:off x="822960" y="4576354"/>
            <a:ext cx="4846320" cy="365760"/>
          </a:xfrm>
          <a:prstGeom prst="rect">
            <a:avLst/>
          </a:prstGeom>
          <a:noFill/>
          <a:ln/>
        </p:spPr>
        <p:txBody>
          <a:bodyPr wrap="square" lIns="0" tIns="0" rIns="0" bIns="0" rtlCol="0" anchor="t"/>
          <a:lstStyle/>
          <a:p>
            <a:pPr indent="0" marL="0">
              <a:buNone/>
            </a:pPr>
            <a:r>
              <a:rPr lang="en-US" sz="1600" b="1" dirty="0">
                <a:solidFill>
                  <a:schemeClr val="tx1"/>
                </a:solidFill>
              </a:rPr>
              <a:t>Correctness checks (cell 17)</a:t>
            </a:r>
            <a:endParaRPr lang="en-US" sz="1600" dirty="0"/>
          </a:p>
        </p:txBody>
      </p:sp>
      <p:sp>
        <p:nvSpPr>
          <p:cNvPr id="9" name="Text 5"/>
          <p:cNvSpPr txBox="1"/>
          <p:nvPr/>
        </p:nvSpPr>
        <p:spPr>
          <a:xfrm>
            <a:off x="822960" y="4987834"/>
            <a:ext cx="4846320" cy="914400"/>
          </a:xfrm>
          <a:prstGeom prst="rect">
            <a:avLst/>
          </a:prstGeom>
          <a:noFill/>
          <a:ln/>
        </p:spPr>
        <p:txBody>
          <a:bodyPr wrap="square" lIns="0" tIns="0" rIns="0" bIns="0" rtlCol="0" anchor="t"/>
          <a:lstStyle/>
          <a:p>
            <a:pPr indent="0" marL="0">
              <a:buNone/>
            </a:pPr>
            <a:r>
              <a:rPr lang="en-US" sz="1500" dirty="0">
                <a:solidFill>
                  <a:schemeClr val="tx1"/>
                </a:solidFill>
              </a:rPr>
              <a:t>G = H matches </a:t>
            </a:r>
            <a:r>
              <a:rPr lang="en-US" sz="1500" dirty="0">
                <a:solidFill>
                  <a:schemeClr val="tx1"/>
                </a:solidFill>
                <a:latin typeface="Courier New" pitchFamily="34" charset="0"/>
                <a:ea typeface="Courier New" pitchFamily="34" charset="-122"/>
                <a:cs typeface="Courier New" pitchFamily="34" charset="-120"/>
              </a:rPr>
              <a:t>nn.MultiheadAttention</a:t>
            </a:r>
            <a:r>
              <a:rPr lang="en-US" sz="1500" dirty="0">
                <a:solidFill>
                  <a:schemeClr val="tx1"/>
                </a:solidFill>
              </a:rPr>
              <a:t>:  </a:t>
            </a:r>
            <a:r>
              <a:rPr lang="en-US" sz="1500" b="1" dirty="0">
                <a:solidFill>
                  <a:schemeClr val="accent1"/>
                </a:solidFill>
              </a:rPr>
              <a:t>True</a:t>
            </a:r>
            <a:endParaRPr lang="en-US" sz="1500" dirty="0"/>
          </a:p>
          <a:p>
            <a:pPr indent="0" marL="0">
              <a:buNone/>
            </a:pPr>
            <a:r>
              <a:rPr lang="en-US" sz="1500" dirty="0">
                <a:solidFill>
                  <a:schemeClr val="tx1"/>
                </a:solidFill>
              </a:rPr>
              <a:t>G = 1: </a:t>
            </a:r>
            <a:r>
              <a:rPr lang="en-US" sz="1500" dirty="0">
                <a:solidFill>
                  <a:schemeClr val="tx1"/>
                </a:solidFill>
                <a:latin typeface="Courier New" pitchFamily="34" charset="0"/>
                <a:ea typeface="Courier New" pitchFamily="34" charset="-122"/>
                <a:cs typeface="Courier New" pitchFamily="34" charset="-120"/>
              </a:rPr>
              <a:t>repeat_interleave</a:t>
            </a:r>
            <a:r>
              <a:rPr lang="en-US" sz="1500" dirty="0">
                <a:solidFill>
                  <a:schemeClr val="tx1"/>
                </a:solidFill>
              </a:rPr>
              <a:t> == broadcasting:  </a:t>
            </a:r>
            <a:r>
              <a:rPr lang="en-US" sz="1500" b="1" dirty="0">
                <a:solidFill>
                  <a:schemeClr val="accent1"/>
                </a:solidFill>
              </a:rPr>
              <a:t>True</a:t>
            </a:r>
            <a:endParaRPr lang="en-US" sz="1500" dirty="0"/>
          </a:p>
        </p:txBody>
      </p:sp>
      <p:sp>
        <p:nvSpPr>
          <p:cNvPr id="10" name="why different"/>
          <p:cNvSpPr/>
          <p:nvPr/>
        </p:nvSpPr>
        <p:spPr>
          <a:xfrm>
            <a:off x="6263640" y="4439194"/>
            <a:ext cx="5349240" cy="1733006"/>
          </a:xfrm>
          <a:prstGeom prst="roundRect">
            <a:avLst>
              <a:gd name="adj" fmla="val 6332"/>
            </a:avLst>
          </a:prstGeom>
          <a:solidFill>
            <a:schemeClr val="accent5"/>
          </a:solidFill>
          <a:ln w="12700">
            <a:solidFill>
              <a:schemeClr val="accent5"/>
            </a:solidFill>
            <a:prstDash val="solid"/>
          </a:ln>
        </p:spPr>
      </p:sp>
      <p:sp>
        <p:nvSpPr>
          <p:cNvPr id="11" name="Text 7"/>
          <p:cNvSpPr txBox="1"/>
          <p:nvPr/>
        </p:nvSpPr>
        <p:spPr>
          <a:xfrm>
            <a:off x="6537960" y="4576354"/>
            <a:ext cx="4846320" cy="1458686"/>
          </a:xfrm>
          <a:prstGeom prst="rect">
            <a:avLst/>
          </a:prstGeom>
          <a:noFill/>
          <a:ln/>
        </p:spPr>
        <p:txBody>
          <a:bodyPr wrap="square" lIns="0" tIns="0" rIns="0" bIns="0" rtlCol="0" anchor="ctr"/>
          <a:lstStyle/>
          <a:p>
            <a:pPr indent="0" marL="0">
              <a:buNone/>
            </a:pPr>
            <a:r>
              <a:rPr lang="en-US" sz="1500" b="1" dirty="0">
                <a:solidFill>
                  <a:schemeClr val="tx1"/>
                </a:solidFill>
              </a:rPr>
              <a:t>Same keys, different queries: </a:t>
            </a:r>
            <a:endParaRPr lang="en-US" sz="1500" dirty="0"/>
          </a:p>
          <a:p>
            <a:pPr indent="0" marL="0">
              <a:buNone/>
            </a:pPr>
            <a:r>
              <a:rPr lang="en-US" sz="1500" dirty="0">
                <a:solidFill>
                  <a:schemeClr val="tx1"/>
                </a:solidFill>
              </a:rPr>
              <a:t>each head has its own query projection, so its dot products with the shared keys, and therefore its softmax weights, differ. Largest difference between two heads: 1.00.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Decoding: the head axis is the saving</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22</a:t>
            </a:r>
            <a:endParaRPr lang="en-US" sz="1400" dirty="0"/>
          </a:p>
        </p:txBody>
      </p:sp>
      <p:sp>
        <p:nvSpPr>
          <p:cNvPr id="6" name="Text 3"/>
          <p:cNvSpPr txBox="1"/>
          <p:nvPr/>
        </p:nvSpPr>
        <p:spPr>
          <a:xfrm>
            <a:off x="548640" y="1280160"/>
            <a:ext cx="11064240" cy="365760"/>
          </a:xfrm>
          <a:prstGeom prst="rect">
            <a:avLst/>
          </a:prstGeom>
          <a:noFill/>
          <a:ln/>
        </p:spPr>
        <p:txBody>
          <a:bodyPr wrap="square" lIns="0" tIns="0" rIns="0" bIns="0" rtlCol="0" anchor="t"/>
          <a:lstStyle/>
          <a:p>
            <a:pPr indent="0" marL="0">
              <a:buNone/>
            </a:pPr>
            <a:r>
              <a:rPr lang="en-US" sz="1600" b="1" dirty="0">
                <a:solidFill>
                  <a:schemeClr val="tx1"/>
                </a:solidFill>
              </a:rPr>
              <a:t>Cached K shape (B, heads, positions, head_dim) after each phase</a:t>
            </a:r>
            <a:endParaRPr lang="en-US" sz="1600" dirty="0"/>
          </a:p>
        </p:txBody>
      </p:sp>
      <p:sp>
        <p:nvSpPr>
          <p:cNvPr id="7" name="Text 4"/>
          <p:cNvSpPr txBox="1"/>
          <p:nvPr/>
        </p:nvSpPr>
        <p:spPr>
          <a:xfrm>
            <a:off x="1828800" y="1737360"/>
            <a:ext cx="1828800" cy="320040"/>
          </a:xfrm>
          <a:prstGeom prst="rect">
            <a:avLst/>
          </a:prstGeom>
          <a:noFill/>
          <a:ln/>
        </p:spPr>
        <p:txBody>
          <a:bodyPr wrap="square" lIns="0" tIns="0" rIns="0" bIns="0" rtlCol="0" anchor="t"/>
          <a:lstStyle/>
          <a:p>
            <a:pPr algn="ctr" indent="0" marL="0">
              <a:buNone/>
            </a:pPr>
            <a:r>
              <a:rPr lang="en-US" sz="1300" dirty="0">
                <a:solidFill>
                  <a:schemeClr val="tx2"/>
                </a:solidFill>
              </a:rPr>
              <a:t>prefill</a:t>
            </a:r>
            <a:endParaRPr lang="en-US" sz="1300" dirty="0"/>
          </a:p>
        </p:txBody>
      </p:sp>
      <p:sp>
        <p:nvSpPr>
          <p:cNvPr id="8" name="Text 5"/>
          <p:cNvSpPr txBox="1"/>
          <p:nvPr/>
        </p:nvSpPr>
        <p:spPr>
          <a:xfrm>
            <a:off x="3977640" y="1737360"/>
            <a:ext cx="1828800" cy="320040"/>
          </a:xfrm>
          <a:prstGeom prst="rect">
            <a:avLst/>
          </a:prstGeom>
          <a:noFill/>
          <a:ln/>
        </p:spPr>
        <p:txBody>
          <a:bodyPr wrap="square" lIns="0" tIns="0" rIns="0" bIns="0" rtlCol="0" anchor="t"/>
          <a:lstStyle/>
          <a:p>
            <a:pPr algn="ctr" indent="0" marL="0">
              <a:buNone/>
            </a:pPr>
            <a:r>
              <a:rPr lang="en-US" sz="1300" dirty="0">
                <a:solidFill>
                  <a:schemeClr val="tx2"/>
                </a:solidFill>
              </a:rPr>
              <a:t>step 1</a:t>
            </a:r>
            <a:endParaRPr lang="en-US" sz="1300" dirty="0"/>
          </a:p>
        </p:txBody>
      </p:sp>
      <p:sp>
        <p:nvSpPr>
          <p:cNvPr id="9" name="Text 6"/>
          <p:cNvSpPr txBox="1"/>
          <p:nvPr/>
        </p:nvSpPr>
        <p:spPr>
          <a:xfrm>
            <a:off x="6126480" y="1737360"/>
            <a:ext cx="1828800" cy="320040"/>
          </a:xfrm>
          <a:prstGeom prst="rect">
            <a:avLst/>
          </a:prstGeom>
          <a:noFill/>
          <a:ln/>
        </p:spPr>
        <p:txBody>
          <a:bodyPr wrap="square" lIns="0" tIns="0" rIns="0" bIns="0" rtlCol="0" anchor="t"/>
          <a:lstStyle/>
          <a:p>
            <a:pPr algn="ctr" indent="0" marL="0">
              <a:buNone/>
            </a:pPr>
            <a:r>
              <a:rPr lang="en-US" sz="1300" dirty="0">
                <a:solidFill>
                  <a:schemeClr val="tx2"/>
                </a:solidFill>
              </a:rPr>
              <a:t>step 2</a:t>
            </a:r>
            <a:endParaRPr lang="en-US" sz="1300" dirty="0"/>
          </a:p>
        </p:txBody>
      </p:sp>
      <p:sp>
        <p:nvSpPr>
          <p:cNvPr id="10" name="Text 7"/>
          <p:cNvSpPr txBox="1"/>
          <p:nvPr/>
        </p:nvSpPr>
        <p:spPr>
          <a:xfrm>
            <a:off x="8275320" y="1737360"/>
            <a:ext cx="1828800" cy="320040"/>
          </a:xfrm>
          <a:prstGeom prst="rect">
            <a:avLst/>
          </a:prstGeom>
          <a:noFill/>
          <a:ln/>
        </p:spPr>
        <p:txBody>
          <a:bodyPr wrap="square" lIns="0" tIns="0" rIns="0" bIns="0" rtlCol="0" anchor="t"/>
          <a:lstStyle/>
          <a:p>
            <a:pPr algn="ctr" indent="0" marL="0">
              <a:buNone/>
            </a:pPr>
            <a:r>
              <a:rPr lang="en-US" sz="1300" dirty="0">
                <a:solidFill>
                  <a:schemeClr val="tx2"/>
                </a:solidFill>
              </a:rPr>
              <a:t>step 3</a:t>
            </a:r>
            <a:endParaRPr lang="en-US" sz="1300" dirty="0"/>
          </a:p>
        </p:txBody>
      </p:sp>
      <p:sp>
        <p:nvSpPr>
          <p:cNvPr id="11" name="Text 8"/>
          <p:cNvSpPr txBox="1"/>
          <p:nvPr/>
        </p:nvSpPr>
        <p:spPr>
          <a:xfrm>
            <a:off x="10424160" y="1737360"/>
            <a:ext cx="1280160" cy="320040"/>
          </a:xfrm>
          <a:prstGeom prst="rect">
            <a:avLst/>
          </a:prstGeom>
          <a:noFill/>
          <a:ln/>
        </p:spPr>
        <p:txBody>
          <a:bodyPr wrap="square" lIns="0" tIns="0" rIns="0" bIns="0" rtlCol="0" anchor="t"/>
          <a:lstStyle/>
          <a:p>
            <a:pPr algn="ctr" indent="0" marL="0">
              <a:buNone/>
            </a:pPr>
            <a:r>
              <a:rPr lang="en-US" sz="1200" dirty="0">
                <a:solidFill>
                  <a:schemeClr val="tx2"/>
                </a:solidFill>
              </a:rPr>
              <a:t>= full recompute?</a:t>
            </a:r>
            <a:endParaRPr lang="en-US" sz="1200" dirty="0"/>
          </a:p>
        </p:txBody>
      </p:sp>
      <p:sp>
        <p:nvSpPr>
          <p:cNvPr id="12" name="Text 9"/>
          <p:cNvSpPr txBox="1"/>
          <p:nvPr/>
        </p:nvSpPr>
        <p:spPr>
          <a:xfrm>
            <a:off x="548640" y="2148840"/>
            <a:ext cx="1097280" cy="502920"/>
          </a:xfrm>
          <a:prstGeom prst="rect">
            <a:avLst/>
          </a:prstGeom>
          <a:noFill/>
          <a:ln/>
        </p:spPr>
        <p:txBody>
          <a:bodyPr wrap="square" lIns="0" tIns="0" rIns="0" bIns="0" rtlCol="0" anchor="ctr"/>
          <a:lstStyle/>
          <a:p>
            <a:pPr indent="0" marL="0">
              <a:buNone/>
            </a:pPr>
            <a:r>
              <a:rPr lang="en-US" sz="1800" b="1" dirty="0">
                <a:solidFill>
                  <a:schemeClr val="tx1"/>
                </a:solidFill>
              </a:rPr>
              <a:t>MHA</a:t>
            </a:r>
            <a:endParaRPr lang="en-US" sz="1800" dirty="0"/>
          </a:p>
        </p:txBody>
      </p:sp>
      <p:sp>
        <p:nvSpPr>
          <p:cNvPr id="13" name="MHA prefill"/>
          <p:cNvSpPr/>
          <p:nvPr/>
        </p:nvSpPr>
        <p:spPr>
          <a:xfrm>
            <a:off x="1828800" y="2148840"/>
            <a:ext cx="1828800" cy="502920"/>
          </a:xfrm>
          <a:prstGeom prst="roundRect">
            <a:avLst>
              <a:gd name="adj" fmla="val 21818"/>
            </a:avLst>
          </a:prstGeom>
          <a:solidFill>
            <a:schemeClr val="bg2"/>
          </a:solidFill>
          <a:ln w="12700">
            <a:solidFill>
              <a:schemeClr val="bg2"/>
            </a:solidFill>
            <a:prstDash val="solid"/>
          </a:ln>
        </p:spPr>
      </p:sp>
      <p:sp>
        <p:nvSpPr>
          <p:cNvPr id="14" name="Text 11"/>
          <p:cNvSpPr txBox="1"/>
          <p:nvPr/>
        </p:nvSpPr>
        <p:spPr>
          <a:xfrm>
            <a:off x="1828800" y="214884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4</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5</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15" name="Shape 12"/>
          <p:cNvSpPr/>
          <p:nvPr/>
        </p:nvSpPr>
        <p:spPr>
          <a:xfrm>
            <a:off x="3675888" y="2400300"/>
            <a:ext cx="274320" cy="0"/>
          </a:xfrm>
          <a:prstGeom prst="line">
            <a:avLst/>
          </a:prstGeom>
          <a:noFill/>
          <a:ln w="22225">
            <a:solidFill>
              <a:schemeClr val="tx2"/>
            </a:solidFill>
            <a:prstDash val="solid"/>
            <a:tailEnd type="triangle"/>
          </a:ln>
        </p:spPr>
      </p:sp>
      <p:sp>
        <p:nvSpPr>
          <p:cNvPr id="16" name="MHA step 1"/>
          <p:cNvSpPr/>
          <p:nvPr/>
        </p:nvSpPr>
        <p:spPr>
          <a:xfrm>
            <a:off x="3977640" y="2148840"/>
            <a:ext cx="1828800" cy="502920"/>
          </a:xfrm>
          <a:prstGeom prst="roundRect">
            <a:avLst>
              <a:gd name="adj" fmla="val 21818"/>
            </a:avLst>
          </a:prstGeom>
          <a:solidFill>
            <a:schemeClr val="bg2"/>
          </a:solidFill>
          <a:ln w="12700">
            <a:solidFill>
              <a:schemeClr val="bg2"/>
            </a:solidFill>
            <a:prstDash val="solid"/>
          </a:ln>
        </p:spPr>
      </p:sp>
      <p:sp>
        <p:nvSpPr>
          <p:cNvPr id="17" name="Text 14"/>
          <p:cNvSpPr txBox="1"/>
          <p:nvPr/>
        </p:nvSpPr>
        <p:spPr>
          <a:xfrm>
            <a:off x="3977640" y="214884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4</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6</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18" name="Shape 15"/>
          <p:cNvSpPr/>
          <p:nvPr/>
        </p:nvSpPr>
        <p:spPr>
          <a:xfrm>
            <a:off x="5824728" y="2400300"/>
            <a:ext cx="274320" cy="0"/>
          </a:xfrm>
          <a:prstGeom prst="line">
            <a:avLst/>
          </a:prstGeom>
          <a:noFill/>
          <a:ln w="22225">
            <a:solidFill>
              <a:schemeClr val="tx2"/>
            </a:solidFill>
            <a:prstDash val="solid"/>
            <a:tailEnd type="triangle"/>
          </a:ln>
        </p:spPr>
      </p:sp>
      <p:sp>
        <p:nvSpPr>
          <p:cNvPr id="19" name="MHA step 2"/>
          <p:cNvSpPr/>
          <p:nvPr/>
        </p:nvSpPr>
        <p:spPr>
          <a:xfrm>
            <a:off x="6126480" y="2148840"/>
            <a:ext cx="1828800" cy="502920"/>
          </a:xfrm>
          <a:prstGeom prst="roundRect">
            <a:avLst>
              <a:gd name="adj" fmla="val 21818"/>
            </a:avLst>
          </a:prstGeom>
          <a:solidFill>
            <a:schemeClr val="bg2"/>
          </a:solidFill>
          <a:ln w="12700">
            <a:solidFill>
              <a:schemeClr val="bg2"/>
            </a:solidFill>
            <a:prstDash val="solid"/>
          </a:ln>
        </p:spPr>
      </p:sp>
      <p:sp>
        <p:nvSpPr>
          <p:cNvPr id="20" name="Text 17"/>
          <p:cNvSpPr txBox="1"/>
          <p:nvPr/>
        </p:nvSpPr>
        <p:spPr>
          <a:xfrm>
            <a:off x="6126480" y="214884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4</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7</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21" name="Shape 18"/>
          <p:cNvSpPr/>
          <p:nvPr/>
        </p:nvSpPr>
        <p:spPr>
          <a:xfrm>
            <a:off x="7973568" y="2400300"/>
            <a:ext cx="274320" cy="0"/>
          </a:xfrm>
          <a:prstGeom prst="line">
            <a:avLst/>
          </a:prstGeom>
          <a:noFill/>
          <a:ln w="22225">
            <a:solidFill>
              <a:schemeClr val="tx2"/>
            </a:solidFill>
            <a:prstDash val="solid"/>
            <a:tailEnd type="triangle"/>
          </a:ln>
        </p:spPr>
      </p:sp>
      <p:sp>
        <p:nvSpPr>
          <p:cNvPr id="22" name="MHA step 3"/>
          <p:cNvSpPr/>
          <p:nvPr/>
        </p:nvSpPr>
        <p:spPr>
          <a:xfrm>
            <a:off x="8275320" y="2148840"/>
            <a:ext cx="1828800" cy="502920"/>
          </a:xfrm>
          <a:prstGeom prst="roundRect">
            <a:avLst>
              <a:gd name="adj" fmla="val 21818"/>
            </a:avLst>
          </a:prstGeom>
          <a:solidFill>
            <a:schemeClr val="bg2"/>
          </a:solidFill>
          <a:ln w="12700">
            <a:solidFill>
              <a:schemeClr val="bg2"/>
            </a:solidFill>
            <a:prstDash val="solid"/>
          </a:ln>
        </p:spPr>
      </p:sp>
      <p:sp>
        <p:nvSpPr>
          <p:cNvPr id="23" name="Text 20"/>
          <p:cNvSpPr txBox="1"/>
          <p:nvPr/>
        </p:nvSpPr>
        <p:spPr>
          <a:xfrm>
            <a:off x="8275320" y="214884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4</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8</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24" name="Text 21"/>
          <p:cNvSpPr txBox="1"/>
          <p:nvPr/>
        </p:nvSpPr>
        <p:spPr>
          <a:xfrm>
            <a:off x="10424160" y="2148840"/>
            <a:ext cx="1280160" cy="502920"/>
          </a:xfrm>
          <a:prstGeom prst="rect">
            <a:avLst/>
          </a:prstGeom>
          <a:noFill/>
          <a:ln/>
        </p:spPr>
        <p:txBody>
          <a:bodyPr wrap="square" lIns="0" tIns="0" rIns="0" bIns="0" rtlCol="0" anchor="ctr"/>
          <a:lstStyle/>
          <a:p>
            <a:pPr algn="ctr" indent="0" marL="0">
              <a:buNone/>
            </a:pPr>
            <a:r>
              <a:rPr lang="en-US" sz="1600" b="1" dirty="0">
                <a:solidFill>
                  <a:schemeClr val="accent1"/>
                </a:solidFill>
              </a:rPr>
              <a:t>True</a:t>
            </a:r>
            <a:endParaRPr lang="en-US" sz="1600" dirty="0"/>
          </a:p>
        </p:txBody>
      </p:sp>
      <p:sp>
        <p:nvSpPr>
          <p:cNvPr id="25" name="Text 22"/>
          <p:cNvSpPr txBox="1"/>
          <p:nvPr/>
        </p:nvSpPr>
        <p:spPr>
          <a:xfrm>
            <a:off x="548640" y="2880360"/>
            <a:ext cx="1097280" cy="502920"/>
          </a:xfrm>
          <a:prstGeom prst="rect">
            <a:avLst/>
          </a:prstGeom>
          <a:noFill/>
          <a:ln/>
        </p:spPr>
        <p:txBody>
          <a:bodyPr wrap="square" lIns="0" tIns="0" rIns="0" bIns="0" rtlCol="0" anchor="ctr"/>
          <a:lstStyle/>
          <a:p>
            <a:pPr indent="0" marL="0">
              <a:buNone/>
            </a:pPr>
            <a:r>
              <a:rPr lang="en-US" sz="1800" b="1" dirty="0">
                <a:solidFill>
                  <a:schemeClr val="tx1"/>
                </a:solidFill>
              </a:rPr>
              <a:t>GQA</a:t>
            </a:r>
            <a:endParaRPr lang="en-US" sz="1800" dirty="0"/>
          </a:p>
        </p:txBody>
      </p:sp>
      <p:sp>
        <p:nvSpPr>
          <p:cNvPr id="26" name="GQA prefill"/>
          <p:cNvSpPr/>
          <p:nvPr/>
        </p:nvSpPr>
        <p:spPr>
          <a:xfrm>
            <a:off x="1828800" y="2880360"/>
            <a:ext cx="1828800" cy="502920"/>
          </a:xfrm>
          <a:prstGeom prst="roundRect">
            <a:avLst>
              <a:gd name="adj" fmla="val 21818"/>
            </a:avLst>
          </a:prstGeom>
          <a:solidFill>
            <a:schemeClr val="bg2"/>
          </a:solidFill>
          <a:ln w="12700">
            <a:solidFill>
              <a:schemeClr val="bg2"/>
            </a:solidFill>
            <a:prstDash val="solid"/>
          </a:ln>
        </p:spPr>
      </p:sp>
      <p:sp>
        <p:nvSpPr>
          <p:cNvPr id="27" name="Text 24"/>
          <p:cNvSpPr txBox="1"/>
          <p:nvPr/>
        </p:nvSpPr>
        <p:spPr>
          <a:xfrm>
            <a:off x="1828800" y="288036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2</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5</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28" name="Shape 25"/>
          <p:cNvSpPr/>
          <p:nvPr/>
        </p:nvSpPr>
        <p:spPr>
          <a:xfrm>
            <a:off x="3675888" y="3131820"/>
            <a:ext cx="274320" cy="0"/>
          </a:xfrm>
          <a:prstGeom prst="line">
            <a:avLst/>
          </a:prstGeom>
          <a:noFill/>
          <a:ln w="22225">
            <a:solidFill>
              <a:schemeClr val="tx2"/>
            </a:solidFill>
            <a:prstDash val="solid"/>
            <a:tailEnd type="triangle"/>
          </a:ln>
        </p:spPr>
      </p:sp>
      <p:sp>
        <p:nvSpPr>
          <p:cNvPr id="29" name="GQA step 1"/>
          <p:cNvSpPr/>
          <p:nvPr/>
        </p:nvSpPr>
        <p:spPr>
          <a:xfrm>
            <a:off x="3977640" y="2880360"/>
            <a:ext cx="1828800" cy="502920"/>
          </a:xfrm>
          <a:prstGeom prst="roundRect">
            <a:avLst>
              <a:gd name="adj" fmla="val 21818"/>
            </a:avLst>
          </a:prstGeom>
          <a:solidFill>
            <a:schemeClr val="bg2"/>
          </a:solidFill>
          <a:ln w="12700">
            <a:solidFill>
              <a:schemeClr val="bg2"/>
            </a:solidFill>
            <a:prstDash val="solid"/>
          </a:ln>
        </p:spPr>
      </p:sp>
      <p:sp>
        <p:nvSpPr>
          <p:cNvPr id="30" name="Text 27"/>
          <p:cNvSpPr txBox="1"/>
          <p:nvPr/>
        </p:nvSpPr>
        <p:spPr>
          <a:xfrm>
            <a:off x="3977640" y="288036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2</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6</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31" name="Shape 28"/>
          <p:cNvSpPr/>
          <p:nvPr/>
        </p:nvSpPr>
        <p:spPr>
          <a:xfrm>
            <a:off x="5824728" y="3131820"/>
            <a:ext cx="274320" cy="0"/>
          </a:xfrm>
          <a:prstGeom prst="line">
            <a:avLst/>
          </a:prstGeom>
          <a:noFill/>
          <a:ln w="22225">
            <a:solidFill>
              <a:schemeClr val="tx2"/>
            </a:solidFill>
            <a:prstDash val="solid"/>
            <a:tailEnd type="triangle"/>
          </a:ln>
        </p:spPr>
      </p:sp>
      <p:sp>
        <p:nvSpPr>
          <p:cNvPr id="32" name="GQA step 2"/>
          <p:cNvSpPr/>
          <p:nvPr/>
        </p:nvSpPr>
        <p:spPr>
          <a:xfrm>
            <a:off x="6126480" y="2880360"/>
            <a:ext cx="1828800" cy="502920"/>
          </a:xfrm>
          <a:prstGeom prst="roundRect">
            <a:avLst>
              <a:gd name="adj" fmla="val 21818"/>
            </a:avLst>
          </a:prstGeom>
          <a:solidFill>
            <a:schemeClr val="bg2"/>
          </a:solidFill>
          <a:ln w="12700">
            <a:solidFill>
              <a:schemeClr val="bg2"/>
            </a:solidFill>
            <a:prstDash val="solid"/>
          </a:ln>
        </p:spPr>
      </p:sp>
      <p:sp>
        <p:nvSpPr>
          <p:cNvPr id="33" name="Text 30"/>
          <p:cNvSpPr txBox="1"/>
          <p:nvPr/>
        </p:nvSpPr>
        <p:spPr>
          <a:xfrm>
            <a:off x="6126480" y="288036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2</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7</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34" name="Shape 31"/>
          <p:cNvSpPr/>
          <p:nvPr/>
        </p:nvSpPr>
        <p:spPr>
          <a:xfrm>
            <a:off x="7973568" y="3131820"/>
            <a:ext cx="274320" cy="0"/>
          </a:xfrm>
          <a:prstGeom prst="line">
            <a:avLst/>
          </a:prstGeom>
          <a:noFill/>
          <a:ln w="22225">
            <a:solidFill>
              <a:schemeClr val="tx2"/>
            </a:solidFill>
            <a:prstDash val="solid"/>
            <a:tailEnd type="triangle"/>
          </a:ln>
        </p:spPr>
      </p:sp>
      <p:sp>
        <p:nvSpPr>
          <p:cNvPr id="35" name="GQA step 3"/>
          <p:cNvSpPr/>
          <p:nvPr/>
        </p:nvSpPr>
        <p:spPr>
          <a:xfrm>
            <a:off x="8275320" y="2880360"/>
            <a:ext cx="1828800" cy="502920"/>
          </a:xfrm>
          <a:prstGeom prst="roundRect">
            <a:avLst>
              <a:gd name="adj" fmla="val 21818"/>
            </a:avLst>
          </a:prstGeom>
          <a:solidFill>
            <a:schemeClr val="bg2"/>
          </a:solidFill>
          <a:ln w="12700">
            <a:solidFill>
              <a:schemeClr val="bg2"/>
            </a:solidFill>
            <a:prstDash val="solid"/>
          </a:ln>
        </p:spPr>
      </p:sp>
      <p:sp>
        <p:nvSpPr>
          <p:cNvPr id="36" name="Text 33"/>
          <p:cNvSpPr txBox="1"/>
          <p:nvPr/>
        </p:nvSpPr>
        <p:spPr>
          <a:xfrm>
            <a:off x="8275320" y="288036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2</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8</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37" name="Text 34"/>
          <p:cNvSpPr txBox="1"/>
          <p:nvPr/>
        </p:nvSpPr>
        <p:spPr>
          <a:xfrm>
            <a:off x="10424160" y="2880360"/>
            <a:ext cx="1280160" cy="502920"/>
          </a:xfrm>
          <a:prstGeom prst="rect">
            <a:avLst/>
          </a:prstGeom>
          <a:noFill/>
          <a:ln/>
        </p:spPr>
        <p:txBody>
          <a:bodyPr wrap="square" lIns="0" tIns="0" rIns="0" bIns="0" rtlCol="0" anchor="ctr"/>
          <a:lstStyle/>
          <a:p>
            <a:pPr algn="ctr" indent="0" marL="0">
              <a:buNone/>
            </a:pPr>
            <a:r>
              <a:rPr lang="en-US" sz="1600" b="1" dirty="0">
                <a:solidFill>
                  <a:schemeClr val="accent1"/>
                </a:solidFill>
              </a:rPr>
              <a:t>True</a:t>
            </a:r>
            <a:endParaRPr lang="en-US" sz="1600" dirty="0"/>
          </a:p>
        </p:txBody>
      </p:sp>
      <p:sp>
        <p:nvSpPr>
          <p:cNvPr id="38" name="Text 35"/>
          <p:cNvSpPr txBox="1"/>
          <p:nvPr/>
        </p:nvSpPr>
        <p:spPr>
          <a:xfrm>
            <a:off x="548640" y="3611880"/>
            <a:ext cx="1097280" cy="502920"/>
          </a:xfrm>
          <a:prstGeom prst="rect">
            <a:avLst/>
          </a:prstGeom>
          <a:noFill/>
          <a:ln/>
        </p:spPr>
        <p:txBody>
          <a:bodyPr wrap="square" lIns="0" tIns="0" rIns="0" bIns="0" rtlCol="0" anchor="ctr"/>
          <a:lstStyle/>
          <a:p>
            <a:pPr indent="0" marL="0">
              <a:buNone/>
            </a:pPr>
            <a:r>
              <a:rPr lang="en-US" sz="1800" b="1" dirty="0">
                <a:solidFill>
                  <a:schemeClr val="tx1"/>
                </a:solidFill>
              </a:rPr>
              <a:t>MQA</a:t>
            </a:r>
            <a:endParaRPr lang="en-US" sz="1800" dirty="0"/>
          </a:p>
        </p:txBody>
      </p:sp>
      <p:sp>
        <p:nvSpPr>
          <p:cNvPr id="39" name="MQA prefill"/>
          <p:cNvSpPr/>
          <p:nvPr/>
        </p:nvSpPr>
        <p:spPr>
          <a:xfrm>
            <a:off x="1828800" y="3611880"/>
            <a:ext cx="1828800" cy="502920"/>
          </a:xfrm>
          <a:prstGeom prst="roundRect">
            <a:avLst>
              <a:gd name="adj" fmla="val 21818"/>
            </a:avLst>
          </a:prstGeom>
          <a:solidFill>
            <a:schemeClr val="bg2"/>
          </a:solidFill>
          <a:ln w="12700">
            <a:solidFill>
              <a:schemeClr val="bg2"/>
            </a:solidFill>
            <a:prstDash val="solid"/>
          </a:ln>
        </p:spPr>
      </p:sp>
      <p:sp>
        <p:nvSpPr>
          <p:cNvPr id="40" name="Text 37"/>
          <p:cNvSpPr txBox="1"/>
          <p:nvPr/>
        </p:nvSpPr>
        <p:spPr>
          <a:xfrm>
            <a:off x="1828800" y="361188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1</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5</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41" name="Shape 38"/>
          <p:cNvSpPr/>
          <p:nvPr/>
        </p:nvSpPr>
        <p:spPr>
          <a:xfrm>
            <a:off x="3675888" y="3863340"/>
            <a:ext cx="274320" cy="0"/>
          </a:xfrm>
          <a:prstGeom prst="line">
            <a:avLst/>
          </a:prstGeom>
          <a:noFill/>
          <a:ln w="22225">
            <a:solidFill>
              <a:schemeClr val="tx2"/>
            </a:solidFill>
            <a:prstDash val="solid"/>
            <a:tailEnd type="triangle"/>
          </a:ln>
        </p:spPr>
      </p:sp>
      <p:sp>
        <p:nvSpPr>
          <p:cNvPr id="42" name="MQA step 1"/>
          <p:cNvSpPr/>
          <p:nvPr/>
        </p:nvSpPr>
        <p:spPr>
          <a:xfrm>
            <a:off x="3977640" y="3611880"/>
            <a:ext cx="1828800" cy="502920"/>
          </a:xfrm>
          <a:prstGeom prst="roundRect">
            <a:avLst>
              <a:gd name="adj" fmla="val 21818"/>
            </a:avLst>
          </a:prstGeom>
          <a:solidFill>
            <a:schemeClr val="bg2"/>
          </a:solidFill>
          <a:ln w="12700">
            <a:solidFill>
              <a:schemeClr val="bg2"/>
            </a:solidFill>
            <a:prstDash val="solid"/>
          </a:ln>
        </p:spPr>
      </p:sp>
      <p:sp>
        <p:nvSpPr>
          <p:cNvPr id="43" name="Text 40"/>
          <p:cNvSpPr txBox="1"/>
          <p:nvPr/>
        </p:nvSpPr>
        <p:spPr>
          <a:xfrm>
            <a:off x="3977640" y="361188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1</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6</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44" name="Shape 41"/>
          <p:cNvSpPr/>
          <p:nvPr/>
        </p:nvSpPr>
        <p:spPr>
          <a:xfrm>
            <a:off x="5824728" y="3863340"/>
            <a:ext cx="274320" cy="0"/>
          </a:xfrm>
          <a:prstGeom prst="line">
            <a:avLst/>
          </a:prstGeom>
          <a:noFill/>
          <a:ln w="22225">
            <a:solidFill>
              <a:schemeClr val="tx2"/>
            </a:solidFill>
            <a:prstDash val="solid"/>
            <a:tailEnd type="triangle"/>
          </a:ln>
        </p:spPr>
      </p:sp>
      <p:sp>
        <p:nvSpPr>
          <p:cNvPr id="45" name="MQA step 2"/>
          <p:cNvSpPr/>
          <p:nvPr/>
        </p:nvSpPr>
        <p:spPr>
          <a:xfrm>
            <a:off x="6126480" y="3611880"/>
            <a:ext cx="1828800" cy="502920"/>
          </a:xfrm>
          <a:prstGeom prst="roundRect">
            <a:avLst>
              <a:gd name="adj" fmla="val 21818"/>
            </a:avLst>
          </a:prstGeom>
          <a:solidFill>
            <a:schemeClr val="bg2"/>
          </a:solidFill>
          <a:ln w="12700">
            <a:solidFill>
              <a:schemeClr val="bg2"/>
            </a:solidFill>
            <a:prstDash val="solid"/>
          </a:ln>
        </p:spPr>
      </p:sp>
      <p:sp>
        <p:nvSpPr>
          <p:cNvPr id="46" name="Text 43"/>
          <p:cNvSpPr txBox="1"/>
          <p:nvPr/>
        </p:nvSpPr>
        <p:spPr>
          <a:xfrm>
            <a:off x="6126480" y="361188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1</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7</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47" name="Shape 44"/>
          <p:cNvSpPr/>
          <p:nvPr/>
        </p:nvSpPr>
        <p:spPr>
          <a:xfrm>
            <a:off x="7973568" y="3863340"/>
            <a:ext cx="274320" cy="0"/>
          </a:xfrm>
          <a:prstGeom prst="line">
            <a:avLst/>
          </a:prstGeom>
          <a:noFill/>
          <a:ln w="22225">
            <a:solidFill>
              <a:schemeClr val="tx2"/>
            </a:solidFill>
            <a:prstDash val="solid"/>
            <a:tailEnd type="triangle"/>
          </a:ln>
        </p:spPr>
      </p:sp>
      <p:sp>
        <p:nvSpPr>
          <p:cNvPr id="48" name="MQA step 3"/>
          <p:cNvSpPr/>
          <p:nvPr/>
        </p:nvSpPr>
        <p:spPr>
          <a:xfrm>
            <a:off x="8275320" y="3611880"/>
            <a:ext cx="1828800" cy="502920"/>
          </a:xfrm>
          <a:prstGeom prst="roundRect">
            <a:avLst>
              <a:gd name="adj" fmla="val 21818"/>
            </a:avLst>
          </a:prstGeom>
          <a:solidFill>
            <a:schemeClr val="bg2"/>
          </a:solidFill>
          <a:ln w="12700">
            <a:solidFill>
              <a:schemeClr val="bg2"/>
            </a:solidFill>
            <a:prstDash val="solid"/>
          </a:ln>
        </p:spPr>
      </p:sp>
      <p:sp>
        <p:nvSpPr>
          <p:cNvPr id="49" name="Text 46"/>
          <p:cNvSpPr txBox="1"/>
          <p:nvPr/>
        </p:nvSpPr>
        <p:spPr>
          <a:xfrm>
            <a:off x="8275320" y="3611880"/>
            <a:ext cx="1828800" cy="50292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 </a:t>
            </a:r>
            <a:r>
              <a:rPr lang="en-US" sz="1600" b="1" dirty="0">
                <a:solidFill>
                  <a:schemeClr val="accent4"/>
                </a:solidFill>
                <a:latin typeface="Courier New" pitchFamily="34" charset="0"/>
                <a:ea typeface="Courier New" pitchFamily="34" charset="-122"/>
                <a:cs typeface="Courier New" pitchFamily="34" charset="-120"/>
              </a:rPr>
              <a:t>1</a:t>
            </a:r>
            <a:r>
              <a:rPr lang="en-US" sz="1600" dirty="0">
                <a:solidFill>
                  <a:schemeClr val="tx1"/>
                </a:solidFill>
                <a:latin typeface="Courier New" pitchFamily="34" charset="0"/>
                <a:ea typeface="Courier New" pitchFamily="34" charset="-122"/>
                <a:cs typeface="Courier New" pitchFamily="34" charset="-120"/>
              </a:rPr>
              <a:t>, </a:t>
            </a:r>
            <a:r>
              <a:rPr lang="en-US" sz="1600" b="1" dirty="0">
                <a:solidFill>
                  <a:schemeClr val="accent1"/>
                </a:solidFill>
                <a:latin typeface="Courier New" pitchFamily="34" charset="0"/>
                <a:ea typeface="Courier New" pitchFamily="34" charset="-122"/>
                <a:cs typeface="Courier New" pitchFamily="34" charset="-120"/>
              </a:rPr>
              <a:t>8</a:t>
            </a:r>
            <a:r>
              <a:rPr lang="en-US" sz="1600" dirty="0">
                <a:solidFill>
                  <a:schemeClr val="tx1"/>
                </a:solidFill>
                <a:latin typeface="Courier New" pitchFamily="34" charset="0"/>
                <a:ea typeface="Courier New" pitchFamily="34" charset="-122"/>
                <a:cs typeface="Courier New" pitchFamily="34" charset="-120"/>
              </a:rPr>
              <a:t>, 8)</a:t>
            </a:r>
            <a:endParaRPr lang="en-US" sz="1600" dirty="0"/>
          </a:p>
        </p:txBody>
      </p:sp>
      <p:sp>
        <p:nvSpPr>
          <p:cNvPr id="50" name="Text 47"/>
          <p:cNvSpPr txBox="1"/>
          <p:nvPr/>
        </p:nvSpPr>
        <p:spPr>
          <a:xfrm>
            <a:off x="10424160" y="3611880"/>
            <a:ext cx="1280160" cy="502920"/>
          </a:xfrm>
          <a:prstGeom prst="rect">
            <a:avLst/>
          </a:prstGeom>
          <a:noFill/>
          <a:ln/>
        </p:spPr>
        <p:txBody>
          <a:bodyPr wrap="square" lIns="0" tIns="0" rIns="0" bIns="0" rtlCol="0" anchor="ctr"/>
          <a:lstStyle/>
          <a:p>
            <a:pPr algn="ctr" indent="0" marL="0">
              <a:buNone/>
            </a:pPr>
            <a:r>
              <a:rPr lang="en-US" sz="1600" b="1" dirty="0">
                <a:solidFill>
                  <a:schemeClr val="accent1"/>
                </a:solidFill>
              </a:rPr>
              <a:t>True</a:t>
            </a:r>
            <a:endParaRPr lang="en-US" sz="1600" dirty="0"/>
          </a:p>
        </p:txBody>
      </p:sp>
      <p:sp>
        <p:nvSpPr>
          <p:cNvPr id="51" name="note 1"/>
          <p:cNvSpPr/>
          <p:nvPr/>
        </p:nvSpPr>
        <p:spPr>
          <a:xfrm>
            <a:off x="548640" y="4572000"/>
            <a:ext cx="3474720" cy="1600200"/>
          </a:xfrm>
          <a:prstGeom prst="roundRect">
            <a:avLst>
              <a:gd name="adj" fmla="val 6857"/>
            </a:avLst>
          </a:prstGeom>
          <a:solidFill>
            <a:schemeClr val="bg2"/>
          </a:solidFill>
          <a:ln w="12700">
            <a:solidFill>
              <a:schemeClr val="bg2"/>
            </a:solidFill>
            <a:prstDash val="solid"/>
          </a:ln>
        </p:spPr>
      </p:sp>
      <p:sp>
        <p:nvSpPr>
          <p:cNvPr id="52" name="Text 49"/>
          <p:cNvSpPr txBox="1"/>
          <p:nvPr/>
        </p:nvSpPr>
        <p:spPr>
          <a:xfrm>
            <a:off x="777240" y="4572000"/>
            <a:ext cx="3017520" cy="1600200"/>
          </a:xfrm>
          <a:prstGeom prst="rect">
            <a:avLst/>
          </a:prstGeom>
          <a:noFill/>
          <a:ln/>
        </p:spPr>
        <p:txBody>
          <a:bodyPr wrap="square" lIns="0" tIns="0" rIns="0" bIns="0" rtlCol="0" anchor="ctr"/>
          <a:lstStyle/>
          <a:p>
            <a:pPr indent="0" marL="0">
              <a:buNone/>
            </a:pPr>
            <a:r>
              <a:rPr lang="en-US" sz="1500" b="1" dirty="0">
                <a:solidFill>
                  <a:schemeClr val="accent1"/>
                </a:solidFill>
              </a:rPr>
              <a:t>Sequence axis </a:t>
            </a:r>
            <a:r>
              <a:rPr lang="en-US" sz="1500" dirty="0">
                <a:solidFill>
                  <a:schemeClr val="tx1"/>
                </a:solidFill>
              </a:rPr>
              <a:t>grows by one per generated token, in every variant.</a:t>
            </a:r>
            <a:endParaRPr lang="en-US" sz="1500" dirty="0"/>
          </a:p>
        </p:txBody>
      </p:sp>
      <p:sp>
        <p:nvSpPr>
          <p:cNvPr id="53" name="note 2"/>
          <p:cNvSpPr/>
          <p:nvPr/>
        </p:nvSpPr>
        <p:spPr>
          <a:xfrm>
            <a:off x="4297680" y="4572000"/>
            <a:ext cx="3474720" cy="1600200"/>
          </a:xfrm>
          <a:prstGeom prst="roundRect">
            <a:avLst>
              <a:gd name="adj" fmla="val 6857"/>
            </a:avLst>
          </a:prstGeom>
          <a:solidFill>
            <a:schemeClr val="bg2"/>
          </a:solidFill>
          <a:ln w="12700">
            <a:solidFill>
              <a:schemeClr val="bg2"/>
            </a:solidFill>
            <a:prstDash val="solid"/>
          </a:ln>
        </p:spPr>
      </p:sp>
      <p:sp>
        <p:nvSpPr>
          <p:cNvPr id="54" name="Text 51"/>
          <p:cNvSpPr txBox="1"/>
          <p:nvPr/>
        </p:nvSpPr>
        <p:spPr>
          <a:xfrm>
            <a:off x="4526280" y="4572000"/>
            <a:ext cx="3017520" cy="1600200"/>
          </a:xfrm>
          <a:prstGeom prst="rect">
            <a:avLst/>
          </a:prstGeom>
          <a:noFill/>
          <a:ln/>
        </p:spPr>
        <p:txBody>
          <a:bodyPr wrap="square" lIns="0" tIns="0" rIns="0" bIns="0" rtlCol="0" anchor="ctr"/>
          <a:lstStyle/>
          <a:p>
            <a:pPr indent="0" marL="0">
              <a:buNone/>
            </a:pPr>
            <a:r>
              <a:rPr lang="en-US" sz="1500" b="1" dirty="0">
                <a:solidFill>
                  <a:schemeClr val="accent4"/>
                </a:solidFill>
              </a:rPr>
              <a:t>Head axis </a:t>
            </a:r>
            <a:r>
              <a:rPr lang="en-US" sz="1500" dirty="0">
                <a:solidFill>
                  <a:schemeClr val="tx1"/>
                </a:solidFill>
              </a:rPr>
              <a:t>is 4, 2 or 1: the factor GQA and MQA save on every step.</a:t>
            </a:r>
            <a:endParaRPr lang="en-US" sz="1500" dirty="0"/>
          </a:p>
        </p:txBody>
      </p:sp>
      <p:sp>
        <p:nvSpPr>
          <p:cNvPr id="55" name="note 3"/>
          <p:cNvSpPr/>
          <p:nvPr/>
        </p:nvSpPr>
        <p:spPr>
          <a:xfrm>
            <a:off x="8046720" y="4572000"/>
            <a:ext cx="3474720" cy="1600200"/>
          </a:xfrm>
          <a:prstGeom prst="roundRect">
            <a:avLst>
              <a:gd name="adj" fmla="val 6857"/>
            </a:avLst>
          </a:prstGeom>
          <a:solidFill>
            <a:schemeClr val="accent5"/>
          </a:solidFill>
          <a:ln w="12700">
            <a:solidFill>
              <a:schemeClr val="accent5"/>
            </a:solidFill>
            <a:prstDash val="solid"/>
          </a:ln>
        </p:spPr>
      </p:sp>
      <p:sp>
        <p:nvSpPr>
          <p:cNvPr id="56" name="Text 53"/>
          <p:cNvSpPr txBox="1"/>
          <p:nvPr/>
        </p:nvSpPr>
        <p:spPr>
          <a:xfrm>
            <a:off x="8275320" y="4572000"/>
            <a:ext cx="3017520" cy="1600200"/>
          </a:xfrm>
          <a:prstGeom prst="rect">
            <a:avLst/>
          </a:prstGeom>
          <a:noFill/>
          <a:ln/>
        </p:spPr>
        <p:txBody>
          <a:bodyPr wrap="square" lIns="0" tIns="0" rIns="0" bIns="0" rtlCol="0" anchor="ctr"/>
          <a:lstStyle/>
          <a:p>
            <a:pPr indent="0" marL="0">
              <a:buNone/>
            </a:pPr>
            <a:r>
              <a:rPr lang="en-US" sz="1500" b="1" dirty="0">
                <a:solidFill>
                  <a:schemeClr val="tx1"/>
                </a:solidFill>
              </a:rPr>
              <a:t>Same result: </a:t>
            </a:r>
            <a:r>
              <a:rPr lang="en-US" sz="1500" dirty="0">
                <a:solidFill>
                  <a:schemeClr val="tx1"/>
                </a:solidFill>
              </a:rPr>
              <a:t>cached decoding equals a full recomputation; the cache only removes repeated work.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saving at Llama-2-7B scale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25</a:t>
            </a:r>
            <a:endParaRPr lang="en-US" sz="1400" dirty="0"/>
          </a:p>
        </p:txBody>
      </p:sp>
      <p:pic>
        <p:nvPicPr>
          <p:cNvPr id="6" name="Image 0" descr="Left: bar chart of the KV cache for one 4,096-token sequence: MHA 2.00 GiB, GQA-8 0.50, GQA-4 0.25, MQA 0.06. Right: memory read per decoding step against batch size 1 to 64: weights only flat at 13.4 GB; weights plus MHA cache crosses 80 GB near batch 32; GQA-8 stays under 50 GB at batch 64; MQA stays close to the weights.">    </p:cNvPr>
          <p:cNvPicPr>
            <a:picLocks noChangeAspect="1"/>
          </p:cNvPicPr>
          <p:nvPr/>
        </p:nvPicPr>
        <p:blipFill>
          <a:blip r:embed="rId1"/>
          <a:stretch>
            <a:fillRect/>
          </a:stretch>
        </p:blipFill>
        <p:spPr>
          <a:xfrm>
            <a:off x="960120" y="1188720"/>
            <a:ext cx="10241280" cy="3335463"/>
          </a:xfrm>
          <a:prstGeom prst="rect">
            <a:avLst/>
          </a:prstGeom>
        </p:spPr>
      </p:pic>
      <p:sp>
        <p:nvSpPr>
          <p:cNvPr id="7" name="of the MHA cache for GQA-8 and MQA"/>
          <p:cNvSpPr/>
          <p:nvPr/>
        </p:nvSpPr>
        <p:spPr>
          <a:xfrm>
            <a:off x="548640" y="4661343"/>
            <a:ext cx="2651760" cy="1556577"/>
          </a:xfrm>
          <a:prstGeom prst="roundRect">
            <a:avLst>
              <a:gd name="adj" fmla="val 7049"/>
            </a:avLst>
          </a:prstGeom>
          <a:solidFill>
            <a:schemeClr val="bg2"/>
          </a:solidFill>
          <a:ln w="12700">
            <a:solidFill>
              <a:schemeClr val="bg2"/>
            </a:solidFill>
            <a:prstDash val="solid"/>
          </a:ln>
        </p:spPr>
      </p:sp>
      <p:sp>
        <p:nvSpPr>
          <p:cNvPr id="8" name="Text 4"/>
          <p:cNvSpPr txBox="1"/>
          <p:nvPr/>
        </p:nvSpPr>
        <p:spPr>
          <a:xfrm>
            <a:off x="777240" y="4752783"/>
            <a:ext cx="2194560" cy="594360"/>
          </a:xfrm>
          <a:prstGeom prst="rect">
            <a:avLst/>
          </a:prstGeom>
          <a:noFill/>
          <a:ln/>
        </p:spPr>
        <p:txBody>
          <a:bodyPr wrap="square" lIns="0" tIns="0" rIns="0" bIns="0" rtlCol="0" anchor="b"/>
          <a:lstStyle/>
          <a:p>
            <a:pPr indent="0" marL="0">
              <a:buNone/>
            </a:pPr>
            <a:r>
              <a:rPr lang="en-US" sz="2200" b="1" dirty="0">
                <a:solidFill>
                  <a:schemeClr val="accent1"/>
                </a:solidFill>
                <a:latin typeface="Cambria" pitchFamily="34" charset="0"/>
                <a:ea typeface="Cambria" pitchFamily="34" charset="-122"/>
                <a:cs typeface="Cambria" pitchFamily="34" charset="-120"/>
              </a:rPr>
              <a:t>¼ and 1/32</a:t>
            </a:r>
            <a:endParaRPr lang="en-US" sz="2200" dirty="0"/>
          </a:p>
        </p:txBody>
      </p:sp>
      <p:sp>
        <p:nvSpPr>
          <p:cNvPr id="9" name="Text 5"/>
          <p:cNvSpPr txBox="1"/>
          <p:nvPr/>
        </p:nvSpPr>
        <p:spPr>
          <a:xfrm>
            <a:off x="777240" y="5392863"/>
            <a:ext cx="2194560" cy="733617"/>
          </a:xfrm>
          <a:prstGeom prst="rect">
            <a:avLst/>
          </a:prstGeom>
          <a:noFill/>
          <a:ln/>
        </p:spPr>
        <p:txBody>
          <a:bodyPr wrap="square" lIns="0" tIns="0" rIns="0" bIns="0" rtlCol="0" anchor="t"/>
          <a:lstStyle/>
          <a:p>
            <a:pPr indent="0" marL="0">
              <a:buNone/>
            </a:pPr>
            <a:r>
              <a:rPr lang="en-US" sz="1300" dirty="0">
                <a:solidFill>
                  <a:schemeClr val="tx2"/>
                </a:solidFill>
              </a:rPr>
              <a:t>of the MHA cache for GQA-8 and MQA</a:t>
            </a:r>
            <a:endParaRPr lang="en-US" sz="1300" dirty="0"/>
          </a:p>
        </p:txBody>
      </p:sp>
      <p:sp>
        <p:nvSpPr>
          <p:cNvPr id="10" name="sequences at which the MHA cache passes the weights / one 80 GB GPU"/>
          <p:cNvSpPr/>
          <p:nvPr/>
        </p:nvSpPr>
        <p:spPr>
          <a:xfrm>
            <a:off x="3360420" y="4661343"/>
            <a:ext cx="2651760" cy="1556577"/>
          </a:xfrm>
          <a:prstGeom prst="roundRect">
            <a:avLst>
              <a:gd name="adj" fmla="val 7049"/>
            </a:avLst>
          </a:prstGeom>
          <a:solidFill>
            <a:schemeClr val="bg2"/>
          </a:solidFill>
          <a:ln w="12700">
            <a:solidFill>
              <a:schemeClr val="bg2"/>
            </a:solidFill>
            <a:prstDash val="solid"/>
          </a:ln>
        </p:spPr>
      </p:sp>
      <p:sp>
        <p:nvSpPr>
          <p:cNvPr id="11" name="Text 7"/>
          <p:cNvSpPr txBox="1"/>
          <p:nvPr/>
        </p:nvSpPr>
        <p:spPr>
          <a:xfrm>
            <a:off x="3589020" y="4752783"/>
            <a:ext cx="2194560" cy="594360"/>
          </a:xfrm>
          <a:prstGeom prst="rect">
            <a:avLst/>
          </a:prstGeom>
          <a:noFill/>
          <a:ln/>
        </p:spPr>
        <p:txBody>
          <a:bodyPr wrap="square" lIns="0" tIns="0" rIns="0" bIns="0" rtlCol="0" anchor="b"/>
          <a:lstStyle/>
          <a:p>
            <a:pPr indent="0" marL="0">
              <a:buNone/>
            </a:pPr>
            <a:r>
              <a:rPr lang="en-US" sz="2200" b="1" dirty="0">
                <a:solidFill>
                  <a:schemeClr val="accent3"/>
                </a:solidFill>
                <a:latin typeface="Cambria" pitchFamily="34" charset="0"/>
                <a:ea typeface="Cambria" pitchFamily="34" charset="-122"/>
                <a:cs typeface="Cambria" pitchFamily="34" charset="-120"/>
              </a:rPr>
              <a:t>~7 / ~32</a:t>
            </a:r>
            <a:endParaRPr lang="en-US" sz="2200" dirty="0"/>
          </a:p>
        </p:txBody>
      </p:sp>
      <p:sp>
        <p:nvSpPr>
          <p:cNvPr id="12" name="Text 8"/>
          <p:cNvSpPr txBox="1"/>
          <p:nvPr/>
        </p:nvSpPr>
        <p:spPr>
          <a:xfrm>
            <a:off x="3589020" y="5392863"/>
            <a:ext cx="2194560" cy="733617"/>
          </a:xfrm>
          <a:prstGeom prst="rect">
            <a:avLst/>
          </a:prstGeom>
          <a:noFill/>
          <a:ln/>
        </p:spPr>
        <p:txBody>
          <a:bodyPr wrap="square" lIns="0" tIns="0" rIns="0" bIns="0" rtlCol="0" anchor="t"/>
          <a:lstStyle/>
          <a:p>
            <a:pPr indent="0" marL="0">
              <a:buNone/>
            </a:pPr>
            <a:r>
              <a:rPr lang="en-US" sz="1300" dirty="0">
                <a:solidFill>
                  <a:schemeClr val="tx2"/>
                </a:solidFill>
              </a:rPr>
              <a:t>sequences at which the MHA cache passes the weights / one 80 GB GPU</a:t>
            </a:r>
            <a:endParaRPr lang="en-US" sz="1300" dirty="0"/>
          </a:p>
        </p:txBody>
      </p:sp>
      <p:sp>
        <p:nvSpPr>
          <p:cNvPr id="13" name="K+V projection parameters per layer, MHA → GQA-8 (Q and O unchanged)"/>
          <p:cNvSpPr/>
          <p:nvPr/>
        </p:nvSpPr>
        <p:spPr>
          <a:xfrm>
            <a:off x="6172200" y="4661343"/>
            <a:ext cx="2651760" cy="1556577"/>
          </a:xfrm>
          <a:prstGeom prst="roundRect">
            <a:avLst>
              <a:gd name="adj" fmla="val 7049"/>
            </a:avLst>
          </a:prstGeom>
          <a:solidFill>
            <a:schemeClr val="bg2"/>
          </a:solidFill>
          <a:ln w="12700">
            <a:solidFill>
              <a:schemeClr val="bg2"/>
            </a:solidFill>
            <a:prstDash val="solid"/>
          </a:ln>
        </p:spPr>
      </p:sp>
      <p:sp>
        <p:nvSpPr>
          <p:cNvPr id="14" name="Text 10"/>
          <p:cNvSpPr txBox="1"/>
          <p:nvPr/>
        </p:nvSpPr>
        <p:spPr>
          <a:xfrm>
            <a:off x="6400800" y="4752783"/>
            <a:ext cx="2194560" cy="594360"/>
          </a:xfrm>
          <a:prstGeom prst="rect">
            <a:avLst/>
          </a:prstGeom>
          <a:noFill/>
          <a:ln/>
        </p:spPr>
        <p:txBody>
          <a:bodyPr wrap="square" lIns="0" tIns="0" rIns="0" bIns="0" rtlCol="0" anchor="b"/>
          <a:lstStyle/>
          <a:p>
            <a:pPr indent="0" marL="0">
              <a:buNone/>
            </a:pPr>
            <a:r>
              <a:rPr lang="en-US" sz="2200" b="1" dirty="0">
                <a:solidFill>
                  <a:schemeClr val="accent4"/>
                </a:solidFill>
                <a:latin typeface="Calibri" pitchFamily="34" charset="0"/>
                <a:ea typeface="Calibri" pitchFamily="34" charset="-122"/>
                <a:cs typeface="Calibri" pitchFamily="34" charset="-120"/>
              </a:rPr>
              <a:t>33.6M → 8.4M</a:t>
            </a:r>
            <a:endParaRPr lang="en-US" sz="2200" dirty="0"/>
          </a:p>
        </p:txBody>
      </p:sp>
      <p:sp>
        <p:nvSpPr>
          <p:cNvPr id="15" name="Text 11"/>
          <p:cNvSpPr txBox="1"/>
          <p:nvPr/>
        </p:nvSpPr>
        <p:spPr>
          <a:xfrm>
            <a:off x="6400800" y="5392863"/>
            <a:ext cx="2194560" cy="733617"/>
          </a:xfrm>
          <a:prstGeom prst="rect">
            <a:avLst/>
          </a:prstGeom>
          <a:noFill/>
          <a:ln/>
        </p:spPr>
        <p:txBody>
          <a:bodyPr wrap="square" lIns="0" tIns="0" rIns="0" bIns="0" rtlCol="0" anchor="t"/>
          <a:lstStyle/>
          <a:p>
            <a:pPr indent="0" marL="0">
              <a:buNone/>
            </a:pPr>
            <a:r>
              <a:rPr lang="en-US" sz="1300" dirty="0">
                <a:solidFill>
                  <a:schemeClr val="tx2"/>
                </a:solidFill>
              </a:rPr>
              <a:t>K+V projection parameters per layer, MHA → GQA-8 (Q and O unchanged)</a:t>
            </a:r>
            <a:endParaRPr lang="en-US" sz="1300" dirty="0"/>
          </a:p>
        </p:txBody>
      </p:sp>
      <p:sp>
        <p:nvSpPr>
          <p:cNvPr id="16" name="FLOP per byte read: MHA → GQA-8 → MQA"/>
          <p:cNvSpPr/>
          <p:nvPr/>
        </p:nvSpPr>
        <p:spPr>
          <a:xfrm>
            <a:off x="8983980" y="4661343"/>
            <a:ext cx="2651760" cy="1556577"/>
          </a:xfrm>
          <a:prstGeom prst="roundRect">
            <a:avLst>
              <a:gd name="adj" fmla="val 7049"/>
            </a:avLst>
          </a:prstGeom>
          <a:solidFill>
            <a:schemeClr val="bg2"/>
          </a:solidFill>
          <a:ln w="12700">
            <a:solidFill>
              <a:schemeClr val="bg2"/>
            </a:solidFill>
            <a:prstDash val="solid"/>
          </a:ln>
        </p:spPr>
      </p:sp>
      <p:sp>
        <p:nvSpPr>
          <p:cNvPr id="17" name="Text 13"/>
          <p:cNvSpPr txBox="1"/>
          <p:nvPr/>
        </p:nvSpPr>
        <p:spPr>
          <a:xfrm>
            <a:off x="9212580" y="4752783"/>
            <a:ext cx="2194560" cy="594360"/>
          </a:xfrm>
          <a:prstGeom prst="rect">
            <a:avLst/>
          </a:prstGeom>
          <a:noFill/>
          <a:ln/>
        </p:spPr>
        <p:txBody>
          <a:bodyPr wrap="square" lIns="0" tIns="0" rIns="0" bIns="0" rtlCol="0" anchor="b"/>
          <a:lstStyle/>
          <a:p>
            <a:pPr indent="0" marL="0">
              <a:buNone/>
            </a:pPr>
            <a:r>
              <a:rPr lang="en-US" sz="2200" b="1" dirty="0">
                <a:solidFill>
                  <a:schemeClr val="tx1"/>
                </a:solidFill>
                <a:latin typeface="Calibri" pitchFamily="34" charset="0"/>
                <a:ea typeface="Calibri" pitchFamily="34" charset="-122"/>
                <a:cs typeface="Calibri" pitchFamily="34" charset="-120"/>
              </a:rPr>
              <a:t>1 → 4 → 32</a:t>
            </a:r>
            <a:endParaRPr lang="en-US" sz="2200" dirty="0"/>
          </a:p>
        </p:txBody>
      </p:sp>
      <p:sp>
        <p:nvSpPr>
          <p:cNvPr id="18" name="Text 14"/>
          <p:cNvSpPr txBox="1"/>
          <p:nvPr/>
        </p:nvSpPr>
        <p:spPr>
          <a:xfrm>
            <a:off x="9212580" y="5392863"/>
            <a:ext cx="2194560" cy="733617"/>
          </a:xfrm>
          <a:prstGeom prst="rect">
            <a:avLst/>
          </a:prstGeom>
          <a:noFill/>
          <a:ln/>
        </p:spPr>
        <p:txBody>
          <a:bodyPr wrap="square" lIns="0" tIns="0" rIns="0" bIns="0" rtlCol="0" anchor="t"/>
          <a:lstStyle/>
          <a:p>
            <a:pPr indent="0" marL="0">
              <a:buNone/>
            </a:pPr>
            <a:r>
              <a:rPr lang="en-US" sz="1300" dirty="0">
                <a:solidFill>
                  <a:schemeClr val="tx2"/>
                </a:solidFill>
              </a:rPr>
              <a:t>FLOP per byte read: MHA → GQA-8 → MQA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GQA buys throughput, not fewer FLOPs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777240"/>
                <a:gridCol w="2148840"/>
                <a:gridCol w="1920240"/>
                <a:gridCol w="1920240"/>
              </a:tblGrid>
              <a:tr h="411480">
                <a:tc>
                  <a:txBody>
                    <a:bodyPr/>
                    <a:lstStyle/>
                    <a:p>
                      <a:pPr indent="0" marL="0">
                        <a:buNone/>
                      </a:pPr>
                      <a:r>
                        <a:rPr lang="en-US" sz="1500" b="1" dirty="0">
                          <a:solidFill>
                            <a:schemeClr val="bg1"/>
                          </a:solidFill>
                        </a:rPr>
                        <a:t>Batch</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MHA</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GQA-8</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MQA</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58368">
                <a:tc>
                  <a:txBody>
                    <a:bodyPr/>
                    <a:lstStyle/>
                    <a:p>
                      <a:pPr algn="r" indent="0" marL="0">
                        <a:buNone/>
                      </a:pPr>
                      <a:r>
                        <a:rPr lang="en-US" sz="1500" b="1" dirty="0">
                          <a:solidFill>
                            <a:schemeClr val="tx1"/>
                          </a:solidFill>
                        </a:rPr>
                        <a:t>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15.5 GB · 7.8 ms</a:t>
                      </a:r>
                      <a:endParaRPr lang="en-US" sz="1500" dirty="0"/>
                    </a:p>
                    <a:p>
                      <a:pPr indent="0" marL="0">
                        <a:buNone/>
                      </a:pPr>
                      <a:r>
                        <a:rPr lang="en-US" sz="1500" b="1" dirty="0">
                          <a:solidFill>
                            <a:schemeClr val="accent1"/>
                          </a:solidFill>
                        </a:rPr>
                        <a:t>129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13.9 GB · 7.0 ms</a:t>
                      </a:r>
                      <a:endParaRPr lang="en-US" sz="1500" dirty="0"/>
                    </a:p>
                    <a:p>
                      <a:pPr indent="0" marL="0">
                        <a:buNone/>
                      </a:pPr>
                      <a:r>
                        <a:rPr lang="en-US" sz="1500" b="1" dirty="0">
                          <a:solidFill>
                            <a:schemeClr val="accent1"/>
                          </a:solidFill>
                        </a:rPr>
                        <a:t>144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13.5 GB · 6.7 ms</a:t>
                      </a:r>
                      <a:endParaRPr lang="en-US" sz="1500" dirty="0"/>
                    </a:p>
                    <a:p>
                      <a:pPr indent="0" marL="0">
                        <a:buNone/>
                      </a:pPr>
                      <a:r>
                        <a:rPr lang="en-US" sz="1500" b="1" dirty="0">
                          <a:solidFill>
                            <a:schemeClr val="accent1"/>
                          </a:solidFill>
                        </a:rPr>
                        <a:t>149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58368">
                <a:tc>
                  <a:txBody>
                    <a:bodyPr/>
                    <a:lstStyle/>
                    <a:p>
                      <a:pPr algn="r" indent="0" marL="0">
                        <a:buNone/>
                      </a:pPr>
                      <a:r>
                        <a:rPr lang="en-US" sz="1500" b="1" dirty="0">
                          <a:solidFill>
                            <a:schemeClr val="tx1"/>
                          </a:solidFill>
                        </a:rPr>
                        <a:t>16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47.8 GB · 23.9 ms</a:t>
                      </a:r>
                      <a:endParaRPr lang="en-US" sz="1500" dirty="0"/>
                    </a:p>
                    <a:p>
                      <a:pPr indent="0" marL="0">
                        <a:buNone/>
                      </a:pPr>
                      <a:r>
                        <a:rPr lang="en-US" sz="1500" b="1" dirty="0">
                          <a:solidFill>
                            <a:schemeClr val="accent1"/>
                          </a:solidFill>
                        </a:rPr>
                        <a:t>670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22.0 GB · 11.0 ms</a:t>
                      </a:r>
                      <a:endParaRPr lang="en-US" sz="1500" dirty="0"/>
                    </a:p>
                    <a:p>
                      <a:pPr indent="0" marL="0">
                        <a:buNone/>
                      </a:pPr>
                      <a:r>
                        <a:rPr lang="en-US" sz="1500" b="1" dirty="0">
                          <a:solidFill>
                            <a:schemeClr val="accent1"/>
                          </a:solidFill>
                        </a:rPr>
                        <a:t>1,455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14.5 GB · 7.2 ms</a:t>
                      </a:r>
                      <a:endParaRPr lang="en-US" sz="1500" dirty="0"/>
                    </a:p>
                    <a:p>
                      <a:pPr indent="0" marL="0">
                        <a:buNone/>
                      </a:pPr>
                      <a:r>
                        <a:rPr lang="en-US" sz="1500" b="1" dirty="0">
                          <a:solidFill>
                            <a:schemeClr val="accent1"/>
                          </a:solidFill>
                        </a:rPr>
                        <a:t>2,211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58368">
                <a:tc>
                  <a:txBody>
                    <a:bodyPr/>
                    <a:lstStyle/>
                    <a:p>
                      <a:pPr algn="r" indent="0" marL="0">
                        <a:buNone/>
                      </a:pPr>
                      <a:r>
                        <a:rPr lang="en-US" sz="1500" b="1" dirty="0">
                          <a:solidFill>
                            <a:schemeClr val="tx1"/>
                          </a:solidFill>
                        </a:rPr>
                        <a:t>32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rPr>
                        <a:t>82.1 GB: does not fit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30.6 GB · 15.3 ms</a:t>
                      </a:r>
                      <a:endParaRPr lang="en-US" sz="1500" dirty="0"/>
                    </a:p>
                    <a:p>
                      <a:pPr indent="0" marL="0">
                        <a:buNone/>
                      </a:pPr>
                      <a:r>
                        <a:rPr lang="en-US" sz="1500" b="1" dirty="0">
                          <a:solidFill>
                            <a:schemeClr val="accent1"/>
                          </a:solidFill>
                        </a:rPr>
                        <a:t>2,093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15.5 GB · 7.8 ms</a:t>
                      </a:r>
                      <a:endParaRPr lang="en-US" sz="1500" dirty="0"/>
                    </a:p>
                    <a:p>
                      <a:pPr indent="0" marL="0">
                        <a:buNone/>
                      </a:pPr>
                      <a:r>
                        <a:rPr lang="en-US" sz="1500" b="1" dirty="0">
                          <a:solidFill>
                            <a:schemeClr val="accent1"/>
                          </a:solidFill>
                        </a:rPr>
                        <a:t>4,116 tokens/s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3794760"/>
            <a:ext cx="6766560" cy="502920"/>
          </a:xfrm>
          <a:prstGeom prst="rect">
            <a:avLst/>
          </a:prstGeom>
          <a:noFill/>
          <a:ln/>
        </p:spPr>
        <p:txBody>
          <a:bodyPr wrap="square" lIns="0" tIns="0" rIns="0" bIns="0" rtlCol="0" anchor="t"/>
          <a:lstStyle/>
          <a:p>
            <a:pPr indent="0" marL="0">
              <a:buNone/>
            </a:pPr>
            <a:r>
              <a:rPr lang="en-US" sz="1200" dirty="0">
                <a:solidFill>
                  <a:schemeClr val="tx2"/>
                </a:solidFill>
              </a:rPr>
              <a:t>Memory read per step · idealized step time at 2.0 TB/s (A100) · throughput = batch ÷ step time. Llama-2-7B sizes, context 4,096. Reads only: estimates, not measurements.</a:t>
            </a:r>
            <a:endParaRPr lang="en-US" sz="1200" dirty="0"/>
          </a:p>
        </p:txBody>
      </p:sp>
      <p:sp>
        <p:nvSpPr>
          <p:cNvPr id="6" name="GQA-8 speed-up over MHA, batch 1 → batch 16"/>
          <p:cNvSpPr/>
          <p:nvPr/>
        </p:nvSpPr>
        <p:spPr>
          <a:xfrm>
            <a:off x="548640" y="4434840"/>
            <a:ext cx="219456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777240" y="4526280"/>
            <a:ext cx="1737360" cy="594360"/>
          </a:xfrm>
          <a:prstGeom prst="rect">
            <a:avLst/>
          </a:prstGeom>
          <a:noFill/>
          <a:ln/>
        </p:spPr>
        <p:txBody>
          <a:bodyPr wrap="square" lIns="0" tIns="0" rIns="0" bIns="0" rtlCol="0" anchor="b"/>
          <a:lstStyle/>
          <a:p>
            <a:pPr indent="0" marL="0">
              <a:buNone/>
            </a:pPr>
            <a:r>
              <a:rPr lang="en-US" sz="2000" b="1" dirty="0">
                <a:solidFill>
                  <a:schemeClr val="accent1"/>
                </a:solidFill>
                <a:latin typeface="Calibri" pitchFamily="34" charset="0"/>
                <a:ea typeface="Calibri" pitchFamily="34" charset="-122"/>
                <a:cs typeface="Calibri" pitchFamily="34" charset="-120"/>
              </a:rPr>
              <a:t>1.1× → 2.2×</a:t>
            </a:r>
            <a:endParaRPr lang="en-US" sz="2000" dirty="0"/>
          </a:p>
        </p:txBody>
      </p:sp>
      <p:sp>
        <p:nvSpPr>
          <p:cNvPr id="8" name="Text 4"/>
          <p:cNvSpPr txBox="1"/>
          <p:nvPr/>
        </p:nvSpPr>
        <p:spPr>
          <a:xfrm>
            <a:off x="777240" y="5166360"/>
            <a:ext cx="1737360" cy="548640"/>
          </a:xfrm>
          <a:prstGeom prst="rect">
            <a:avLst/>
          </a:prstGeom>
          <a:noFill/>
          <a:ln/>
        </p:spPr>
        <p:txBody>
          <a:bodyPr wrap="square" lIns="0" tIns="0" rIns="0" bIns="0" rtlCol="0" anchor="t"/>
          <a:lstStyle/>
          <a:p>
            <a:pPr indent="0" marL="0">
              <a:buNone/>
            </a:pPr>
            <a:r>
              <a:rPr lang="en-US" sz="1300" dirty="0">
                <a:solidFill>
                  <a:schemeClr val="tx2"/>
                </a:solidFill>
              </a:rPr>
              <a:t>GQA-8 speed-up over MHA, batch 1 → batch 16</a:t>
            </a:r>
            <a:endParaRPr lang="en-US" sz="1300" dirty="0"/>
          </a:p>
        </p:txBody>
      </p:sp>
      <p:sp>
        <p:nvSpPr>
          <p:cNvPr id="9" name="4,096-token sequences that fit on 80 GB, MHA → GQA-8"/>
          <p:cNvSpPr/>
          <p:nvPr/>
        </p:nvSpPr>
        <p:spPr>
          <a:xfrm>
            <a:off x="2834640" y="4434840"/>
            <a:ext cx="219456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3063240" y="4526280"/>
            <a:ext cx="1737360" cy="594360"/>
          </a:xfrm>
          <a:prstGeom prst="rect">
            <a:avLst/>
          </a:prstGeom>
          <a:noFill/>
          <a:ln/>
        </p:spPr>
        <p:txBody>
          <a:bodyPr wrap="square" lIns="0" tIns="0" rIns="0" bIns="0" rtlCol="0" anchor="b"/>
          <a:lstStyle/>
          <a:p>
            <a:pPr indent="0" marL="0">
              <a:buNone/>
            </a:pPr>
            <a:r>
              <a:rPr lang="en-US" sz="2000" b="1" dirty="0">
                <a:solidFill>
                  <a:schemeClr val="accent4"/>
                </a:solidFill>
                <a:latin typeface="Calibri" pitchFamily="34" charset="0"/>
                <a:ea typeface="Calibri" pitchFamily="34" charset="-122"/>
                <a:cs typeface="Calibri" pitchFamily="34" charset="-120"/>
              </a:rPr>
              <a:t>31 → 124</a:t>
            </a:r>
            <a:endParaRPr lang="en-US" sz="2000" dirty="0"/>
          </a:p>
        </p:txBody>
      </p:sp>
      <p:sp>
        <p:nvSpPr>
          <p:cNvPr id="11" name="Text 7"/>
          <p:cNvSpPr txBox="1"/>
          <p:nvPr/>
        </p:nvSpPr>
        <p:spPr>
          <a:xfrm>
            <a:off x="3063240" y="5166360"/>
            <a:ext cx="1737360" cy="548640"/>
          </a:xfrm>
          <a:prstGeom prst="rect">
            <a:avLst/>
          </a:prstGeom>
          <a:noFill/>
          <a:ln/>
        </p:spPr>
        <p:txBody>
          <a:bodyPr wrap="square" lIns="0" tIns="0" rIns="0" bIns="0" rtlCol="0" anchor="t"/>
          <a:lstStyle/>
          <a:p>
            <a:pPr indent="0" marL="0">
              <a:buNone/>
            </a:pPr>
            <a:r>
              <a:rPr lang="en-US" sz="1300" dirty="0">
                <a:solidFill>
                  <a:schemeClr val="tx2"/>
                </a:solidFill>
              </a:rPr>
              <a:t>4,096-token sequences that fit on 80 GB, MHA → GQA-8</a:t>
            </a:r>
            <a:endParaRPr lang="en-US" sz="1300" dirty="0"/>
          </a:p>
        </p:txBody>
      </p:sp>
      <p:sp>
        <p:nvSpPr>
          <p:cNvPr id="12" name="tokens/s with GQA-8, batch 1 → batch 16"/>
          <p:cNvSpPr/>
          <p:nvPr/>
        </p:nvSpPr>
        <p:spPr>
          <a:xfrm>
            <a:off x="5120640" y="4434840"/>
            <a:ext cx="2194560" cy="13716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5349240" y="4526280"/>
            <a:ext cx="1737360" cy="594360"/>
          </a:xfrm>
          <a:prstGeom prst="rect">
            <a:avLst/>
          </a:prstGeom>
          <a:noFill/>
          <a:ln/>
        </p:spPr>
        <p:txBody>
          <a:bodyPr wrap="square" lIns="0" tIns="0" rIns="0" bIns="0" rtlCol="0" anchor="b"/>
          <a:lstStyle/>
          <a:p>
            <a:pPr indent="0" marL="0">
              <a:buNone/>
            </a:pPr>
            <a:r>
              <a:rPr lang="en-US" sz="2000" b="1" dirty="0">
                <a:solidFill>
                  <a:schemeClr val="tx1"/>
                </a:solidFill>
                <a:latin typeface="Calibri" pitchFamily="34" charset="0"/>
                <a:ea typeface="Calibri" pitchFamily="34" charset="-122"/>
                <a:cs typeface="Calibri" pitchFamily="34" charset="-120"/>
              </a:rPr>
              <a:t>140 → 1,450</a:t>
            </a:r>
            <a:endParaRPr lang="en-US" sz="2000" dirty="0"/>
          </a:p>
        </p:txBody>
      </p:sp>
      <p:sp>
        <p:nvSpPr>
          <p:cNvPr id="14" name="Text 10"/>
          <p:cNvSpPr txBox="1"/>
          <p:nvPr/>
        </p:nvSpPr>
        <p:spPr>
          <a:xfrm>
            <a:off x="5349240" y="5166360"/>
            <a:ext cx="1737360" cy="548640"/>
          </a:xfrm>
          <a:prstGeom prst="rect">
            <a:avLst/>
          </a:prstGeom>
          <a:noFill/>
          <a:ln/>
        </p:spPr>
        <p:txBody>
          <a:bodyPr wrap="square" lIns="0" tIns="0" rIns="0" bIns="0" rtlCol="0" anchor="t"/>
          <a:lstStyle/>
          <a:p>
            <a:pPr indent="0" marL="0">
              <a:buNone/>
            </a:pPr>
            <a:r>
              <a:rPr lang="en-US" sz="1300" dirty="0">
                <a:solidFill>
                  <a:schemeClr val="tx2"/>
                </a:solidFill>
              </a:rPr>
              <a:t>tokens/s with GQA-8, batch 1 → batch 16</a:t>
            </a:r>
            <a:endParaRPr lang="en-US" sz="1300" dirty="0"/>
          </a:p>
        </p:txBody>
      </p:sp>
      <p:sp>
        <p:nvSpPr>
          <p:cNvPr id="15" name="helps"/>
          <p:cNvSpPr/>
          <p:nvPr/>
        </p:nvSpPr>
        <p:spPr>
          <a:xfrm>
            <a:off x="7680960" y="1280160"/>
            <a:ext cx="3931920" cy="2011680"/>
          </a:xfrm>
          <a:prstGeom prst="roundRect">
            <a:avLst>
              <a:gd name="adj" fmla="val 5455"/>
            </a:avLst>
          </a:prstGeom>
          <a:solidFill>
            <a:schemeClr val="bg2"/>
          </a:solidFill>
          <a:ln w="12700">
            <a:solidFill>
              <a:schemeClr val="bg2"/>
            </a:solidFill>
            <a:prstDash val="solid"/>
          </a:ln>
        </p:spPr>
      </p:sp>
      <p:sp>
        <p:nvSpPr>
          <p:cNvPr id="16" name="Text 12"/>
          <p:cNvSpPr txBox="1"/>
          <p:nvPr/>
        </p:nvSpPr>
        <p:spPr>
          <a:xfrm>
            <a:off x="7909560" y="1417320"/>
            <a:ext cx="3474720" cy="365760"/>
          </a:xfrm>
          <a:prstGeom prst="rect">
            <a:avLst/>
          </a:prstGeom>
          <a:noFill/>
          <a:ln/>
        </p:spPr>
        <p:txBody>
          <a:bodyPr wrap="square" lIns="0" tIns="0" rIns="0" bIns="0" rtlCol="0" anchor="t"/>
          <a:lstStyle/>
          <a:p>
            <a:pPr indent="0" marL="0">
              <a:buNone/>
            </a:pPr>
            <a:r>
              <a:rPr lang="en-US" sz="1600" b="1" dirty="0">
                <a:solidFill>
                  <a:schemeClr val="accent1"/>
                </a:solidFill>
              </a:rPr>
              <a:t>Helps: decoding</a:t>
            </a:r>
            <a:endParaRPr lang="en-US" sz="1600" dirty="0"/>
          </a:p>
        </p:txBody>
      </p:sp>
      <p:sp>
        <p:nvSpPr>
          <p:cNvPr id="17" name="Text 13"/>
          <p:cNvSpPr txBox="1"/>
          <p:nvPr/>
        </p:nvSpPr>
        <p:spPr>
          <a:xfrm>
            <a:off x="7909560" y="1874520"/>
            <a:ext cx="3474720" cy="132588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Capacity: </a:t>
            </a:r>
            <a:r>
              <a:rPr lang="en-US" sz="1400" dirty="0">
                <a:solidFill>
                  <a:schemeClr val="tx1"/>
                </a:solidFill>
              </a:rPr>
              <a:t>more or longer sequences fit next to the weights</a:t>
            </a:r>
            <a:endParaRPr lang="en-US" sz="1400" dirty="0"/>
          </a:p>
          <a:p>
            <a:pPr marL="228600" indent="-228600">
              <a:spcAft>
                <a:spcPts val="800"/>
              </a:spcAft>
              <a:buSzPct val="100000"/>
              <a:buChar char="•"/>
            </a:pPr>
            <a:r>
              <a:rPr lang="en-US" sz="1400" b="1" dirty="0">
                <a:solidFill>
                  <a:schemeClr val="tx1"/>
                </a:solidFill>
              </a:rPr>
              <a:t>Bandwidth: </a:t>
            </a:r>
            <a:r>
              <a:rPr lang="en-US" sz="1400" dirty="0">
                <a:solidFill>
                  <a:schemeClr val="tx1"/>
                </a:solidFill>
              </a:rPr>
              <a:t>fewer bytes read per step, so faster steps</a:t>
            </a:r>
            <a:endParaRPr lang="en-US" sz="1400" dirty="0"/>
          </a:p>
        </p:txBody>
      </p:sp>
      <p:sp>
        <p:nvSpPr>
          <p:cNvPr id="18" name="does not help"/>
          <p:cNvSpPr/>
          <p:nvPr/>
        </p:nvSpPr>
        <p:spPr>
          <a:xfrm>
            <a:off x="7680960" y="3474720"/>
            <a:ext cx="3931920" cy="2331720"/>
          </a:xfrm>
          <a:prstGeom prst="roundRect">
            <a:avLst>
              <a:gd name="adj" fmla="val 4706"/>
            </a:avLst>
          </a:prstGeom>
          <a:solidFill>
            <a:schemeClr val="accent6"/>
          </a:solidFill>
          <a:ln w="12700">
            <a:solidFill>
              <a:schemeClr val="accent6"/>
            </a:solidFill>
            <a:prstDash val="solid"/>
          </a:ln>
        </p:spPr>
      </p:sp>
      <p:sp>
        <p:nvSpPr>
          <p:cNvPr id="19" name="Text 15"/>
          <p:cNvSpPr txBox="1"/>
          <p:nvPr/>
        </p:nvSpPr>
        <p:spPr>
          <a:xfrm>
            <a:off x="7909560" y="3611880"/>
            <a:ext cx="3474720" cy="365760"/>
          </a:xfrm>
          <a:prstGeom prst="rect">
            <a:avLst/>
          </a:prstGeom>
          <a:noFill/>
          <a:ln/>
        </p:spPr>
        <p:txBody>
          <a:bodyPr wrap="square" lIns="0" tIns="0" rIns="0" bIns="0" rtlCol="0" anchor="t"/>
          <a:lstStyle/>
          <a:p>
            <a:pPr indent="0" marL="0">
              <a:buNone/>
            </a:pPr>
            <a:r>
              <a:rPr lang="en-US" sz="1600" b="1" dirty="0">
                <a:solidFill>
                  <a:schemeClr val="accent3"/>
                </a:solidFill>
              </a:rPr>
              <a:t>Does not help</a:t>
            </a:r>
            <a:endParaRPr lang="en-US" sz="1600" dirty="0"/>
          </a:p>
        </p:txBody>
      </p:sp>
      <p:sp>
        <p:nvSpPr>
          <p:cNvPr id="20" name="Text 16"/>
          <p:cNvSpPr txBox="1"/>
          <p:nvPr/>
        </p:nvSpPr>
        <p:spPr>
          <a:xfrm>
            <a:off x="7909560" y="4069080"/>
            <a:ext cx="3474720" cy="169164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Attention FLOPs: </a:t>
            </a:r>
            <a:r>
              <a:rPr lang="en-US" sz="1400" dirty="0">
                <a:solidFill>
                  <a:schemeClr val="tx1"/>
                </a:solidFill>
              </a:rPr>
              <a:t>every query head still scores every key</a:t>
            </a:r>
            <a:endParaRPr lang="en-US" sz="1400" dirty="0"/>
          </a:p>
          <a:p>
            <a:pPr marL="228600" indent="-228600">
              <a:spcAft>
                <a:spcPts val="800"/>
              </a:spcAft>
              <a:buSzPct val="100000"/>
              <a:buChar char="•"/>
            </a:pPr>
            <a:r>
              <a:rPr lang="en-US" sz="1400" b="1" dirty="0">
                <a:solidFill>
                  <a:schemeClr val="tx1"/>
                </a:solidFill>
              </a:rPr>
              <a:t>Training, prefill: </a:t>
            </a:r>
            <a:r>
              <a:rPr lang="en-US" sz="1400" dirty="0">
                <a:solidFill>
                  <a:schemeClr val="tx1"/>
                </a:solidFill>
              </a:rPr>
              <a:t>limited by compute, not cache reads</a:t>
            </a:r>
            <a:endParaRPr lang="en-US" sz="1400" dirty="0"/>
          </a:p>
          <a:p>
            <a:pPr marL="228600" indent="-228600">
              <a:spcAft>
                <a:spcPts val="800"/>
              </a:spcAft>
              <a:buSzPct val="100000"/>
              <a:buChar char="•"/>
            </a:pPr>
            <a:r>
              <a:rPr lang="en-US" sz="1400" b="1" dirty="0">
                <a:solidFill>
                  <a:schemeClr val="tx1"/>
                </a:solidFill>
              </a:rPr>
              <a:t>Growth with context: </a:t>
            </a:r>
            <a:r>
              <a:rPr lang="en-US" sz="1400" dirty="0">
                <a:solidFill>
                  <a:schemeClr val="tx1"/>
                </a:solidFill>
              </a:rPr>
              <a:t>still linear; see sliding windows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trade-off, and what real models choose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822960"/>
                <a:gridCol w="2286000"/>
                <a:gridCol w="2926080"/>
              </a:tblGrid>
              <a:tr h="914400">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Gained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Given up</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914400">
                <a:tc>
                  <a:txBody>
                    <a:bodyPr/>
                    <a:lstStyle/>
                    <a:p>
                      <a:pPr indent="0" marL="0">
                        <a:buNone/>
                      </a:pPr>
                      <a:r>
                        <a:rPr lang="en-US" sz="1400" b="1" dirty="0">
                          <a:solidFill>
                            <a:schemeClr val="tx1"/>
                          </a:solidFill>
                        </a:rPr>
                        <a:t>MQA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smallest cache and the fastest decoding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 heads match against the same key features and read the same values: less expressive, quality can drop</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914400">
                <a:tc>
                  <a:txBody>
                    <a:bodyPr/>
                    <a:lstStyle/>
                    <a:p>
                      <a:pPr indent="0" marL="0">
                        <a:buNone/>
                      </a:pPr>
                      <a:r>
                        <a:rPr lang="en-US" sz="1400" b="1" dirty="0">
                          <a:solidFill>
                            <a:schemeClr val="accent1"/>
                          </a:solidFill>
                        </a:rPr>
                        <a:t>GQA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most of the saving (GQA-8 caches 4× less than 32-head MHA)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little expressiveness; the GQA paper reports quality close to MHA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lookup picture"/>
          <p:cNvSpPr/>
          <p:nvPr/>
        </p:nvSpPr>
        <p:spPr>
          <a:xfrm>
            <a:off x="548640" y="4206240"/>
            <a:ext cx="6035040" cy="1965960"/>
          </a:xfrm>
          <a:prstGeom prst="roundRect">
            <a:avLst>
              <a:gd name="adj" fmla="val 5581"/>
            </a:avLst>
          </a:prstGeom>
          <a:solidFill>
            <a:schemeClr val="bg2"/>
          </a:solidFill>
          <a:ln w="12700">
            <a:solidFill>
              <a:schemeClr val="bg2"/>
            </a:solidFill>
            <a:prstDash val="solid"/>
          </a:ln>
        </p:spPr>
      </p:sp>
      <p:sp>
        <p:nvSpPr>
          <p:cNvPr id="6" name="Text 2"/>
          <p:cNvSpPr txBox="1"/>
          <p:nvPr/>
        </p:nvSpPr>
        <p:spPr>
          <a:xfrm>
            <a:off x="822960" y="4297680"/>
            <a:ext cx="5486400" cy="178308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In the lookup-table picture</a:t>
            </a:r>
            <a:endParaRPr lang="en-US" sz="1500" dirty="0"/>
          </a:p>
          <a:p>
            <a:pPr indent="0" marL="0">
              <a:spcAft>
                <a:spcPts val="400"/>
              </a:spcAft>
              <a:buNone/>
            </a:pPr>
            <a:r>
              <a:rPr lang="en-US" sz="1500" b="1" dirty="0">
                <a:solidFill>
                  <a:schemeClr val="accent4"/>
                </a:solidFill>
              </a:rPr>
              <a:t>MHA: </a:t>
            </a:r>
            <a:r>
              <a:rPr lang="en-US" sz="1500" dirty="0">
                <a:solidFill>
                  <a:schemeClr val="tx1"/>
                </a:solidFill>
              </a:rPr>
              <a:t>every head has its own index and its own notes.</a:t>
            </a:r>
            <a:endParaRPr lang="en-US" sz="1500" dirty="0"/>
          </a:p>
          <a:p>
            <a:pPr indent="0" marL="0">
              <a:spcAft>
                <a:spcPts val="400"/>
              </a:spcAft>
              <a:buNone/>
            </a:pPr>
            <a:r>
              <a:rPr lang="en-US" sz="1500" b="1" dirty="0">
                <a:solidFill>
                  <a:schemeClr val="accent1"/>
                </a:solidFill>
              </a:rPr>
              <a:t>GQA: </a:t>
            </a:r>
            <a:r>
              <a:rPr lang="en-US" sz="1500" dirty="0">
                <a:solidFill>
                  <a:schemeClr val="tx1"/>
                </a:solidFill>
              </a:rPr>
              <a:t>each group of heads shares an index and notes.</a:t>
            </a:r>
            <a:endParaRPr lang="en-US" sz="1500" dirty="0"/>
          </a:p>
          <a:p>
            <a:pPr indent="0" marL="0">
              <a:spcAft>
                <a:spcPts val="400"/>
              </a:spcAft>
              <a:buNone/>
            </a:pPr>
            <a:r>
              <a:rPr lang="en-US" sz="1500" b="1" dirty="0">
                <a:solidFill>
                  <a:schemeClr val="accent3"/>
                </a:solidFill>
              </a:rPr>
              <a:t>MQA: </a:t>
            </a:r>
            <a:r>
              <a:rPr lang="en-US" sz="1500" dirty="0">
                <a:solidFill>
                  <a:schemeClr val="tx1"/>
                </a:solidFill>
              </a:rPr>
              <a:t>every head asks its own question of one shared index and one set of notes.</a:t>
            </a:r>
            <a:endParaRPr lang="en-US" sz="1500" dirty="0"/>
          </a:p>
        </p:txBody>
      </p:sp>
      <p:sp>
        <p:nvSpPr>
          <p:cNvPr id="7" name="Text 3"/>
          <p:cNvSpPr txBox="1"/>
          <p:nvPr/>
        </p:nvSpPr>
        <p:spPr>
          <a:xfrm>
            <a:off x="6949440" y="1280160"/>
            <a:ext cx="4663440" cy="365760"/>
          </a:xfrm>
          <a:prstGeom prst="rect">
            <a:avLst/>
          </a:prstGeom>
          <a:noFill/>
          <a:ln/>
        </p:spPr>
        <p:txBody>
          <a:bodyPr wrap="square" lIns="0" tIns="0" rIns="0" bIns="0" rtlCol="0" anchor="t"/>
          <a:lstStyle/>
          <a:p>
            <a:pPr indent="0" marL="0">
              <a:buNone/>
            </a:pPr>
            <a:r>
              <a:rPr lang="en-US" sz="1600" b="1" dirty="0">
                <a:solidFill>
                  <a:schemeClr val="tx1"/>
                </a:solidFill>
              </a:rPr>
              <a:t>What real models use</a:t>
            </a:r>
            <a:endParaRPr lang="en-US" sz="16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949440" y="1737360"/>
          <a:ext cx="4663440" cy="914400"/>
        </p:xfrm>
        <a:graphic>
          <a:graphicData uri="http://schemas.openxmlformats.org/drawingml/2006/table">
            <a:tbl>
              <a:tblPr/>
              <a:tblGrid>
                <a:gridCol w="2011680"/>
                <a:gridCol w="960120"/>
                <a:gridCol w="868680"/>
                <a:gridCol w="822960"/>
              </a:tblGrid>
              <a:tr h="457200">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Query heads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K/V heads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Variant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GPT-2 small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MHA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Llama-2-7B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MHA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Falcon-7B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MQA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Llama-2-70B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64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GQA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Llama-3-8B, Mistral-7B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GQA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9" name="Text 4"/>
          <p:cNvSpPr txBox="1"/>
          <p:nvPr/>
        </p:nvSpPr>
        <p:spPr>
          <a:xfrm>
            <a:off x="6949440" y="4663440"/>
            <a:ext cx="4663440" cy="731520"/>
          </a:xfrm>
          <a:prstGeom prst="rect">
            <a:avLst/>
          </a:prstGeom>
          <a:noFill/>
          <a:ln/>
        </p:spPr>
        <p:txBody>
          <a:bodyPr wrap="square" lIns="0" tIns="0" rIns="0" bIns="0" rtlCol="0" anchor="t"/>
          <a:lstStyle/>
          <a:p>
            <a:pPr indent="0" marL="0">
              <a:buNone/>
            </a:pPr>
            <a:r>
              <a:rPr lang="en-US" sz="1200" dirty="0">
                <a:solidFill>
                  <a:schemeClr val="tx2"/>
                </a:solidFill>
              </a:rPr>
              <a:t>Sources: Touvron et al. (2023), Llama 2; Jiang et al. (2023), Mistral 7B; Almazrouei et al. (2023), Falcon; Ainslie et al. (2023), GQA.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Uptraining an MHA checkpoint to GQA</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27</a:t>
            </a:r>
            <a:endParaRPr lang="en-US" sz="1400" dirty="0"/>
          </a:p>
        </p:txBody>
      </p:sp>
      <p:sp>
        <p:nvSpPr>
          <p:cNvPr id="6" name="Text 3"/>
          <p:cNvSpPr txBox="1"/>
          <p:nvPr/>
        </p:nvSpPr>
        <p:spPr>
          <a:xfrm>
            <a:off x="548640" y="1280160"/>
            <a:ext cx="6583680" cy="365760"/>
          </a:xfrm>
          <a:prstGeom prst="rect">
            <a:avLst/>
          </a:prstGeom>
          <a:noFill/>
          <a:ln/>
        </p:spPr>
        <p:txBody>
          <a:bodyPr wrap="square" lIns="0" tIns="0" rIns="0" bIns="0" rtlCol="0" anchor="t"/>
          <a:lstStyle/>
          <a:p>
            <a:pPr indent="0" marL="0">
              <a:buNone/>
            </a:pPr>
            <a:r>
              <a:rPr lang="en-US" sz="1600" b="1" dirty="0">
                <a:solidFill>
                  <a:schemeClr val="tx1"/>
                </a:solidFill>
              </a:rPr>
              <a:t>Step 1: mean-pool each group's K (and V) projection</a:t>
            </a:r>
            <a:endParaRPr lang="en-US" sz="1600" dirty="0"/>
          </a:p>
        </p:txBody>
      </p:sp>
      <p:sp>
        <p:nvSpPr>
          <p:cNvPr id="7" name="Shape 4"/>
          <p:cNvSpPr/>
          <p:nvPr/>
        </p:nvSpPr>
        <p:spPr>
          <a:xfrm>
            <a:off x="822960" y="1828800"/>
            <a:ext cx="1280160" cy="502920"/>
          </a:xfrm>
          <a:prstGeom prst="roundRect">
            <a:avLst>
              <a:gd name="adj" fmla="val 14545"/>
            </a:avLst>
          </a:prstGeom>
          <a:solidFill>
            <a:schemeClr val="accent4"/>
          </a:solidFill>
          <a:ln w="12700">
            <a:solidFill>
              <a:schemeClr val="accent4"/>
            </a:solidFill>
            <a:prstDash val="solid"/>
          </a:ln>
        </p:spPr>
      </p:sp>
      <p:sp>
        <p:nvSpPr>
          <p:cNvPr id="8" name="Text 5"/>
          <p:cNvSpPr txBox="1"/>
          <p:nvPr/>
        </p:nvSpPr>
        <p:spPr>
          <a:xfrm>
            <a:off x="822960" y="1828800"/>
            <a:ext cx="128016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K head 1</a:t>
            </a:r>
            <a:endParaRPr lang="en-US" sz="1300" dirty="0"/>
          </a:p>
        </p:txBody>
      </p:sp>
      <p:sp>
        <p:nvSpPr>
          <p:cNvPr id="9" name="Shape 6"/>
          <p:cNvSpPr/>
          <p:nvPr/>
        </p:nvSpPr>
        <p:spPr>
          <a:xfrm>
            <a:off x="2423160" y="1828800"/>
            <a:ext cx="1280160" cy="502920"/>
          </a:xfrm>
          <a:prstGeom prst="roundRect">
            <a:avLst>
              <a:gd name="adj" fmla="val 14545"/>
            </a:avLst>
          </a:prstGeom>
          <a:solidFill>
            <a:schemeClr val="accent4"/>
          </a:solidFill>
          <a:ln w="12700">
            <a:solidFill>
              <a:schemeClr val="accent4"/>
            </a:solidFill>
            <a:prstDash val="solid"/>
          </a:ln>
        </p:spPr>
      </p:sp>
      <p:sp>
        <p:nvSpPr>
          <p:cNvPr id="10" name="Text 7"/>
          <p:cNvSpPr txBox="1"/>
          <p:nvPr/>
        </p:nvSpPr>
        <p:spPr>
          <a:xfrm>
            <a:off x="2423160" y="1828800"/>
            <a:ext cx="128016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K head 2</a:t>
            </a:r>
            <a:endParaRPr lang="en-US" sz="1300" dirty="0"/>
          </a:p>
        </p:txBody>
      </p:sp>
      <p:sp>
        <p:nvSpPr>
          <p:cNvPr id="11" name="Shape 8"/>
          <p:cNvSpPr/>
          <p:nvPr/>
        </p:nvSpPr>
        <p:spPr>
          <a:xfrm>
            <a:off x="4023360" y="1828800"/>
            <a:ext cx="1280160" cy="502920"/>
          </a:xfrm>
          <a:prstGeom prst="roundRect">
            <a:avLst>
              <a:gd name="adj" fmla="val 14545"/>
            </a:avLst>
          </a:prstGeom>
          <a:solidFill>
            <a:schemeClr val="accent4"/>
          </a:solidFill>
          <a:ln w="12700">
            <a:solidFill>
              <a:schemeClr val="accent4"/>
            </a:solidFill>
            <a:prstDash val="solid"/>
          </a:ln>
        </p:spPr>
      </p:sp>
      <p:sp>
        <p:nvSpPr>
          <p:cNvPr id="12" name="Text 9"/>
          <p:cNvSpPr txBox="1"/>
          <p:nvPr/>
        </p:nvSpPr>
        <p:spPr>
          <a:xfrm>
            <a:off x="4023360" y="1828800"/>
            <a:ext cx="128016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K head 3</a:t>
            </a:r>
            <a:endParaRPr lang="en-US" sz="1300" dirty="0"/>
          </a:p>
        </p:txBody>
      </p:sp>
      <p:sp>
        <p:nvSpPr>
          <p:cNvPr id="13" name="Shape 10"/>
          <p:cNvSpPr/>
          <p:nvPr/>
        </p:nvSpPr>
        <p:spPr>
          <a:xfrm>
            <a:off x="5623560" y="1828800"/>
            <a:ext cx="1280160" cy="502920"/>
          </a:xfrm>
          <a:prstGeom prst="roundRect">
            <a:avLst>
              <a:gd name="adj" fmla="val 14545"/>
            </a:avLst>
          </a:prstGeom>
          <a:solidFill>
            <a:schemeClr val="accent4"/>
          </a:solidFill>
          <a:ln w="12700">
            <a:solidFill>
              <a:schemeClr val="accent4"/>
            </a:solidFill>
            <a:prstDash val="solid"/>
          </a:ln>
        </p:spPr>
      </p:sp>
      <p:sp>
        <p:nvSpPr>
          <p:cNvPr id="14" name="Text 11"/>
          <p:cNvSpPr txBox="1"/>
          <p:nvPr/>
        </p:nvSpPr>
        <p:spPr>
          <a:xfrm>
            <a:off x="5623560" y="1828800"/>
            <a:ext cx="128016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K head 4</a:t>
            </a:r>
            <a:endParaRPr lang="en-US" sz="1300" dirty="0"/>
          </a:p>
        </p:txBody>
      </p:sp>
      <p:sp>
        <p:nvSpPr>
          <p:cNvPr id="15" name="Shape 12"/>
          <p:cNvSpPr/>
          <p:nvPr/>
        </p:nvSpPr>
        <p:spPr>
          <a:xfrm>
            <a:off x="1463040" y="2331720"/>
            <a:ext cx="777240" cy="731520"/>
          </a:xfrm>
          <a:prstGeom prst="line">
            <a:avLst/>
          </a:prstGeom>
          <a:noFill/>
          <a:ln w="15875">
            <a:solidFill>
              <a:schemeClr val="tx2"/>
            </a:solidFill>
            <a:prstDash val="solid"/>
            <a:tailEnd type="triangle"/>
          </a:ln>
        </p:spPr>
      </p:sp>
      <p:sp>
        <p:nvSpPr>
          <p:cNvPr id="16" name="Shape 13"/>
          <p:cNvSpPr/>
          <p:nvPr/>
        </p:nvSpPr>
        <p:spPr>
          <a:xfrm flipH="1">
            <a:off x="2240280" y="2331720"/>
            <a:ext cx="822960" cy="731520"/>
          </a:xfrm>
          <a:prstGeom prst="line">
            <a:avLst/>
          </a:prstGeom>
          <a:noFill/>
          <a:ln w="15875">
            <a:solidFill>
              <a:schemeClr val="tx2"/>
            </a:solidFill>
            <a:prstDash val="solid"/>
            <a:tailEnd type="triangle"/>
          </a:ln>
        </p:spPr>
      </p:sp>
      <p:sp>
        <p:nvSpPr>
          <p:cNvPr id="17" name="Shape 14"/>
          <p:cNvSpPr/>
          <p:nvPr/>
        </p:nvSpPr>
        <p:spPr>
          <a:xfrm>
            <a:off x="1371600" y="3108960"/>
            <a:ext cx="1737360" cy="548640"/>
          </a:xfrm>
          <a:prstGeom prst="roundRect">
            <a:avLst>
              <a:gd name="adj" fmla="val 13333"/>
            </a:avLst>
          </a:prstGeom>
          <a:solidFill>
            <a:schemeClr val="accent4"/>
          </a:solidFill>
          <a:ln w="12700">
            <a:solidFill>
              <a:schemeClr val="accent4"/>
            </a:solidFill>
            <a:prstDash val="solid"/>
          </a:ln>
        </p:spPr>
      </p:sp>
      <p:sp>
        <p:nvSpPr>
          <p:cNvPr id="18" name="Text 15"/>
          <p:cNvSpPr txBox="1"/>
          <p:nvPr/>
        </p:nvSpPr>
        <p:spPr>
          <a:xfrm>
            <a:off x="1371600" y="310896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mean → K/V 1</a:t>
            </a:r>
            <a:endParaRPr lang="en-US" sz="1300" dirty="0"/>
          </a:p>
        </p:txBody>
      </p:sp>
      <p:sp>
        <p:nvSpPr>
          <p:cNvPr id="19" name="Shape 16"/>
          <p:cNvSpPr/>
          <p:nvPr/>
        </p:nvSpPr>
        <p:spPr>
          <a:xfrm>
            <a:off x="4663440" y="2331720"/>
            <a:ext cx="777240" cy="731520"/>
          </a:xfrm>
          <a:prstGeom prst="line">
            <a:avLst/>
          </a:prstGeom>
          <a:noFill/>
          <a:ln w="15875">
            <a:solidFill>
              <a:schemeClr val="tx2"/>
            </a:solidFill>
            <a:prstDash val="solid"/>
            <a:tailEnd type="triangle"/>
          </a:ln>
        </p:spPr>
      </p:sp>
      <p:sp>
        <p:nvSpPr>
          <p:cNvPr id="20" name="Shape 17"/>
          <p:cNvSpPr/>
          <p:nvPr/>
        </p:nvSpPr>
        <p:spPr>
          <a:xfrm flipH="1">
            <a:off x="5440680" y="2331720"/>
            <a:ext cx="822960" cy="731520"/>
          </a:xfrm>
          <a:prstGeom prst="line">
            <a:avLst/>
          </a:prstGeom>
          <a:noFill/>
          <a:ln w="15875">
            <a:solidFill>
              <a:schemeClr val="tx2"/>
            </a:solidFill>
            <a:prstDash val="solid"/>
            <a:tailEnd type="triangle"/>
          </a:ln>
        </p:spPr>
      </p:sp>
      <p:sp>
        <p:nvSpPr>
          <p:cNvPr id="21" name="Shape 18"/>
          <p:cNvSpPr/>
          <p:nvPr/>
        </p:nvSpPr>
        <p:spPr>
          <a:xfrm>
            <a:off x="4572000" y="3108960"/>
            <a:ext cx="1737360" cy="548640"/>
          </a:xfrm>
          <a:prstGeom prst="roundRect">
            <a:avLst>
              <a:gd name="adj" fmla="val 13333"/>
            </a:avLst>
          </a:prstGeom>
          <a:solidFill>
            <a:schemeClr val="accent4"/>
          </a:solidFill>
          <a:ln w="12700">
            <a:solidFill>
              <a:schemeClr val="accent4"/>
            </a:solidFill>
            <a:prstDash val="solid"/>
          </a:ln>
        </p:spPr>
      </p:sp>
      <p:sp>
        <p:nvSpPr>
          <p:cNvPr id="22" name="Text 19"/>
          <p:cNvSpPr txBox="1"/>
          <p:nvPr/>
        </p:nvSpPr>
        <p:spPr>
          <a:xfrm>
            <a:off x="4572000" y="3108960"/>
            <a:ext cx="1737360" cy="54864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mean → K/V 2</a:t>
            </a:r>
            <a:endParaRPr lang="en-US" sz="1300" dirty="0"/>
          </a:p>
        </p:txBody>
      </p:sp>
      <p:sp>
        <p:nvSpPr>
          <p:cNvPr id="23" name="Text 20"/>
          <p:cNvSpPr txBox="1"/>
          <p:nvPr/>
        </p:nvSpPr>
        <p:spPr>
          <a:xfrm>
            <a:off x="548640" y="3840480"/>
            <a:ext cx="6583680" cy="548640"/>
          </a:xfrm>
          <a:prstGeom prst="rect">
            <a:avLst/>
          </a:prstGeom>
          <a:noFill/>
          <a:ln/>
        </p:spPr>
        <p:txBody>
          <a:bodyPr wrap="square" lIns="0" tIns="0" rIns="0" bIns="0" rtlCol="0" anchor="t"/>
          <a:lstStyle/>
          <a:p>
            <a:pPr indent="0" marL="0">
              <a:buNone/>
            </a:pPr>
            <a:r>
              <a:rPr lang="en-US" sz="1400" dirty="0">
                <a:solidFill>
                  <a:schemeClr val="tx2"/>
                </a:solidFill>
              </a:rPr>
              <a:t>Q and output projections are copied unchanged. </a:t>
            </a:r>
            <a:r>
              <a:rPr lang="en-US" sz="1400" dirty="0">
                <a:solidFill>
                  <a:schemeClr val="tx2"/>
                </a:solidFill>
                <a:latin typeface="Courier New" pitchFamily="34" charset="0"/>
                <a:ea typeface="Courier New" pitchFamily="34" charset="-122"/>
                <a:cs typeface="Courier New" pitchFamily="34" charset="-120"/>
              </a:rPr>
              <a:t>W_k</a:t>
            </a:r>
            <a:r>
              <a:rPr lang="en-US" sz="1400" dirty="0">
                <a:solidFill>
                  <a:schemeClr val="tx2"/>
                </a:solidFill>
              </a:rPr>
              <a:t>: </a:t>
            </a:r>
            <a:r>
              <a:rPr lang="en-US" sz="1400" dirty="0">
                <a:solidFill>
                  <a:schemeClr val="tx2"/>
                </a:solidFill>
                <a:latin typeface="Courier New" pitchFamily="34" charset="0"/>
                <a:ea typeface="Courier New" pitchFamily="34" charset="-122"/>
                <a:cs typeface="Courier New" pitchFamily="34" charset="-120"/>
              </a:rPr>
              <a:t>(32, 32) → (16, 32)</a:t>
            </a:r>
            <a:r>
              <a:rPr lang="en-US" sz="1400" dirty="0">
                <a:solidFill>
                  <a:schemeClr val="tx2"/>
                </a:solidFill>
              </a:rPr>
              <a:t> in cell 27.</a:t>
            </a:r>
            <a:endParaRPr lang="en-US" sz="1400" dirty="0"/>
          </a:p>
        </p:txBody>
      </p:sp>
      <p:sp>
        <p:nvSpPr>
          <p:cNvPr id="24" name="step 2"/>
          <p:cNvSpPr/>
          <p:nvPr/>
        </p:nvSpPr>
        <p:spPr>
          <a:xfrm>
            <a:off x="548640" y="4526280"/>
            <a:ext cx="6583680" cy="1645920"/>
          </a:xfrm>
          <a:prstGeom prst="roundRect">
            <a:avLst>
              <a:gd name="adj" fmla="val 6667"/>
            </a:avLst>
          </a:prstGeom>
          <a:solidFill>
            <a:schemeClr val="bg2"/>
          </a:solidFill>
          <a:ln w="12700">
            <a:solidFill>
              <a:schemeClr val="bg2"/>
            </a:solidFill>
            <a:prstDash val="solid"/>
          </a:ln>
        </p:spPr>
      </p:sp>
      <p:sp>
        <p:nvSpPr>
          <p:cNvPr id="25" name="Shape 22"/>
          <p:cNvSpPr/>
          <p:nvPr/>
        </p:nvSpPr>
        <p:spPr>
          <a:xfrm>
            <a:off x="777240" y="475488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777240" y="4754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7" name="Text 24"/>
          <p:cNvSpPr txBox="1"/>
          <p:nvPr/>
        </p:nvSpPr>
        <p:spPr>
          <a:xfrm>
            <a:off x="1417320" y="4617720"/>
            <a:ext cx="5532120" cy="1463040"/>
          </a:xfrm>
          <a:prstGeom prst="rect">
            <a:avLst/>
          </a:prstGeom>
          <a:noFill/>
          <a:ln/>
        </p:spPr>
        <p:txBody>
          <a:bodyPr wrap="square" lIns="0" tIns="0" rIns="0" bIns="0" rtlCol="0" anchor="ctr"/>
          <a:lstStyle/>
          <a:p>
            <a:pPr indent="0" marL="0">
              <a:buNone/>
            </a:pPr>
            <a:r>
              <a:rPr lang="en-US" sz="1500" b="1" dirty="0">
                <a:solidFill>
                  <a:schemeClr val="tx1"/>
                </a:solidFill>
              </a:rPr>
              <a:t>Step 2: continue pretraining briefly</a:t>
            </a:r>
            <a:endParaRPr lang="en-US" sz="1500" dirty="0"/>
          </a:p>
          <a:p>
            <a:pPr indent="0" marL="0">
              <a:buNone/>
            </a:pPr>
            <a:r>
              <a:rPr lang="en-US" sz="1500" dirty="0">
                <a:solidFill>
                  <a:schemeClr val="tx1"/>
                </a:solidFill>
              </a:rPr>
              <a:t>The GQA paper uses about 5% of the original pretraining compute, so the model adapts to the shared heads.</a:t>
            </a:r>
            <a:endParaRPr lang="en-US" sz="1500" dirty="0"/>
          </a:p>
        </p:txBody>
      </p:sp>
      <p:sp>
        <p:nvSpPr>
          <p:cNvPr id="28" name="relative change in this toy layer's output right after pooling, before any uptraining"/>
          <p:cNvSpPr/>
          <p:nvPr/>
        </p:nvSpPr>
        <p:spPr>
          <a:xfrm>
            <a:off x="7498080" y="1280160"/>
            <a:ext cx="4114800" cy="1737360"/>
          </a:xfrm>
          <a:prstGeom prst="roundRect">
            <a:avLst>
              <a:gd name="adj" fmla="val 6316"/>
            </a:avLst>
          </a:prstGeom>
          <a:solidFill>
            <a:schemeClr val="bg2"/>
          </a:solidFill>
          <a:ln w="12700">
            <a:solidFill>
              <a:schemeClr val="bg2"/>
            </a:solidFill>
            <a:prstDash val="solid"/>
          </a:ln>
        </p:spPr>
      </p:sp>
      <p:sp>
        <p:nvSpPr>
          <p:cNvPr id="29" name="Text 26"/>
          <p:cNvSpPr txBox="1"/>
          <p:nvPr/>
        </p:nvSpPr>
        <p:spPr>
          <a:xfrm>
            <a:off x="7726680" y="1371600"/>
            <a:ext cx="3657600" cy="59436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52%</a:t>
            </a:r>
            <a:endParaRPr lang="en-US" sz="4000" dirty="0"/>
          </a:p>
        </p:txBody>
      </p:sp>
      <p:sp>
        <p:nvSpPr>
          <p:cNvPr id="30" name="Text 27"/>
          <p:cNvSpPr txBox="1"/>
          <p:nvPr/>
        </p:nvSpPr>
        <p:spPr>
          <a:xfrm>
            <a:off x="7726680" y="2011680"/>
            <a:ext cx="3657600" cy="914400"/>
          </a:xfrm>
          <a:prstGeom prst="rect">
            <a:avLst/>
          </a:prstGeom>
          <a:noFill/>
          <a:ln/>
        </p:spPr>
        <p:txBody>
          <a:bodyPr wrap="square" lIns="0" tIns="0" rIns="0" bIns="0" rtlCol="0" anchor="t"/>
          <a:lstStyle/>
          <a:p>
            <a:pPr indent="0" marL="0">
              <a:buNone/>
            </a:pPr>
            <a:r>
              <a:rPr lang="en-US" sz="1300" dirty="0">
                <a:solidFill>
                  <a:schemeClr val="tx2"/>
                </a:solidFill>
              </a:rPr>
              <a:t>relative change in this toy layer's output right after pooling, before any uptraining</a:t>
            </a:r>
            <a:endParaRPr lang="en-US" sz="1300" dirty="0"/>
          </a:p>
        </p:txBody>
      </p:sp>
      <p:sp>
        <p:nvSpPr>
          <p:cNvPr id="31" name="starting point"/>
          <p:cNvSpPr/>
          <p:nvPr/>
        </p:nvSpPr>
        <p:spPr>
          <a:xfrm>
            <a:off x="7498080" y="3200400"/>
            <a:ext cx="4114800" cy="2971800"/>
          </a:xfrm>
          <a:prstGeom prst="roundRect">
            <a:avLst>
              <a:gd name="adj" fmla="val 3692"/>
            </a:avLst>
          </a:prstGeom>
          <a:solidFill>
            <a:schemeClr val="accent5"/>
          </a:solidFill>
          <a:ln w="12700">
            <a:solidFill>
              <a:schemeClr val="accent5"/>
            </a:solidFill>
            <a:prstDash val="solid"/>
          </a:ln>
        </p:spPr>
      </p:sp>
      <p:sp>
        <p:nvSpPr>
          <p:cNvPr id="32" name="Text 29"/>
          <p:cNvSpPr txBox="1"/>
          <p:nvPr/>
        </p:nvSpPr>
        <p:spPr>
          <a:xfrm>
            <a:off x="7772400" y="3337560"/>
            <a:ext cx="3566160" cy="2743200"/>
          </a:xfrm>
          <a:prstGeom prst="rect">
            <a:avLst/>
          </a:prstGeom>
          <a:noFill/>
          <a:ln/>
        </p:spPr>
        <p:txBody>
          <a:bodyPr wrap="square" lIns="0" tIns="0" rIns="0" bIns="0" rtlCol="0" anchor="t"/>
          <a:lstStyle/>
          <a:p>
            <a:pPr indent="0" marL="0">
              <a:buNone/>
            </a:pPr>
            <a:r>
              <a:rPr lang="en-US" sz="1500" b="1" dirty="0">
                <a:solidFill>
                  <a:schemeClr val="tx1"/>
                </a:solidFill>
              </a:rPr>
              <a:t>A starting point, not a finished model.</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chemeClr val="tx1"/>
                </a:solidFill>
              </a:rPr>
              <a:t>Pooling discards the differences between heads within a group; continued training lets the model recover. The grouping matches </a:t>
            </a:r>
            <a:r>
              <a:rPr lang="en-US" sz="1500" dirty="0">
                <a:solidFill>
                  <a:schemeClr val="tx1"/>
                </a:solidFill>
                <a:latin typeface="Courier New" pitchFamily="34" charset="0"/>
                <a:ea typeface="Courier New" pitchFamily="34" charset="-122"/>
                <a:cs typeface="Courier New" pitchFamily="34" charset="-120"/>
              </a:rPr>
              <a:t>repeat_interleave</a:t>
            </a:r>
            <a:r>
              <a:rPr lang="en-US" sz="1500" dirty="0">
                <a:solidFill>
                  <a:schemeClr val="tx1"/>
                </a:solidFill>
              </a:rPr>
              <a:t>: heads 1–2 share K/V 1, heads 3–4 share K/V 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Optional: sliding-window attention</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30</a:t>
            </a:r>
            <a:endParaRPr lang="en-US" sz="1400" dirty="0"/>
          </a:p>
        </p:txBody>
      </p:sp>
      <p:pic>
        <p:nvPicPr>
          <p:cNvPr id="6" name="Image 0" descr="Three 12 by 12 masks. Full causal: lower triangle, the last token sees 12 keys. Sliding window W = 4: a diagonal band 4 wide, the last token sees 4 keys. Window plus 2 sink tokens: the same band plus the first two columns always visible, the last token sees 6 keys.">    </p:cNvPr>
          <p:cNvPicPr>
            <a:picLocks noChangeAspect="1"/>
          </p:cNvPicPr>
          <p:nvPr/>
        </p:nvPicPr>
        <p:blipFill>
          <a:blip r:embed="rId1"/>
          <a:stretch>
            <a:fillRect/>
          </a:stretch>
        </p:blipFill>
        <p:spPr>
          <a:xfrm>
            <a:off x="1005840" y="1188720"/>
            <a:ext cx="10149840" cy="3456564"/>
          </a:xfrm>
          <a:prstGeom prst="rect">
            <a:avLst/>
          </a:prstGeom>
        </p:spPr>
      </p:pic>
      <p:sp>
        <p:nvSpPr>
          <p:cNvPr id="7" name="mask 1"/>
          <p:cNvSpPr/>
          <p:nvPr/>
        </p:nvSpPr>
        <p:spPr>
          <a:xfrm>
            <a:off x="548640" y="4782444"/>
            <a:ext cx="3474720" cy="1435476"/>
          </a:xfrm>
          <a:prstGeom prst="roundRect">
            <a:avLst>
              <a:gd name="adj" fmla="val 7644"/>
            </a:avLst>
          </a:prstGeom>
          <a:solidFill>
            <a:schemeClr val="bg2"/>
          </a:solidFill>
          <a:ln w="12700">
            <a:solidFill>
              <a:schemeClr val="bg2"/>
            </a:solidFill>
            <a:prstDash val="solid"/>
          </a:ln>
        </p:spPr>
      </p:sp>
      <p:sp>
        <p:nvSpPr>
          <p:cNvPr id="8" name="Text 4"/>
          <p:cNvSpPr txBox="1"/>
          <p:nvPr/>
        </p:nvSpPr>
        <p:spPr>
          <a:xfrm>
            <a:off x="777240" y="4782444"/>
            <a:ext cx="3017520" cy="1435476"/>
          </a:xfrm>
          <a:prstGeom prst="rect">
            <a:avLst/>
          </a:prstGeom>
          <a:noFill/>
          <a:ln/>
        </p:spPr>
        <p:txBody>
          <a:bodyPr wrap="square" lIns="0" tIns="0" rIns="0" bIns="0" rtlCol="0" anchor="ctr"/>
          <a:lstStyle/>
          <a:p>
            <a:pPr indent="0" marL="0">
              <a:buNone/>
            </a:pPr>
            <a:r>
              <a:rPr lang="en-US" sz="1500" b="1" dirty="0">
                <a:solidFill>
                  <a:schemeClr val="tx1"/>
                </a:solidFill>
              </a:rPr>
              <a:t>Full causal: </a:t>
            </a:r>
            <a:endParaRPr lang="en-US" sz="1500" dirty="0"/>
          </a:p>
          <a:p>
            <a:pPr indent="0" marL="0">
              <a:buNone/>
            </a:pPr>
            <a:r>
              <a:rPr lang="en-US" sz="1500" dirty="0">
                <a:solidFill>
                  <a:schemeClr val="tx1"/>
                </a:solidFill>
              </a:rPr>
              <a:t>the last token reads all 12 keys; the cache grows with every token.</a:t>
            </a:r>
            <a:endParaRPr lang="en-US" sz="1500" dirty="0"/>
          </a:p>
        </p:txBody>
      </p:sp>
      <p:sp>
        <p:nvSpPr>
          <p:cNvPr id="9" name="mask 2"/>
          <p:cNvSpPr/>
          <p:nvPr/>
        </p:nvSpPr>
        <p:spPr>
          <a:xfrm>
            <a:off x="4297680" y="4782444"/>
            <a:ext cx="3474720" cy="1435476"/>
          </a:xfrm>
          <a:prstGeom prst="roundRect">
            <a:avLst>
              <a:gd name="adj" fmla="val 7644"/>
            </a:avLst>
          </a:prstGeom>
          <a:solidFill>
            <a:schemeClr val="bg2"/>
          </a:solidFill>
          <a:ln w="12700">
            <a:solidFill>
              <a:schemeClr val="bg2"/>
            </a:solidFill>
            <a:prstDash val="solid"/>
          </a:ln>
        </p:spPr>
      </p:sp>
      <p:sp>
        <p:nvSpPr>
          <p:cNvPr id="10" name="Text 6"/>
          <p:cNvSpPr txBox="1"/>
          <p:nvPr/>
        </p:nvSpPr>
        <p:spPr>
          <a:xfrm>
            <a:off x="4526280" y="4782444"/>
            <a:ext cx="3017520" cy="1435476"/>
          </a:xfrm>
          <a:prstGeom prst="rect">
            <a:avLst/>
          </a:prstGeom>
          <a:noFill/>
          <a:ln/>
        </p:spPr>
        <p:txBody>
          <a:bodyPr wrap="square" lIns="0" tIns="0" rIns="0" bIns="0" rtlCol="0" anchor="ctr"/>
          <a:lstStyle/>
          <a:p>
            <a:pPr indent="0" marL="0">
              <a:buNone/>
            </a:pPr>
            <a:r>
              <a:rPr lang="en-US" sz="1500" b="1" dirty="0">
                <a:solidFill>
                  <a:schemeClr val="accent1"/>
                </a:solidFill>
              </a:rPr>
              <a:t>Sliding window, W = 4: </a:t>
            </a:r>
            <a:endParaRPr lang="en-US" sz="1500" dirty="0"/>
          </a:p>
          <a:p>
            <a:pPr indent="0" marL="0">
              <a:buNone/>
            </a:pPr>
            <a:r>
              <a:rPr lang="en-US" sz="1500" dirty="0">
                <a:solidFill>
                  <a:schemeClr val="tx1"/>
                </a:solidFill>
              </a:rPr>
              <a:t>at most W keys per row, so at most W cached per layer: a rolling buffer.</a:t>
            </a:r>
            <a:endParaRPr lang="en-US" sz="1500" dirty="0"/>
          </a:p>
        </p:txBody>
      </p:sp>
      <p:sp>
        <p:nvSpPr>
          <p:cNvPr id="11" name="mask 3"/>
          <p:cNvSpPr/>
          <p:nvPr/>
        </p:nvSpPr>
        <p:spPr>
          <a:xfrm>
            <a:off x="8046720" y="4782444"/>
            <a:ext cx="3474720" cy="1435476"/>
          </a:xfrm>
          <a:prstGeom prst="roundRect">
            <a:avLst>
              <a:gd name="adj" fmla="val 7644"/>
            </a:avLst>
          </a:prstGeom>
          <a:solidFill>
            <a:schemeClr val="accent5"/>
          </a:solidFill>
          <a:ln w="12700">
            <a:solidFill>
              <a:schemeClr val="accent5"/>
            </a:solidFill>
            <a:prstDash val="solid"/>
          </a:ln>
        </p:spPr>
      </p:sp>
      <p:sp>
        <p:nvSpPr>
          <p:cNvPr id="12" name="Text 8"/>
          <p:cNvSpPr txBox="1"/>
          <p:nvPr/>
        </p:nvSpPr>
        <p:spPr>
          <a:xfrm>
            <a:off x="8275320" y="4782444"/>
            <a:ext cx="3017520" cy="1435476"/>
          </a:xfrm>
          <a:prstGeom prst="rect">
            <a:avLst/>
          </a:prstGeom>
          <a:noFill/>
          <a:ln/>
        </p:spPr>
        <p:txBody>
          <a:bodyPr wrap="square" lIns="0" tIns="0" rIns="0" bIns="0" rtlCol="0" anchor="ctr"/>
          <a:lstStyle/>
          <a:p>
            <a:pPr indent="0" marL="0">
              <a:buNone/>
            </a:pPr>
            <a:r>
              <a:rPr lang="en-US" sz="1500" b="1" dirty="0">
                <a:solidFill>
                  <a:schemeClr val="accent2"/>
                </a:solidFill>
              </a:rPr>
              <a:t>Window + 2 sinks: </a:t>
            </a:r>
            <a:endParaRPr lang="en-US" sz="1500" dirty="0"/>
          </a:p>
          <a:p>
            <a:pPr indent="0" marL="0">
              <a:buNone/>
            </a:pPr>
            <a:r>
              <a:rPr lang="en-US" sz="1500" dirty="0">
                <a:solidFill>
                  <a:schemeClr val="tx1"/>
                </a:solidFill>
              </a:rPr>
              <a:t>the first two columns stay visible to every row; the cache holds 2 + W keys.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Optional: reach grows with depth</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32</a:t>
            </a:r>
            <a:endParaRPr lang="en-US" sz="1400" dirty="0"/>
          </a:p>
        </p:txBody>
      </p:sp>
      <p:pic>
        <p:nvPicPr>
          <p:cNvPr id="6" name="Image 0" descr="Six rows, after layers 1 to 6, over 24 input positions: the set of input positions that can influence the last token grows leftward by 3 positions per layer, from 4 positions after layer 1 to 19 after layer 6.">    </p:cNvPr>
          <p:cNvPicPr>
            <a:picLocks noChangeAspect="1"/>
          </p:cNvPicPr>
          <p:nvPr/>
        </p:nvPicPr>
        <p:blipFill>
          <a:blip r:embed="rId1"/>
          <a:stretch>
            <a:fillRect/>
          </a:stretch>
        </p:blipFill>
        <p:spPr>
          <a:xfrm>
            <a:off x="548640" y="1188720"/>
            <a:ext cx="8229600" cy="2226566"/>
          </a:xfrm>
          <a:prstGeom prst="rect">
            <a:avLst/>
          </a:prstGeom>
        </p:spPr>
      </p:pic>
      <p:sp>
        <p:nvSpPr>
          <p:cNvPr id="7" name="formula"/>
          <p:cNvSpPr/>
          <p:nvPr/>
        </p:nvSpPr>
        <p:spPr>
          <a:xfrm>
            <a:off x="9052560" y="1234440"/>
            <a:ext cx="2560320" cy="2135126"/>
          </a:xfrm>
          <a:prstGeom prst="roundRect">
            <a:avLst>
              <a:gd name="adj" fmla="val 5139"/>
            </a:avLst>
          </a:prstGeom>
          <a:solidFill>
            <a:schemeClr val="bg2"/>
          </a:solidFill>
          <a:ln w="12700">
            <a:solidFill>
              <a:schemeClr val="bg2"/>
            </a:solidFill>
            <a:prstDash val="solid"/>
          </a:ln>
        </p:spPr>
      </p:sp>
      <p:sp>
        <p:nvSpPr>
          <p:cNvPr id="8" name="Text 4"/>
          <p:cNvSpPr txBox="1"/>
          <p:nvPr/>
        </p:nvSpPr>
        <p:spPr>
          <a:xfrm>
            <a:off x="9235440" y="1234440"/>
            <a:ext cx="2240280" cy="2135126"/>
          </a:xfrm>
          <a:prstGeom prst="rect">
            <a:avLst/>
          </a:prstGeom>
          <a:noFill/>
          <a:ln/>
        </p:spPr>
        <p:txBody>
          <a:bodyPr wrap="square" lIns="0" tIns="0" rIns="0" bIns="0" rtlCol="0" anchor="ctr"/>
          <a:lstStyle/>
          <a:p>
            <a:pPr indent="0" marL="0">
              <a:buNone/>
            </a:pPr>
            <a:r>
              <a:rPr lang="en-US" sz="1800" dirty="0">
                <a:solidFill>
                  <a:schemeClr val="tx2"/>
                </a:solidFill>
              </a:rPr>
              <a:t>Reach after L layers</a:t>
            </a:r>
            <a:endParaRPr lang="en-US" sz="1800" dirty="0"/>
          </a:p>
          <a:p>
            <a:pPr indent="0" marL="0">
              <a:buNone/>
            </a:pPr>
            <a:r>
              <a:rPr lang="en-US" sz="1800" b="1" dirty="0">
                <a:solidFill>
                  <a:schemeClr val="tx1"/>
                </a:solidFill>
                <a:latin typeface="Cambria" pitchFamily="34" charset="0"/>
                <a:ea typeface="Cambria" pitchFamily="34" charset="-122"/>
                <a:cs typeface="Cambria" pitchFamily="34" charset="-120"/>
              </a:rPr>
              <a:t>L · (W − 1) + 1</a:t>
            </a:r>
            <a:endParaRPr lang="en-US" sz="1800" dirty="0"/>
          </a:p>
          <a:p>
            <a:pPr indent="0" marL="0">
              <a:buNone/>
            </a:pPr>
            <a:r>
              <a:rPr lang="en-US" sz="1200" dirty="0">
                <a:solidFill>
                  <a:schemeClr val="tx1"/>
                </a:solidFill>
                <a:latin typeface="Courier New" pitchFamily="34" charset="0"/>
                <a:ea typeface="Courier New" pitchFamily="34" charset="-122"/>
                <a:cs typeface="Courier New" pitchFamily="34" charset="-120"/>
              </a:rPr>
              <a:t>W = 4: 4, 7, 10, … 19</a:t>
            </a:r>
            <a:endParaRPr lang="en-US" sz="1800" dirty="0"/>
          </a:p>
        </p:txBody>
      </p:sp>
      <p:sp>
        <p:nvSpPr>
          <p:cNvPr id="9" name="theoretical reach of Mistral 7B (W = 4,096, 32 layers) with ≤ 4,096 cached entries per layer"/>
          <p:cNvSpPr/>
          <p:nvPr/>
        </p:nvSpPr>
        <p:spPr>
          <a:xfrm>
            <a:off x="548640" y="3643886"/>
            <a:ext cx="3474720" cy="2574034"/>
          </a:xfrm>
          <a:prstGeom prst="roundRect">
            <a:avLst>
              <a:gd name="adj" fmla="val 4263"/>
            </a:avLst>
          </a:prstGeom>
          <a:solidFill>
            <a:schemeClr val="bg2"/>
          </a:solidFill>
          <a:ln w="12700">
            <a:solidFill>
              <a:schemeClr val="bg2"/>
            </a:solidFill>
            <a:prstDash val="solid"/>
          </a:ln>
        </p:spPr>
      </p:sp>
      <p:sp>
        <p:nvSpPr>
          <p:cNvPr id="10" name="Text 6"/>
          <p:cNvSpPr txBox="1"/>
          <p:nvPr/>
        </p:nvSpPr>
        <p:spPr>
          <a:xfrm>
            <a:off x="777240" y="3735326"/>
            <a:ext cx="3017520" cy="59436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 131K tokens</a:t>
            </a:r>
            <a:endParaRPr lang="en-US" sz="2600" dirty="0"/>
          </a:p>
        </p:txBody>
      </p:sp>
      <p:sp>
        <p:nvSpPr>
          <p:cNvPr id="11" name="Text 7"/>
          <p:cNvSpPr txBox="1"/>
          <p:nvPr/>
        </p:nvSpPr>
        <p:spPr>
          <a:xfrm>
            <a:off x="777240" y="4375406"/>
            <a:ext cx="3017520" cy="1751074"/>
          </a:xfrm>
          <a:prstGeom prst="rect">
            <a:avLst/>
          </a:prstGeom>
          <a:noFill/>
          <a:ln/>
        </p:spPr>
        <p:txBody>
          <a:bodyPr wrap="square" lIns="0" tIns="0" rIns="0" bIns="0" rtlCol="0" anchor="t"/>
          <a:lstStyle/>
          <a:p>
            <a:pPr indent="0" marL="0">
              <a:buNone/>
            </a:pPr>
            <a:r>
              <a:rPr lang="en-US" sz="1300" dirty="0">
                <a:solidFill>
                  <a:schemeClr val="tx2"/>
                </a:solidFill>
              </a:rPr>
              <a:t>theoretical reach of Mistral 7B (W = 4,096, 32 layers) with ≤ 4,096 cached entries per layer</a:t>
            </a:r>
            <a:endParaRPr lang="en-US" sz="1300" dirty="0"/>
          </a:p>
        </p:txBody>
      </p:sp>
      <p:sp>
        <p:nvSpPr>
          <p:cNvPr id="12" name="catch"/>
          <p:cNvSpPr/>
          <p:nvPr/>
        </p:nvSpPr>
        <p:spPr>
          <a:xfrm>
            <a:off x="4297680" y="3643886"/>
            <a:ext cx="3474720" cy="2574034"/>
          </a:xfrm>
          <a:prstGeom prst="roundRect">
            <a:avLst>
              <a:gd name="adj" fmla="val 4263"/>
            </a:avLst>
          </a:prstGeom>
          <a:solidFill>
            <a:schemeClr val="accent6"/>
          </a:solidFill>
          <a:ln w="12700">
            <a:solidFill>
              <a:schemeClr val="accent6"/>
            </a:solidFill>
            <a:prstDash val="solid"/>
          </a:ln>
        </p:spPr>
      </p:sp>
      <p:sp>
        <p:nvSpPr>
          <p:cNvPr id="13" name="Text 9"/>
          <p:cNvSpPr txBox="1"/>
          <p:nvPr/>
        </p:nvSpPr>
        <p:spPr>
          <a:xfrm>
            <a:off x="4526280" y="3643886"/>
            <a:ext cx="3017520" cy="2574034"/>
          </a:xfrm>
          <a:prstGeom prst="rect">
            <a:avLst/>
          </a:prstGeom>
          <a:noFill/>
          <a:ln/>
        </p:spPr>
        <p:txBody>
          <a:bodyPr wrap="square" lIns="0" tIns="0" rIns="0" bIns="0" rtlCol="0" anchor="ctr"/>
          <a:lstStyle/>
          <a:p>
            <a:pPr indent="0" marL="0">
              <a:buNone/>
            </a:pPr>
            <a:r>
              <a:rPr lang="en-US" sz="1500" b="1" dirty="0">
                <a:solidFill>
                  <a:schemeClr val="accent3"/>
                </a:solidFill>
              </a:rPr>
              <a:t>The catch: </a:t>
            </a:r>
            <a:endParaRPr lang="en-US" sz="1500" dirty="0"/>
          </a:p>
          <a:p>
            <a:pPr indent="0" marL="0">
              <a:buNone/>
            </a:pPr>
            <a:r>
              <a:rPr lang="en-US" sz="1500" dirty="0">
                <a:solidFill>
                  <a:schemeClr val="tx1"/>
                </a:solidFill>
              </a:rPr>
              <a:t>far-back information is passed along through intermediate positions and can be diluted. It is never read directly.</a:t>
            </a:r>
            <a:endParaRPr lang="en-US" sz="1500" dirty="0"/>
          </a:p>
        </p:txBody>
      </p:sp>
      <p:sp>
        <p:nvSpPr>
          <p:cNvPr id="14" name="mix layers"/>
          <p:cNvSpPr/>
          <p:nvPr/>
        </p:nvSpPr>
        <p:spPr>
          <a:xfrm>
            <a:off x="8046720" y="3643886"/>
            <a:ext cx="3566160" cy="2574034"/>
          </a:xfrm>
          <a:prstGeom prst="roundRect">
            <a:avLst>
              <a:gd name="adj" fmla="val 4263"/>
            </a:avLst>
          </a:prstGeom>
          <a:solidFill>
            <a:schemeClr val="accent5"/>
          </a:solidFill>
          <a:ln w="12700">
            <a:solidFill>
              <a:schemeClr val="accent5"/>
            </a:solidFill>
            <a:prstDash val="solid"/>
          </a:ln>
        </p:spPr>
      </p:sp>
      <p:sp>
        <p:nvSpPr>
          <p:cNvPr id="15" name="Text 11"/>
          <p:cNvSpPr txBox="1"/>
          <p:nvPr/>
        </p:nvSpPr>
        <p:spPr>
          <a:xfrm>
            <a:off x="8275320" y="3643886"/>
            <a:ext cx="3108960" cy="2574034"/>
          </a:xfrm>
          <a:prstGeom prst="rect">
            <a:avLst/>
          </a:prstGeom>
          <a:noFill/>
          <a:ln/>
        </p:spPr>
        <p:txBody>
          <a:bodyPr wrap="square" lIns="0" tIns="0" rIns="0" bIns="0" rtlCol="0" anchor="ctr"/>
          <a:lstStyle/>
          <a:p>
            <a:pPr indent="0" marL="0">
              <a:buNone/>
            </a:pPr>
            <a:r>
              <a:rPr lang="en-US" sz="1500" b="1" dirty="0">
                <a:solidFill>
                  <a:schemeClr val="tx1"/>
                </a:solidFill>
              </a:rPr>
              <a:t>So models mix layer types: </a:t>
            </a:r>
            <a:endParaRPr lang="en-US" sz="1500" dirty="0"/>
          </a:p>
          <a:p>
            <a:pPr indent="0" marL="0">
              <a:buNone/>
            </a:pPr>
            <a:r>
              <a:rPr lang="en-US" sz="1500" dirty="0">
                <a:solidFill>
                  <a:schemeClr val="tx1"/>
                </a:solidFill>
              </a:rPr>
              <a:t>local (sliding-window) layers plus global (full causal) layers that read far tokens directly. Gemma 2: 1 : 1, W = 4,096. Gemma 3: 5 : 1, W = 1,024.</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Optional: a rolling-buffer cache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34–36</a:t>
            </a:r>
            <a:endParaRPr lang="en-US" sz="1400" dirty="0"/>
          </a:p>
        </p:txBody>
      </p:sp>
      <p:sp>
        <p:nvSpPr>
          <p:cNvPr id="6" name="Text 3"/>
          <p:cNvSpPr txBox="1"/>
          <p:nvPr/>
        </p:nvSpPr>
        <p:spPr>
          <a:xfrm>
            <a:off x="548640" y="1280160"/>
            <a:ext cx="5669280" cy="365760"/>
          </a:xfrm>
          <a:prstGeom prst="rect">
            <a:avLst/>
          </a:prstGeom>
          <a:noFill/>
          <a:ln/>
        </p:spPr>
        <p:txBody>
          <a:bodyPr wrap="square" lIns="0" tIns="0" rIns="0" bIns="0" rtlCol="0" anchor="t"/>
          <a:lstStyle/>
          <a:p>
            <a:pPr indent="0" marL="0">
              <a:buNone/>
            </a:pPr>
            <a:r>
              <a:rPr lang="en-US" sz="1600" b="1" dirty="0">
                <a:solidFill>
                  <a:schemeClr val="tx1"/>
                </a:solidFill>
              </a:rPr>
              <a:t>Rolling buffer, W = 4 with 2 sink tokens</a:t>
            </a:r>
            <a:endParaRPr lang="en-US" sz="1600" dirty="0"/>
          </a:p>
        </p:txBody>
      </p:sp>
      <p:sp>
        <p:nvSpPr>
          <p:cNvPr id="7" name="Text 4"/>
          <p:cNvSpPr txBox="1"/>
          <p:nvPr/>
        </p:nvSpPr>
        <p:spPr>
          <a:xfrm>
            <a:off x="548640" y="1783080"/>
            <a:ext cx="822960" cy="457200"/>
          </a:xfrm>
          <a:prstGeom prst="rect">
            <a:avLst/>
          </a:prstGeom>
          <a:noFill/>
          <a:ln/>
        </p:spPr>
        <p:txBody>
          <a:bodyPr wrap="square" lIns="0" tIns="0" rIns="0" bIns="0" rtlCol="0" anchor="ctr"/>
          <a:lstStyle/>
          <a:p>
            <a:pPr indent="0" marL="0">
              <a:buNone/>
            </a:pPr>
            <a:r>
              <a:rPr lang="en-US" sz="1200" dirty="0">
                <a:solidFill>
                  <a:schemeClr val="tx2"/>
                </a:solidFill>
              </a:rPr>
              <a:t>new t7</a:t>
            </a:r>
            <a:endParaRPr lang="en-US" sz="1200" dirty="0"/>
          </a:p>
        </p:txBody>
      </p:sp>
      <p:sp>
        <p:nvSpPr>
          <p:cNvPr id="8" name="Shape 5"/>
          <p:cNvSpPr/>
          <p:nvPr/>
        </p:nvSpPr>
        <p:spPr>
          <a:xfrm>
            <a:off x="1371600" y="1783080"/>
            <a:ext cx="548640" cy="457200"/>
          </a:xfrm>
          <a:prstGeom prst="roundRect">
            <a:avLst>
              <a:gd name="adj" fmla="val 16000"/>
            </a:avLst>
          </a:prstGeom>
          <a:solidFill>
            <a:schemeClr val="accent2"/>
          </a:solidFill>
          <a:ln w="12700">
            <a:solidFill>
              <a:schemeClr val="accent2"/>
            </a:solidFill>
            <a:prstDash val="solid"/>
          </a:ln>
        </p:spPr>
      </p:sp>
      <p:sp>
        <p:nvSpPr>
          <p:cNvPr id="9" name="Text 6"/>
          <p:cNvSpPr txBox="1"/>
          <p:nvPr/>
        </p:nvSpPr>
        <p:spPr>
          <a:xfrm>
            <a:off x="1371600" y="1783080"/>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t0</a:t>
            </a:r>
            <a:endParaRPr lang="en-US" sz="1200" dirty="0"/>
          </a:p>
        </p:txBody>
      </p:sp>
      <p:sp>
        <p:nvSpPr>
          <p:cNvPr id="10" name="Shape 7"/>
          <p:cNvSpPr/>
          <p:nvPr/>
        </p:nvSpPr>
        <p:spPr>
          <a:xfrm>
            <a:off x="1975104" y="1783080"/>
            <a:ext cx="548640" cy="457200"/>
          </a:xfrm>
          <a:prstGeom prst="roundRect">
            <a:avLst>
              <a:gd name="adj" fmla="val 16000"/>
            </a:avLst>
          </a:prstGeom>
          <a:solidFill>
            <a:schemeClr val="accent2"/>
          </a:solidFill>
          <a:ln w="12700">
            <a:solidFill>
              <a:schemeClr val="accent2"/>
            </a:solidFill>
            <a:prstDash val="solid"/>
          </a:ln>
        </p:spPr>
      </p:sp>
      <p:sp>
        <p:nvSpPr>
          <p:cNvPr id="11" name="Text 8"/>
          <p:cNvSpPr txBox="1"/>
          <p:nvPr/>
        </p:nvSpPr>
        <p:spPr>
          <a:xfrm>
            <a:off x="1975104" y="1783080"/>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t1</a:t>
            </a:r>
            <a:endParaRPr lang="en-US" sz="1200" dirty="0"/>
          </a:p>
        </p:txBody>
      </p:sp>
      <p:sp>
        <p:nvSpPr>
          <p:cNvPr id="12" name="Shape 9"/>
          <p:cNvSpPr/>
          <p:nvPr/>
        </p:nvSpPr>
        <p:spPr>
          <a:xfrm>
            <a:off x="2578608" y="1783080"/>
            <a:ext cx="548640" cy="457200"/>
          </a:xfrm>
          <a:prstGeom prst="roundRect">
            <a:avLst>
              <a:gd name="adj" fmla="val 16000"/>
            </a:avLst>
          </a:prstGeom>
          <a:solidFill>
            <a:schemeClr val="accent6"/>
          </a:solidFill>
          <a:ln w="12700">
            <a:solidFill>
              <a:schemeClr val="accent6"/>
            </a:solidFill>
            <a:prstDash val="solid"/>
          </a:ln>
        </p:spPr>
      </p:sp>
      <p:sp>
        <p:nvSpPr>
          <p:cNvPr id="13" name="Text 10"/>
          <p:cNvSpPr txBox="1"/>
          <p:nvPr/>
        </p:nvSpPr>
        <p:spPr>
          <a:xfrm>
            <a:off x="2578608" y="1783080"/>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t2</a:t>
            </a:r>
            <a:endParaRPr lang="en-US" sz="1200" dirty="0"/>
          </a:p>
        </p:txBody>
      </p:sp>
      <p:sp>
        <p:nvSpPr>
          <p:cNvPr id="14" name="Shape 11"/>
          <p:cNvSpPr/>
          <p:nvPr/>
        </p:nvSpPr>
        <p:spPr>
          <a:xfrm>
            <a:off x="3182112" y="1783080"/>
            <a:ext cx="548640" cy="457200"/>
          </a:xfrm>
          <a:prstGeom prst="roundRect">
            <a:avLst>
              <a:gd name="adj" fmla="val 16000"/>
            </a:avLst>
          </a:prstGeom>
          <a:solidFill>
            <a:schemeClr val="accent6"/>
          </a:solidFill>
          <a:ln w="12700">
            <a:solidFill>
              <a:schemeClr val="accent6"/>
            </a:solidFill>
            <a:prstDash val="solid"/>
          </a:ln>
        </p:spPr>
      </p:sp>
      <p:sp>
        <p:nvSpPr>
          <p:cNvPr id="15" name="Text 12"/>
          <p:cNvSpPr txBox="1"/>
          <p:nvPr/>
        </p:nvSpPr>
        <p:spPr>
          <a:xfrm>
            <a:off x="3182112" y="1783080"/>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t3</a:t>
            </a:r>
            <a:endParaRPr lang="en-US" sz="1200" dirty="0"/>
          </a:p>
        </p:txBody>
      </p:sp>
      <p:sp>
        <p:nvSpPr>
          <p:cNvPr id="16" name="Shape 13"/>
          <p:cNvSpPr/>
          <p:nvPr/>
        </p:nvSpPr>
        <p:spPr>
          <a:xfrm>
            <a:off x="3785616" y="1783080"/>
            <a:ext cx="548640" cy="457200"/>
          </a:xfrm>
          <a:prstGeom prst="roundRect">
            <a:avLst>
              <a:gd name="adj" fmla="val 16000"/>
            </a:avLst>
          </a:prstGeom>
          <a:solidFill>
            <a:schemeClr val="bg2"/>
          </a:solidFill>
          <a:ln w="12700">
            <a:solidFill>
              <a:schemeClr val="bg2"/>
            </a:solidFill>
            <a:prstDash val="solid"/>
          </a:ln>
        </p:spPr>
      </p:sp>
      <p:sp>
        <p:nvSpPr>
          <p:cNvPr id="17" name="Text 14"/>
          <p:cNvSpPr txBox="1"/>
          <p:nvPr/>
        </p:nvSpPr>
        <p:spPr>
          <a:xfrm>
            <a:off x="3785616" y="1783080"/>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t4</a:t>
            </a:r>
            <a:endParaRPr lang="en-US" sz="1200" dirty="0"/>
          </a:p>
        </p:txBody>
      </p:sp>
      <p:sp>
        <p:nvSpPr>
          <p:cNvPr id="18" name="Shape 15"/>
          <p:cNvSpPr/>
          <p:nvPr/>
        </p:nvSpPr>
        <p:spPr>
          <a:xfrm>
            <a:off x="4389120" y="1783080"/>
            <a:ext cx="548640" cy="457200"/>
          </a:xfrm>
          <a:prstGeom prst="roundRect">
            <a:avLst>
              <a:gd name="adj" fmla="val 16000"/>
            </a:avLst>
          </a:prstGeom>
          <a:solidFill>
            <a:schemeClr val="bg2"/>
          </a:solidFill>
          <a:ln w="12700">
            <a:solidFill>
              <a:schemeClr val="bg2"/>
            </a:solidFill>
            <a:prstDash val="solid"/>
          </a:ln>
        </p:spPr>
      </p:sp>
      <p:sp>
        <p:nvSpPr>
          <p:cNvPr id="19" name="Text 16"/>
          <p:cNvSpPr txBox="1"/>
          <p:nvPr/>
        </p:nvSpPr>
        <p:spPr>
          <a:xfrm>
            <a:off x="4389120" y="1783080"/>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t5</a:t>
            </a:r>
            <a:endParaRPr lang="en-US" sz="1200" dirty="0"/>
          </a:p>
        </p:txBody>
      </p:sp>
      <p:sp>
        <p:nvSpPr>
          <p:cNvPr id="20" name="Shape 17"/>
          <p:cNvSpPr/>
          <p:nvPr/>
        </p:nvSpPr>
        <p:spPr>
          <a:xfrm>
            <a:off x="4992624" y="1783080"/>
            <a:ext cx="548640" cy="457200"/>
          </a:xfrm>
          <a:prstGeom prst="roundRect">
            <a:avLst>
              <a:gd name="adj" fmla="val 16000"/>
            </a:avLst>
          </a:prstGeom>
          <a:solidFill>
            <a:schemeClr val="bg2"/>
          </a:solidFill>
          <a:ln w="12700">
            <a:solidFill>
              <a:schemeClr val="bg2"/>
            </a:solidFill>
            <a:prstDash val="solid"/>
          </a:ln>
        </p:spPr>
      </p:sp>
      <p:sp>
        <p:nvSpPr>
          <p:cNvPr id="21" name="Text 18"/>
          <p:cNvSpPr txBox="1"/>
          <p:nvPr/>
        </p:nvSpPr>
        <p:spPr>
          <a:xfrm>
            <a:off x="4992624" y="1783080"/>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t6</a:t>
            </a:r>
            <a:endParaRPr lang="en-US" sz="1200" dirty="0"/>
          </a:p>
        </p:txBody>
      </p:sp>
      <p:sp>
        <p:nvSpPr>
          <p:cNvPr id="22" name="Shape 19"/>
          <p:cNvSpPr/>
          <p:nvPr/>
        </p:nvSpPr>
        <p:spPr>
          <a:xfrm>
            <a:off x="5596128" y="1783080"/>
            <a:ext cx="548640" cy="457200"/>
          </a:xfrm>
          <a:prstGeom prst="roundRect">
            <a:avLst>
              <a:gd name="adj" fmla="val 16000"/>
            </a:avLst>
          </a:prstGeom>
          <a:solidFill>
            <a:schemeClr val="accent1"/>
          </a:solidFill>
          <a:ln w="12700">
            <a:solidFill>
              <a:schemeClr val="accent1"/>
            </a:solidFill>
            <a:prstDash val="solid"/>
          </a:ln>
        </p:spPr>
      </p:sp>
      <p:sp>
        <p:nvSpPr>
          <p:cNvPr id="23" name="Text 20"/>
          <p:cNvSpPr txBox="1"/>
          <p:nvPr/>
        </p:nvSpPr>
        <p:spPr>
          <a:xfrm>
            <a:off x="5596128" y="1783080"/>
            <a:ext cx="54864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t7</a:t>
            </a:r>
            <a:endParaRPr lang="en-US" sz="1200" dirty="0"/>
          </a:p>
        </p:txBody>
      </p:sp>
      <p:sp>
        <p:nvSpPr>
          <p:cNvPr id="24" name="Text 21"/>
          <p:cNvSpPr txBox="1"/>
          <p:nvPr/>
        </p:nvSpPr>
        <p:spPr>
          <a:xfrm>
            <a:off x="548640" y="2441448"/>
            <a:ext cx="822960" cy="457200"/>
          </a:xfrm>
          <a:prstGeom prst="rect">
            <a:avLst/>
          </a:prstGeom>
          <a:noFill/>
          <a:ln/>
        </p:spPr>
        <p:txBody>
          <a:bodyPr wrap="square" lIns="0" tIns="0" rIns="0" bIns="0" rtlCol="0" anchor="ctr"/>
          <a:lstStyle/>
          <a:p>
            <a:pPr indent="0" marL="0">
              <a:buNone/>
            </a:pPr>
            <a:r>
              <a:rPr lang="en-US" sz="1200" dirty="0">
                <a:solidFill>
                  <a:schemeClr val="tx2"/>
                </a:solidFill>
              </a:rPr>
              <a:t>new t8</a:t>
            </a:r>
            <a:endParaRPr lang="en-US" sz="1200" dirty="0"/>
          </a:p>
        </p:txBody>
      </p:sp>
      <p:sp>
        <p:nvSpPr>
          <p:cNvPr id="25" name="Shape 22"/>
          <p:cNvSpPr/>
          <p:nvPr/>
        </p:nvSpPr>
        <p:spPr>
          <a:xfrm>
            <a:off x="1371600" y="2441448"/>
            <a:ext cx="548640" cy="457200"/>
          </a:xfrm>
          <a:prstGeom prst="roundRect">
            <a:avLst>
              <a:gd name="adj" fmla="val 16000"/>
            </a:avLst>
          </a:prstGeom>
          <a:solidFill>
            <a:schemeClr val="accent2"/>
          </a:solidFill>
          <a:ln w="12700">
            <a:solidFill>
              <a:schemeClr val="accent2"/>
            </a:solidFill>
            <a:prstDash val="solid"/>
          </a:ln>
        </p:spPr>
      </p:sp>
      <p:sp>
        <p:nvSpPr>
          <p:cNvPr id="26" name="Text 23"/>
          <p:cNvSpPr txBox="1"/>
          <p:nvPr/>
        </p:nvSpPr>
        <p:spPr>
          <a:xfrm>
            <a:off x="1371600" y="2441448"/>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t0</a:t>
            </a:r>
            <a:endParaRPr lang="en-US" sz="1200" dirty="0"/>
          </a:p>
        </p:txBody>
      </p:sp>
      <p:sp>
        <p:nvSpPr>
          <p:cNvPr id="27" name="Shape 24"/>
          <p:cNvSpPr/>
          <p:nvPr/>
        </p:nvSpPr>
        <p:spPr>
          <a:xfrm>
            <a:off x="1975104" y="2441448"/>
            <a:ext cx="548640" cy="457200"/>
          </a:xfrm>
          <a:prstGeom prst="roundRect">
            <a:avLst>
              <a:gd name="adj" fmla="val 16000"/>
            </a:avLst>
          </a:prstGeom>
          <a:solidFill>
            <a:schemeClr val="accent2"/>
          </a:solidFill>
          <a:ln w="12700">
            <a:solidFill>
              <a:schemeClr val="accent2"/>
            </a:solidFill>
            <a:prstDash val="solid"/>
          </a:ln>
        </p:spPr>
      </p:sp>
      <p:sp>
        <p:nvSpPr>
          <p:cNvPr id="28" name="Text 25"/>
          <p:cNvSpPr txBox="1"/>
          <p:nvPr/>
        </p:nvSpPr>
        <p:spPr>
          <a:xfrm>
            <a:off x="1975104" y="2441448"/>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t1</a:t>
            </a:r>
            <a:endParaRPr lang="en-US" sz="1200" dirty="0"/>
          </a:p>
        </p:txBody>
      </p:sp>
      <p:sp>
        <p:nvSpPr>
          <p:cNvPr id="29" name="Shape 26"/>
          <p:cNvSpPr/>
          <p:nvPr/>
        </p:nvSpPr>
        <p:spPr>
          <a:xfrm>
            <a:off x="2578608" y="2441448"/>
            <a:ext cx="548640" cy="457200"/>
          </a:xfrm>
          <a:prstGeom prst="roundRect">
            <a:avLst>
              <a:gd name="adj" fmla="val 16000"/>
            </a:avLst>
          </a:prstGeom>
          <a:solidFill>
            <a:schemeClr val="accent6"/>
          </a:solidFill>
          <a:ln w="12700">
            <a:solidFill>
              <a:schemeClr val="accent6"/>
            </a:solidFill>
            <a:prstDash val="solid"/>
          </a:ln>
        </p:spPr>
      </p:sp>
      <p:sp>
        <p:nvSpPr>
          <p:cNvPr id="30" name="Text 27"/>
          <p:cNvSpPr txBox="1"/>
          <p:nvPr/>
        </p:nvSpPr>
        <p:spPr>
          <a:xfrm>
            <a:off x="2578608" y="2441448"/>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t3</a:t>
            </a:r>
            <a:endParaRPr lang="en-US" sz="1200" dirty="0"/>
          </a:p>
        </p:txBody>
      </p:sp>
      <p:sp>
        <p:nvSpPr>
          <p:cNvPr id="31" name="Shape 28"/>
          <p:cNvSpPr/>
          <p:nvPr/>
        </p:nvSpPr>
        <p:spPr>
          <a:xfrm>
            <a:off x="3182112" y="2441448"/>
            <a:ext cx="548640" cy="457200"/>
          </a:xfrm>
          <a:prstGeom prst="roundRect">
            <a:avLst>
              <a:gd name="adj" fmla="val 16000"/>
            </a:avLst>
          </a:prstGeom>
          <a:solidFill>
            <a:schemeClr val="accent6"/>
          </a:solidFill>
          <a:ln w="12700">
            <a:solidFill>
              <a:schemeClr val="accent6"/>
            </a:solidFill>
            <a:prstDash val="solid"/>
          </a:ln>
        </p:spPr>
      </p:sp>
      <p:sp>
        <p:nvSpPr>
          <p:cNvPr id="32" name="Text 29"/>
          <p:cNvSpPr txBox="1"/>
          <p:nvPr/>
        </p:nvSpPr>
        <p:spPr>
          <a:xfrm>
            <a:off x="3182112" y="2441448"/>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t4</a:t>
            </a:r>
            <a:endParaRPr lang="en-US" sz="1200" dirty="0"/>
          </a:p>
        </p:txBody>
      </p:sp>
      <p:sp>
        <p:nvSpPr>
          <p:cNvPr id="33" name="Shape 30"/>
          <p:cNvSpPr/>
          <p:nvPr/>
        </p:nvSpPr>
        <p:spPr>
          <a:xfrm>
            <a:off x="3785616" y="2441448"/>
            <a:ext cx="548640" cy="457200"/>
          </a:xfrm>
          <a:prstGeom prst="roundRect">
            <a:avLst>
              <a:gd name="adj" fmla="val 16000"/>
            </a:avLst>
          </a:prstGeom>
          <a:solidFill>
            <a:schemeClr val="bg2"/>
          </a:solidFill>
          <a:ln w="12700">
            <a:solidFill>
              <a:schemeClr val="bg2"/>
            </a:solidFill>
            <a:prstDash val="solid"/>
          </a:ln>
        </p:spPr>
      </p:sp>
      <p:sp>
        <p:nvSpPr>
          <p:cNvPr id="34" name="Text 31"/>
          <p:cNvSpPr txBox="1"/>
          <p:nvPr/>
        </p:nvSpPr>
        <p:spPr>
          <a:xfrm>
            <a:off x="3785616" y="2441448"/>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t5</a:t>
            </a:r>
            <a:endParaRPr lang="en-US" sz="1200" dirty="0"/>
          </a:p>
        </p:txBody>
      </p:sp>
      <p:sp>
        <p:nvSpPr>
          <p:cNvPr id="35" name="Shape 32"/>
          <p:cNvSpPr/>
          <p:nvPr/>
        </p:nvSpPr>
        <p:spPr>
          <a:xfrm>
            <a:off x="4389120" y="2441448"/>
            <a:ext cx="548640" cy="457200"/>
          </a:xfrm>
          <a:prstGeom prst="roundRect">
            <a:avLst>
              <a:gd name="adj" fmla="val 16000"/>
            </a:avLst>
          </a:prstGeom>
          <a:solidFill>
            <a:schemeClr val="bg2"/>
          </a:solidFill>
          <a:ln w="12700">
            <a:solidFill>
              <a:schemeClr val="bg2"/>
            </a:solidFill>
            <a:prstDash val="solid"/>
          </a:ln>
        </p:spPr>
      </p:sp>
      <p:sp>
        <p:nvSpPr>
          <p:cNvPr id="36" name="Text 33"/>
          <p:cNvSpPr txBox="1"/>
          <p:nvPr/>
        </p:nvSpPr>
        <p:spPr>
          <a:xfrm>
            <a:off x="4389120" y="2441448"/>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t6</a:t>
            </a:r>
            <a:endParaRPr lang="en-US" sz="1200" dirty="0"/>
          </a:p>
        </p:txBody>
      </p:sp>
      <p:sp>
        <p:nvSpPr>
          <p:cNvPr id="37" name="Shape 34"/>
          <p:cNvSpPr/>
          <p:nvPr/>
        </p:nvSpPr>
        <p:spPr>
          <a:xfrm>
            <a:off x="4992624" y="2441448"/>
            <a:ext cx="548640" cy="457200"/>
          </a:xfrm>
          <a:prstGeom prst="roundRect">
            <a:avLst>
              <a:gd name="adj" fmla="val 16000"/>
            </a:avLst>
          </a:prstGeom>
          <a:solidFill>
            <a:schemeClr val="bg2"/>
          </a:solidFill>
          <a:ln w="12700">
            <a:solidFill>
              <a:schemeClr val="bg2"/>
            </a:solidFill>
            <a:prstDash val="solid"/>
          </a:ln>
        </p:spPr>
      </p:sp>
      <p:sp>
        <p:nvSpPr>
          <p:cNvPr id="38" name="Text 35"/>
          <p:cNvSpPr txBox="1"/>
          <p:nvPr/>
        </p:nvSpPr>
        <p:spPr>
          <a:xfrm>
            <a:off x="4992624" y="2441448"/>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t7</a:t>
            </a:r>
            <a:endParaRPr lang="en-US" sz="1200" dirty="0"/>
          </a:p>
        </p:txBody>
      </p:sp>
      <p:sp>
        <p:nvSpPr>
          <p:cNvPr id="39" name="Shape 36"/>
          <p:cNvSpPr/>
          <p:nvPr/>
        </p:nvSpPr>
        <p:spPr>
          <a:xfrm>
            <a:off x="5596128" y="2441448"/>
            <a:ext cx="548640" cy="457200"/>
          </a:xfrm>
          <a:prstGeom prst="roundRect">
            <a:avLst>
              <a:gd name="adj" fmla="val 16000"/>
            </a:avLst>
          </a:prstGeom>
          <a:solidFill>
            <a:schemeClr val="accent1"/>
          </a:solidFill>
          <a:ln w="12700">
            <a:solidFill>
              <a:schemeClr val="accent1"/>
            </a:solidFill>
            <a:prstDash val="solid"/>
          </a:ln>
        </p:spPr>
      </p:sp>
      <p:sp>
        <p:nvSpPr>
          <p:cNvPr id="40" name="Text 37"/>
          <p:cNvSpPr txBox="1"/>
          <p:nvPr/>
        </p:nvSpPr>
        <p:spPr>
          <a:xfrm>
            <a:off x="5596128" y="2441448"/>
            <a:ext cx="54864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t8</a:t>
            </a:r>
            <a:endParaRPr lang="en-US" sz="1200" dirty="0"/>
          </a:p>
        </p:txBody>
      </p:sp>
      <p:sp>
        <p:nvSpPr>
          <p:cNvPr id="41" name="Text 38"/>
          <p:cNvSpPr txBox="1"/>
          <p:nvPr/>
        </p:nvSpPr>
        <p:spPr>
          <a:xfrm>
            <a:off x="548640" y="3099816"/>
            <a:ext cx="822960" cy="457200"/>
          </a:xfrm>
          <a:prstGeom prst="rect">
            <a:avLst/>
          </a:prstGeom>
          <a:noFill/>
          <a:ln/>
        </p:spPr>
        <p:txBody>
          <a:bodyPr wrap="square" lIns="0" tIns="0" rIns="0" bIns="0" rtlCol="0" anchor="ctr"/>
          <a:lstStyle/>
          <a:p>
            <a:pPr indent="0" marL="0">
              <a:buNone/>
            </a:pPr>
            <a:r>
              <a:rPr lang="en-US" sz="1200" dirty="0">
                <a:solidFill>
                  <a:schemeClr val="tx2"/>
                </a:solidFill>
              </a:rPr>
              <a:t>new t9</a:t>
            </a:r>
            <a:endParaRPr lang="en-US" sz="1200" dirty="0"/>
          </a:p>
        </p:txBody>
      </p:sp>
      <p:sp>
        <p:nvSpPr>
          <p:cNvPr id="42" name="Shape 39"/>
          <p:cNvSpPr/>
          <p:nvPr/>
        </p:nvSpPr>
        <p:spPr>
          <a:xfrm>
            <a:off x="1371600" y="3099816"/>
            <a:ext cx="548640" cy="457200"/>
          </a:xfrm>
          <a:prstGeom prst="roundRect">
            <a:avLst>
              <a:gd name="adj" fmla="val 16000"/>
            </a:avLst>
          </a:prstGeom>
          <a:solidFill>
            <a:schemeClr val="accent2"/>
          </a:solidFill>
          <a:ln w="12700">
            <a:solidFill>
              <a:schemeClr val="accent2"/>
            </a:solidFill>
            <a:prstDash val="solid"/>
          </a:ln>
        </p:spPr>
      </p:sp>
      <p:sp>
        <p:nvSpPr>
          <p:cNvPr id="43" name="Text 40"/>
          <p:cNvSpPr txBox="1"/>
          <p:nvPr/>
        </p:nvSpPr>
        <p:spPr>
          <a:xfrm>
            <a:off x="1371600" y="3099816"/>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t0</a:t>
            </a:r>
            <a:endParaRPr lang="en-US" sz="1200" dirty="0"/>
          </a:p>
        </p:txBody>
      </p:sp>
      <p:sp>
        <p:nvSpPr>
          <p:cNvPr id="44" name="Shape 41"/>
          <p:cNvSpPr/>
          <p:nvPr/>
        </p:nvSpPr>
        <p:spPr>
          <a:xfrm>
            <a:off x="1975104" y="3099816"/>
            <a:ext cx="548640" cy="457200"/>
          </a:xfrm>
          <a:prstGeom prst="roundRect">
            <a:avLst>
              <a:gd name="adj" fmla="val 16000"/>
            </a:avLst>
          </a:prstGeom>
          <a:solidFill>
            <a:schemeClr val="accent2"/>
          </a:solidFill>
          <a:ln w="12700">
            <a:solidFill>
              <a:schemeClr val="accent2"/>
            </a:solidFill>
            <a:prstDash val="solid"/>
          </a:ln>
        </p:spPr>
      </p:sp>
      <p:sp>
        <p:nvSpPr>
          <p:cNvPr id="45" name="Text 42"/>
          <p:cNvSpPr txBox="1"/>
          <p:nvPr/>
        </p:nvSpPr>
        <p:spPr>
          <a:xfrm>
            <a:off x="1975104" y="3099816"/>
            <a:ext cx="54864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t1</a:t>
            </a:r>
            <a:endParaRPr lang="en-US" sz="1200" dirty="0"/>
          </a:p>
        </p:txBody>
      </p:sp>
      <p:sp>
        <p:nvSpPr>
          <p:cNvPr id="46" name="Shape 43"/>
          <p:cNvSpPr/>
          <p:nvPr/>
        </p:nvSpPr>
        <p:spPr>
          <a:xfrm>
            <a:off x="2578608" y="3099816"/>
            <a:ext cx="548640" cy="457200"/>
          </a:xfrm>
          <a:prstGeom prst="roundRect">
            <a:avLst>
              <a:gd name="adj" fmla="val 16000"/>
            </a:avLst>
          </a:prstGeom>
          <a:solidFill>
            <a:schemeClr val="accent6"/>
          </a:solidFill>
          <a:ln w="12700">
            <a:solidFill>
              <a:schemeClr val="accent6"/>
            </a:solidFill>
            <a:prstDash val="solid"/>
          </a:ln>
        </p:spPr>
      </p:sp>
      <p:sp>
        <p:nvSpPr>
          <p:cNvPr id="47" name="Text 44"/>
          <p:cNvSpPr txBox="1"/>
          <p:nvPr/>
        </p:nvSpPr>
        <p:spPr>
          <a:xfrm>
            <a:off x="2578608" y="3099816"/>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t4</a:t>
            </a:r>
            <a:endParaRPr lang="en-US" sz="1200" dirty="0"/>
          </a:p>
        </p:txBody>
      </p:sp>
      <p:sp>
        <p:nvSpPr>
          <p:cNvPr id="48" name="Shape 45"/>
          <p:cNvSpPr/>
          <p:nvPr/>
        </p:nvSpPr>
        <p:spPr>
          <a:xfrm>
            <a:off x="3182112" y="3099816"/>
            <a:ext cx="548640" cy="457200"/>
          </a:xfrm>
          <a:prstGeom prst="roundRect">
            <a:avLst>
              <a:gd name="adj" fmla="val 16000"/>
            </a:avLst>
          </a:prstGeom>
          <a:solidFill>
            <a:schemeClr val="accent6"/>
          </a:solidFill>
          <a:ln w="12700">
            <a:solidFill>
              <a:schemeClr val="accent6"/>
            </a:solidFill>
            <a:prstDash val="solid"/>
          </a:ln>
        </p:spPr>
      </p:sp>
      <p:sp>
        <p:nvSpPr>
          <p:cNvPr id="49" name="Text 46"/>
          <p:cNvSpPr txBox="1"/>
          <p:nvPr/>
        </p:nvSpPr>
        <p:spPr>
          <a:xfrm>
            <a:off x="3182112" y="3099816"/>
            <a:ext cx="548640" cy="457200"/>
          </a:xfrm>
          <a:prstGeom prst="rect">
            <a:avLst/>
          </a:prstGeom>
          <a:noFill/>
          <a:ln/>
        </p:spPr>
        <p:txBody>
          <a:bodyPr wrap="square" lIns="0" tIns="0" rIns="0" bIns="0" rtlCol="0" anchor="ctr"/>
          <a:lstStyle/>
          <a:p>
            <a:pPr algn="ctr" indent="0" marL="0">
              <a:buNone/>
            </a:pPr>
            <a:r>
              <a:rPr lang="en-US" sz="1200" strike="sngStrike" dirty="0">
                <a:solidFill>
                  <a:schemeClr val="accent3"/>
                </a:solidFill>
                <a:latin typeface="Courier New" pitchFamily="34" charset="0"/>
                <a:ea typeface="Courier New" pitchFamily="34" charset="-122"/>
                <a:cs typeface="Courier New" pitchFamily="34" charset="-120"/>
              </a:rPr>
              <a:t>t5</a:t>
            </a:r>
            <a:endParaRPr lang="en-US" sz="1200" dirty="0"/>
          </a:p>
        </p:txBody>
      </p:sp>
      <p:sp>
        <p:nvSpPr>
          <p:cNvPr id="50" name="Shape 47"/>
          <p:cNvSpPr/>
          <p:nvPr/>
        </p:nvSpPr>
        <p:spPr>
          <a:xfrm>
            <a:off x="3785616" y="3099816"/>
            <a:ext cx="548640" cy="457200"/>
          </a:xfrm>
          <a:prstGeom prst="roundRect">
            <a:avLst>
              <a:gd name="adj" fmla="val 16000"/>
            </a:avLst>
          </a:prstGeom>
          <a:solidFill>
            <a:schemeClr val="bg2"/>
          </a:solidFill>
          <a:ln w="12700">
            <a:solidFill>
              <a:schemeClr val="bg2"/>
            </a:solidFill>
            <a:prstDash val="solid"/>
          </a:ln>
        </p:spPr>
      </p:sp>
      <p:sp>
        <p:nvSpPr>
          <p:cNvPr id="51" name="Text 48"/>
          <p:cNvSpPr txBox="1"/>
          <p:nvPr/>
        </p:nvSpPr>
        <p:spPr>
          <a:xfrm>
            <a:off x="3785616" y="3099816"/>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t6</a:t>
            </a:r>
            <a:endParaRPr lang="en-US" sz="1200" dirty="0"/>
          </a:p>
        </p:txBody>
      </p:sp>
      <p:sp>
        <p:nvSpPr>
          <p:cNvPr id="52" name="Shape 49"/>
          <p:cNvSpPr/>
          <p:nvPr/>
        </p:nvSpPr>
        <p:spPr>
          <a:xfrm>
            <a:off x="4389120" y="3099816"/>
            <a:ext cx="548640" cy="457200"/>
          </a:xfrm>
          <a:prstGeom prst="roundRect">
            <a:avLst>
              <a:gd name="adj" fmla="val 16000"/>
            </a:avLst>
          </a:prstGeom>
          <a:solidFill>
            <a:schemeClr val="bg2"/>
          </a:solidFill>
          <a:ln w="12700">
            <a:solidFill>
              <a:schemeClr val="bg2"/>
            </a:solidFill>
            <a:prstDash val="solid"/>
          </a:ln>
        </p:spPr>
      </p:sp>
      <p:sp>
        <p:nvSpPr>
          <p:cNvPr id="53" name="Text 50"/>
          <p:cNvSpPr txBox="1"/>
          <p:nvPr/>
        </p:nvSpPr>
        <p:spPr>
          <a:xfrm>
            <a:off x="4389120" y="3099816"/>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t7</a:t>
            </a:r>
            <a:endParaRPr lang="en-US" sz="1200" dirty="0"/>
          </a:p>
        </p:txBody>
      </p:sp>
      <p:sp>
        <p:nvSpPr>
          <p:cNvPr id="54" name="Shape 51"/>
          <p:cNvSpPr/>
          <p:nvPr/>
        </p:nvSpPr>
        <p:spPr>
          <a:xfrm>
            <a:off x="4992624" y="3099816"/>
            <a:ext cx="548640" cy="457200"/>
          </a:xfrm>
          <a:prstGeom prst="roundRect">
            <a:avLst>
              <a:gd name="adj" fmla="val 16000"/>
            </a:avLst>
          </a:prstGeom>
          <a:solidFill>
            <a:schemeClr val="bg2"/>
          </a:solidFill>
          <a:ln w="12700">
            <a:solidFill>
              <a:schemeClr val="bg2"/>
            </a:solidFill>
            <a:prstDash val="solid"/>
          </a:ln>
        </p:spPr>
      </p:sp>
      <p:sp>
        <p:nvSpPr>
          <p:cNvPr id="55" name="Text 52"/>
          <p:cNvSpPr txBox="1"/>
          <p:nvPr/>
        </p:nvSpPr>
        <p:spPr>
          <a:xfrm>
            <a:off x="4992624" y="3099816"/>
            <a:ext cx="548640"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t8</a:t>
            </a:r>
            <a:endParaRPr lang="en-US" sz="1200" dirty="0"/>
          </a:p>
        </p:txBody>
      </p:sp>
      <p:sp>
        <p:nvSpPr>
          <p:cNvPr id="56" name="Shape 53"/>
          <p:cNvSpPr/>
          <p:nvPr/>
        </p:nvSpPr>
        <p:spPr>
          <a:xfrm>
            <a:off x="5596128" y="3099816"/>
            <a:ext cx="548640" cy="457200"/>
          </a:xfrm>
          <a:prstGeom prst="roundRect">
            <a:avLst>
              <a:gd name="adj" fmla="val 16000"/>
            </a:avLst>
          </a:prstGeom>
          <a:solidFill>
            <a:schemeClr val="accent1"/>
          </a:solidFill>
          <a:ln w="12700">
            <a:solidFill>
              <a:schemeClr val="accent1"/>
            </a:solidFill>
            <a:prstDash val="solid"/>
          </a:ln>
        </p:spPr>
      </p:sp>
      <p:sp>
        <p:nvSpPr>
          <p:cNvPr id="57" name="Text 54"/>
          <p:cNvSpPr txBox="1"/>
          <p:nvPr/>
        </p:nvSpPr>
        <p:spPr>
          <a:xfrm>
            <a:off x="5596128" y="3099816"/>
            <a:ext cx="54864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t9</a:t>
            </a:r>
            <a:endParaRPr lang="en-US" sz="1200" dirty="0"/>
          </a:p>
        </p:txBody>
      </p:sp>
      <p:sp>
        <p:nvSpPr>
          <p:cNvPr id="58" name="Text 55"/>
          <p:cNvSpPr txBox="1"/>
          <p:nvPr/>
        </p:nvSpPr>
        <p:spPr>
          <a:xfrm>
            <a:off x="548640" y="3749040"/>
            <a:ext cx="5669280" cy="548640"/>
          </a:xfrm>
          <a:prstGeom prst="rect">
            <a:avLst/>
          </a:prstGeom>
          <a:noFill/>
          <a:ln/>
        </p:spPr>
        <p:txBody>
          <a:bodyPr wrap="square" lIns="0" tIns="0" rIns="0" bIns="0" rtlCol="0" anchor="t"/>
          <a:lstStyle/>
          <a:p>
            <a:pPr indent="0" marL="0">
              <a:buNone/>
            </a:pPr>
            <a:r>
              <a:rPr lang="en-US" sz="1300" b="1" dirty="0">
                <a:solidFill>
                  <a:schemeClr val="accent2"/>
                </a:solidFill>
              </a:rPr>
              <a:t>Amber</a:t>
            </a:r>
            <a:r>
              <a:rPr lang="en-US" sz="1300" dirty="0">
                <a:solidFill>
                  <a:schemeClr val="tx2"/>
                </a:solidFill>
              </a:rPr>
              <a:t>: sinks, always kept. </a:t>
            </a:r>
            <a:r>
              <a:rPr lang="en-US" sz="1300" b="1" dirty="0">
                <a:solidFill>
                  <a:schemeClr val="accent3"/>
                </a:solidFill>
              </a:rPr>
              <a:t>Struck out</a:t>
            </a:r>
            <a:r>
              <a:rPr lang="en-US" sz="1300" dirty="0">
                <a:solidFill>
                  <a:schemeClr val="tx2"/>
                </a:solidFill>
              </a:rPr>
              <a:t>: evicted. Teal: the newest token. The cache holds 2 + W = 6 keys.</a:t>
            </a:r>
            <a:endParaRPr lang="en-US" sz="1300" dirty="0"/>
          </a:p>
        </p:txBody>
      </p:sp>
      <p:sp>
        <p:nvSpPr>
          <p:cNvPr id="59" name="check"/>
          <p:cNvSpPr/>
          <p:nvPr/>
        </p:nvSpPr>
        <p:spPr>
          <a:xfrm>
            <a:off x="548640" y="4434840"/>
            <a:ext cx="5669280" cy="1737360"/>
          </a:xfrm>
          <a:prstGeom prst="roundRect">
            <a:avLst>
              <a:gd name="adj" fmla="val 6316"/>
            </a:avLst>
          </a:prstGeom>
          <a:solidFill>
            <a:schemeClr val="bg2"/>
          </a:solidFill>
          <a:ln w="12700">
            <a:solidFill>
              <a:schemeClr val="bg2"/>
            </a:solidFill>
            <a:prstDash val="solid"/>
          </a:ln>
        </p:spPr>
      </p:sp>
      <p:sp>
        <p:nvSpPr>
          <p:cNvPr id="60" name="Text 57"/>
          <p:cNvSpPr txBox="1"/>
          <p:nvPr/>
        </p:nvSpPr>
        <p:spPr>
          <a:xfrm>
            <a:off x="822960" y="4526280"/>
            <a:ext cx="5212080" cy="1554480"/>
          </a:xfrm>
          <a:prstGeom prst="rect">
            <a:avLst/>
          </a:prstGeom>
          <a:noFill/>
          <a:ln/>
        </p:spPr>
        <p:txBody>
          <a:bodyPr wrap="square" lIns="0" tIns="0" rIns="0" bIns="0" rtlCol="0" anchor="ctr"/>
          <a:lstStyle/>
          <a:p>
            <a:pPr indent="0" marL="0">
              <a:buNone/>
            </a:pPr>
            <a:r>
              <a:rPr lang="en-US" sz="1500" b="1" dirty="0">
                <a:solidFill>
                  <a:schemeClr val="tx1"/>
                </a:solidFill>
              </a:rPr>
              <a:t>Cell 34 check, 10 decoding steps</a:t>
            </a:r>
            <a:endParaRPr lang="en-US" sz="1500" dirty="0"/>
          </a:p>
          <a:p>
            <a:pPr indent="0" marL="0">
              <a:buNone/>
            </a:pPr>
            <a:r>
              <a:rPr lang="en-US" sz="1500" dirty="0">
                <a:solidFill>
                  <a:schemeClr val="tx1"/>
                </a:solidFill>
              </a:rPr>
              <a:t>cached tokens per step: </a:t>
            </a:r>
            <a:r>
              <a:rPr lang="en-US" sz="1500" dirty="0">
                <a:solidFill>
                  <a:schemeClr val="tx1"/>
                </a:solidFill>
                <a:latin typeface="Courier New" pitchFamily="34" charset="0"/>
                <a:ea typeface="Courier New" pitchFamily="34" charset="-122"/>
                <a:cs typeface="Courier New" pitchFamily="34" charset="-120"/>
              </a:rPr>
              <a:t>4, 4, …, 4</a:t>
            </a:r>
            <a:r>
              <a:rPr lang="en-US" sz="1500" dirty="0">
                <a:solidFill>
                  <a:schemeClr val="tx1"/>
                </a:solidFill>
              </a:rPr>
              <a:t> (no sinks) and </a:t>
            </a:r>
            <a:r>
              <a:rPr lang="en-US" sz="1500" dirty="0">
                <a:solidFill>
                  <a:schemeClr val="tx1"/>
                </a:solidFill>
                <a:latin typeface="Courier New" pitchFamily="34" charset="0"/>
                <a:ea typeface="Courier New" pitchFamily="34" charset="-122"/>
                <a:cs typeface="Courier New" pitchFamily="34" charset="-120"/>
              </a:rPr>
              <a:t>6, 6, …, 6</a:t>
            </a:r>
            <a:r>
              <a:rPr lang="en-US" sz="1500" dirty="0">
                <a:solidFill>
                  <a:schemeClr val="tx1"/>
                </a:solidFill>
              </a:rPr>
              <a:t> (2 sinks)</a:t>
            </a:r>
            <a:endParaRPr lang="en-US" sz="1500" dirty="0"/>
          </a:p>
          <a:p>
            <a:pPr indent="0" marL="0">
              <a:buNone/>
            </a:pPr>
            <a:r>
              <a:rPr lang="en-US" sz="1500" dirty="0">
                <a:solidFill>
                  <a:schemeClr val="tx1"/>
                </a:solidFill>
              </a:rPr>
              <a:t>matches a full pass with the band mask: </a:t>
            </a:r>
            <a:r>
              <a:rPr lang="en-US" sz="1500" b="1" dirty="0">
                <a:solidFill>
                  <a:schemeClr val="accent1"/>
                </a:solidFill>
              </a:rPr>
              <a:t>True</a:t>
            </a:r>
            <a:endParaRPr lang="en-US" sz="1500" dirty="0"/>
          </a:p>
        </p:txBody>
      </p:sp>
      <p:pic>
        <p:nvPicPr>
          <p:cNvPr id="61" name="Image 0" descr="Log-log plot of KV cache size against sequence length from 1K to 128K tokens, Mistral-7B-like sizes: MHA and GQA-8 with full attention grow linearly, GQA-8 is 4 times smaller; GQA-8 with a 4,096 sliding window flattens at 0.5 GiB beyond 4K tokens.">    </p:cNvPr>
          <p:cNvPicPr>
            <a:picLocks noChangeAspect="1"/>
          </p:cNvPicPr>
          <p:nvPr/>
        </p:nvPicPr>
        <p:blipFill>
          <a:blip r:embed="rId1"/>
          <a:stretch>
            <a:fillRect/>
          </a:stretch>
        </p:blipFill>
        <p:spPr>
          <a:xfrm>
            <a:off x="6492240" y="1234440"/>
            <a:ext cx="5120640" cy="2859842"/>
          </a:xfrm>
          <a:prstGeom prst="rect">
            <a:avLst/>
          </a:prstGeom>
        </p:spPr>
      </p:pic>
      <p:sp>
        <p:nvSpPr>
          <p:cNvPr id="62" name="MHA"/>
          <p:cNvSpPr/>
          <p:nvPr/>
        </p:nvSpPr>
        <p:spPr>
          <a:xfrm>
            <a:off x="6492240" y="4231442"/>
            <a:ext cx="1645920" cy="1051560"/>
          </a:xfrm>
          <a:prstGeom prst="roundRect">
            <a:avLst>
              <a:gd name="adj" fmla="val 10435"/>
            </a:avLst>
          </a:prstGeom>
          <a:solidFill>
            <a:schemeClr val="bg2"/>
          </a:solidFill>
          <a:ln w="12700">
            <a:solidFill>
              <a:schemeClr val="bg2"/>
            </a:solidFill>
            <a:prstDash val="solid"/>
          </a:ln>
        </p:spPr>
      </p:sp>
      <p:sp>
        <p:nvSpPr>
          <p:cNvPr id="63" name="Text 59"/>
          <p:cNvSpPr txBox="1"/>
          <p:nvPr/>
        </p:nvSpPr>
        <p:spPr>
          <a:xfrm>
            <a:off x="6583680" y="4277162"/>
            <a:ext cx="1463040" cy="502920"/>
          </a:xfrm>
          <a:prstGeom prst="rect">
            <a:avLst/>
          </a:prstGeom>
          <a:noFill/>
          <a:ln/>
        </p:spPr>
        <p:txBody>
          <a:bodyPr wrap="square" lIns="0" tIns="0" rIns="0" bIns="0" rtlCol="0" anchor="b"/>
          <a:lstStyle/>
          <a:p>
            <a:pPr algn="ctr" indent="0" marL="0">
              <a:buNone/>
            </a:pPr>
            <a:r>
              <a:rPr lang="en-US" sz="2000" b="1" dirty="0">
                <a:solidFill>
                  <a:schemeClr val="accent3"/>
                </a:solidFill>
                <a:latin typeface="Cambria" pitchFamily="34" charset="0"/>
                <a:ea typeface="Cambria" pitchFamily="34" charset="-122"/>
                <a:cs typeface="Cambria" pitchFamily="34" charset="-120"/>
              </a:rPr>
              <a:t>64 GiB</a:t>
            </a:r>
            <a:endParaRPr lang="en-US" sz="2000" dirty="0"/>
          </a:p>
        </p:txBody>
      </p:sp>
      <p:sp>
        <p:nvSpPr>
          <p:cNvPr id="64" name="Text 60"/>
          <p:cNvSpPr txBox="1"/>
          <p:nvPr/>
        </p:nvSpPr>
        <p:spPr>
          <a:xfrm>
            <a:off x="6583680" y="4780082"/>
            <a:ext cx="1463040" cy="365760"/>
          </a:xfrm>
          <a:prstGeom prst="rect">
            <a:avLst/>
          </a:prstGeom>
          <a:noFill/>
          <a:ln/>
        </p:spPr>
        <p:txBody>
          <a:bodyPr wrap="square" lIns="0" tIns="0" rIns="0" bIns="0" rtlCol="0" anchor="t"/>
          <a:lstStyle/>
          <a:p>
            <a:pPr algn="ctr" indent="0" marL="0">
              <a:buNone/>
            </a:pPr>
            <a:r>
              <a:rPr lang="en-US" sz="1200" dirty="0">
                <a:solidFill>
                  <a:schemeClr val="tx2"/>
                </a:solidFill>
              </a:rPr>
              <a:t>MHA</a:t>
            </a:r>
            <a:endParaRPr lang="en-US" sz="1200" dirty="0"/>
          </a:p>
        </p:txBody>
      </p:sp>
      <p:sp>
        <p:nvSpPr>
          <p:cNvPr id="65" name="GQA-8"/>
          <p:cNvSpPr/>
          <p:nvPr/>
        </p:nvSpPr>
        <p:spPr>
          <a:xfrm>
            <a:off x="8229600" y="4231442"/>
            <a:ext cx="1645920" cy="1051560"/>
          </a:xfrm>
          <a:prstGeom prst="roundRect">
            <a:avLst>
              <a:gd name="adj" fmla="val 10435"/>
            </a:avLst>
          </a:prstGeom>
          <a:solidFill>
            <a:schemeClr val="bg2"/>
          </a:solidFill>
          <a:ln w="12700">
            <a:solidFill>
              <a:schemeClr val="bg2"/>
            </a:solidFill>
            <a:prstDash val="solid"/>
          </a:ln>
        </p:spPr>
      </p:sp>
      <p:sp>
        <p:nvSpPr>
          <p:cNvPr id="66" name="Text 62"/>
          <p:cNvSpPr txBox="1"/>
          <p:nvPr/>
        </p:nvSpPr>
        <p:spPr>
          <a:xfrm>
            <a:off x="8321040" y="4277162"/>
            <a:ext cx="1463040" cy="502920"/>
          </a:xfrm>
          <a:prstGeom prst="rect">
            <a:avLst/>
          </a:prstGeom>
          <a:noFill/>
          <a:ln/>
        </p:spPr>
        <p:txBody>
          <a:bodyPr wrap="square" lIns="0" tIns="0" rIns="0" bIns="0" rtlCol="0" anchor="b"/>
          <a:lstStyle/>
          <a:p>
            <a:pPr algn="ctr" indent="0" marL="0">
              <a:buNone/>
            </a:pPr>
            <a:r>
              <a:rPr lang="en-US" sz="2000" b="1" dirty="0">
                <a:solidFill>
                  <a:schemeClr val="accent4"/>
                </a:solidFill>
                <a:latin typeface="Cambria" pitchFamily="34" charset="0"/>
                <a:ea typeface="Cambria" pitchFamily="34" charset="-122"/>
                <a:cs typeface="Cambria" pitchFamily="34" charset="-120"/>
              </a:rPr>
              <a:t>16 GiB</a:t>
            </a:r>
            <a:endParaRPr lang="en-US" sz="2000" dirty="0"/>
          </a:p>
        </p:txBody>
      </p:sp>
      <p:sp>
        <p:nvSpPr>
          <p:cNvPr id="67" name="Text 63"/>
          <p:cNvSpPr txBox="1"/>
          <p:nvPr/>
        </p:nvSpPr>
        <p:spPr>
          <a:xfrm>
            <a:off x="8321040" y="4780082"/>
            <a:ext cx="1463040" cy="365760"/>
          </a:xfrm>
          <a:prstGeom prst="rect">
            <a:avLst/>
          </a:prstGeom>
          <a:noFill/>
          <a:ln/>
        </p:spPr>
        <p:txBody>
          <a:bodyPr wrap="square" lIns="0" tIns="0" rIns="0" bIns="0" rtlCol="0" anchor="t"/>
          <a:lstStyle/>
          <a:p>
            <a:pPr algn="ctr" indent="0" marL="0">
              <a:buNone/>
            </a:pPr>
            <a:r>
              <a:rPr lang="en-US" sz="1200" dirty="0">
                <a:solidFill>
                  <a:schemeClr val="tx2"/>
                </a:solidFill>
              </a:rPr>
              <a:t>GQA-8</a:t>
            </a:r>
            <a:endParaRPr lang="en-US" sz="1200" dirty="0"/>
          </a:p>
        </p:txBody>
      </p:sp>
      <p:sp>
        <p:nvSpPr>
          <p:cNvPr id="68" name="GQA-8 + window"/>
          <p:cNvSpPr/>
          <p:nvPr/>
        </p:nvSpPr>
        <p:spPr>
          <a:xfrm>
            <a:off x="9966960" y="4231442"/>
            <a:ext cx="1645920" cy="1051560"/>
          </a:xfrm>
          <a:prstGeom prst="roundRect">
            <a:avLst>
              <a:gd name="adj" fmla="val 10435"/>
            </a:avLst>
          </a:prstGeom>
          <a:solidFill>
            <a:schemeClr val="bg2"/>
          </a:solidFill>
          <a:ln w="12700">
            <a:solidFill>
              <a:schemeClr val="bg2"/>
            </a:solidFill>
            <a:prstDash val="solid"/>
          </a:ln>
        </p:spPr>
      </p:sp>
      <p:sp>
        <p:nvSpPr>
          <p:cNvPr id="69" name="Text 65"/>
          <p:cNvSpPr txBox="1"/>
          <p:nvPr/>
        </p:nvSpPr>
        <p:spPr>
          <a:xfrm>
            <a:off x="10058400" y="4277162"/>
            <a:ext cx="1463040" cy="502920"/>
          </a:xfrm>
          <a:prstGeom prst="rect">
            <a:avLst/>
          </a:prstGeom>
          <a:noFill/>
          <a:ln/>
        </p:spPr>
        <p:txBody>
          <a:bodyPr wrap="square" lIns="0" tIns="0" rIns="0" bIns="0" rtlCol="0" anchor="b"/>
          <a:lstStyle/>
          <a:p>
            <a:pPr algn="ctr" indent="0" marL="0">
              <a:buNone/>
            </a:pPr>
            <a:r>
              <a:rPr lang="en-US" sz="2000" b="1" dirty="0">
                <a:solidFill>
                  <a:schemeClr val="accent1"/>
                </a:solidFill>
                <a:latin typeface="Cambria" pitchFamily="34" charset="0"/>
                <a:ea typeface="Cambria" pitchFamily="34" charset="-122"/>
                <a:cs typeface="Cambria" pitchFamily="34" charset="-120"/>
              </a:rPr>
              <a:t>0.50 GiB</a:t>
            </a:r>
            <a:endParaRPr lang="en-US" sz="2000" dirty="0"/>
          </a:p>
        </p:txBody>
      </p:sp>
      <p:sp>
        <p:nvSpPr>
          <p:cNvPr id="70" name="Text 66"/>
          <p:cNvSpPr txBox="1"/>
          <p:nvPr/>
        </p:nvSpPr>
        <p:spPr>
          <a:xfrm>
            <a:off x="10058400" y="4780082"/>
            <a:ext cx="1463040" cy="365760"/>
          </a:xfrm>
          <a:prstGeom prst="rect">
            <a:avLst/>
          </a:prstGeom>
          <a:noFill/>
          <a:ln/>
        </p:spPr>
        <p:txBody>
          <a:bodyPr wrap="square" lIns="0" tIns="0" rIns="0" bIns="0" rtlCol="0" anchor="t"/>
          <a:lstStyle/>
          <a:p>
            <a:pPr algn="ctr" indent="0" marL="0">
              <a:buNone/>
            </a:pPr>
            <a:r>
              <a:rPr lang="en-US" sz="1200" dirty="0">
                <a:solidFill>
                  <a:schemeClr val="tx2"/>
                </a:solidFill>
              </a:rPr>
              <a:t>GQA-8 + window</a:t>
            </a:r>
            <a:endParaRPr lang="en-US" sz="1200" dirty="0"/>
          </a:p>
        </p:txBody>
      </p:sp>
      <p:sp>
        <p:nvSpPr>
          <p:cNvPr id="71" name="Text 67"/>
          <p:cNvSpPr txBox="1"/>
          <p:nvPr/>
        </p:nvSpPr>
        <p:spPr>
          <a:xfrm>
            <a:off x="6492240" y="5374442"/>
            <a:ext cx="5120640" cy="228600"/>
          </a:xfrm>
          <a:prstGeom prst="rect">
            <a:avLst/>
          </a:prstGeom>
          <a:noFill/>
          <a:ln/>
        </p:spPr>
        <p:txBody>
          <a:bodyPr wrap="square" lIns="0" tIns="0" rIns="0" bIns="0" rtlCol="0" anchor="t"/>
          <a:lstStyle/>
          <a:p>
            <a:pPr algn="ctr" indent="0" marL="0">
              <a:buNone/>
            </a:pPr>
            <a:r>
              <a:rPr lang="en-US" sz="1100" dirty="0">
                <a:solidFill>
                  <a:schemeClr val="tx2"/>
                </a:solidFill>
              </a:rPr>
              <a:t>KV cache for one sequence at 128K tokens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Optional: why plain windows break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38</a:t>
            </a:r>
            <a:endParaRPr lang="en-US" sz="1400" dirty="0"/>
          </a:p>
        </p:txBody>
      </p:sp>
      <p:sp>
        <p:nvSpPr>
          <p:cNvPr id="6" name="Text 3"/>
          <p:cNvSpPr txBox="1"/>
          <p:nvPr/>
        </p:nvSpPr>
        <p:spPr>
          <a:xfrm>
            <a:off x="548640" y="1280160"/>
            <a:ext cx="5486400" cy="49377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Why sinks form (a plausible explanation)</a:t>
            </a:r>
            <a:endParaRPr lang="en-US" sz="1500" dirty="0"/>
          </a:p>
          <a:p>
            <a:pPr marL="228600" indent="-228600">
              <a:spcAft>
                <a:spcPts val="800"/>
              </a:spcAft>
              <a:buSzPct val="100000"/>
              <a:buChar char="•"/>
            </a:pPr>
            <a:r>
              <a:rPr lang="en-US" sz="1500" dirty="0">
                <a:solidFill>
                  <a:schemeClr val="tx1"/>
                </a:solidFill>
              </a:rPr>
              <a:t>Softmax weights must </a:t>
            </a:r>
            <a:r>
              <a:rPr lang="en-US" sz="1500" b="1" dirty="0">
                <a:solidFill>
                  <a:schemeClr val="tx1"/>
                </a:solidFill>
              </a:rPr>
              <a:t>sum to 1</a:t>
            </a:r>
            <a:r>
              <a:rPr lang="en-US" sz="1500" dirty="0">
                <a:solidFill>
                  <a:schemeClr val="tx1"/>
                </a:solidFill>
              </a:rPr>
              <a:t>, even when a head has nothing useful to read.</a:t>
            </a:r>
            <a:endParaRPr lang="en-US" sz="1500" dirty="0"/>
          </a:p>
          <a:p>
            <a:pPr marL="228600" indent="-228600">
              <a:spcAft>
                <a:spcPts val="800"/>
              </a:spcAft>
              <a:buSzPct val="100000"/>
              <a:buChar char="•"/>
            </a:pPr>
            <a:r>
              <a:rPr lang="en-US" sz="1500" dirty="0">
                <a:solidFill>
                  <a:schemeClr val="tx1"/>
                </a:solidFill>
              </a:rPr>
              <a:t>The first token is visible to </a:t>
            </a:r>
            <a:r>
              <a:rPr lang="en-US" sz="1500" b="1" dirty="0">
                <a:solidFill>
                  <a:schemeClr val="tx1"/>
                </a:solidFill>
              </a:rPr>
              <a:t>every</a:t>
            </a:r>
            <a:r>
              <a:rPr lang="en-US" sz="1500" dirty="0">
                <a:solidFill>
                  <a:schemeClr val="tx1"/>
                </a:solidFill>
              </a:rPr>
              <a:t> later position, so models learn to park spare attention there. Its value adds little.</a:t>
            </a:r>
            <a:endParaRPr lang="en-US" sz="1500" dirty="0"/>
          </a:p>
          <a:p>
            <a:pPr indent="0" marL="0">
              <a:spcAft>
                <a:spcPts val="400"/>
              </a:spcAft>
              <a:buNone/>
            </a:pPr>
            <a:r>
              <a:rPr lang="en-US" sz="1500" b="1" dirty="0">
                <a:solidFill>
                  <a:schemeClr val="accent3"/>
                </a:solidFill>
              </a:rPr>
              <a:t>What breaks</a:t>
            </a:r>
            <a:endParaRPr lang="en-US" sz="1500" dirty="0"/>
          </a:p>
          <a:p>
            <a:pPr marL="228600" indent="-228600">
              <a:spcAft>
                <a:spcPts val="800"/>
              </a:spcAft>
              <a:buSzPct val="100000"/>
              <a:buChar char="•"/>
            </a:pPr>
            <a:r>
              <a:rPr lang="en-US" sz="1500" dirty="0">
                <a:solidFill>
                  <a:schemeClr val="tx1"/>
                </a:solidFill>
              </a:rPr>
              <a:t>A plain window evicts the first token; softmax spreads its weight over real tokens; hidden states drift from anything seen in training. StreamingLLM: perplexity </a:t>
            </a:r>
            <a:r>
              <a:rPr lang="en-US" sz="1500" b="1" dirty="0">
                <a:solidFill>
                  <a:schemeClr val="accent3"/>
                </a:solidFill>
              </a:rPr>
              <a:t>explodes</a:t>
            </a:r>
            <a:r>
              <a:rPr lang="en-US" sz="1500" dirty="0">
                <a:solidFill>
                  <a:schemeClr val="tx1"/>
                </a:solidFill>
              </a:rPr>
              <a:t>.</a:t>
            </a:r>
            <a:endParaRPr lang="en-US" sz="1500" dirty="0"/>
          </a:p>
          <a:p>
            <a:pPr indent="0" marL="0">
              <a:spcAft>
                <a:spcPts val="400"/>
              </a:spcAft>
              <a:buNone/>
            </a:pPr>
            <a:r>
              <a:rPr lang="en-US" sz="1500" b="1" dirty="0">
                <a:solidFill>
                  <a:schemeClr val="accent1"/>
                </a:solidFill>
              </a:rPr>
              <a:t>The fix</a:t>
            </a:r>
            <a:endParaRPr lang="en-US" sz="1500" dirty="0"/>
          </a:p>
          <a:p>
            <a:pPr marL="228600" indent="-228600">
              <a:spcAft>
                <a:spcPts val="800"/>
              </a:spcAft>
              <a:buSzPct val="100000"/>
              <a:buChar char="•"/>
            </a:pPr>
            <a:r>
              <a:rPr lang="en-US" sz="1500" dirty="0">
                <a:solidFill>
                  <a:schemeClr val="tx1"/>
                </a:solidFill>
              </a:rPr>
              <a:t>Always keep the first few tokens (</a:t>
            </a:r>
            <a:r>
              <a:rPr lang="en-US" sz="1500" dirty="0">
                <a:solidFill>
                  <a:schemeClr val="tx1"/>
                </a:solidFill>
                <a:latin typeface="Courier New" pitchFamily="34" charset="0"/>
                <a:ea typeface="Courier New" pitchFamily="34" charset="-122"/>
                <a:cs typeface="Courier New" pitchFamily="34" charset="-120"/>
              </a:rPr>
              <a:t>n_sink</a:t>
            </a:r>
            <a:r>
              <a:rPr lang="en-US" sz="1500" dirty="0">
                <a:solidFill>
                  <a:schemeClr val="tx1"/>
                </a:solidFill>
              </a:rPr>
              <a:t>). StreamingLLM: </a:t>
            </a:r>
            <a:r>
              <a:rPr lang="en-US" sz="1500" b="1" dirty="0">
                <a:solidFill>
                  <a:schemeClr val="tx1"/>
                </a:solidFill>
              </a:rPr>
              <a:t>4 sink tokens</a:t>
            </a:r>
            <a:r>
              <a:rPr lang="en-US" sz="1500" dirty="0">
                <a:solidFill>
                  <a:schemeClr val="tx1"/>
                </a:solidFill>
              </a:rPr>
              <a:t> + a recent window, stable over millions of tokens, no retraining.</a:t>
            </a:r>
            <a:endParaRPr lang="en-US" sz="1500" dirty="0"/>
          </a:p>
        </p:txBody>
      </p:sp>
      <p:pic>
        <p:nvPicPr>
          <p:cNvPr id="7" name="Image 0" descr="Bar chart over 10 keys with made-up scores. Sink kept: the sink key gets weight 0.80 and the other nine share the rest. Sink evicted: the nine remaining keys get noticeably larger weights.">    </p:cNvPr>
          <p:cNvPicPr>
            <a:picLocks noChangeAspect="1"/>
          </p:cNvPicPr>
          <p:nvPr/>
        </p:nvPicPr>
        <p:blipFill>
          <a:blip r:embed="rId1"/>
          <a:stretch>
            <a:fillRect/>
          </a:stretch>
        </p:blipFill>
        <p:spPr>
          <a:xfrm>
            <a:off x="6309360" y="1234440"/>
            <a:ext cx="5303520" cy="2068251"/>
          </a:xfrm>
          <a:prstGeom prst="rect">
            <a:avLst/>
          </a:prstGeom>
        </p:spPr>
      </p:pic>
      <p:sp>
        <p:nvSpPr>
          <p:cNvPr id="8" name="Text 4"/>
          <p:cNvSpPr txBox="1"/>
          <p:nvPr/>
        </p:nvSpPr>
        <p:spPr>
          <a:xfrm>
            <a:off x="6309360" y="3348411"/>
            <a:ext cx="5303520" cy="365760"/>
          </a:xfrm>
          <a:prstGeom prst="rect">
            <a:avLst/>
          </a:prstGeom>
          <a:noFill/>
          <a:ln/>
        </p:spPr>
        <p:txBody>
          <a:bodyPr wrap="square" lIns="0" tIns="0" rIns="0" bIns="0" rtlCol="0" anchor="t"/>
          <a:lstStyle/>
          <a:p>
            <a:pPr indent="0" marL="0">
              <a:buNone/>
            </a:pPr>
            <a:r>
              <a:rPr lang="en-US" sz="1200" dirty="0">
                <a:solidFill>
                  <a:schemeClr val="tx2"/>
                </a:solidFill>
              </a:rPr>
              <a:t>Made-up scores: key 0 (the sink) scores high and its value is nearly zero.</a:t>
            </a:r>
            <a:endParaRPr lang="en-US" sz="1200" dirty="0"/>
          </a:p>
        </p:txBody>
      </p:sp>
      <p:sp>
        <p:nvSpPr>
          <p:cNvPr id="9" name="of the weight on the sink, which contributes almost nothing"/>
          <p:cNvSpPr/>
          <p:nvPr/>
        </p:nvSpPr>
        <p:spPr>
          <a:xfrm>
            <a:off x="6309360" y="3851331"/>
            <a:ext cx="2514600" cy="1508760"/>
          </a:xfrm>
          <a:prstGeom prst="roundRect">
            <a:avLst>
              <a:gd name="adj" fmla="val 7273"/>
            </a:avLst>
          </a:prstGeom>
          <a:solidFill>
            <a:schemeClr val="bg2"/>
          </a:solidFill>
          <a:ln w="12700">
            <a:solidFill>
              <a:schemeClr val="bg2"/>
            </a:solidFill>
            <a:prstDash val="solid"/>
          </a:ln>
        </p:spPr>
      </p:sp>
      <p:sp>
        <p:nvSpPr>
          <p:cNvPr id="10" name="Text 6"/>
          <p:cNvSpPr txBox="1"/>
          <p:nvPr/>
        </p:nvSpPr>
        <p:spPr>
          <a:xfrm>
            <a:off x="6537960" y="3942771"/>
            <a:ext cx="2057400" cy="594360"/>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0.80</a:t>
            </a:r>
            <a:endParaRPr lang="en-US" sz="3000" dirty="0"/>
          </a:p>
        </p:txBody>
      </p:sp>
      <p:sp>
        <p:nvSpPr>
          <p:cNvPr id="11" name="Text 7"/>
          <p:cNvSpPr txBox="1"/>
          <p:nvPr/>
        </p:nvSpPr>
        <p:spPr>
          <a:xfrm>
            <a:off x="6537960" y="4582851"/>
            <a:ext cx="2057400" cy="685800"/>
          </a:xfrm>
          <a:prstGeom prst="rect">
            <a:avLst/>
          </a:prstGeom>
          <a:noFill/>
          <a:ln/>
        </p:spPr>
        <p:txBody>
          <a:bodyPr wrap="square" lIns="0" tIns="0" rIns="0" bIns="0" rtlCol="0" anchor="t"/>
          <a:lstStyle/>
          <a:p>
            <a:pPr indent="0" marL="0">
              <a:buNone/>
            </a:pPr>
            <a:r>
              <a:rPr lang="en-US" sz="1300" dirty="0">
                <a:solidFill>
                  <a:schemeClr val="tx2"/>
                </a:solidFill>
              </a:rPr>
              <a:t>of the weight on the sink, which contributes almost nothing</a:t>
            </a:r>
            <a:endParaRPr lang="en-US" sz="1300" dirty="0"/>
          </a:p>
        </p:txBody>
      </p:sp>
      <p:sp>
        <p:nvSpPr>
          <p:cNvPr id="12" name="larger output after eviction (norm 0.26 → 1.00)"/>
          <p:cNvSpPr/>
          <p:nvPr/>
        </p:nvSpPr>
        <p:spPr>
          <a:xfrm>
            <a:off x="9098280" y="3851331"/>
            <a:ext cx="2514600" cy="1508760"/>
          </a:xfrm>
          <a:prstGeom prst="roundRect">
            <a:avLst>
              <a:gd name="adj" fmla="val 7273"/>
            </a:avLst>
          </a:prstGeom>
          <a:solidFill>
            <a:schemeClr val="bg2"/>
          </a:solidFill>
          <a:ln w="12700">
            <a:solidFill>
              <a:schemeClr val="bg2"/>
            </a:solidFill>
            <a:prstDash val="solid"/>
          </a:ln>
        </p:spPr>
      </p:sp>
      <p:sp>
        <p:nvSpPr>
          <p:cNvPr id="13" name="Text 9"/>
          <p:cNvSpPr txBox="1"/>
          <p:nvPr/>
        </p:nvSpPr>
        <p:spPr>
          <a:xfrm>
            <a:off x="9326880" y="3942771"/>
            <a:ext cx="2057400" cy="59436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3.8×</a:t>
            </a:r>
            <a:endParaRPr lang="en-US" sz="3000" dirty="0"/>
          </a:p>
        </p:txBody>
      </p:sp>
      <p:sp>
        <p:nvSpPr>
          <p:cNvPr id="14" name="Text 10"/>
          <p:cNvSpPr txBox="1"/>
          <p:nvPr/>
        </p:nvSpPr>
        <p:spPr>
          <a:xfrm>
            <a:off x="9326880" y="4582851"/>
            <a:ext cx="2057400" cy="685800"/>
          </a:xfrm>
          <a:prstGeom prst="rect">
            <a:avLst/>
          </a:prstGeom>
          <a:noFill/>
          <a:ln/>
        </p:spPr>
        <p:txBody>
          <a:bodyPr wrap="square" lIns="0" tIns="0" rIns="0" bIns="0" rtlCol="0" anchor="t"/>
          <a:lstStyle/>
          <a:p>
            <a:pPr indent="0" marL="0">
              <a:buNone/>
            </a:pPr>
            <a:r>
              <a:rPr lang="en-US" sz="1300" dirty="0">
                <a:solidFill>
                  <a:schemeClr val="tx2"/>
                </a:solidFill>
              </a:rPr>
              <a:t>larger output after eviction (norm 0.26 → 1.00)</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Optional: sinks in DistilGPT-2</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40</a:t>
            </a:r>
            <a:endParaRPr lang="en-US" sz="1400" dirty="0"/>
          </a:p>
        </p:txBody>
      </p:sp>
      <p:pic>
        <p:nvPicPr>
          <p:cNvPr id="6" name="Image 0" descr="DistilGPT-2 attention averaged over heads for one 22-token sentence, layers 1, 3, 5 and 6. Layer 1 has weight near the diagonal; from layer 3 on the first column (key position 0) is the brightest.">    </p:cNvPr>
          <p:cNvPicPr>
            <a:picLocks noChangeAspect="1"/>
          </p:cNvPicPr>
          <p:nvPr/>
        </p:nvPicPr>
        <p:blipFill>
          <a:blip r:embed="rId1"/>
          <a:stretch>
            <a:fillRect/>
          </a:stretch>
        </p:blipFill>
        <p:spPr>
          <a:xfrm>
            <a:off x="548640" y="1188720"/>
            <a:ext cx="11064240" cy="3011129"/>
          </a:xfrm>
          <a:prstGeom prst="rect">
            <a:avLst/>
          </a:prstGeom>
        </p:spPr>
      </p:pic>
      <p:sp>
        <p:nvSpPr>
          <p:cNvPr id="7" name="Text 3"/>
          <p:cNvSpPr txBox="1"/>
          <p:nvPr/>
        </p:nvSpPr>
        <p:spPr>
          <a:xfrm>
            <a:off x="548640" y="4245569"/>
            <a:ext cx="11064240" cy="365760"/>
          </a:xfrm>
          <a:prstGeom prst="rect">
            <a:avLst/>
          </a:prstGeom>
          <a:noFill/>
          <a:ln/>
        </p:spPr>
        <p:txBody>
          <a:bodyPr wrap="square" lIns="0" tIns="0" rIns="0" bIns="0" rtlCol="0" anchor="t"/>
          <a:lstStyle/>
          <a:p>
            <a:pPr indent="0" marL="0">
              <a:buNone/>
            </a:pPr>
            <a:r>
              <a:rPr lang="en-US" sz="1200" dirty="0">
                <a:solidFill>
                  <a:schemeClr val="tx2"/>
                </a:solidFill>
              </a:rPr>
              <a:t>“The robot opened the door and walked into the quiet library, where an old man was reading a book.” Rows: query; columns: key; darker = more weight.</a:t>
            </a:r>
            <a:endParaRPr lang="en-US" sz="1200" dirty="0"/>
          </a:p>
        </p:txBody>
      </p:sp>
      <p:sp>
        <p:nvSpPr>
          <p:cNvPr id="8" name="Text 4"/>
          <p:cNvSpPr txBox="1"/>
          <p:nvPr/>
        </p:nvSpPr>
        <p:spPr>
          <a:xfrm>
            <a:off x="548640" y="4748489"/>
            <a:ext cx="11064240" cy="320040"/>
          </a:xfrm>
          <a:prstGeom prst="rect">
            <a:avLst/>
          </a:prstGeom>
          <a:noFill/>
          <a:ln/>
        </p:spPr>
        <p:txBody>
          <a:bodyPr wrap="square" lIns="0" tIns="0" rIns="0" bIns="0" rtlCol="0" anchor="t"/>
          <a:lstStyle/>
          <a:p>
            <a:pPr indent="0" marL="0">
              <a:buNone/>
            </a:pPr>
            <a:r>
              <a:rPr lang="en-US" sz="1500" b="1" dirty="0">
                <a:solidFill>
                  <a:schemeClr val="tx1"/>
                </a:solidFill>
              </a:rPr>
              <a:t>Average weight on the first token (“The”), per layer</a:t>
            </a:r>
            <a:endParaRPr lang="en-US" sz="1500" dirty="0"/>
          </a:p>
        </p:txBody>
      </p:sp>
      <p:sp>
        <p:nvSpPr>
          <p:cNvPr id="9" name="layer 1"/>
          <p:cNvSpPr/>
          <p:nvPr/>
        </p:nvSpPr>
        <p:spPr>
          <a:xfrm>
            <a:off x="548640" y="5159969"/>
            <a:ext cx="1737360" cy="1057951"/>
          </a:xfrm>
          <a:prstGeom prst="roundRect">
            <a:avLst>
              <a:gd name="adj" fmla="val 10372"/>
            </a:avLst>
          </a:prstGeom>
          <a:solidFill>
            <a:schemeClr val="bg2"/>
          </a:solidFill>
          <a:ln w="12700">
            <a:solidFill>
              <a:schemeClr val="bg2"/>
            </a:solidFill>
            <a:prstDash val="solid"/>
          </a:ln>
        </p:spPr>
      </p:sp>
      <p:sp>
        <p:nvSpPr>
          <p:cNvPr id="10" name="Text 6"/>
          <p:cNvSpPr txBox="1"/>
          <p:nvPr/>
        </p:nvSpPr>
        <p:spPr>
          <a:xfrm>
            <a:off x="548640" y="5205689"/>
            <a:ext cx="1737360" cy="548640"/>
          </a:xfrm>
          <a:prstGeom prst="rect">
            <a:avLst/>
          </a:prstGeom>
          <a:noFill/>
          <a:ln/>
        </p:spPr>
        <p:txBody>
          <a:bodyPr wrap="square" lIns="0" tIns="0" rIns="0" bIns="0" rtlCol="0" anchor="b"/>
          <a:lstStyle/>
          <a:p>
            <a:pPr algn="ctr" indent="0" marL="0">
              <a:buNone/>
            </a:pPr>
            <a:r>
              <a:rPr lang="en-US" sz="2600" b="1" dirty="0">
                <a:solidFill>
                  <a:schemeClr val="tx2"/>
                </a:solidFill>
                <a:latin typeface="Cambria" pitchFamily="34" charset="0"/>
                <a:ea typeface="Cambria" pitchFamily="34" charset="-122"/>
                <a:cs typeface="Cambria" pitchFamily="34" charset="-120"/>
              </a:rPr>
              <a:t>0.17</a:t>
            </a:r>
            <a:endParaRPr lang="en-US" sz="2600" dirty="0"/>
          </a:p>
        </p:txBody>
      </p:sp>
      <p:sp>
        <p:nvSpPr>
          <p:cNvPr id="11" name="Text 7"/>
          <p:cNvSpPr txBox="1"/>
          <p:nvPr/>
        </p:nvSpPr>
        <p:spPr>
          <a:xfrm>
            <a:off x="548640"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1</a:t>
            </a:r>
            <a:endParaRPr lang="en-US" sz="1300" dirty="0"/>
          </a:p>
        </p:txBody>
      </p:sp>
      <p:sp>
        <p:nvSpPr>
          <p:cNvPr id="12" name="layer 2"/>
          <p:cNvSpPr/>
          <p:nvPr/>
        </p:nvSpPr>
        <p:spPr>
          <a:xfrm>
            <a:off x="2414016" y="5159969"/>
            <a:ext cx="1737360" cy="1057951"/>
          </a:xfrm>
          <a:prstGeom prst="roundRect">
            <a:avLst>
              <a:gd name="adj" fmla="val 10372"/>
            </a:avLst>
          </a:prstGeom>
          <a:solidFill>
            <a:schemeClr val="bg2"/>
          </a:solidFill>
          <a:ln w="12700">
            <a:solidFill>
              <a:schemeClr val="bg2"/>
            </a:solidFill>
            <a:prstDash val="solid"/>
          </a:ln>
        </p:spPr>
      </p:sp>
      <p:sp>
        <p:nvSpPr>
          <p:cNvPr id="13" name="Text 9"/>
          <p:cNvSpPr txBox="1"/>
          <p:nvPr/>
        </p:nvSpPr>
        <p:spPr>
          <a:xfrm>
            <a:off x="2414016" y="5205689"/>
            <a:ext cx="1737360" cy="548640"/>
          </a:xfrm>
          <a:prstGeom prst="rect">
            <a:avLst/>
          </a:prstGeom>
          <a:noFill/>
          <a:ln/>
        </p:spPr>
        <p:txBody>
          <a:bodyPr wrap="square" lIns="0" tIns="0" rIns="0" bIns="0" rtlCol="0" anchor="b"/>
          <a:lstStyle/>
          <a:p>
            <a:pPr algn="ctr" indent="0" marL="0">
              <a:buNone/>
            </a:pPr>
            <a:r>
              <a:rPr lang="en-US" sz="2600" b="1" dirty="0">
                <a:solidFill>
                  <a:schemeClr val="tx2"/>
                </a:solidFill>
                <a:latin typeface="Cambria" pitchFamily="34" charset="0"/>
                <a:ea typeface="Cambria" pitchFamily="34" charset="-122"/>
                <a:cs typeface="Cambria" pitchFamily="34" charset="-120"/>
              </a:rPr>
              <a:t>0.35</a:t>
            </a:r>
            <a:endParaRPr lang="en-US" sz="2600" dirty="0"/>
          </a:p>
        </p:txBody>
      </p:sp>
      <p:sp>
        <p:nvSpPr>
          <p:cNvPr id="14" name="Text 10"/>
          <p:cNvSpPr txBox="1"/>
          <p:nvPr/>
        </p:nvSpPr>
        <p:spPr>
          <a:xfrm>
            <a:off x="2414016"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2</a:t>
            </a:r>
            <a:endParaRPr lang="en-US" sz="1300" dirty="0"/>
          </a:p>
        </p:txBody>
      </p:sp>
      <p:sp>
        <p:nvSpPr>
          <p:cNvPr id="15" name="layer 3"/>
          <p:cNvSpPr/>
          <p:nvPr/>
        </p:nvSpPr>
        <p:spPr>
          <a:xfrm>
            <a:off x="4279392" y="5159969"/>
            <a:ext cx="1737360" cy="1057951"/>
          </a:xfrm>
          <a:prstGeom prst="roundRect">
            <a:avLst>
              <a:gd name="adj" fmla="val 10372"/>
            </a:avLst>
          </a:prstGeom>
          <a:solidFill>
            <a:schemeClr val="bg2"/>
          </a:solidFill>
          <a:ln w="12700">
            <a:solidFill>
              <a:schemeClr val="bg2"/>
            </a:solidFill>
            <a:prstDash val="solid"/>
          </a:ln>
        </p:spPr>
      </p:sp>
      <p:sp>
        <p:nvSpPr>
          <p:cNvPr id="16" name="Text 12"/>
          <p:cNvSpPr txBox="1"/>
          <p:nvPr/>
        </p:nvSpPr>
        <p:spPr>
          <a:xfrm>
            <a:off x="4279392" y="5205689"/>
            <a:ext cx="1737360" cy="548640"/>
          </a:xfrm>
          <a:prstGeom prst="rect">
            <a:avLst/>
          </a:prstGeom>
          <a:noFill/>
          <a:ln/>
        </p:spPr>
        <p:txBody>
          <a:bodyPr wrap="square" lIns="0" tIns="0" rIns="0" bIns="0" rtlCol="0" anchor="b"/>
          <a:lstStyle/>
          <a:p>
            <a:pPr algn="ctr" indent="0" marL="0">
              <a:buNone/>
            </a:pPr>
            <a:r>
              <a:rPr lang="en-US" sz="2600" b="1" dirty="0">
                <a:solidFill>
                  <a:schemeClr val="tx2"/>
                </a:solidFill>
                <a:latin typeface="Cambria" pitchFamily="34" charset="0"/>
                <a:ea typeface="Cambria" pitchFamily="34" charset="-122"/>
                <a:cs typeface="Cambria" pitchFamily="34" charset="-120"/>
              </a:rPr>
              <a:t>0.44</a:t>
            </a:r>
            <a:endParaRPr lang="en-US" sz="2600" dirty="0"/>
          </a:p>
        </p:txBody>
      </p:sp>
      <p:sp>
        <p:nvSpPr>
          <p:cNvPr id="17" name="Text 13"/>
          <p:cNvSpPr txBox="1"/>
          <p:nvPr/>
        </p:nvSpPr>
        <p:spPr>
          <a:xfrm>
            <a:off x="4279392"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3</a:t>
            </a:r>
            <a:endParaRPr lang="en-US" sz="1300" dirty="0"/>
          </a:p>
        </p:txBody>
      </p:sp>
      <p:sp>
        <p:nvSpPr>
          <p:cNvPr id="18" name="layer 4"/>
          <p:cNvSpPr/>
          <p:nvPr/>
        </p:nvSpPr>
        <p:spPr>
          <a:xfrm>
            <a:off x="6144768" y="5159969"/>
            <a:ext cx="1737360" cy="1057951"/>
          </a:xfrm>
          <a:prstGeom prst="roundRect">
            <a:avLst>
              <a:gd name="adj" fmla="val 10372"/>
            </a:avLst>
          </a:prstGeom>
          <a:solidFill>
            <a:schemeClr val="accent5"/>
          </a:solidFill>
          <a:ln w="12700">
            <a:solidFill>
              <a:schemeClr val="accent5"/>
            </a:solidFill>
            <a:prstDash val="solid"/>
          </a:ln>
        </p:spPr>
      </p:sp>
      <p:sp>
        <p:nvSpPr>
          <p:cNvPr id="19" name="Text 15"/>
          <p:cNvSpPr txBox="1"/>
          <p:nvPr/>
        </p:nvSpPr>
        <p:spPr>
          <a:xfrm>
            <a:off x="6144768" y="5205689"/>
            <a:ext cx="1737360" cy="548640"/>
          </a:xfrm>
          <a:prstGeom prst="rect">
            <a:avLst/>
          </a:prstGeom>
          <a:noFill/>
          <a:ln/>
        </p:spPr>
        <p:txBody>
          <a:bodyPr wrap="square" lIns="0" tIns="0" rIns="0" bIns="0" rtlCol="0" anchor="b"/>
          <a:lstStyle/>
          <a:p>
            <a:pPr algn="ctr" indent="0" marL="0">
              <a:buNone/>
            </a:pPr>
            <a:r>
              <a:rPr lang="en-US" sz="2600" b="1" dirty="0">
                <a:solidFill>
                  <a:schemeClr val="tx1"/>
                </a:solidFill>
                <a:latin typeface="Cambria" pitchFamily="34" charset="0"/>
                <a:ea typeface="Cambria" pitchFamily="34" charset="-122"/>
                <a:cs typeface="Cambria" pitchFamily="34" charset="-120"/>
              </a:rPr>
              <a:t>0.76</a:t>
            </a:r>
            <a:endParaRPr lang="en-US" sz="2600" dirty="0"/>
          </a:p>
        </p:txBody>
      </p:sp>
      <p:sp>
        <p:nvSpPr>
          <p:cNvPr id="20" name="Text 16"/>
          <p:cNvSpPr txBox="1"/>
          <p:nvPr/>
        </p:nvSpPr>
        <p:spPr>
          <a:xfrm>
            <a:off x="6144768"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4</a:t>
            </a:r>
            <a:endParaRPr lang="en-US" sz="1300" dirty="0"/>
          </a:p>
        </p:txBody>
      </p:sp>
      <p:sp>
        <p:nvSpPr>
          <p:cNvPr id="21" name="layer 5"/>
          <p:cNvSpPr/>
          <p:nvPr/>
        </p:nvSpPr>
        <p:spPr>
          <a:xfrm>
            <a:off x="8010144" y="5159969"/>
            <a:ext cx="1737360" cy="1057951"/>
          </a:xfrm>
          <a:prstGeom prst="roundRect">
            <a:avLst>
              <a:gd name="adj" fmla="val 10372"/>
            </a:avLst>
          </a:prstGeom>
          <a:solidFill>
            <a:schemeClr val="accent5"/>
          </a:solidFill>
          <a:ln w="12700">
            <a:solidFill>
              <a:schemeClr val="accent5"/>
            </a:solidFill>
            <a:prstDash val="solid"/>
          </a:ln>
        </p:spPr>
      </p:sp>
      <p:sp>
        <p:nvSpPr>
          <p:cNvPr id="22" name="Text 18"/>
          <p:cNvSpPr txBox="1"/>
          <p:nvPr/>
        </p:nvSpPr>
        <p:spPr>
          <a:xfrm>
            <a:off x="8010144" y="5205689"/>
            <a:ext cx="1737360" cy="548640"/>
          </a:xfrm>
          <a:prstGeom prst="rect">
            <a:avLst/>
          </a:prstGeom>
          <a:noFill/>
          <a:ln/>
        </p:spPr>
        <p:txBody>
          <a:bodyPr wrap="square" lIns="0" tIns="0" rIns="0" bIns="0" rtlCol="0" anchor="b"/>
          <a:lstStyle/>
          <a:p>
            <a:pPr algn="ctr" indent="0" marL="0">
              <a:buNone/>
            </a:pPr>
            <a:r>
              <a:rPr lang="en-US" sz="2600" b="1" dirty="0">
                <a:solidFill>
                  <a:schemeClr val="tx1"/>
                </a:solidFill>
                <a:latin typeface="Cambria" pitchFamily="34" charset="0"/>
                <a:ea typeface="Cambria" pitchFamily="34" charset="-122"/>
                <a:cs typeface="Cambria" pitchFamily="34" charset="-120"/>
              </a:rPr>
              <a:t>0.70</a:t>
            </a:r>
            <a:endParaRPr lang="en-US" sz="2600" dirty="0"/>
          </a:p>
        </p:txBody>
      </p:sp>
      <p:sp>
        <p:nvSpPr>
          <p:cNvPr id="23" name="Text 19"/>
          <p:cNvSpPr txBox="1"/>
          <p:nvPr/>
        </p:nvSpPr>
        <p:spPr>
          <a:xfrm>
            <a:off x="8010144"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5</a:t>
            </a:r>
            <a:endParaRPr lang="en-US" sz="1300" dirty="0"/>
          </a:p>
        </p:txBody>
      </p:sp>
      <p:sp>
        <p:nvSpPr>
          <p:cNvPr id="24" name="layer 6"/>
          <p:cNvSpPr/>
          <p:nvPr/>
        </p:nvSpPr>
        <p:spPr>
          <a:xfrm>
            <a:off x="9875520" y="5159969"/>
            <a:ext cx="1737360" cy="1057951"/>
          </a:xfrm>
          <a:prstGeom prst="roundRect">
            <a:avLst>
              <a:gd name="adj" fmla="val 10372"/>
            </a:avLst>
          </a:prstGeom>
          <a:solidFill>
            <a:schemeClr val="accent5"/>
          </a:solidFill>
          <a:ln w="12700">
            <a:solidFill>
              <a:schemeClr val="accent5"/>
            </a:solidFill>
            <a:prstDash val="solid"/>
          </a:ln>
        </p:spPr>
      </p:sp>
      <p:sp>
        <p:nvSpPr>
          <p:cNvPr id="25" name="Text 21"/>
          <p:cNvSpPr txBox="1"/>
          <p:nvPr/>
        </p:nvSpPr>
        <p:spPr>
          <a:xfrm>
            <a:off x="9875520" y="5205689"/>
            <a:ext cx="1737360" cy="548640"/>
          </a:xfrm>
          <a:prstGeom prst="rect">
            <a:avLst/>
          </a:prstGeom>
          <a:noFill/>
          <a:ln/>
        </p:spPr>
        <p:txBody>
          <a:bodyPr wrap="square" lIns="0" tIns="0" rIns="0" bIns="0" rtlCol="0" anchor="b"/>
          <a:lstStyle/>
          <a:p>
            <a:pPr algn="ctr" indent="0" marL="0">
              <a:buNone/>
            </a:pPr>
            <a:r>
              <a:rPr lang="en-US" sz="2600" b="1" dirty="0">
                <a:solidFill>
                  <a:schemeClr val="tx1"/>
                </a:solidFill>
                <a:latin typeface="Cambria" pitchFamily="34" charset="0"/>
                <a:ea typeface="Cambria" pitchFamily="34" charset="-122"/>
                <a:cs typeface="Cambria" pitchFamily="34" charset="-120"/>
              </a:rPr>
              <a:t>0.69</a:t>
            </a:r>
            <a:endParaRPr lang="en-US" sz="2600" dirty="0"/>
          </a:p>
        </p:txBody>
      </p:sp>
      <p:sp>
        <p:nvSpPr>
          <p:cNvPr id="26" name="Text 22"/>
          <p:cNvSpPr txBox="1"/>
          <p:nvPr/>
        </p:nvSpPr>
        <p:spPr>
          <a:xfrm>
            <a:off x="9875520" y="5754329"/>
            <a:ext cx="1737360" cy="274320"/>
          </a:xfrm>
          <a:prstGeom prst="rect">
            <a:avLst/>
          </a:prstGeom>
          <a:noFill/>
          <a:ln/>
        </p:spPr>
        <p:txBody>
          <a:bodyPr wrap="square" lIns="0" tIns="0" rIns="0" bIns="0" rtlCol="0" anchor="t"/>
          <a:lstStyle/>
          <a:p>
            <a:pPr algn="ctr" indent="0" marL="0">
              <a:buNone/>
            </a:pPr>
            <a:r>
              <a:rPr lang="en-US" sz="1300" dirty="0">
                <a:solidFill>
                  <a:schemeClr val="tx2"/>
                </a:solidFill>
              </a:rPr>
              <a:t>layer 6</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3017520"/>
                <a:gridCol w="2834640"/>
                <a:gridCol w="2468880"/>
              </a:tblGrid>
              <a:tr h="640080">
                <a:tc>
                  <a:txBody>
                    <a:bodyPr/>
                    <a:lstStyle/>
                    <a:p>
                      <a:pPr indent="0" marL="0">
                        <a:buNone/>
                      </a:pPr>
                      <a:r>
                        <a:rPr lang="en-US" sz="1500" b="1" dirty="0">
                          <a:solidFill>
                            <a:schemeClr val="bg1"/>
                          </a:solidFill>
                        </a:rPr>
                        <a:t>Method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changes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Main benefit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Cost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40080">
                <a:tc>
                  <a:txBody>
                    <a:bodyPr/>
                    <a:lstStyle/>
                    <a:p>
                      <a:pPr indent="0" marL="0">
                        <a:buNone/>
                      </a:pPr>
                      <a:r>
                        <a:rPr lang="en-US" sz="1500" b="1" dirty="0">
                          <a:solidFill>
                            <a:schemeClr val="tx1"/>
                          </a:solidFill>
                        </a:rPr>
                        <a:t>Multi-head 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baseline: separate Q, K, V per head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most expressive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largest KV cache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accent1"/>
                          </a:solidFill>
                        </a:rPr>
                        <a:t>Grouped-query 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K/V heads shared within groups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cache ÷ H/G, quality close to MHA</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slightly less expressive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tx1"/>
                          </a:solidFill>
                        </a:rPr>
                        <a:t>Multi-query 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one K/V head for all query heads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smallest cache, fastest decoding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quality can drop</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1"/>
                          </a:solidFill>
                        </a:rPr>
                        <a:t>KV cache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stores past K, V during generation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no recomputation of past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memory grows with batch × length</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tx1"/>
                          </a:solidFill>
                        </a:rPr>
                        <a:t>Sliding window (optional)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each token sees only the last W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cache capped at W per layer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far context reachable only indirectly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1"/>
                          </a:solidFill>
                        </a:rPr>
                        <a:t>Attention sinks (optional)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always keep the first few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stable long generation with a window</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 few extra cached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Common misconceptions</a:t>
            </a:r>
            <a:endParaRPr lang="en-US" sz="3200" dirty="0"/>
          </a:p>
        </p:txBody>
      </p:sp>
      <p:sp>
        <p:nvSpPr>
          <p:cNvPr id="4" name="myth 1"/>
          <p:cNvSpPr/>
          <p:nvPr/>
        </p:nvSpPr>
        <p:spPr>
          <a:xfrm>
            <a:off x="548640" y="1280160"/>
            <a:ext cx="5440680" cy="2286000"/>
          </a:xfrm>
          <a:prstGeom prst="roundRect">
            <a:avLst>
              <a:gd name="adj" fmla="val 4800"/>
            </a:avLst>
          </a:prstGeom>
          <a:solidFill>
            <a:schemeClr val="bg2"/>
          </a:solidFill>
          <a:ln w="12700">
            <a:solidFill>
              <a:schemeClr val="bg2"/>
            </a:solidFill>
            <a:prstDash val="solid"/>
          </a:ln>
        </p:spPr>
      </p:sp>
      <p:sp>
        <p:nvSpPr>
          <p:cNvPr id="5" name="Text 2"/>
          <p:cNvSpPr txBox="1"/>
          <p:nvPr/>
        </p:nvSpPr>
        <p:spPr>
          <a:xfrm>
            <a:off x="822960" y="146304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“MQA removes heads.”</a:t>
            </a:r>
            <a:endParaRPr lang="en-US" sz="1700" dirty="0"/>
          </a:p>
        </p:txBody>
      </p:sp>
      <p:sp>
        <p:nvSpPr>
          <p:cNvPr id="6" name="Text 3"/>
          <p:cNvSpPr txBox="1"/>
          <p:nvPr/>
        </p:nvSpPr>
        <p:spPr>
          <a:xfrm>
            <a:off x="822960" y="233172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It keeps H query heads and H attention patterns. Only the K/V heads are shared.</a:t>
            </a:r>
            <a:endParaRPr lang="en-US" sz="1500" dirty="0"/>
          </a:p>
        </p:txBody>
      </p:sp>
      <p:sp>
        <p:nvSpPr>
          <p:cNvPr id="7" name="myth 2"/>
          <p:cNvSpPr/>
          <p:nvPr/>
        </p:nvSpPr>
        <p:spPr>
          <a:xfrm>
            <a:off x="6172200" y="1280160"/>
            <a:ext cx="5440680" cy="2286000"/>
          </a:xfrm>
          <a:prstGeom prst="roundRect">
            <a:avLst>
              <a:gd name="adj" fmla="val 4800"/>
            </a:avLst>
          </a:prstGeom>
          <a:solidFill>
            <a:schemeClr val="bg2"/>
          </a:solidFill>
          <a:ln w="12700">
            <a:solidFill>
              <a:schemeClr val="bg2"/>
            </a:solidFill>
            <a:prstDash val="solid"/>
          </a:ln>
        </p:spPr>
      </p:sp>
      <p:sp>
        <p:nvSpPr>
          <p:cNvPr id="8" name="Text 5"/>
          <p:cNvSpPr txBox="1"/>
          <p:nvPr/>
        </p:nvSpPr>
        <p:spPr>
          <a:xfrm>
            <a:off x="6446520" y="146304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“MQA changes the attention formula.”</a:t>
            </a:r>
            <a:endParaRPr lang="en-US" sz="1700" dirty="0"/>
          </a:p>
        </p:txBody>
      </p:sp>
      <p:sp>
        <p:nvSpPr>
          <p:cNvPr id="9" name="Text 6"/>
          <p:cNvSpPr txBox="1"/>
          <p:nvPr/>
        </p:nvSpPr>
        <p:spPr>
          <a:xfrm>
            <a:off x="6446520" y="233172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Only the shapes and the sharing of K and V change; each head computes softmax(QKᵀ/√dₖ)V as before.</a:t>
            </a:r>
            <a:endParaRPr lang="en-US" sz="1500" dirty="0"/>
          </a:p>
        </p:txBody>
      </p:sp>
      <p:sp>
        <p:nvSpPr>
          <p:cNvPr id="10" name="myth 3"/>
          <p:cNvSpPr/>
          <p:nvPr/>
        </p:nvSpPr>
        <p:spPr>
          <a:xfrm>
            <a:off x="548640" y="3749040"/>
            <a:ext cx="5440680" cy="2286000"/>
          </a:xfrm>
          <a:prstGeom prst="roundRect">
            <a:avLst>
              <a:gd name="adj" fmla="val 4800"/>
            </a:avLst>
          </a:prstGeom>
          <a:solidFill>
            <a:schemeClr val="bg2"/>
          </a:solidFill>
          <a:ln w="12700">
            <a:solidFill>
              <a:schemeClr val="bg2"/>
            </a:solidFill>
            <a:prstDash val="solid"/>
          </a:ln>
        </p:spPr>
      </p:sp>
      <p:sp>
        <p:nvSpPr>
          <p:cNvPr id="11" name="Text 8"/>
          <p:cNvSpPr txBox="1"/>
          <p:nvPr/>
        </p:nvSpPr>
        <p:spPr>
          <a:xfrm>
            <a:off x="822960" y="393192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“MQA mainly speeds up training.”</a:t>
            </a:r>
            <a:endParaRPr lang="en-US" sz="1700" dirty="0"/>
          </a:p>
        </p:txBody>
      </p:sp>
      <p:sp>
        <p:nvSpPr>
          <p:cNvPr id="12" name="Text 9"/>
          <p:cNvSpPr txBox="1"/>
          <p:nvPr/>
        </p:nvSpPr>
        <p:spPr>
          <a:xfrm>
            <a:off x="822960" y="480060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The main benefit is in decoding, where reading the cache is the bottleneck.</a:t>
            </a:r>
            <a:endParaRPr lang="en-US" sz="1500" dirty="0"/>
          </a:p>
        </p:txBody>
      </p:sp>
      <p:sp>
        <p:nvSpPr>
          <p:cNvPr id="13" name="myth 4"/>
          <p:cNvSpPr/>
          <p:nvPr/>
        </p:nvSpPr>
        <p:spPr>
          <a:xfrm>
            <a:off x="6172200" y="3749040"/>
            <a:ext cx="5440680" cy="2286000"/>
          </a:xfrm>
          <a:prstGeom prst="roundRect">
            <a:avLst>
              <a:gd name="adj" fmla="val 4800"/>
            </a:avLst>
          </a:prstGeom>
          <a:solidFill>
            <a:schemeClr val="bg2"/>
          </a:solidFill>
          <a:ln w="12700">
            <a:solidFill>
              <a:schemeClr val="bg2"/>
            </a:solidFill>
            <a:prstDash val="solid"/>
          </a:ln>
        </p:spPr>
      </p:sp>
      <p:sp>
        <p:nvSpPr>
          <p:cNvPr id="14" name="Text 11"/>
          <p:cNvSpPr txBox="1"/>
          <p:nvPr/>
        </p:nvSpPr>
        <p:spPr>
          <a:xfrm>
            <a:off x="6446520" y="393192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“A smaller KV cache means smaller attention scores.”</a:t>
            </a:r>
            <a:endParaRPr lang="en-US" sz="1700" dirty="0"/>
          </a:p>
        </p:txBody>
      </p:sp>
      <p:sp>
        <p:nvSpPr>
          <p:cNvPr id="15" name="Text 12"/>
          <p:cNvSpPr txBox="1"/>
          <p:nvPr/>
        </p:nvSpPr>
        <p:spPr>
          <a:xfrm>
            <a:off x="6446520" y="480060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Scores stay (B, H, Tq, Tk). The saving is in what is stored and read.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1732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With H = 16, how many K/V heads are cached by MHA, by GQA with 4 groups, and by MQA?</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08760"/>
            <a:ext cx="457200" cy="457200"/>
          </a:xfrm>
          <a:prstGeom prst="ellipse">
            <a:avLst/>
          </a:prstGeom>
          <a:solidFill>
            <a:schemeClr val="accent4"/>
          </a:solidFill>
          <a:ln w="12700">
            <a:solidFill>
              <a:schemeClr val="accent4"/>
            </a:solidFill>
            <a:prstDash val="solid"/>
          </a:ln>
        </p:spPr>
      </p:sp>
      <p:sp>
        <p:nvSpPr>
          <p:cNvPr id="10" name="Text 7"/>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4088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can MQA heads produce different attention patterns when they share keys?</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154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1732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During decoding, why does reading fewer bytes help more than computing fewer FLOPs?</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154680"/>
            <a:ext cx="457200" cy="457200"/>
          </a:xfrm>
          <a:prstGeom prst="ellipse">
            <a:avLst/>
          </a:prstGeom>
          <a:solidFill>
            <a:schemeClr val="accent4"/>
          </a:solidFill>
          <a:ln w="12700">
            <a:solidFill>
              <a:schemeClr val="accent4"/>
            </a:solidFill>
            <a:prstDash val="solid"/>
          </a:ln>
        </p:spPr>
      </p:sp>
      <p:sp>
        <p:nvSpPr>
          <p:cNvPr id="18" name="Text 15"/>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4088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In GroupedQueryAttention, why is the cache stored before repeat_interleave?</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48006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1732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might GQA be preferred over MQA?</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480060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640080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4088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does a plain sliding window break once the first tokens are evicted? How do sinks fix it? (optional)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Practice and further reading</a:t>
            </a:r>
            <a:endParaRPr lang="en-US" sz="3200" dirty="0"/>
          </a:p>
        </p:txBody>
      </p:sp>
      <p:sp>
        <p:nvSpPr>
          <p:cNvPr id="4" name="practice"/>
          <p:cNvSpPr/>
          <p:nvPr/>
        </p:nvSpPr>
        <p:spPr>
          <a:xfrm>
            <a:off x="548640" y="1280160"/>
            <a:ext cx="5120640" cy="4846320"/>
          </a:xfrm>
          <a:prstGeom prst="roundRect">
            <a:avLst>
              <a:gd name="adj" fmla="val 2264"/>
            </a:avLst>
          </a:prstGeom>
          <a:solidFill>
            <a:schemeClr val="bg2"/>
          </a:solidFill>
          <a:ln w="12700">
            <a:solidFill>
              <a:schemeClr val="bg2"/>
            </a:solidFill>
            <a:prstDash val="solid"/>
          </a:ln>
        </p:spPr>
      </p:sp>
      <p:sp>
        <p:nvSpPr>
          <p:cNvPr id="5" name="Text 2"/>
          <p:cNvSpPr txBox="1"/>
          <p:nvPr/>
        </p:nvSpPr>
        <p:spPr>
          <a:xfrm>
            <a:off x="822960" y="146304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Practice</a:t>
            </a:r>
            <a:endParaRPr lang="en-US" sz="2200" dirty="0"/>
          </a:p>
        </p:txBody>
      </p:sp>
      <p:sp>
        <p:nvSpPr>
          <p:cNvPr id="6" name="Text 3"/>
          <p:cNvSpPr txBox="1"/>
          <p:nvPr/>
        </p:nvSpPr>
        <p:spPr>
          <a:xfrm>
            <a:off x="822960" y="2011680"/>
            <a:ext cx="4572000" cy="548640"/>
          </a:xfrm>
          <a:prstGeom prst="rect">
            <a:avLst/>
          </a:prstGeom>
          <a:noFill/>
          <a:ln/>
        </p:spPr>
        <p:txBody>
          <a:bodyPr wrap="square" lIns="0" tIns="0" rIns="0" bIns="0" rtlCol="0" anchor="t"/>
          <a:lstStyle/>
          <a:p>
            <a:pPr indent="0" marL="0">
              <a:buNone/>
            </a:pPr>
            <a:r>
              <a:rPr lang="en-US" sz="1500" b="1" dirty="0">
                <a:solidFill>
                  <a:schemeClr val="tx1"/>
                </a:solidFill>
              </a:rPr>
              <a:t>Notebook: </a:t>
            </a:r>
            <a:r>
              <a:rPr lang="en-US" sz="1200" dirty="0">
                <a:solidFill>
                  <a:schemeClr val="tx1"/>
                </a:solidFill>
                <a:latin typeface="Courier New" pitchFamily="34" charset="0"/>
                <a:ea typeface="Courier New" pitchFamily="34" charset="-122"/>
                <a:cs typeface="Courier New" pitchFamily="34" charset="-120"/>
              </a:rPr>
              <a:t>module2/transformers/attention_mechanisms.ipynb</a:t>
            </a:r>
            <a:endParaRPr lang="en-US" sz="1500" dirty="0"/>
          </a:p>
        </p:txBody>
      </p:sp>
      <p:sp>
        <p:nvSpPr>
          <p:cNvPr id="7" name="Text 4"/>
          <p:cNvSpPr txBox="1"/>
          <p:nvPr/>
        </p:nvSpPr>
        <p:spPr>
          <a:xfrm>
            <a:off x="822960" y="2651760"/>
            <a:ext cx="4572000" cy="2194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answer the seven questions in Section 9</a:t>
            </a:r>
            <a:endParaRPr lang="en-US" sz="1500" dirty="0"/>
          </a:p>
          <a:p>
            <a:pPr marL="228600" indent="-228600">
              <a:spcAft>
                <a:spcPts val="800"/>
              </a:spcAft>
              <a:buSzPct val="100000"/>
              <a:buChar char="•"/>
            </a:pPr>
            <a:r>
              <a:rPr lang="en-US" sz="1500" dirty="0">
                <a:solidFill>
                  <a:schemeClr val="tx1"/>
                </a:solidFill>
              </a:rPr>
              <a:t>change </a:t>
            </a:r>
            <a:r>
              <a:rPr lang="en-US" sz="1500" dirty="0">
                <a:solidFill>
                  <a:schemeClr val="tx1"/>
                </a:solidFill>
                <a:latin typeface="Courier New" pitchFamily="34" charset="0"/>
                <a:ea typeface="Courier New" pitchFamily="34" charset="-122"/>
                <a:cs typeface="Courier New" pitchFamily="34" charset="-120"/>
              </a:rPr>
              <a:t>n_kv_heads</a:t>
            </a:r>
            <a:r>
              <a:rPr lang="en-US" sz="1500" dirty="0">
                <a:solidFill>
                  <a:schemeClr val="tx1"/>
                </a:solidFill>
              </a:rPr>
              <a:t> and predict the cached shapes</a:t>
            </a:r>
            <a:endParaRPr lang="en-US" sz="1500" dirty="0"/>
          </a:p>
          <a:p>
            <a:pPr marL="228600" indent="-228600">
              <a:spcAft>
                <a:spcPts val="800"/>
              </a:spcAft>
              <a:buSzPct val="100000"/>
              <a:buChar char="•"/>
            </a:pPr>
            <a:r>
              <a:rPr lang="en-US" sz="1500" dirty="0">
                <a:solidFill>
                  <a:schemeClr val="tx1"/>
                </a:solidFill>
              </a:rPr>
              <a:t>compute the KV cache for your own model sizes with </a:t>
            </a:r>
            <a:r>
              <a:rPr lang="en-US" sz="1500" dirty="0">
                <a:solidFill>
                  <a:schemeClr val="tx1"/>
                </a:solidFill>
                <a:latin typeface="Courier New" pitchFamily="34" charset="0"/>
                <a:ea typeface="Courier New" pitchFamily="34" charset="-122"/>
                <a:cs typeface="Courier New" pitchFamily="34" charset="-120"/>
              </a:rPr>
              <a:t>kv_cache_bytes</a:t>
            </a:r>
            <a:endParaRPr lang="en-US" sz="1500" dirty="0"/>
          </a:p>
          <a:p>
            <a:pPr marL="228600" indent="-228600">
              <a:spcAft>
                <a:spcPts val="800"/>
              </a:spcAft>
              <a:buSzPct val="100000"/>
              <a:buChar char="•"/>
            </a:pPr>
            <a:r>
              <a:rPr lang="en-US" sz="1500" dirty="0">
                <a:solidFill>
                  <a:schemeClr val="tx1"/>
                </a:solidFill>
              </a:rPr>
              <a:t>change </a:t>
            </a:r>
            <a:r>
              <a:rPr lang="en-US" sz="1500" dirty="0">
                <a:solidFill>
                  <a:schemeClr val="tx1"/>
                </a:solidFill>
                <a:latin typeface="Courier New" pitchFamily="34" charset="0"/>
                <a:ea typeface="Courier New" pitchFamily="34" charset="-122"/>
                <a:cs typeface="Courier New" pitchFamily="34" charset="-120"/>
              </a:rPr>
              <a:t>W</a:t>
            </a:r>
            <a:r>
              <a:rPr lang="en-US" sz="1500" dirty="0">
                <a:solidFill>
                  <a:schemeClr val="tx1"/>
                </a:solidFill>
              </a:rPr>
              <a:t> and </a:t>
            </a:r>
            <a:r>
              <a:rPr lang="en-US" sz="1500" dirty="0">
                <a:solidFill>
                  <a:schemeClr val="tx1"/>
                </a:solidFill>
                <a:latin typeface="Courier New" pitchFamily="34" charset="0"/>
                <a:ea typeface="Courier New" pitchFamily="34" charset="-122"/>
                <a:cs typeface="Courier New" pitchFamily="34" charset="-120"/>
              </a:rPr>
              <a:t>n_sink</a:t>
            </a:r>
            <a:r>
              <a:rPr lang="en-US" sz="1500" dirty="0">
                <a:solidFill>
                  <a:schemeClr val="tx1"/>
                </a:solidFill>
              </a:rPr>
              <a:t> in </a:t>
            </a:r>
            <a:r>
              <a:rPr lang="en-US" sz="1500" dirty="0">
                <a:solidFill>
                  <a:schemeClr val="tx1"/>
                </a:solidFill>
                <a:latin typeface="Courier New" pitchFamily="34" charset="0"/>
                <a:ea typeface="Courier New" pitchFamily="34" charset="-122"/>
                <a:cs typeface="Courier New" pitchFamily="34" charset="-120"/>
              </a:rPr>
              <a:t>window_mask</a:t>
            </a:r>
            <a:r>
              <a:rPr lang="en-US" sz="1500" dirty="0">
                <a:solidFill>
                  <a:schemeClr val="tx1"/>
                </a:solidFill>
              </a:rPr>
              <a:t> and predict the plot</a:t>
            </a:r>
            <a:endParaRPr lang="en-US" sz="1500" dirty="0"/>
          </a:p>
        </p:txBody>
      </p:sp>
      <p:sp>
        <p:nvSpPr>
          <p:cNvPr id="8" name="Text 5"/>
          <p:cNvSpPr txBox="1"/>
          <p:nvPr/>
        </p:nvSpPr>
        <p:spPr>
          <a:xfrm>
            <a:off x="822960" y="5074920"/>
            <a:ext cx="4572000" cy="822960"/>
          </a:xfrm>
          <a:prstGeom prst="rect">
            <a:avLst/>
          </a:prstGeom>
          <a:noFill/>
          <a:ln/>
        </p:spPr>
        <p:txBody>
          <a:bodyPr wrap="square" lIns="0" tIns="0" rIns="0" bIns="0" rtlCol="0" anchor="t"/>
          <a:lstStyle/>
          <a:p>
            <a:pPr indent="0" marL="0">
              <a:buNone/>
            </a:pPr>
            <a:r>
              <a:rPr lang="en-US" sz="1500" b="1" dirty="0">
                <a:solidFill>
                  <a:schemeClr val="tx1"/>
                </a:solidFill>
              </a:rPr>
              <a:t>Related: </a:t>
            </a:r>
            <a:r>
              <a:rPr lang="en-US" sz="1500" dirty="0">
                <a:solidFill>
                  <a:schemeClr val="tx1"/>
                </a:solidFill>
              </a:rPr>
              <a:t>Key–value cache · Positional encodings (RoPE positions in a rolling cache) · FlashAttention · GPT-2</a:t>
            </a:r>
            <a:endParaRPr lang="en-US" sz="1500" dirty="0"/>
          </a:p>
        </p:txBody>
      </p:sp>
      <p:sp>
        <p:nvSpPr>
          <p:cNvPr id="9" name="Text 6"/>
          <p:cNvSpPr txBox="1"/>
          <p:nvPr/>
        </p:nvSpPr>
        <p:spPr>
          <a:xfrm>
            <a:off x="6035040" y="1463040"/>
            <a:ext cx="557784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Further reading</a:t>
            </a:r>
            <a:endParaRPr lang="en-US" sz="2200" dirty="0"/>
          </a:p>
        </p:txBody>
      </p:sp>
      <p:sp>
        <p:nvSpPr>
          <p:cNvPr id="10" name="Text 7"/>
          <p:cNvSpPr txBox="1"/>
          <p:nvPr/>
        </p:nvSpPr>
        <p:spPr>
          <a:xfrm>
            <a:off x="6035040" y="2011680"/>
            <a:ext cx="5577840" cy="41148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Shazeer (2019). </a:t>
            </a:r>
            <a:r>
              <a:rPr lang="en-US" sz="1400" dirty="0">
                <a:solidFill>
                  <a:schemeClr val="tx1"/>
                </a:solidFill>
              </a:rPr>
              <a:t>Fast Transformer Decoding: One Write-Head is All You Need. arXiv:1911.02150 (MQA)</a:t>
            </a:r>
            <a:endParaRPr lang="en-US" sz="1400" dirty="0"/>
          </a:p>
          <a:p>
            <a:pPr marL="228600" indent="-228600">
              <a:spcAft>
                <a:spcPts val="800"/>
              </a:spcAft>
              <a:buSzPct val="100000"/>
              <a:buChar char="•"/>
            </a:pPr>
            <a:r>
              <a:rPr lang="en-US" sz="1400" b="1" dirty="0">
                <a:solidFill>
                  <a:schemeClr val="tx1"/>
                </a:solidFill>
              </a:rPr>
              <a:t>Ainslie et al. (2023). </a:t>
            </a:r>
            <a:r>
              <a:rPr lang="en-US" sz="1400" dirty="0">
                <a:solidFill>
                  <a:schemeClr val="tx1"/>
                </a:solidFill>
              </a:rPr>
              <a:t>GQA: Training Generalized Multi-Query Transformer Models from Multi-Head Checkpoints. arXiv:2305.13245</a:t>
            </a:r>
            <a:endParaRPr lang="en-US" sz="1400" dirty="0"/>
          </a:p>
          <a:p>
            <a:pPr marL="228600" indent="-228600">
              <a:spcAft>
                <a:spcPts val="800"/>
              </a:spcAft>
              <a:buSzPct val="100000"/>
              <a:buChar char="•"/>
            </a:pPr>
            <a:r>
              <a:rPr lang="en-US" sz="1400" b="1" dirty="0">
                <a:solidFill>
                  <a:schemeClr val="tx1"/>
                </a:solidFill>
              </a:rPr>
              <a:t>Beltagy et al. (2020). </a:t>
            </a:r>
            <a:r>
              <a:rPr lang="en-US" sz="1400" dirty="0">
                <a:solidFill>
                  <a:schemeClr val="tx1"/>
                </a:solidFill>
              </a:rPr>
              <a:t>Longformer: The Long-Document Transformer. arXiv:2004.05150</a:t>
            </a:r>
            <a:endParaRPr lang="en-US" sz="1400" dirty="0"/>
          </a:p>
          <a:p>
            <a:pPr marL="228600" indent="-228600">
              <a:spcAft>
                <a:spcPts val="800"/>
              </a:spcAft>
              <a:buSzPct val="100000"/>
              <a:buChar char="•"/>
            </a:pPr>
            <a:r>
              <a:rPr lang="en-US" sz="1400" b="1" dirty="0">
                <a:solidFill>
                  <a:schemeClr val="tx1"/>
                </a:solidFill>
              </a:rPr>
              <a:t>Xiao et al. (2023). </a:t>
            </a:r>
            <a:r>
              <a:rPr lang="en-US" sz="1400" dirty="0">
                <a:solidFill>
                  <a:schemeClr val="tx1"/>
                </a:solidFill>
              </a:rPr>
              <a:t>Efficient Streaming Language Models with Attention Sinks. arXiv:2309.17453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Attention mechanisms">
      <a:dk1>
        <a:srgbClr val="1B2238"/>
      </a:dk1>
      <a:lt1>
        <a:srgbClr val="FFFFFF"/>
      </a:lt1>
      <a:dk2>
        <a:srgbClr val="5A6478"/>
      </a:dk2>
      <a:lt2>
        <a:srgbClr val="EEF1F6"/>
      </a:lt2>
      <a:accent1>
        <a:srgbClr val="0F7B6C"/>
      </a:accent1>
      <a:accent2>
        <a:srgbClr val="E0A526"/>
      </a:accent2>
      <a:accent3>
        <a:srgbClr val="C8443F"/>
      </a:accent3>
      <a:accent4>
        <a:srgbClr val="2B6CB0"/>
      </a:accent4>
      <a:accent5>
        <a:srgbClr val="FCF3DC"/>
      </a:accent5>
      <a:accent6>
        <a:srgbClr val="FBE7E6"/>
      </a:accent6>
      <a:hlink>
        <a:srgbClr val="2B6CB0"/>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 mechanisms: multi-head, multi-query, and grouped-query attention</dc:title>
  <dc:subject>PptxGenJS Presentation</dc:subject>
  <dc:creator>Generative AI (ABAI3009L), Bennett University</dc:creator>
  <cp:lastModifiedBy>Generative AI (ABAI3009L), Bennett University</cp:lastModifiedBy>
  <cp:revision>1</cp:revision>
  <dcterms:created xsi:type="dcterms:W3CDTF">2026-10-27T06:59:01Z</dcterms:created>
  <dcterms:modified xsi:type="dcterms:W3CDTF">2026-10-27T06:59:01Z</dcterms:modified>
</cp:coreProperties>
</file>