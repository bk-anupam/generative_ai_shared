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b7a8c2-35db-0d1c-9521-fadc61e92646}">
          <p14:sldIdLst>
            <p14:sldId id="256"/>
            <p14:sldId id="257"/>
            <p14:sldId id="258"/>
            <p14:sldId id="259"/>
          </p14:sldIdLst>
        </p14:section>
        <p14:section name="Architecture" id="{5db7eb21-57e7-1053-4156-6d8177fac800}">
          <p14:sldIdLst>
            <p14:sldId id="260"/>
            <p14:sldId id="261"/>
            <p14:sldId id="262"/>
            <p14:sldId id="263"/>
            <p14:sldId id="264"/>
          </p14:sldIdLst>
        </p14:section>
        <p14:section name="Live demo: a tiny GPT-2" id="{08f017af-7e6a-d79a-4af3-5c4e107e9f32}">
          <p14:sldIdLst>
            <p14:sldId id="265"/>
          </p14:sldIdLst>
        </p14:section>
        <p14:section name="Training and generation" id="{85bccef7-4556-86f8-f667-3ed5431d7efe}">
          <p14:sldIdLst>
            <p14:sldId id="266"/>
            <p14:sldId id="267"/>
            <p14:sldId id="268"/>
            <p14:sldId id="269"/>
            <p14:sldId id="270"/>
          </p14:sldIdLst>
        </p14:section>
        <p14:section name="Tasks as next-token prediction" id="{de11341e-4471-b4ed-b9e8-3a93357e2732}">
          <p14:sldIdLst>
            <p14:sldId id="271"/>
            <p14:sldId id="272"/>
            <p14:sldId id="273"/>
            <p14:sldId id="274"/>
          </p14:sldIdLst>
        </p14:section>
        <p14:section name="Wrap-up" id="{659ab54b-161b-97b8-ce69-7ade612ce6c3}">
          <p14:sldIdLst>
            <p14:sldId id="275"/>
            <p14:sldId id="276"/>
          </p14:sldIdLst>
        </p14:section>
        <p14:section name="Supplement" id="{5b5af95f-f75b-e249-2c00-c25901a5d2c7}">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companion notebook in a second window and run it once top to bottom before class (under a minute on a CPU, no downloads), so every live demo already has output. Amber 'LIVE DEMO' tags mark where to switch to the notebook; the cell numbers are 0-based positions in the notebook. Suggested split for 60 minutes: slides 2-8 (about 15 min), notebook-led demos for slides 9-15 (about 35 min), slides 16-21 (about 10 min). The Supplement slides (GELU, parameter count) are for questions or later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concrete question on the slide: how does a model pick a plausible next token without looking at text that does not exist yet? Everything in the lecture answers that question. Preview the five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rule is exact, not an approximation: any probability over sequences factorizes this way. The only modeling choice is left-to-right order. Walk down the rows on the right: each row is one factor, the grey chips are what the model may see, the teal chip is what it must predict. The loss is the average negative log-probability of the teal chips. Perplexity is just e to the loss, read as 'as uncertain as a uniform choice among this many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checkpoints share the architecture and differ only in depth (L) and width (H). The parameter counts are what you get by counting the released checkpoints' weights; the paper itself reports 117M, 345M, 762M and 1542M. Sizes are fp32 weights only: training needs several times more memory (covered in the Module 3 fine-tuning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rows. The 'positions that give a loss' row is the one students most often miss: GPT-2 gets a training signal at every position, BERT only at the roughly 15 percent of positions it masked. GPT-2 keeps only the decoder stack and drops cross-attention, because there is no encoder. A prompt is conditioning context, not encoder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cell 4. During training the next token is already in the input, so without a mask position t could simply read token t+1. BERT can afford full attention because it replaces the answer with [MASK] before the model sees it. Spend a moment on the first confusion: [MASK] is an input token, the attention mask is a rule about which positions may read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input through the figure, naming the shape at each step: IDs (B, T), embeddings (B, T, D), the same shape out of every block, logits (B, T, V). The key idea at the bottom is what makes the whole design work: attention is the only place positions exchange information, so a single mask inside attention makes the entire model causal. Position embeddings are learned, unlike the original Transformer's sinusoids; most modern LLMs use RoPE instead (positional encodings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filing-cabinet picture: the query is your research topic, keys are folder labels, values are folder contents. Then trace the shapes along the bottom row, which is exactly what CausalSelfAttention.forward does in notebook cell 13: one fused D to 3D layer (c_attn) makes Q, K and V for all heads at once; view and transpose into (B, H, T, d_k); scores, mask, softmax; weighted values; merge heads; output projection (c_proj) lets the heads mix. For GPT-2 small, H = 12 and d_k = 64. The notebook's figure in cell 9 shows the same flow in more detail; dropout is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10. Point at row 0: it can see only itself, so its weight is exactly 1. Row 1 splits its weight between 'robot' and 'must'. Adding minus infinity before softmax gives the future exactly zero weight, and each row still sums to 1 because softmax normalizes over the allowed columns only. Emphasize the last bullet: the mask restricts what each position can read; it does not make computation sequential.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cell 13 only for the CausalSelfAttention class: fused c_attn, split, view and transpose into heads, mask, softmax, merge, c_proj. Then run the three checks in cells 21, 23 and 25. The unmasked model's leak is small (3.6e-2) only because untrained weights are small; the point is that it is not zero. The prefix-consistency gap of 6e-8 is floating-point rounding. Finish on the callout: this equivalence is why training scores every position in parallel and why a key-value cache gives the same answers during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targets are the inputs shifted left by one. Each position is scored against the token that follows it, and all B times T predictions are averaged by F.cross_entropy. Two warnings: the causal mask does not exclude padding from the loss (that needs ignored labels), and the first loss is a free bug detector. With V = 16 an untrained model should start near ln 16 = 2.77. Ask: what would a first loss of 9.0 suggest? (badly scaled initialization or a bug). And one of 0.5? (the model can see its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28 (300 AdamW steps, a few seconds on a CPU). After '1 2' the next token is 3 or 4, depending on what came before the 1, so a model that looks only at the current token cannot reach zero loss: it needs attention. The curve starts at 2.81, next to ln 16 = 2.77, which passes the sanity check, and falls to 0.035. A plateau before a second drop is a plausible sign of first learning the easy, current-token predictions and later the 3-or-4 decision; where it falls depends on seed and hardware. Stress the scope: this shows that optimization works, not a language-modeling result. There is no held-out set because the pattern is the whole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30. All four heads are lower-triangular because of the mask; where each head puts its weight inside the triangle was learned. Some heads look back a fixed distance, which is what the cycle requires. Do not over-read the maps: attention weights are a diagnostic, not an explanation. The residual stream and the feed-forward layers also carry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parallel because every target is already known. Generation is sequential because each new token is unknown until it is chosen, and only the last position's logits are used. The context window drops tokens older than context_size. The notebook's loop reruns the whole window at every step; a key-value cache stores each block's past keys and values so each step computes only the newest position. The prefix-consistency test is why the cache gives identical results (key-value cache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33, then change the temperature and top_k live. Prompt 1 2 3 1 2: the cycle says the next token is 4, which requires looking back three tokens. Greedy reproduces the cycle. Sampling at T = 1 stays on the pattern because the trained distribution is sharp. At T = 3 with top-3 the flattened distribution lets a 1 slip in where the cycle has a 2. The point to land: none of these settings touch the weights or the training loss; they only change how a token is chosen from the same logits.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GPT-2 has no summarize or translate mode. To use it for a task, write a prefix whose most likely continuation is the answer. Why can this work at all? These cues occur naturally in web text: TL;DR before a short summary, Q and A on FAQ pages, and the GPT-2 paper shows English sentences followed by French translations in WebText (Radford et al. 2019, Table 1). Nobody trained the model to summarize; it is a side effect of learning to continue text. Decoding is part of the method: for summarization the paper sampled 100 tokens with top-k, k = 2, and kept the first three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GPT-2 paper's numbers for its largest, 1.5B model, about 12 times GPT-2 small. Zero-shot means no task-specific training; the prompt may still contain examples, but the weights never change. Read the summarization row first: removing TL;DR drops the average ROUGE by 6.4 points, so the wording of the input alone selects the task. But the summaries barely beat three random sentences and lose clearly to the first three sentences. On CoQA the document is in the prompt and the paper reports that GPT-2 often relies on heuristics, such as answering a 'who' question with a name from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lever changes something different. Fine-tuning reuses exactly the loss from the training section, on task examples; a common choice is to score only the answer tokens. LoRA and other parameter-efficient methods update a small number of added parameters instead of all weights (Module 3). Retrieval teaches the model nothing: remove the documents and the knowledge is gone, which is why it suits facts that change often or are private. Prompting and retrieval both act on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rewards giving high probability to what came next in the training text; nothing in it checks correctness. The example is from the GPT-2 paper's question-answering results: asked which US state forms the western boundary of Montana, the model answered 'Montana' with 52.3 percent probability. Ask students what continuation the objective actually rewards here. Retrieval can help by putting real sources in the context, but the model can still ignore or misread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eleven questions at the end of the notebook. Good for think-pair-share in the last few minutes. Answers: 1) row 1 reads columns 0 and 1; the mask blocks 2 and 3. 2) all targets are known during training; prefix consistency shows the two agree. 3) every position could read its own target; the leakage test detects it. 4) attention is the only place positions mix. 7) ln 16 = 2.77 is the uniform-guess loss; 9.0 suggests badly scaled initialization or a bug. 9) neither: they only change how a token is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lab before the next practical session. The fine-tuning notebook in Module 3 picks up exactly where slide 18 leaves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Both activations are the input times a gate between 0 and 1. ReLU's gate is hard; GELU's gate is the standard normal CDF, so it is soft. Intuition: keep each input at random with probability Phi(x); GELU is the expected output. Read the derivative plot: ReLU's derivative is a step, GELU's is smooth, 0.5 at the origin, and still nonzero for moderately negative inputs, so a unit that is often negative still gets some gradient. GPT-2 uses the tanh approximation; the largest gap from the exact form on [-4, 4] is 4.7e-4. The case for GELU is mainly empirical; newer LLMs often use SiLU or SwiGLU.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Layer norm learns a scale and a shift per feature, 2D per norm. The fused projection is a D by 3D weight plus a 3D bias. Two-thirds of each block is the feed-forward network. Plugging in GPT-2 small's numbers gives 124,439,808, which matches the released checkpoint's 124M. Weight tying saves another V times D, about 38.6M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GPT-2 · Generative AI, Module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rPr>
              <a:t>GPT-2</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A causal Transformer for next-token generation</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2: Transformers &amp;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module2/transformers/GPT-2.ipynb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you will learn</a:t>
            </a:r>
            <a:endParaRPr lang="en-US" sz="3200" dirty="0"/>
          </a:p>
        </p:txBody>
      </p:sp>
      <p:sp>
        <p:nvSpPr>
          <p:cNvPr id="4" name="Shape 1"/>
          <p:cNvSpPr/>
          <p:nvPr/>
        </p:nvSpPr>
        <p:spPr>
          <a:xfrm>
            <a:off x="548640" y="1280160"/>
            <a:ext cx="1143000" cy="548640"/>
          </a:xfrm>
          <a:prstGeom prst="roundRect">
            <a:avLst>
              <a:gd name="adj" fmla="val 13333"/>
            </a:avLst>
          </a:prstGeom>
          <a:solidFill>
            <a:schemeClr val="bg2"/>
          </a:solidFill>
          <a:ln w="12700">
            <a:solidFill>
              <a:schemeClr val="bg2"/>
            </a:solidFill>
            <a:prstDash val="solid"/>
          </a:ln>
        </p:spPr>
      </p:sp>
      <p:sp>
        <p:nvSpPr>
          <p:cNvPr id="5" name="Text 2"/>
          <p:cNvSpPr txBox="1"/>
          <p:nvPr/>
        </p:nvSpPr>
        <p:spPr>
          <a:xfrm>
            <a:off x="548640" y="1280160"/>
            <a:ext cx="1143000" cy="54864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The</a:t>
            </a:r>
            <a:endParaRPr lang="en-US" sz="1800" dirty="0"/>
          </a:p>
        </p:txBody>
      </p:sp>
      <p:sp>
        <p:nvSpPr>
          <p:cNvPr id="6" name="Shape 3"/>
          <p:cNvSpPr/>
          <p:nvPr/>
        </p:nvSpPr>
        <p:spPr>
          <a:xfrm>
            <a:off x="1764792" y="1280160"/>
            <a:ext cx="1143000" cy="548640"/>
          </a:xfrm>
          <a:prstGeom prst="roundRect">
            <a:avLst>
              <a:gd name="adj" fmla="val 13333"/>
            </a:avLst>
          </a:prstGeom>
          <a:solidFill>
            <a:schemeClr val="bg2"/>
          </a:solidFill>
          <a:ln w="12700">
            <a:solidFill>
              <a:schemeClr val="bg2"/>
            </a:solidFill>
            <a:prstDash val="solid"/>
          </a:ln>
        </p:spPr>
      </p:sp>
      <p:sp>
        <p:nvSpPr>
          <p:cNvPr id="7" name="Text 4"/>
          <p:cNvSpPr txBox="1"/>
          <p:nvPr/>
        </p:nvSpPr>
        <p:spPr>
          <a:xfrm>
            <a:off x="1764792" y="1280160"/>
            <a:ext cx="1143000" cy="54864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robot</a:t>
            </a:r>
            <a:endParaRPr lang="en-US" sz="1800" dirty="0"/>
          </a:p>
        </p:txBody>
      </p:sp>
      <p:sp>
        <p:nvSpPr>
          <p:cNvPr id="8" name="Shape 5"/>
          <p:cNvSpPr/>
          <p:nvPr/>
        </p:nvSpPr>
        <p:spPr>
          <a:xfrm>
            <a:off x="2980944" y="1280160"/>
            <a:ext cx="1143000" cy="548640"/>
          </a:xfrm>
          <a:prstGeom prst="roundRect">
            <a:avLst>
              <a:gd name="adj" fmla="val 13333"/>
            </a:avLst>
          </a:prstGeom>
          <a:solidFill>
            <a:schemeClr val="bg2"/>
          </a:solidFill>
          <a:ln w="12700">
            <a:solidFill>
              <a:schemeClr val="bg2"/>
            </a:solidFill>
            <a:prstDash val="solid"/>
          </a:ln>
        </p:spPr>
      </p:sp>
      <p:sp>
        <p:nvSpPr>
          <p:cNvPr id="9" name="Text 6"/>
          <p:cNvSpPr txBox="1"/>
          <p:nvPr/>
        </p:nvSpPr>
        <p:spPr>
          <a:xfrm>
            <a:off x="2980944" y="1280160"/>
            <a:ext cx="1143000" cy="54864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opened</a:t>
            </a:r>
            <a:endParaRPr lang="en-US" sz="1800" dirty="0"/>
          </a:p>
        </p:txBody>
      </p:sp>
      <p:sp>
        <p:nvSpPr>
          <p:cNvPr id="10" name="Shape 7"/>
          <p:cNvSpPr/>
          <p:nvPr/>
        </p:nvSpPr>
        <p:spPr>
          <a:xfrm>
            <a:off x="4197096" y="1280160"/>
            <a:ext cx="1143000" cy="548640"/>
          </a:xfrm>
          <a:prstGeom prst="roundRect">
            <a:avLst>
              <a:gd name="adj" fmla="val 13333"/>
            </a:avLst>
          </a:prstGeom>
          <a:solidFill>
            <a:schemeClr val="bg2"/>
          </a:solidFill>
          <a:ln w="12700">
            <a:solidFill>
              <a:schemeClr val="bg2"/>
            </a:solidFill>
            <a:prstDash val="solid"/>
          </a:ln>
        </p:spPr>
      </p:sp>
      <p:sp>
        <p:nvSpPr>
          <p:cNvPr id="11" name="Text 8"/>
          <p:cNvSpPr txBox="1"/>
          <p:nvPr/>
        </p:nvSpPr>
        <p:spPr>
          <a:xfrm>
            <a:off x="4197096" y="1280160"/>
            <a:ext cx="1143000" cy="54864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the</a:t>
            </a:r>
            <a:endParaRPr lang="en-US" sz="1800" dirty="0"/>
          </a:p>
        </p:txBody>
      </p:sp>
      <p:sp>
        <p:nvSpPr>
          <p:cNvPr id="12" name="Shape 9"/>
          <p:cNvSpPr/>
          <p:nvPr/>
        </p:nvSpPr>
        <p:spPr>
          <a:xfrm>
            <a:off x="5413248" y="1280160"/>
            <a:ext cx="1143000" cy="548640"/>
          </a:xfrm>
          <a:prstGeom prst="roundRect">
            <a:avLst>
              <a:gd name="adj" fmla="val 13333"/>
            </a:avLst>
          </a:prstGeom>
          <a:solidFill>
            <a:schemeClr val="bg1"/>
          </a:solidFill>
          <a:ln w="12700">
            <a:solidFill>
              <a:srgbClr val="AAB2C0"/>
            </a:solidFill>
            <a:prstDash val="dash"/>
          </a:ln>
        </p:spPr>
      </p:sp>
      <p:sp>
        <p:nvSpPr>
          <p:cNvPr id="13" name="Text 10"/>
          <p:cNvSpPr txBox="1"/>
          <p:nvPr/>
        </p:nvSpPr>
        <p:spPr>
          <a:xfrm>
            <a:off x="5413248" y="1280160"/>
            <a:ext cx="1143000" cy="548640"/>
          </a:xfrm>
          <a:prstGeom prst="rect">
            <a:avLst/>
          </a:prstGeom>
          <a:noFill/>
          <a:ln/>
        </p:spPr>
        <p:txBody>
          <a:bodyPr wrap="square" lIns="0" tIns="0" rIns="0" bIns="0" rtlCol="0" anchor="ctr"/>
          <a:lstStyle/>
          <a:p>
            <a:pPr algn="ctr" indent="0" marL="0">
              <a:buNone/>
            </a:pPr>
            <a:r>
              <a:rPr lang="en-US" sz="2000" dirty="0">
                <a:solidFill>
                  <a:schemeClr val="tx2"/>
                </a:solidFill>
                <a:latin typeface="Courier New" pitchFamily="34" charset="0"/>
                <a:ea typeface="Courier New" pitchFamily="34" charset="-122"/>
                <a:cs typeface="Courier New" pitchFamily="34" charset="-120"/>
              </a:rPr>
              <a:t>?</a:t>
            </a:r>
            <a:endParaRPr lang="en-US" sz="2000" dirty="0"/>
          </a:p>
        </p:txBody>
      </p:sp>
      <p:sp>
        <p:nvSpPr>
          <p:cNvPr id="14" name="Text 11"/>
          <p:cNvSpPr txBox="1"/>
          <p:nvPr/>
        </p:nvSpPr>
        <p:spPr>
          <a:xfrm>
            <a:off x="6812280" y="1188720"/>
            <a:ext cx="4800600" cy="731520"/>
          </a:xfrm>
          <a:prstGeom prst="rect">
            <a:avLst/>
          </a:prstGeom>
          <a:noFill/>
          <a:ln/>
        </p:spPr>
        <p:txBody>
          <a:bodyPr wrap="square" lIns="0" tIns="0" rIns="0" bIns="0" rtlCol="0" anchor="ctr"/>
          <a:lstStyle/>
          <a:p>
            <a:pPr indent="0" marL="0">
              <a:buNone/>
            </a:pPr>
            <a:r>
              <a:rPr lang="en-US" sz="1700" i="1" dirty="0">
                <a:solidFill>
                  <a:schemeClr val="tx2"/>
                </a:solidFill>
              </a:rPr>
              <a:t>How does a model pick a plausible next token without looking at text that does not exist yet?</a:t>
            </a:r>
            <a:endParaRPr lang="en-US" sz="1700" dirty="0"/>
          </a:p>
        </p:txBody>
      </p:sp>
      <p:sp>
        <p:nvSpPr>
          <p:cNvPr id="15" name="objective 1"/>
          <p:cNvSpPr/>
          <p:nvPr/>
        </p:nvSpPr>
        <p:spPr>
          <a:xfrm>
            <a:off x="548640" y="2331720"/>
            <a:ext cx="2066544" cy="3749040"/>
          </a:xfrm>
          <a:prstGeom prst="roundRect">
            <a:avLst>
              <a:gd name="adj" fmla="val 5310"/>
            </a:avLst>
          </a:prstGeom>
          <a:solidFill>
            <a:schemeClr val="bg2"/>
          </a:solidFill>
          <a:ln w="12700">
            <a:solidFill>
              <a:schemeClr val="bg2"/>
            </a:solidFill>
            <a:prstDash val="solid"/>
          </a:ln>
        </p:spPr>
      </p:sp>
      <p:sp>
        <p:nvSpPr>
          <p:cNvPr id="16" name="Shape 13"/>
          <p:cNvSpPr/>
          <p:nvPr/>
        </p:nvSpPr>
        <p:spPr>
          <a:xfrm>
            <a:off x="777240" y="2606040"/>
            <a:ext cx="502920" cy="502920"/>
          </a:xfrm>
          <a:prstGeom prst="ellipse">
            <a:avLst/>
          </a:prstGeom>
          <a:solidFill>
            <a:schemeClr val="accent1"/>
          </a:solidFill>
          <a:ln w="12700">
            <a:solidFill>
              <a:schemeClr val="accent1"/>
            </a:solidFill>
            <a:prstDash val="solid"/>
          </a:ln>
        </p:spPr>
      </p:sp>
      <p:sp>
        <p:nvSpPr>
          <p:cNvPr id="17" name="Text 14"/>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8" name="Text 15"/>
          <p:cNvSpPr txBox="1"/>
          <p:nvPr/>
        </p:nvSpPr>
        <p:spPr>
          <a:xfrm>
            <a:off x="777240" y="3291840"/>
            <a:ext cx="1655064" cy="777240"/>
          </a:xfrm>
          <a:prstGeom prst="rect">
            <a:avLst/>
          </a:prstGeom>
          <a:noFill/>
          <a:ln/>
        </p:spPr>
        <p:txBody>
          <a:bodyPr wrap="square" lIns="0" tIns="0" rIns="0" bIns="0" rtlCol="0" anchor="t"/>
          <a:lstStyle/>
          <a:p>
            <a:pPr indent="0" marL="0">
              <a:buNone/>
            </a:pPr>
            <a:r>
              <a:rPr lang="en-US" sz="1800" b="1" dirty="0">
                <a:solidFill>
                  <a:schemeClr val="tx1"/>
                </a:solidFill>
              </a:rPr>
              <a:t>Causal language modeling</a:t>
            </a:r>
            <a:endParaRPr lang="en-US" sz="1800" dirty="0"/>
          </a:p>
        </p:txBody>
      </p:sp>
      <p:sp>
        <p:nvSpPr>
          <p:cNvPr id="19" name="Text 16"/>
          <p:cNvSpPr txBox="1"/>
          <p:nvPr/>
        </p:nvSpPr>
        <p:spPr>
          <a:xfrm>
            <a:off x="777240" y="4114800"/>
            <a:ext cx="1655064" cy="1828800"/>
          </a:xfrm>
          <a:prstGeom prst="rect">
            <a:avLst/>
          </a:prstGeom>
          <a:noFill/>
          <a:ln/>
        </p:spPr>
        <p:txBody>
          <a:bodyPr wrap="square" lIns="0" tIns="0" rIns="0" bIns="0" rtlCol="0" anchor="t"/>
          <a:lstStyle/>
          <a:p>
            <a:pPr indent="0" marL="0">
              <a:buNone/>
            </a:pPr>
            <a:r>
              <a:rPr lang="en-US" sz="1500" dirty="0">
                <a:solidFill>
                  <a:schemeClr val="tx2"/>
                </a:solidFill>
              </a:rPr>
              <a:t>The objective GPT-2 is trained on, and how it differs from BERT's masked language modeling</a:t>
            </a:r>
            <a:endParaRPr lang="en-US" sz="1500" dirty="0"/>
          </a:p>
        </p:txBody>
      </p:sp>
      <p:sp>
        <p:nvSpPr>
          <p:cNvPr id="20" name="objective 2"/>
          <p:cNvSpPr/>
          <p:nvPr/>
        </p:nvSpPr>
        <p:spPr>
          <a:xfrm>
            <a:off x="2798064" y="2331720"/>
            <a:ext cx="2066544" cy="3749040"/>
          </a:xfrm>
          <a:prstGeom prst="roundRect">
            <a:avLst>
              <a:gd name="adj" fmla="val 5310"/>
            </a:avLst>
          </a:prstGeom>
          <a:solidFill>
            <a:schemeClr val="bg2"/>
          </a:solidFill>
          <a:ln w="12700">
            <a:solidFill>
              <a:schemeClr val="bg2"/>
            </a:solidFill>
            <a:prstDash val="solid"/>
          </a:ln>
        </p:spPr>
      </p:sp>
      <p:sp>
        <p:nvSpPr>
          <p:cNvPr id="21" name="Shape 18"/>
          <p:cNvSpPr/>
          <p:nvPr/>
        </p:nvSpPr>
        <p:spPr>
          <a:xfrm>
            <a:off x="3026664" y="2606040"/>
            <a:ext cx="502920" cy="502920"/>
          </a:xfrm>
          <a:prstGeom prst="ellipse">
            <a:avLst/>
          </a:prstGeom>
          <a:solidFill>
            <a:schemeClr val="accent4"/>
          </a:solidFill>
          <a:ln w="12700">
            <a:solidFill>
              <a:schemeClr val="accent4"/>
            </a:solidFill>
            <a:prstDash val="solid"/>
          </a:ln>
        </p:spPr>
      </p:sp>
      <p:sp>
        <p:nvSpPr>
          <p:cNvPr id="22" name="Text 19"/>
          <p:cNvSpPr txBox="1"/>
          <p:nvPr/>
        </p:nvSpPr>
        <p:spPr>
          <a:xfrm>
            <a:off x="3026664"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3" name="Text 20"/>
          <p:cNvSpPr txBox="1"/>
          <p:nvPr/>
        </p:nvSpPr>
        <p:spPr>
          <a:xfrm>
            <a:off x="3026664" y="3291840"/>
            <a:ext cx="1655064" cy="777240"/>
          </a:xfrm>
          <a:prstGeom prst="rect">
            <a:avLst/>
          </a:prstGeom>
          <a:noFill/>
          <a:ln/>
        </p:spPr>
        <p:txBody>
          <a:bodyPr wrap="square" lIns="0" tIns="0" rIns="0" bIns="0" rtlCol="0" anchor="t"/>
          <a:lstStyle/>
          <a:p>
            <a:pPr indent="0" marL="0">
              <a:buNone/>
            </a:pPr>
            <a:r>
              <a:rPr lang="en-US" sz="1800" b="1" dirty="0">
                <a:solidFill>
                  <a:schemeClr val="tx1"/>
                </a:solidFill>
              </a:rPr>
              <a:t>The architecture</a:t>
            </a:r>
            <a:endParaRPr lang="en-US" sz="1800" dirty="0"/>
          </a:p>
        </p:txBody>
      </p:sp>
      <p:sp>
        <p:nvSpPr>
          <p:cNvPr id="24" name="Text 21"/>
          <p:cNvSpPr txBox="1"/>
          <p:nvPr/>
        </p:nvSpPr>
        <p:spPr>
          <a:xfrm>
            <a:off x="3026664" y="4114800"/>
            <a:ext cx="1655064" cy="1828800"/>
          </a:xfrm>
          <a:prstGeom prst="rect">
            <a:avLst/>
          </a:prstGeom>
          <a:noFill/>
          <a:ln/>
        </p:spPr>
        <p:txBody>
          <a:bodyPr wrap="square" lIns="0" tIns="0" rIns="0" bIns="0" rtlCol="0" anchor="t"/>
          <a:lstStyle/>
          <a:p>
            <a:pPr indent="0" marL="0">
              <a:buNone/>
            </a:pPr>
            <a:r>
              <a:rPr lang="en-US" sz="1500" dirty="0">
                <a:solidFill>
                  <a:schemeClr val="tx2"/>
                </a:solidFill>
              </a:rPr>
              <a:t>How token IDs become next-token probabilities, with the tensor shape at every step</a:t>
            </a:r>
            <a:endParaRPr lang="en-US" sz="1500" dirty="0"/>
          </a:p>
        </p:txBody>
      </p:sp>
      <p:sp>
        <p:nvSpPr>
          <p:cNvPr id="25" name="objective 3"/>
          <p:cNvSpPr/>
          <p:nvPr/>
        </p:nvSpPr>
        <p:spPr>
          <a:xfrm>
            <a:off x="5047488" y="2331720"/>
            <a:ext cx="2066544" cy="3749040"/>
          </a:xfrm>
          <a:prstGeom prst="roundRect">
            <a:avLst>
              <a:gd name="adj" fmla="val 5310"/>
            </a:avLst>
          </a:prstGeom>
          <a:solidFill>
            <a:schemeClr val="bg2"/>
          </a:solidFill>
          <a:ln w="12700">
            <a:solidFill>
              <a:schemeClr val="bg2"/>
            </a:solidFill>
            <a:prstDash val="solid"/>
          </a:ln>
        </p:spPr>
      </p:sp>
      <p:sp>
        <p:nvSpPr>
          <p:cNvPr id="26" name="Shape 23"/>
          <p:cNvSpPr/>
          <p:nvPr/>
        </p:nvSpPr>
        <p:spPr>
          <a:xfrm>
            <a:off x="5276088" y="2606040"/>
            <a:ext cx="502920" cy="502920"/>
          </a:xfrm>
          <a:prstGeom prst="ellipse">
            <a:avLst/>
          </a:prstGeom>
          <a:solidFill>
            <a:schemeClr val="accent1"/>
          </a:solidFill>
          <a:ln w="12700">
            <a:solidFill>
              <a:schemeClr val="accent1"/>
            </a:solidFill>
            <a:prstDash val="solid"/>
          </a:ln>
        </p:spPr>
      </p:sp>
      <p:sp>
        <p:nvSpPr>
          <p:cNvPr id="27" name="Text 24"/>
          <p:cNvSpPr txBox="1"/>
          <p:nvPr/>
        </p:nvSpPr>
        <p:spPr>
          <a:xfrm>
            <a:off x="5276088"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8" name="Text 25"/>
          <p:cNvSpPr txBox="1"/>
          <p:nvPr/>
        </p:nvSpPr>
        <p:spPr>
          <a:xfrm>
            <a:off x="5276088" y="3291840"/>
            <a:ext cx="1655064" cy="777240"/>
          </a:xfrm>
          <a:prstGeom prst="rect">
            <a:avLst/>
          </a:prstGeom>
          <a:noFill/>
          <a:ln/>
        </p:spPr>
        <p:txBody>
          <a:bodyPr wrap="square" lIns="0" tIns="0" rIns="0" bIns="0" rtlCol="0" anchor="t"/>
          <a:lstStyle/>
          <a:p>
            <a:pPr indent="0" marL="0">
              <a:buNone/>
            </a:pPr>
            <a:r>
              <a:rPr lang="en-US" sz="1800" b="1" dirty="0">
                <a:solidFill>
                  <a:schemeClr val="tx1"/>
                </a:solidFill>
              </a:rPr>
              <a:t>Causal self-attention</a:t>
            </a:r>
            <a:endParaRPr lang="en-US" sz="1800" dirty="0"/>
          </a:p>
        </p:txBody>
      </p:sp>
      <p:sp>
        <p:nvSpPr>
          <p:cNvPr id="29" name="Text 26"/>
          <p:cNvSpPr txBox="1"/>
          <p:nvPr/>
        </p:nvSpPr>
        <p:spPr>
          <a:xfrm>
            <a:off x="5276088" y="4114800"/>
            <a:ext cx="1655064" cy="1828800"/>
          </a:xfrm>
          <a:prstGeom prst="rect">
            <a:avLst/>
          </a:prstGeom>
          <a:noFill/>
          <a:ln/>
        </p:spPr>
        <p:txBody>
          <a:bodyPr wrap="square" lIns="0" tIns="0" rIns="0" bIns="0" rtlCol="0" anchor="t"/>
          <a:lstStyle/>
          <a:p>
            <a:pPr indent="0" marL="0">
              <a:buNone/>
            </a:pPr>
            <a:r>
              <a:rPr lang="en-US" sz="1500" dirty="0">
                <a:solidFill>
                  <a:schemeClr val="tx2"/>
                </a:solidFill>
              </a:rPr>
              <a:t>Queries, keys, values, heads, and the mask that blocks the future</a:t>
            </a:r>
            <a:endParaRPr lang="en-US" sz="1500" dirty="0"/>
          </a:p>
        </p:txBody>
      </p:sp>
      <p:sp>
        <p:nvSpPr>
          <p:cNvPr id="30" name="objective 4"/>
          <p:cNvSpPr/>
          <p:nvPr/>
        </p:nvSpPr>
        <p:spPr>
          <a:xfrm>
            <a:off x="7296912" y="2331720"/>
            <a:ext cx="2066544" cy="3749040"/>
          </a:xfrm>
          <a:prstGeom prst="roundRect">
            <a:avLst>
              <a:gd name="adj" fmla="val 5310"/>
            </a:avLst>
          </a:prstGeom>
          <a:solidFill>
            <a:schemeClr val="bg2"/>
          </a:solidFill>
          <a:ln w="12700">
            <a:solidFill>
              <a:schemeClr val="bg2"/>
            </a:solidFill>
            <a:prstDash val="solid"/>
          </a:ln>
        </p:spPr>
      </p:sp>
      <p:sp>
        <p:nvSpPr>
          <p:cNvPr id="31" name="Shape 28"/>
          <p:cNvSpPr/>
          <p:nvPr/>
        </p:nvSpPr>
        <p:spPr>
          <a:xfrm>
            <a:off x="7525512" y="2606040"/>
            <a:ext cx="502920" cy="502920"/>
          </a:xfrm>
          <a:prstGeom prst="ellipse">
            <a:avLst/>
          </a:prstGeom>
          <a:solidFill>
            <a:schemeClr val="accent4"/>
          </a:solidFill>
          <a:ln w="12700">
            <a:solidFill>
              <a:schemeClr val="accent4"/>
            </a:solidFill>
            <a:prstDash val="solid"/>
          </a:ln>
        </p:spPr>
      </p:sp>
      <p:sp>
        <p:nvSpPr>
          <p:cNvPr id="32" name="Text 29"/>
          <p:cNvSpPr txBox="1"/>
          <p:nvPr/>
        </p:nvSpPr>
        <p:spPr>
          <a:xfrm>
            <a:off x="7525512"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3" name="Text 30"/>
          <p:cNvSpPr txBox="1"/>
          <p:nvPr/>
        </p:nvSpPr>
        <p:spPr>
          <a:xfrm>
            <a:off x="7525512" y="3291840"/>
            <a:ext cx="1655064" cy="777240"/>
          </a:xfrm>
          <a:prstGeom prst="rect">
            <a:avLst/>
          </a:prstGeom>
          <a:noFill/>
          <a:ln/>
        </p:spPr>
        <p:txBody>
          <a:bodyPr wrap="square" lIns="0" tIns="0" rIns="0" bIns="0" rtlCol="0" anchor="t"/>
          <a:lstStyle/>
          <a:p>
            <a:pPr indent="0" marL="0">
              <a:buNone/>
            </a:pPr>
            <a:r>
              <a:rPr lang="en-US" sz="1800" b="1" dirty="0">
                <a:solidFill>
                  <a:schemeClr val="tx1"/>
                </a:solidFill>
              </a:rPr>
              <a:t>Training vs. generation</a:t>
            </a:r>
            <a:endParaRPr lang="en-US" sz="1800" dirty="0"/>
          </a:p>
        </p:txBody>
      </p:sp>
      <p:sp>
        <p:nvSpPr>
          <p:cNvPr id="34" name="Text 31"/>
          <p:cNvSpPr txBox="1"/>
          <p:nvPr/>
        </p:nvSpPr>
        <p:spPr>
          <a:xfrm>
            <a:off x="7525512" y="4114800"/>
            <a:ext cx="1655064" cy="1828800"/>
          </a:xfrm>
          <a:prstGeom prst="rect">
            <a:avLst/>
          </a:prstGeom>
          <a:noFill/>
          <a:ln/>
        </p:spPr>
        <p:txBody>
          <a:bodyPr wrap="square" lIns="0" tIns="0" rIns="0" bIns="0" rtlCol="0" anchor="t"/>
          <a:lstStyle/>
          <a:p>
            <a:pPr indent="0" marL="0">
              <a:buNone/>
            </a:pPr>
            <a:r>
              <a:rPr lang="en-US" sz="1500" dirty="0">
                <a:solidFill>
                  <a:schemeClr val="tx2"/>
                </a:solidFill>
              </a:rPr>
              <a:t>Why training scores all positions in parallel, while generation produces one token at a time</a:t>
            </a:r>
            <a:endParaRPr lang="en-US" sz="1500" dirty="0"/>
          </a:p>
        </p:txBody>
      </p:sp>
      <p:sp>
        <p:nvSpPr>
          <p:cNvPr id="35" name="objective 5"/>
          <p:cNvSpPr/>
          <p:nvPr/>
        </p:nvSpPr>
        <p:spPr>
          <a:xfrm>
            <a:off x="9546336" y="2331720"/>
            <a:ext cx="2066544" cy="3749040"/>
          </a:xfrm>
          <a:prstGeom prst="roundRect">
            <a:avLst>
              <a:gd name="adj" fmla="val 5310"/>
            </a:avLst>
          </a:prstGeom>
          <a:solidFill>
            <a:schemeClr val="bg2"/>
          </a:solidFill>
          <a:ln w="12700">
            <a:solidFill>
              <a:schemeClr val="bg2"/>
            </a:solidFill>
            <a:prstDash val="solid"/>
          </a:ln>
        </p:spPr>
      </p:sp>
      <p:sp>
        <p:nvSpPr>
          <p:cNvPr id="36" name="Shape 33"/>
          <p:cNvSpPr/>
          <p:nvPr/>
        </p:nvSpPr>
        <p:spPr>
          <a:xfrm>
            <a:off x="9774936" y="2606040"/>
            <a:ext cx="502920" cy="502920"/>
          </a:xfrm>
          <a:prstGeom prst="ellipse">
            <a:avLst/>
          </a:prstGeom>
          <a:solidFill>
            <a:schemeClr val="accent1"/>
          </a:solidFill>
          <a:ln w="12700">
            <a:solidFill>
              <a:schemeClr val="accent1"/>
            </a:solidFill>
            <a:prstDash val="solid"/>
          </a:ln>
        </p:spPr>
      </p:sp>
      <p:sp>
        <p:nvSpPr>
          <p:cNvPr id="37" name="Text 34"/>
          <p:cNvSpPr txBox="1"/>
          <p:nvPr/>
        </p:nvSpPr>
        <p:spPr>
          <a:xfrm>
            <a:off x="9774936"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8" name="Text 35"/>
          <p:cNvSpPr txBox="1"/>
          <p:nvPr/>
        </p:nvSpPr>
        <p:spPr>
          <a:xfrm>
            <a:off x="9774936" y="3291840"/>
            <a:ext cx="1655064" cy="777240"/>
          </a:xfrm>
          <a:prstGeom prst="rect">
            <a:avLst/>
          </a:prstGeom>
          <a:noFill/>
          <a:ln/>
        </p:spPr>
        <p:txBody>
          <a:bodyPr wrap="square" lIns="0" tIns="0" rIns="0" bIns="0" rtlCol="0" anchor="t"/>
          <a:lstStyle/>
          <a:p>
            <a:pPr indent="0" marL="0">
              <a:buNone/>
            </a:pPr>
            <a:r>
              <a:rPr lang="en-US" sz="1800" b="1" dirty="0">
                <a:solidFill>
                  <a:schemeClr val="tx1"/>
                </a:solidFill>
              </a:rPr>
              <a:t>Decoding</a:t>
            </a:r>
            <a:endParaRPr lang="en-US" sz="1800" dirty="0"/>
          </a:p>
        </p:txBody>
      </p:sp>
      <p:sp>
        <p:nvSpPr>
          <p:cNvPr id="39" name="Text 36"/>
          <p:cNvSpPr txBox="1"/>
          <p:nvPr/>
        </p:nvSpPr>
        <p:spPr>
          <a:xfrm>
            <a:off x="9774936" y="4114800"/>
            <a:ext cx="1655064" cy="1828800"/>
          </a:xfrm>
          <a:prstGeom prst="rect">
            <a:avLst/>
          </a:prstGeom>
          <a:noFill/>
          <a:ln/>
        </p:spPr>
        <p:txBody>
          <a:bodyPr wrap="square" lIns="0" tIns="0" rIns="0" bIns="0" rtlCol="0" anchor="t"/>
          <a:lstStyle/>
          <a:p>
            <a:pPr indent="0" marL="0">
              <a:buNone/>
            </a:pPr>
            <a:r>
              <a:rPr lang="en-US" sz="1500" dirty="0">
                <a:solidFill>
                  <a:schemeClr val="tx2"/>
                </a:solidFill>
              </a:rPr>
              <a:t>Greedy, temperature, and top-k: choices made at generation time that do not change the weights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Causal language modeling: predict each token from its past</a:t>
            </a:r>
            <a:endParaRPr lang="en-US" sz="3200" dirty="0"/>
          </a:p>
        </p:txBody>
      </p:sp>
      <p:sp>
        <p:nvSpPr>
          <p:cNvPr id="4" name="formulas"/>
          <p:cNvSpPr/>
          <p:nvPr/>
        </p:nvSpPr>
        <p:spPr>
          <a:xfrm>
            <a:off x="548640" y="1280160"/>
            <a:ext cx="5120640" cy="4846320"/>
          </a:xfrm>
          <a:prstGeom prst="roundRect">
            <a:avLst>
              <a:gd name="adj" fmla="val 2264"/>
            </a:avLst>
          </a:prstGeom>
          <a:solidFill>
            <a:schemeClr val="bg2"/>
          </a:solidFill>
          <a:ln w="12700">
            <a:solidFill>
              <a:schemeClr val="bg2"/>
            </a:solidFill>
            <a:prstDash val="solid"/>
          </a:ln>
        </p:spPr>
      </p:sp>
      <p:sp>
        <p:nvSpPr>
          <p:cNvPr id="5" name="Text 2"/>
          <p:cNvSpPr txBox="1"/>
          <p:nvPr/>
        </p:nvSpPr>
        <p:spPr>
          <a:xfrm>
            <a:off x="822960" y="14630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The chain rule</a:t>
            </a:r>
            <a:endParaRPr lang="en-US" sz="1800" dirty="0"/>
          </a:p>
        </p:txBody>
      </p:sp>
      <p:sp>
        <p:nvSpPr>
          <p:cNvPr id="6" name="Text 3"/>
          <p:cNvSpPr txBox="1"/>
          <p:nvPr/>
        </p:nvSpPr>
        <p:spPr>
          <a:xfrm>
            <a:off x="822960" y="1874520"/>
            <a:ext cx="4572000" cy="54864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P(x</a:t>
            </a:r>
            <a:r>
              <a:rPr lang="en-US" sz="2200" baseline="-40000" dirty="0">
                <a:solidFill>
                  <a:schemeClr val="tx1"/>
                </a:solidFill>
                <a:latin typeface="Cambria" pitchFamily="34" charset="0"/>
                <a:ea typeface="Cambria" pitchFamily="34" charset="-122"/>
                <a:cs typeface="Cambria" pitchFamily="34" charset="-120"/>
              </a:rPr>
              <a:t>1</a:t>
            </a:r>
            <a:r>
              <a:rPr lang="en-US" sz="2200" dirty="0">
                <a:solidFill>
                  <a:schemeClr val="tx1"/>
                </a:solidFill>
                <a:latin typeface="Cambria" pitchFamily="34" charset="0"/>
                <a:ea typeface="Cambria" pitchFamily="34" charset="-122"/>
                <a:cs typeface="Cambria" pitchFamily="34" charset="-120"/>
              </a:rPr>
              <a:t>, …, x</a:t>
            </a:r>
            <a:r>
              <a:rPr lang="en-US" sz="2200" baseline="-4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 ∏</a:t>
            </a:r>
            <a:r>
              <a:rPr lang="en-US" sz="2200" baseline="-4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P( x</a:t>
            </a:r>
            <a:r>
              <a:rPr lang="en-US" sz="2200" baseline="-4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 x</a:t>
            </a:r>
            <a:r>
              <a:rPr lang="en-US" sz="2200" baseline="-40000" dirty="0">
                <a:solidFill>
                  <a:schemeClr val="tx1"/>
                </a:solidFill>
                <a:latin typeface="Cambria" pitchFamily="34" charset="0"/>
                <a:ea typeface="Cambria" pitchFamily="34" charset="-122"/>
                <a:cs typeface="Cambria" pitchFamily="34" charset="-120"/>
              </a:rPr>
              <a:t>1</a:t>
            </a:r>
            <a:r>
              <a:rPr lang="en-US" sz="2200" dirty="0">
                <a:solidFill>
                  <a:schemeClr val="tx1"/>
                </a:solidFill>
                <a:latin typeface="Cambria" pitchFamily="34" charset="0"/>
                <a:ea typeface="Cambria" pitchFamily="34" charset="-122"/>
                <a:cs typeface="Cambria" pitchFamily="34" charset="-120"/>
              </a:rPr>
              <a:t>, …, x</a:t>
            </a:r>
            <a:r>
              <a:rPr lang="en-US" sz="2200" baseline="-40000" dirty="0">
                <a:solidFill>
                  <a:schemeClr val="tx1"/>
                </a:solidFill>
                <a:latin typeface="Cambria" pitchFamily="34" charset="0"/>
                <a:ea typeface="Cambria" pitchFamily="34" charset="-122"/>
                <a:cs typeface="Cambria" pitchFamily="34" charset="-120"/>
              </a:rPr>
              <a:t>t−1</a:t>
            </a:r>
            <a:r>
              <a:rPr lang="en-US" sz="2200" dirty="0">
                <a:solidFill>
                  <a:schemeClr val="tx1"/>
                </a:solidFill>
                <a:latin typeface="Cambria" pitchFamily="34" charset="0"/>
                <a:ea typeface="Cambria" pitchFamily="34" charset="-122"/>
                <a:cs typeface="Cambria" pitchFamily="34" charset="-120"/>
              </a:rPr>
              <a:t> )</a:t>
            </a:r>
            <a:endParaRPr lang="en-US" sz="2200" dirty="0"/>
          </a:p>
        </p:txBody>
      </p:sp>
      <p:sp>
        <p:nvSpPr>
          <p:cNvPr id="7" name="Text 4"/>
          <p:cNvSpPr txBox="1"/>
          <p:nvPr/>
        </p:nvSpPr>
        <p:spPr>
          <a:xfrm>
            <a:off x="822960" y="2468880"/>
            <a:ext cx="4572000" cy="548640"/>
          </a:xfrm>
          <a:prstGeom prst="rect">
            <a:avLst/>
          </a:prstGeom>
          <a:noFill/>
          <a:ln/>
        </p:spPr>
        <p:txBody>
          <a:bodyPr wrap="square" lIns="0" tIns="0" rIns="0" bIns="0" rtlCol="0" anchor="t"/>
          <a:lstStyle/>
          <a:p>
            <a:pPr indent="0" marL="0">
              <a:buNone/>
            </a:pPr>
            <a:r>
              <a:rPr lang="en-US" sz="1500" dirty="0">
                <a:solidFill>
                  <a:schemeClr val="tx2"/>
                </a:solidFill>
              </a:rPr>
              <a:t>Each factor is a next-token distribution over the vocabulary, given the prefix.</a:t>
            </a:r>
            <a:endParaRPr lang="en-US" sz="1500" dirty="0"/>
          </a:p>
        </p:txBody>
      </p:sp>
      <p:sp>
        <p:nvSpPr>
          <p:cNvPr id="8" name="Text 5"/>
          <p:cNvSpPr txBox="1"/>
          <p:nvPr/>
        </p:nvSpPr>
        <p:spPr>
          <a:xfrm>
            <a:off x="822960" y="3154680"/>
            <a:ext cx="4572000" cy="365760"/>
          </a:xfrm>
          <a:prstGeom prst="rect">
            <a:avLst/>
          </a:prstGeom>
          <a:noFill/>
          <a:ln/>
        </p:spPr>
        <p:txBody>
          <a:bodyPr wrap="square" lIns="0" tIns="0" rIns="0" bIns="0" rtlCol="0" anchor="t"/>
          <a:lstStyle/>
          <a:p>
            <a:pPr indent="0" marL="0">
              <a:buNone/>
            </a:pPr>
            <a:r>
              <a:rPr lang="en-US" sz="1800" b="1" dirty="0">
                <a:solidFill>
                  <a:schemeClr val="tx1"/>
                </a:solidFill>
              </a:rPr>
              <a:t>The training loss</a:t>
            </a:r>
            <a:endParaRPr lang="en-US" sz="1800" dirty="0"/>
          </a:p>
        </p:txBody>
      </p:sp>
      <p:sp>
        <p:nvSpPr>
          <p:cNvPr id="9" name="Text 6"/>
          <p:cNvSpPr txBox="1"/>
          <p:nvPr/>
        </p:nvSpPr>
        <p:spPr>
          <a:xfrm>
            <a:off x="822960" y="3566160"/>
            <a:ext cx="4572000" cy="54864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L = − (1/T) Σ</a:t>
            </a:r>
            <a:r>
              <a:rPr lang="en-US" sz="2200" baseline="-4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log P</a:t>
            </a:r>
            <a:r>
              <a:rPr lang="en-US" sz="2200" baseline="-40000" dirty="0">
                <a:solidFill>
                  <a:schemeClr val="tx1"/>
                </a:solidFill>
                <a:latin typeface="Cambria" pitchFamily="34" charset="0"/>
                <a:ea typeface="Cambria" pitchFamily="34" charset="-122"/>
                <a:cs typeface="Cambria" pitchFamily="34" charset="-120"/>
              </a:rPr>
              <a:t>θ</a:t>
            </a:r>
            <a:r>
              <a:rPr lang="en-US" sz="2200" dirty="0">
                <a:solidFill>
                  <a:schemeClr val="tx1"/>
                </a:solidFill>
                <a:latin typeface="Cambria" pitchFamily="34" charset="0"/>
                <a:ea typeface="Cambria" pitchFamily="34" charset="-122"/>
                <a:cs typeface="Cambria" pitchFamily="34" charset="-120"/>
              </a:rPr>
              <a:t>( x</a:t>
            </a:r>
            <a:r>
              <a:rPr lang="en-US" sz="2200" baseline="-4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 x</a:t>
            </a:r>
            <a:r>
              <a:rPr lang="en-US" sz="2200" baseline="-40000" dirty="0">
                <a:solidFill>
                  <a:schemeClr val="tx1"/>
                </a:solidFill>
                <a:latin typeface="Cambria" pitchFamily="34" charset="0"/>
                <a:ea typeface="Cambria" pitchFamily="34" charset="-122"/>
                <a:cs typeface="Cambria" pitchFamily="34" charset="-120"/>
              </a:rPr>
              <a:t>&lt;t</a:t>
            </a:r>
            <a:r>
              <a:rPr lang="en-US" sz="2200" dirty="0">
                <a:solidFill>
                  <a:schemeClr val="tx1"/>
                </a:solidFill>
                <a:latin typeface="Cambria" pitchFamily="34" charset="0"/>
                <a:ea typeface="Cambria" pitchFamily="34" charset="-122"/>
                <a:cs typeface="Cambria" pitchFamily="34" charset="-120"/>
              </a:rPr>
              <a:t> )</a:t>
            </a:r>
            <a:endParaRPr lang="en-US" sz="2200" dirty="0"/>
          </a:p>
        </p:txBody>
      </p:sp>
      <p:sp>
        <p:nvSpPr>
          <p:cNvPr id="10" name="Text 7"/>
          <p:cNvSpPr txBox="1"/>
          <p:nvPr/>
        </p:nvSpPr>
        <p:spPr>
          <a:xfrm>
            <a:off x="822960" y="4160520"/>
            <a:ext cx="4572000" cy="548640"/>
          </a:xfrm>
          <a:prstGeom prst="rect">
            <a:avLst/>
          </a:prstGeom>
          <a:noFill/>
          <a:ln/>
        </p:spPr>
        <p:txBody>
          <a:bodyPr wrap="square" lIns="0" tIns="0" rIns="0" bIns="0" rtlCol="0" anchor="t"/>
          <a:lstStyle/>
          <a:p>
            <a:pPr indent="0" marL="0">
              <a:buNone/>
            </a:pPr>
            <a:r>
              <a:rPr lang="en-US" sz="1500" dirty="0">
                <a:solidFill>
                  <a:schemeClr val="tx2"/>
                </a:solidFill>
              </a:rPr>
              <a:t>Cross-entropy against the real next token, averaged over positions. Lower is better.</a:t>
            </a:r>
            <a:endParaRPr lang="en-US" sz="1500" dirty="0"/>
          </a:p>
        </p:txBody>
      </p:sp>
      <p:sp>
        <p:nvSpPr>
          <p:cNvPr id="11" name="Text 8"/>
          <p:cNvSpPr txBox="1"/>
          <p:nvPr/>
        </p:nvSpPr>
        <p:spPr>
          <a:xfrm>
            <a:off x="822960" y="4892040"/>
            <a:ext cx="4572000" cy="548640"/>
          </a:xfrm>
          <a:prstGeom prst="rect">
            <a:avLst/>
          </a:prstGeom>
          <a:noFill/>
          <a:ln/>
        </p:spPr>
        <p:txBody>
          <a:bodyPr wrap="square" lIns="0" tIns="0" rIns="0" bIns="0" rtlCol="0" anchor="t"/>
          <a:lstStyle/>
          <a:p>
            <a:pPr indent="0" marL="0">
              <a:buNone/>
            </a:pPr>
            <a:r>
              <a:rPr lang="en-US" sz="1500" b="1" dirty="0">
                <a:solidFill>
                  <a:schemeClr val="tx1"/>
                </a:solidFill>
              </a:rPr>
              <a:t>Perplexity = e</a:t>
            </a:r>
            <a:r>
              <a:rPr lang="en-US" sz="1500" baseline="30000" dirty="0">
                <a:solidFill>
                  <a:schemeClr val="tx1"/>
                </a:solidFill>
              </a:rPr>
              <a:t>L</a:t>
            </a:r>
            <a:r>
              <a:rPr lang="en-US" sz="1500" dirty="0">
                <a:solidFill>
                  <a:schemeClr val="tx1"/>
                </a:solidFill>
              </a:rPr>
              <a:t>: “as uncertain as a uniform choice among this many tokens”.</a:t>
            </a:r>
            <a:endParaRPr lang="en-US" sz="1500" dirty="0"/>
          </a:p>
        </p:txBody>
      </p:sp>
      <p:sp>
        <p:nvSpPr>
          <p:cNvPr id="12" name="Text 9"/>
          <p:cNvSpPr txBox="1"/>
          <p:nvPr/>
        </p:nvSpPr>
        <p:spPr>
          <a:xfrm>
            <a:off x="822960" y="5440680"/>
            <a:ext cx="4572000" cy="548640"/>
          </a:xfrm>
          <a:prstGeom prst="rect">
            <a:avLst/>
          </a:prstGeom>
          <a:noFill/>
          <a:ln/>
        </p:spPr>
        <p:txBody>
          <a:bodyPr wrap="square" lIns="0" tIns="0" rIns="0" bIns="0" rtlCol="0" anchor="t"/>
          <a:lstStyle/>
          <a:p>
            <a:pPr indent="0" marL="0">
              <a:buNone/>
            </a:pPr>
            <a:r>
              <a:rPr lang="en-US" sz="1500" b="1" dirty="0">
                <a:solidFill>
                  <a:schemeClr val="tx1"/>
                </a:solidFill>
              </a:rPr>
              <a:t>Autoregressive: </a:t>
            </a:r>
            <a:r>
              <a:rPr lang="en-US" sz="1500" dirty="0">
                <a:solidFill>
                  <a:schemeClr val="tx1"/>
                </a:solidFill>
              </a:rPr>
              <a:t>at generation time each chosen token is appended and fed back in.</a:t>
            </a:r>
            <a:endParaRPr lang="en-US" sz="1500" dirty="0"/>
          </a:p>
        </p:txBody>
      </p:sp>
      <p:sp>
        <p:nvSpPr>
          <p:cNvPr id="13" name="Text 10"/>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600" b="1" dirty="0">
                <a:solidFill>
                  <a:schemeClr val="tx1"/>
                </a:solidFill>
              </a:rPr>
              <a:t>One factor per token of “The robot opened the door”</a:t>
            </a:r>
            <a:endParaRPr lang="en-US" sz="1600" dirty="0"/>
          </a:p>
        </p:txBody>
      </p:sp>
      <p:sp>
        <p:nvSpPr>
          <p:cNvPr id="14" name="Shape 11"/>
          <p:cNvSpPr/>
          <p:nvPr/>
        </p:nvSpPr>
        <p:spPr>
          <a:xfrm>
            <a:off x="6035040" y="1783080"/>
            <a:ext cx="841248" cy="457200"/>
          </a:xfrm>
          <a:prstGeom prst="roundRect">
            <a:avLst>
              <a:gd name="adj" fmla="val 16000"/>
            </a:avLst>
          </a:prstGeom>
          <a:solidFill>
            <a:schemeClr val="bg2"/>
          </a:solidFill>
          <a:ln w="12700">
            <a:solidFill>
              <a:schemeClr val="bg2"/>
            </a:solidFill>
            <a:prstDash val="solid"/>
          </a:ln>
        </p:spPr>
      </p:sp>
      <p:sp>
        <p:nvSpPr>
          <p:cNvPr id="15" name="Text 12"/>
          <p:cNvSpPr txBox="1"/>
          <p:nvPr/>
        </p:nvSpPr>
        <p:spPr>
          <a:xfrm>
            <a:off x="6035040" y="1783080"/>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&lt;eot&gt;</a:t>
            </a:r>
            <a:endParaRPr lang="en-US" sz="1300" dirty="0"/>
          </a:p>
        </p:txBody>
      </p:sp>
      <p:sp>
        <p:nvSpPr>
          <p:cNvPr id="16" name="Shape 13"/>
          <p:cNvSpPr/>
          <p:nvPr/>
        </p:nvSpPr>
        <p:spPr>
          <a:xfrm>
            <a:off x="6949440" y="1783080"/>
            <a:ext cx="841248" cy="457200"/>
          </a:xfrm>
          <a:prstGeom prst="roundRect">
            <a:avLst>
              <a:gd name="adj" fmla="val 16000"/>
            </a:avLst>
          </a:prstGeom>
          <a:solidFill>
            <a:schemeClr val="accent1"/>
          </a:solidFill>
          <a:ln w="12700">
            <a:solidFill>
              <a:schemeClr val="accent1"/>
            </a:solidFill>
            <a:prstDash val="solid"/>
          </a:ln>
        </p:spPr>
      </p:sp>
      <p:sp>
        <p:nvSpPr>
          <p:cNvPr id="17" name="Text 14"/>
          <p:cNvSpPr txBox="1"/>
          <p:nvPr/>
        </p:nvSpPr>
        <p:spPr>
          <a:xfrm>
            <a:off x="6949440" y="1783080"/>
            <a:ext cx="8412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The</a:t>
            </a:r>
            <a:endParaRPr lang="en-US" sz="1300" dirty="0"/>
          </a:p>
        </p:txBody>
      </p:sp>
      <p:sp>
        <p:nvSpPr>
          <p:cNvPr id="18" name="Shape 15"/>
          <p:cNvSpPr/>
          <p:nvPr/>
        </p:nvSpPr>
        <p:spPr>
          <a:xfrm>
            <a:off x="6035040" y="2441448"/>
            <a:ext cx="841248" cy="457200"/>
          </a:xfrm>
          <a:prstGeom prst="roundRect">
            <a:avLst>
              <a:gd name="adj" fmla="val 16000"/>
            </a:avLst>
          </a:prstGeom>
          <a:solidFill>
            <a:schemeClr val="bg2"/>
          </a:solidFill>
          <a:ln w="12700">
            <a:solidFill>
              <a:schemeClr val="bg2"/>
            </a:solidFill>
            <a:prstDash val="solid"/>
          </a:ln>
        </p:spPr>
      </p:sp>
      <p:sp>
        <p:nvSpPr>
          <p:cNvPr id="19" name="Text 16"/>
          <p:cNvSpPr txBox="1"/>
          <p:nvPr/>
        </p:nvSpPr>
        <p:spPr>
          <a:xfrm>
            <a:off x="6035040" y="2441448"/>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&lt;eot&gt;</a:t>
            </a:r>
            <a:endParaRPr lang="en-US" sz="1300" dirty="0"/>
          </a:p>
        </p:txBody>
      </p:sp>
      <p:sp>
        <p:nvSpPr>
          <p:cNvPr id="20" name="Shape 17"/>
          <p:cNvSpPr/>
          <p:nvPr/>
        </p:nvSpPr>
        <p:spPr>
          <a:xfrm>
            <a:off x="6949440" y="2441448"/>
            <a:ext cx="841248" cy="457200"/>
          </a:xfrm>
          <a:prstGeom prst="roundRect">
            <a:avLst>
              <a:gd name="adj" fmla="val 16000"/>
            </a:avLst>
          </a:prstGeom>
          <a:solidFill>
            <a:schemeClr val="bg2"/>
          </a:solidFill>
          <a:ln w="12700">
            <a:solidFill>
              <a:schemeClr val="bg2"/>
            </a:solidFill>
            <a:prstDash val="solid"/>
          </a:ln>
        </p:spPr>
      </p:sp>
      <p:sp>
        <p:nvSpPr>
          <p:cNvPr id="21" name="Text 18"/>
          <p:cNvSpPr txBox="1"/>
          <p:nvPr/>
        </p:nvSpPr>
        <p:spPr>
          <a:xfrm>
            <a:off x="6949440" y="2441448"/>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2" name="Shape 19"/>
          <p:cNvSpPr/>
          <p:nvPr/>
        </p:nvSpPr>
        <p:spPr>
          <a:xfrm>
            <a:off x="7863840" y="2441448"/>
            <a:ext cx="841248" cy="457200"/>
          </a:xfrm>
          <a:prstGeom prst="roundRect">
            <a:avLst>
              <a:gd name="adj" fmla="val 16000"/>
            </a:avLst>
          </a:prstGeom>
          <a:solidFill>
            <a:schemeClr val="accent1"/>
          </a:solidFill>
          <a:ln w="12700">
            <a:solidFill>
              <a:schemeClr val="accent1"/>
            </a:solidFill>
            <a:prstDash val="solid"/>
          </a:ln>
        </p:spPr>
      </p:sp>
      <p:sp>
        <p:nvSpPr>
          <p:cNvPr id="23" name="Text 20"/>
          <p:cNvSpPr txBox="1"/>
          <p:nvPr/>
        </p:nvSpPr>
        <p:spPr>
          <a:xfrm>
            <a:off x="7863840" y="2441448"/>
            <a:ext cx="8412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robot</a:t>
            </a:r>
            <a:endParaRPr lang="en-US" sz="1300" dirty="0"/>
          </a:p>
        </p:txBody>
      </p:sp>
      <p:sp>
        <p:nvSpPr>
          <p:cNvPr id="24" name="Shape 21"/>
          <p:cNvSpPr/>
          <p:nvPr/>
        </p:nvSpPr>
        <p:spPr>
          <a:xfrm>
            <a:off x="6035040" y="3099816"/>
            <a:ext cx="841248" cy="457200"/>
          </a:xfrm>
          <a:prstGeom prst="roundRect">
            <a:avLst>
              <a:gd name="adj" fmla="val 16000"/>
            </a:avLst>
          </a:prstGeom>
          <a:solidFill>
            <a:schemeClr val="bg2"/>
          </a:solidFill>
          <a:ln w="12700">
            <a:solidFill>
              <a:schemeClr val="bg2"/>
            </a:solidFill>
            <a:prstDash val="solid"/>
          </a:ln>
        </p:spPr>
      </p:sp>
      <p:sp>
        <p:nvSpPr>
          <p:cNvPr id="25" name="Text 22"/>
          <p:cNvSpPr txBox="1"/>
          <p:nvPr/>
        </p:nvSpPr>
        <p:spPr>
          <a:xfrm>
            <a:off x="6035040" y="3099816"/>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&lt;eot&gt;</a:t>
            </a:r>
            <a:endParaRPr lang="en-US" sz="1300" dirty="0"/>
          </a:p>
        </p:txBody>
      </p:sp>
      <p:sp>
        <p:nvSpPr>
          <p:cNvPr id="26" name="Shape 23"/>
          <p:cNvSpPr/>
          <p:nvPr/>
        </p:nvSpPr>
        <p:spPr>
          <a:xfrm>
            <a:off x="6949440" y="3099816"/>
            <a:ext cx="841248" cy="457200"/>
          </a:xfrm>
          <a:prstGeom prst="roundRect">
            <a:avLst>
              <a:gd name="adj" fmla="val 16000"/>
            </a:avLst>
          </a:prstGeom>
          <a:solidFill>
            <a:schemeClr val="bg2"/>
          </a:solidFill>
          <a:ln w="12700">
            <a:solidFill>
              <a:schemeClr val="bg2"/>
            </a:solidFill>
            <a:prstDash val="solid"/>
          </a:ln>
        </p:spPr>
      </p:sp>
      <p:sp>
        <p:nvSpPr>
          <p:cNvPr id="27" name="Text 24"/>
          <p:cNvSpPr txBox="1"/>
          <p:nvPr/>
        </p:nvSpPr>
        <p:spPr>
          <a:xfrm>
            <a:off x="6949440" y="3099816"/>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8" name="Shape 25"/>
          <p:cNvSpPr/>
          <p:nvPr/>
        </p:nvSpPr>
        <p:spPr>
          <a:xfrm>
            <a:off x="7863840" y="3099816"/>
            <a:ext cx="841248" cy="457200"/>
          </a:xfrm>
          <a:prstGeom prst="roundRect">
            <a:avLst>
              <a:gd name="adj" fmla="val 16000"/>
            </a:avLst>
          </a:prstGeom>
          <a:solidFill>
            <a:schemeClr val="bg2"/>
          </a:solidFill>
          <a:ln w="12700">
            <a:solidFill>
              <a:schemeClr val="bg2"/>
            </a:solidFill>
            <a:prstDash val="solid"/>
          </a:ln>
        </p:spPr>
      </p:sp>
      <p:sp>
        <p:nvSpPr>
          <p:cNvPr id="29" name="Text 26"/>
          <p:cNvSpPr txBox="1"/>
          <p:nvPr/>
        </p:nvSpPr>
        <p:spPr>
          <a:xfrm>
            <a:off x="7863840" y="3099816"/>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30" name="Shape 27"/>
          <p:cNvSpPr/>
          <p:nvPr/>
        </p:nvSpPr>
        <p:spPr>
          <a:xfrm>
            <a:off x="8778240" y="3099816"/>
            <a:ext cx="841248" cy="457200"/>
          </a:xfrm>
          <a:prstGeom prst="roundRect">
            <a:avLst>
              <a:gd name="adj" fmla="val 16000"/>
            </a:avLst>
          </a:prstGeom>
          <a:solidFill>
            <a:schemeClr val="accent1"/>
          </a:solidFill>
          <a:ln w="12700">
            <a:solidFill>
              <a:schemeClr val="accent1"/>
            </a:solidFill>
            <a:prstDash val="solid"/>
          </a:ln>
        </p:spPr>
      </p:sp>
      <p:sp>
        <p:nvSpPr>
          <p:cNvPr id="31" name="Text 28"/>
          <p:cNvSpPr txBox="1"/>
          <p:nvPr/>
        </p:nvSpPr>
        <p:spPr>
          <a:xfrm>
            <a:off x="8778240" y="3099816"/>
            <a:ext cx="8412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opened</a:t>
            </a:r>
            <a:endParaRPr lang="en-US" sz="1300" dirty="0"/>
          </a:p>
        </p:txBody>
      </p:sp>
      <p:sp>
        <p:nvSpPr>
          <p:cNvPr id="32" name="Shape 29"/>
          <p:cNvSpPr/>
          <p:nvPr/>
        </p:nvSpPr>
        <p:spPr>
          <a:xfrm>
            <a:off x="6035040" y="3758184"/>
            <a:ext cx="841248" cy="457200"/>
          </a:xfrm>
          <a:prstGeom prst="roundRect">
            <a:avLst>
              <a:gd name="adj" fmla="val 16000"/>
            </a:avLst>
          </a:prstGeom>
          <a:solidFill>
            <a:schemeClr val="bg2"/>
          </a:solidFill>
          <a:ln w="12700">
            <a:solidFill>
              <a:schemeClr val="bg2"/>
            </a:solidFill>
            <a:prstDash val="solid"/>
          </a:ln>
        </p:spPr>
      </p:sp>
      <p:sp>
        <p:nvSpPr>
          <p:cNvPr id="33" name="Text 30"/>
          <p:cNvSpPr txBox="1"/>
          <p:nvPr/>
        </p:nvSpPr>
        <p:spPr>
          <a:xfrm>
            <a:off x="6035040" y="3758184"/>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&lt;eot&gt;</a:t>
            </a:r>
            <a:endParaRPr lang="en-US" sz="1300" dirty="0"/>
          </a:p>
        </p:txBody>
      </p:sp>
      <p:sp>
        <p:nvSpPr>
          <p:cNvPr id="34" name="Shape 31"/>
          <p:cNvSpPr/>
          <p:nvPr/>
        </p:nvSpPr>
        <p:spPr>
          <a:xfrm>
            <a:off x="6949440" y="3758184"/>
            <a:ext cx="841248" cy="457200"/>
          </a:xfrm>
          <a:prstGeom prst="roundRect">
            <a:avLst>
              <a:gd name="adj" fmla="val 16000"/>
            </a:avLst>
          </a:prstGeom>
          <a:solidFill>
            <a:schemeClr val="bg2"/>
          </a:solidFill>
          <a:ln w="12700">
            <a:solidFill>
              <a:schemeClr val="bg2"/>
            </a:solidFill>
            <a:prstDash val="solid"/>
          </a:ln>
        </p:spPr>
      </p:sp>
      <p:sp>
        <p:nvSpPr>
          <p:cNvPr id="35" name="Text 32"/>
          <p:cNvSpPr txBox="1"/>
          <p:nvPr/>
        </p:nvSpPr>
        <p:spPr>
          <a:xfrm>
            <a:off x="6949440" y="3758184"/>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36" name="Shape 33"/>
          <p:cNvSpPr/>
          <p:nvPr/>
        </p:nvSpPr>
        <p:spPr>
          <a:xfrm>
            <a:off x="7863840" y="3758184"/>
            <a:ext cx="841248" cy="457200"/>
          </a:xfrm>
          <a:prstGeom prst="roundRect">
            <a:avLst>
              <a:gd name="adj" fmla="val 16000"/>
            </a:avLst>
          </a:prstGeom>
          <a:solidFill>
            <a:schemeClr val="bg2"/>
          </a:solidFill>
          <a:ln w="12700">
            <a:solidFill>
              <a:schemeClr val="bg2"/>
            </a:solidFill>
            <a:prstDash val="solid"/>
          </a:ln>
        </p:spPr>
      </p:sp>
      <p:sp>
        <p:nvSpPr>
          <p:cNvPr id="37" name="Text 34"/>
          <p:cNvSpPr txBox="1"/>
          <p:nvPr/>
        </p:nvSpPr>
        <p:spPr>
          <a:xfrm>
            <a:off x="7863840" y="3758184"/>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38" name="Shape 35"/>
          <p:cNvSpPr/>
          <p:nvPr/>
        </p:nvSpPr>
        <p:spPr>
          <a:xfrm>
            <a:off x="8778240" y="3758184"/>
            <a:ext cx="841248" cy="457200"/>
          </a:xfrm>
          <a:prstGeom prst="roundRect">
            <a:avLst>
              <a:gd name="adj" fmla="val 16000"/>
            </a:avLst>
          </a:prstGeom>
          <a:solidFill>
            <a:schemeClr val="bg2"/>
          </a:solidFill>
          <a:ln w="12700">
            <a:solidFill>
              <a:schemeClr val="bg2"/>
            </a:solidFill>
            <a:prstDash val="solid"/>
          </a:ln>
        </p:spPr>
      </p:sp>
      <p:sp>
        <p:nvSpPr>
          <p:cNvPr id="39" name="Text 36"/>
          <p:cNvSpPr txBox="1"/>
          <p:nvPr/>
        </p:nvSpPr>
        <p:spPr>
          <a:xfrm>
            <a:off x="8778240" y="3758184"/>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40" name="Shape 37"/>
          <p:cNvSpPr/>
          <p:nvPr/>
        </p:nvSpPr>
        <p:spPr>
          <a:xfrm>
            <a:off x="9692640" y="3758184"/>
            <a:ext cx="841248" cy="457200"/>
          </a:xfrm>
          <a:prstGeom prst="roundRect">
            <a:avLst>
              <a:gd name="adj" fmla="val 16000"/>
            </a:avLst>
          </a:prstGeom>
          <a:solidFill>
            <a:schemeClr val="accent1"/>
          </a:solidFill>
          <a:ln w="12700">
            <a:solidFill>
              <a:schemeClr val="accent1"/>
            </a:solidFill>
            <a:prstDash val="solid"/>
          </a:ln>
        </p:spPr>
      </p:sp>
      <p:sp>
        <p:nvSpPr>
          <p:cNvPr id="41" name="Text 38"/>
          <p:cNvSpPr txBox="1"/>
          <p:nvPr/>
        </p:nvSpPr>
        <p:spPr>
          <a:xfrm>
            <a:off x="9692640" y="3758184"/>
            <a:ext cx="8412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the</a:t>
            </a:r>
            <a:endParaRPr lang="en-US" sz="1300" dirty="0"/>
          </a:p>
        </p:txBody>
      </p:sp>
      <p:sp>
        <p:nvSpPr>
          <p:cNvPr id="42" name="Shape 39"/>
          <p:cNvSpPr/>
          <p:nvPr/>
        </p:nvSpPr>
        <p:spPr>
          <a:xfrm>
            <a:off x="6035040" y="4416552"/>
            <a:ext cx="841248" cy="457200"/>
          </a:xfrm>
          <a:prstGeom prst="roundRect">
            <a:avLst>
              <a:gd name="adj" fmla="val 16000"/>
            </a:avLst>
          </a:prstGeom>
          <a:solidFill>
            <a:schemeClr val="bg2"/>
          </a:solidFill>
          <a:ln w="12700">
            <a:solidFill>
              <a:schemeClr val="bg2"/>
            </a:solidFill>
            <a:prstDash val="solid"/>
          </a:ln>
        </p:spPr>
      </p:sp>
      <p:sp>
        <p:nvSpPr>
          <p:cNvPr id="43" name="Text 40"/>
          <p:cNvSpPr txBox="1"/>
          <p:nvPr/>
        </p:nvSpPr>
        <p:spPr>
          <a:xfrm>
            <a:off x="6035040" y="4416552"/>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&lt;eot&gt;</a:t>
            </a:r>
            <a:endParaRPr lang="en-US" sz="1300" dirty="0"/>
          </a:p>
        </p:txBody>
      </p:sp>
      <p:sp>
        <p:nvSpPr>
          <p:cNvPr id="44" name="Shape 41"/>
          <p:cNvSpPr/>
          <p:nvPr/>
        </p:nvSpPr>
        <p:spPr>
          <a:xfrm>
            <a:off x="6949440" y="4416552"/>
            <a:ext cx="841248" cy="457200"/>
          </a:xfrm>
          <a:prstGeom prst="roundRect">
            <a:avLst>
              <a:gd name="adj" fmla="val 16000"/>
            </a:avLst>
          </a:prstGeom>
          <a:solidFill>
            <a:schemeClr val="bg2"/>
          </a:solidFill>
          <a:ln w="12700">
            <a:solidFill>
              <a:schemeClr val="bg2"/>
            </a:solidFill>
            <a:prstDash val="solid"/>
          </a:ln>
        </p:spPr>
      </p:sp>
      <p:sp>
        <p:nvSpPr>
          <p:cNvPr id="45" name="Text 42"/>
          <p:cNvSpPr txBox="1"/>
          <p:nvPr/>
        </p:nvSpPr>
        <p:spPr>
          <a:xfrm>
            <a:off x="6949440" y="4416552"/>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46" name="Shape 43"/>
          <p:cNvSpPr/>
          <p:nvPr/>
        </p:nvSpPr>
        <p:spPr>
          <a:xfrm>
            <a:off x="7863840" y="4416552"/>
            <a:ext cx="841248" cy="457200"/>
          </a:xfrm>
          <a:prstGeom prst="roundRect">
            <a:avLst>
              <a:gd name="adj" fmla="val 16000"/>
            </a:avLst>
          </a:prstGeom>
          <a:solidFill>
            <a:schemeClr val="bg2"/>
          </a:solidFill>
          <a:ln w="12700">
            <a:solidFill>
              <a:schemeClr val="bg2"/>
            </a:solidFill>
            <a:prstDash val="solid"/>
          </a:ln>
        </p:spPr>
      </p:sp>
      <p:sp>
        <p:nvSpPr>
          <p:cNvPr id="47" name="Text 44"/>
          <p:cNvSpPr txBox="1"/>
          <p:nvPr/>
        </p:nvSpPr>
        <p:spPr>
          <a:xfrm>
            <a:off x="7863840" y="4416552"/>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48" name="Shape 45"/>
          <p:cNvSpPr/>
          <p:nvPr/>
        </p:nvSpPr>
        <p:spPr>
          <a:xfrm>
            <a:off x="8778240" y="4416552"/>
            <a:ext cx="841248" cy="457200"/>
          </a:xfrm>
          <a:prstGeom prst="roundRect">
            <a:avLst>
              <a:gd name="adj" fmla="val 16000"/>
            </a:avLst>
          </a:prstGeom>
          <a:solidFill>
            <a:schemeClr val="bg2"/>
          </a:solidFill>
          <a:ln w="12700">
            <a:solidFill>
              <a:schemeClr val="bg2"/>
            </a:solidFill>
            <a:prstDash val="solid"/>
          </a:ln>
        </p:spPr>
      </p:sp>
      <p:sp>
        <p:nvSpPr>
          <p:cNvPr id="49" name="Text 46"/>
          <p:cNvSpPr txBox="1"/>
          <p:nvPr/>
        </p:nvSpPr>
        <p:spPr>
          <a:xfrm>
            <a:off x="8778240" y="4416552"/>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50" name="Shape 47"/>
          <p:cNvSpPr/>
          <p:nvPr/>
        </p:nvSpPr>
        <p:spPr>
          <a:xfrm>
            <a:off x="9692640" y="4416552"/>
            <a:ext cx="841248" cy="457200"/>
          </a:xfrm>
          <a:prstGeom prst="roundRect">
            <a:avLst>
              <a:gd name="adj" fmla="val 16000"/>
            </a:avLst>
          </a:prstGeom>
          <a:solidFill>
            <a:schemeClr val="bg2"/>
          </a:solidFill>
          <a:ln w="12700">
            <a:solidFill>
              <a:schemeClr val="bg2"/>
            </a:solidFill>
            <a:prstDash val="solid"/>
          </a:ln>
        </p:spPr>
      </p:sp>
      <p:sp>
        <p:nvSpPr>
          <p:cNvPr id="51" name="Text 48"/>
          <p:cNvSpPr txBox="1"/>
          <p:nvPr/>
        </p:nvSpPr>
        <p:spPr>
          <a:xfrm>
            <a:off x="9692640" y="4416552"/>
            <a:ext cx="8412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52" name="Shape 49"/>
          <p:cNvSpPr/>
          <p:nvPr/>
        </p:nvSpPr>
        <p:spPr>
          <a:xfrm>
            <a:off x="10607040" y="4416552"/>
            <a:ext cx="841248" cy="457200"/>
          </a:xfrm>
          <a:prstGeom prst="roundRect">
            <a:avLst>
              <a:gd name="adj" fmla="val 16000"/>
            </a:avLst>
          </a:prstGeom>
          <a:solidFill>
            <a:schemeClr val="accent1"/>
          </a:solidFill>
          <a:ln w="12700">
            <a:solidFill>
              <a:schemeClr val="accent1"/>
            </a:solidFill>
            <a:prstDash val="solid"/>
          </a:ln>
        </p:spPr>
      </p:sp>
      <p:sp>
        <p:nvSpPr>
          <p:cNvPr id="53" name="Text 50"/>
          <p:cNvSpPr txBox="1"/>
          <p:nvPr/>
        </p:nvSpPr>
        <p:spPr>
          <a:xfrm>
            <a:off x="10607040" y="4416552"/>
            <a:ext cx="8412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door</a:t>
            </a:r>
            <a:endParaRPr lang="en-US" sz="1300" dirty="0"/>
          </a:p>
        </p:txBody>
      </p:sp>
      <p:sp>
        <p:nvSpPr>
          <p:cNvPr id="54" name="Text 51"/>
          <p:cNvSpPr txBox="1"/>
          <p:nvPr/>
        </p:nvSpPr>
        <p:spPr>
          <a:xfrm>
            <a:off x="6035040" y="5166360"/>
            <a:ext cx="5577840" cy="54864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&lt;eot&gt;</a:t>
            </a:r>
            <a:r>
              <a:rPr lang="en-US" sz="1400" dirty="0">
                <a:solidFill>
                  <a:schemeClr val="tx2"/>
                </a:solidFill>
              </a:rPr>
              <a:t> stands for GPT-2's start token </a:t>
            </a:r>
            <a:r>
              <a:rPr lang="en-US" sz="1400" dirty="0">
                <a:solidFill>
                  <a:schemeClr val="tx2"/>
                </a:solidFill>
                <a:latin typeface="Courier New" pitchFamily="34" charset="0"/>
                <a:ea typeface="Courier New" pitchFamily="34" charset="-122"/>
                <a:cs typeface="Courier New" pitchFamily="34" charset="-120"/>
              </a:rPr>
              <a:t>&lt;|endoftext|&gt;</a:t>
            </a:r>
            <a:r>
              <a:rPr lang="en-US" sz="1400" dirty="0">
                <a:solidFill>
                  <a:schemeClr val="tx2"/>
                </a:solidFill>
              </a:rPr>
              <a:t>. Grey: visible prefix. Teal: the token to predict.</a:t>
            </a:r>
            <a:endParaRPr lang="en-US" sz="1400" dirty="0"/>
          </a:p>
        </p:txBody>
      </p:sp>
      <p:sp>
        <p:nvSpPr>
          <p:cNvPr id="55" name="Text 52"/>
          <p:cNvSpPr txBox="1"/>
          <p:nvPr/>
        </p:nvSpPr>
        <p:spPr>
          <a:xfrm>
            <a:off x="6035040" y="5715000"/>
            <a:ext cx="5577840" cy="365760"/>
          </a:xfrm>
          <a:prstGeom prst="rect">
            <a:avLst/>
          </a:prstGeom>
          <a:noFill/>
          <a:ln/>
        </p:spPr>
        <p:txBody>
          <a:bodyPr wrap="square" lIns="0" tIns="0" rIns="0" bIns="0" rtlCol="0" anchor="t"/>
          <a:lstStyle/>
          <a:p>
            <a:pPr indent="0" marL="0">
              <a:buNone/>
            </a:pPr>
            <a:r>
              <a:rPr lang="en-US" sz="1600" b="1" dirty="0">
                <a:solidFill>
                  <a:schemeClr val="accent1"/>
                </a:solidFill>
              </a:rPr>
              <a:t>Rule: each token is predicted only from the tokens before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GPT-2 family: one design, four sizes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1554480"/>
                <a:gridCol w="1920240"/>
                <a:gridCol w="1463040"/>
                <a:gridCol w="1828800"/>
                <a:gridCol w="1920240"/>
              </a:tblGrid>
              <a:tr h="502920">
                <a:tc>
                  <a:txBody>
                    <a:bodyPr/>
                    <a:lstStyle/>
                    <a:p>
                      <a:pPr indent="0" marL="0">
                        <a:buNone/>
                      </a:pPr>
                      <a:r>
                        <a:rPr lang="en-US" sz="1600" b="1" dirty="0">
                          <a:solidFill>
                            <a:schemeClr val="bg1"/>
                          </a:solidFill>
                        </a:rPr>
                        <a:t>Model</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L (layers)</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H (hidden size)</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A (heads)</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Parameters</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fp32 weights</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600" b="1" dirty="0">
                          <a:solidFill>
                            <a:schemeClr val="tx1"/>
                          </a:solidFill>
                        </a:rPr>
                        <a:t>GPT-2 Small</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12</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768</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12</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rPr>
                        <a:t>124M</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~0.5 GB</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600" b="1" dirty="0">
                          <a:solidFill>
                            <a:schemeClr val="tx1"/>
                          </a:solidFill>
                        </a:rPr>
                        <a:t>GPT-2 Medium</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24</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1024</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16</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355M</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~1.4 GB</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600" b="1" dirty="0">
                          <a:solidFill>
                            <a:schemeClr val="tx1"/>
                          </a:solidFill>
                        </a:rPr>
                        <a:t>GPT-2 Large</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36</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1280</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774M</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~3.1 GB</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600" b="1" dirty="0">
                          <a:solidFill>
                            <a:schemeClr val="tx1"/>
                          </a:solidFill>
                        </a:rPr>
                        <a:t>GPT-2 XL</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48</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1600</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25</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1.5B</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~6.2 GB</a:t>
                      </a:r>
                      <a:endParaRPr lang="en-US" sz="16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stat 1"/>
          <p:cNvSpPr/>
          <p:nvPr/>
        </p:nvSpPr>
        <p:spPr>
          <a:xfrm>
            <a:off x="548640" y="4114800"/>
            <a:ext cx="3474720" cy="1737360"/>
          </a:xfrm>
          <a:prstGeom prst="roundRect">
            <a:avLst>
              <a:gd name="adj" fmla="val 6316"/>
            </a:avLst>
          </a:prstGeom>
          <a:solidFill>
            <a:schemeClr val="bg2"/>
          </a:solidFill>
          <a:ln w="12700">
            <a:solidFill>
              <a:schemeClr val="bg2"/>
            </a:solidFill>
            <a:prstDash val="solid"/>
          </a:ln>
        </p:spPr>
      </p:sp>
      <p:sp>
        <p:nvSpPr>
          <p:cNvPr id="6" name="Text 2"/>
          <p:cNvSpPr txBox="1"/>
          <p:nvPr/>
        </p:nvSpPr>
        <p:spPr>
          <a:xfrm>
            <a:off x="822960" y="4206240"/>
            <a:ext cx="3017520" cy="73152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50,257</a:t>
            </a:r>
            <a:endParaRPr lang="en-US" sz="4000" dirty="0"/>
          </a:p>
        </p:txBody>
      </p:sp>
      <p:sp>
        <p:nvSpPr>
          <p:cNvPr id="7" name="Text 3"/>
          <p:cNvSpPr txBox="1"/>
          <p:nvPr/>
        </p:nvSpPr>
        <p:spPr>
          <a:xfrm>
            <a:off x="822960" y="4983480"/>
            <a:ext cx="3017520" cy="685800"/>
          </a:xfrm>
          <a:prstGeom prst="rect">
            <a:avLst/>
          </a:prstGeom>
          <a:noFill/>
          <a:ln/>
        </p:spPr>
        <p:txBody>
          <a:bodyPr wrap="square" lIns="0" tIns="0" rIns="0" bIns="0" rtlCol="0" anchor="t"/>
          <a:lstStyle/>
          <a:p>
            <a:pPr indent="0" marL="0">
              <a:buNone/>
            </a:pPr>
            <a:r>
              <a:rPr lang="en-US" sz="1400" dirty="0">
                <a:solidFill>
                  <a:schemeClr val="tx2"/>
                </a:solidFill>
              </a:rPr>
              <a:t>vocabulary size V (byte-level BPE tokens)</a:t>
            </a:r>
            <a:endParaRPr lang="en-US" sz="1400" dirty="0"/>
          </a:p>
        </p:txBody>
      </p:sp>
      <p:sp>
        <p:nvSpPr>
          <p:cNvPr id="8" name="stat 2"/>
          <p:cNvSpPr/>
          <p:nvPr/>
        </p:nvSpPr>
        <p:spPr>
          <a:xfrm>
            <a:off x="4297680" y="4114800"/>
            <a:ext cx="3474720" cy="1737360"/>
          </a:xfrm>
          <a:prstGeom prst="roundRect">
            <a:avLst>
              <a:gd name="adj" fmla="val 6316"/>
            </a:avLst>
          </a:prstGeom>
          <a:solidFill>
            <a:schemeClr val="bg2"/>
          </a:solidFill>
          <a:ln w="12700">
            <a:solidFill>
              <a:schemeClr val="bg2"/>
            </a:solidFill>
            <a:prstDash val="solid"/>
          </a:ln>
        </p:spPr>
      </p:sp>
      <p:sp>
        <p:nvSpPr>
          <p:cNvPr id="9" name="Text 5"/>
          <p:cNvSpPr txBox="1"/>
          <p:nvPr/>
        </p:nvSpPr>
        <p:spPr>
          <a:xfrm>
            <a:off x="4572000" y="4206240"/>
            <a:ext cx="3017520" cy="731520"/>
          </a:xfrm>
          <a:prstGeom prst="rect">
            <a:avLst/>
          </a:prstGeom>
          <a:noFill/>
          <a:ln/>
        </p:spPr>
        <p:txBody>
          <a:bodyPr wrap="square" lIns="0" tIns="0" rIns="0" bIns="0" rtlCol="0" anchor="b"/>
          <a:lstStyle/>
          <a:p>
            <a:pPr indent="0" marL="0">
              <a:buNone/>
            </a:pPr>
            <a:r>
              <a:rPr lang="en-US" sz="4000" b="1" dirty="0">
                <a:solidFill>
                  <a:schemeClr val="accent4"/>
                </a:solidFill>
                <a:latin typeface="Cambria" pitchFamily="34" charset="0"/>
                <a:ea typeface="Cambria" pitchFamily="34" charset="-122"/>
                <a:cs typeface="Cambria" pitchFamily="34" charset="-120"/>
              </a:rPr>
              <a:t>1,024</a:t>
            </a:r>
            <a:endParaRPr lang="en-US" sz="4000" dirty="0"/>
          </a:p>
        </p:txBody>
      </p:sp>
      <p:sp>
        <p:nvSpPr>
          <p:cNvPr id="10" name="Text 6"/>
          <p:cNvSpPr txBox="1"/>
          <p:nvPr/>
        </p:nvSpPr>
        <p:spPr>
          <a:xfrm>
            <a:off x="4572000" y="4983480"/>
            <a:ext cx="3017520" cy="685800"/>
          </a:xfrm>
          <a:prstGeom prst="rect">
            <a:avLst/>
          </a:prstGeom>
          <a:noFill/>
          <a:ln/>
        </p:spPr>
        <p:txBody>
          <a:bodyPr wrap="square" lIns="0" tIns="0" rIns="0" bIns="0" rtlCol="0" anchor="t"/>
          <a:lstStyle/>
          <a:p>
            <a:pPr indent="0" marL="0">
              <a:buNone/>
            </a:pPr>
            <a:r>
              <a:rPr lang="en-US" sz="1400" dirty="0">
                <a:solidFill>
                  <a:schemeClr val="tx2"/>
                </a:solidFill>
              </a:rPr>
              <a:t>context length T in tokens</a:t>
            </a:r>
            <a:endParaRPr lang="en-US" sz="1400" dirty="0"/>
          </a:p>
        </p:txBody>
      </p:sp>
      <p:sp>
        <p:nvSpPr>
          <p:cNvPr id="11" name="stat 3"/>
          <p:cNvSpPr/>
          <p:nvPr/>
        </p:nvSpPr>
        <p:spPr>
          <a:xfrm>
            <a:off x="8046720" y="4114800"/>
            <a:ext cx="3474720" cy="1737360"/>
          </a:xfrm>
          <a:prstGeom prst="roundRect">
            <a:avLst>
              <a:gd name="adj" fmla="val 6316"/>
            </a:avLst>
          </a:prstGeom>
          <a:solidFill>
            <a:schemeClr val="bg2"/>
          </a:solidFill>
          <a:ln w="12700">
            <a:solidFill>
              <a:schemeClr val="bg2"/>
            </a:solidFill>
            <a:prstDash val="solid"/>
          </a:ln>
        </p:spPr>
      </p:sp>
      <p:sp>
        <p:nvSpPr>
          <p:cNvPr id="12" name="Text 8"/>
          <p:cNvSpPr txBox="1"/>
          <p:nvPr/>
        </p:nvSpPr>
        <p:spPr>
          <a:xfrm>
            <a:off x="8321040" y="4206240"/>
            <a:ext cx="3017520" cy="73152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64</a:t>
            </a:r>
            <a:endParaRPr lang="en-US" sz="4000" dirty="0"/>
          </a:p>
        </p:txBody>
      </p:sp>
      <p:sp>
        <p:nvSpPr>
          <p:cNvPr id="13" name="Text 9"/>
          <p:cNvSpPr txBox="1"/>
          <p:nvPr/>
        </p:nvSpPr>
        <p:spPr>
          <a:xfrm>
            <a:off x="8321040" y="4983480"/>
            <a:ext cx="3017520" cy="685800"/>
          </a:xfrm>
          <a:prstGeom prst="rect">
            <a:avLst/>
          </a:prstGeom>
          <a:noFill/>
          <a:ln/>
        </p:spPr>
        <p:txBody>
          <a:bodyPr wrap="square" lIns="0" tIns="0" rIns="0" bIns="0" rtlCol="0" anchor="t"/>
          <a:lstStyle/>
          <a:p>
            <a:pPr indent="0" marL="0">
              <a:buNone/>
            </a:pPr>
            <a:r>
              <a:rPr lang="en-US" sz="1400" dirty="0">
                <a:solidFill>
                  <a:schemeClr val="tx2"/>
                </a:solidFill>
              </a:rPr>
              <a:t>per-head width H / A in every size</a:t>
            </a:r>
            <a:endParaRPr lang="en-US" sz="1400" dirty="0"/>
          </a:p>
        </p:txBody>
      </p:sp>
      <p:sp>
        <p:nvSpPr>
          <p:cNvPr id="14" name="Text 10"/>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chemeClr val="tx2"/>
                </a:solidFill>
              </a:rPr>
              <a:t>Size = parameters × 4 bytes (fp32), in GB of 10⁹ bytes; weights only. The paper reports 117M, 345M, 762M and 1542M; the table counts the released checkpoints.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Causal LM vs. masked LM vs. the original Transformer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3108960"/>
                <a:gridCol w="2651760"/>
                <a:gridCol w="2926080"/>
              </a:tblGrid>
              <a:tr h="512064">
                <a:tc>
                  <a:txBody>
                    <a:bodyPr/>
                    <a:lstStyle/>
                    <a:p>
                      <a:pPr indent="0" marL="0">
                        <a:buNone/>
                      </a:pP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Original encoder–decoder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BERT (masked LM)</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GPT-2 (causal LM)</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12064">
                <a:tc>
                  <a:txBody>
                    <a:bodyPr/>
                    <a:lstStyle/>
                    <a:p>
                      <a:pPr indent="0" marL="0">
                        <a:buNone/>
                      </a:pPr>
                      <a:r>
                        <a:rPr lang="en-US" sz="1500" b="1" dirty="0">
                          <a:solidFill>
                            <a:schemeClr val="tx1"/>
                          </a:solidFill>
                        </a:rPr>
                        <a:t>Components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encoder + decoder with cross-attention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encoder stack</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decoder stack, no cross-attention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encoder: full · decoder: causal + cross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full (both sides)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causal (left only)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12064">
                <a:tc>
                  <a:txBody>
                    <a:bodyPr/>
                    <a:lstStyle/>
                    <a:p>
                      <a:pPr indent="0" marL="0">
                        <a:buNone/>
                      </a:pPr>
                      <a:r>
                        <a:rPr lang="en-US" sz="1500" b="1" dirty="0">
                          <a:solidFill>
                            <a:schemeClr val="tx1"/>
                          </a:solidFill>
                        </a:rPr>
                        <a:t>Training target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target tokens, given the source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hidden [MASK] tokens (~15%)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the next token, at every position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Positions that give a loss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all target positions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masked positions only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all T positions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12064">
                <a:tc>
                  <a:txBody>
                    <a:bodyPr/>
                    <a:lstStyle/>
                    <a:p>
                      <a:pPr indent="0" marL="0">
                        <a:buNone/>
                      </a:pPr>
                      <a:r>
                        <a:rPr lang="en-US" sz="1500" b="1" dirty="0">
                          <a:solidFill>
                            <a:schemeClr val="tx1"/>
                          </a:solidFill>
                        </a:rPr>
                        <a:t>Generates text?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yes, conditioned on the source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not directly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yes: predict, append, repeat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12064">
                <a:tc>
                  <a:txBody>
                    <a:bodyPr/>
                    <a:lstStyle/>
                    <a:p>
                      <a:pPr indent="0" marL="0">
                        <a:buNone/>
                      </a:pPr>
                      <a:r>
                        <a:rPr lang="en-US" sz="1500" b="1" dirty="0">
                          <a:solidFill>
                            <a:schemeClr val="tx1"/>
                          </a:solidFill>
                        </a:rPr>
                        <a:t>Typical use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translation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classification, tagging, QA</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generation, prompting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decoder-only"/>
          <p:cNvSpPr/>
          <p:nvPr/>
        </p:nvSpPr>
        <p:spPr>
          <a:xfrm>
            <a:off x="548640" y="5074920"/>
            <a:ext cx="11064240" cy="1051560"/>
          </a:xfrm>
          <a:prstGeom prst="roundRect">
            <a:avLst>
              <a:gd name="adj" fmla="val 10435"/>
            </a:avLst>
          </a:prstGeom>
          <a:solidFill>
            <a:schemeClr val="accent5"/>
          </a:solidFill>
          <a:ln w="12700">
            <a:solidFill>
              <a:schemeClr val="accent5"/>
            </a:solidFill>
            <a:prstDash val="solid"/>
          </a:ln>
        </p:spPr>
      </p:sp>
      <p:sp>
        <p:nvSpPr>
          <p:cNvPr id="6" name="Text 2"/>
          <p:cNvSpPr txBox="1"/>
          <p:nvPr/>
        </p:nvSpPr>
        <p:spPr>
          <a:xfrm>
            <a:off x="822960" y="5074920"/>
            <a:ext cx="10607040" cy="1051560"/>
          </a:xfrm>
          <a:prstGeom prst="rect">
            <a:avLst/>
          </a:prstGeom>
          <a:noFill/>
          <a:ln/>
        </p:spPr>
        <p:txBody>
          <a:bodyPr wrap="square" lIns="0" tIns="0" rIns="0" bIns="0" rtlCol="0" anchor="ctr"/>
          <a:lstStyle/>
          <a:p>
            <a:pPr indent="0" marL="0">
              <a:buNone/>
            </a:pPr>
            <a:r>
              <a:rPr lang="en-US" sz="1600" b="1" dirty="0">
                <a:solidFill>
                  <a:schemeClr val="tx1"/>
                </a:solidFill>
              </a:rPr>
              <a:t>GPT-2 stacks decoder blocks without cross-attention: </a:t>
            </a:r>
            <a:r>
              <a:rPr lang="en-US" sz="1600" dirty="0">
                <a:solidFill>
                  <a:schemeClr val="tx1"/>
                </a:solidFill>
              </a:rPr>
              <a:t>masked self-attention → feed-forward, repeated (12 blocks in GPT-2 small, vs. 6 + 6 in the original base Transformer). A prompt is conditioning context, not encoder output.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GPT-2 needs a mask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4</a:t>
            </a:r>
            <a:endParaRPr lang="en-US" sz="1400" dirty="0"/>
          </a:p>
        </p:txBody>
      </p:sp>
      <p:pic>
        <p:nvPicPr>
          <p:cNvPr id="6" name="Image 0" descr="Two 5 by 5 attention patterns. Causal (GPT-2): lower triangle, each query reads itself and earlier positions. Bidirectional (BERT): every query reads every position.">    </p:cNvPr>
          <p:cNvPicPr>
            <a:picLocks noChangeAspect="1"/>
          </p:cNvPicPr>
          <p:nvPr/>
        </p:nvPicPr>
        <p:blipFill>
          <a:blip r:embed="rId1"/>
          <a:stretch>
            <a:fillRect/>
          </a:stretch>
        </p:blipFill>
        <p:spPr>
          <a:xfrm>
            <a:off x="548640" y="1417320"/>
            <a:ext cx="6583680" cy="3229138"/>
          </a:xfrm>
          <a:prstGeom prst="rect">
            <a:avLst/>
          </a:prstGeom>
        </p:spPr>
      </p:pic>
      <p:sp>
        <p:nvSpPr>
          <p:cNvPr id="7" name="Text 3"/>
          <p:cNvSpPr txBox="1"/>
          <p:nvPr/>
        </p:nvSpPr>
        <p:spPr>
          <a:xfrm>
            <a:off x="548640" y="4783618"/>
            <a:ext cx="6583680" cy="365760"/>
          </a:xfrm>
          <a:prstGeom prst="rect">
            <a:avLst/>
          </a:prstGeom>
          <a:noFill/>
          <a:ln/>
        </p:spPr>
        <p:txBody>
          <a:bodyPr wrap="square" lIns="0" tIns="0" rIns="0" bIns="0" rtlCol="0" anchor="t"/>
          <a:lstStyle/>
          <a:p>
            <a:pPr indent="0" marL="0">
              <a:buNone/>
            </a:pPr>
            <a:r>
              <a:rPr lang="en-US" sz="1400" dirty="0">
                <a:solidFill>
                  <a:schemeClr val="tx2"/>
                </a:solidFill>
              </a:rPr>
              <a:t>Dark squares: positions a query (row) may read from (column).</a:t>
            </a:r>
            <a:endParaRPr lang="en-US" sz="1400" dirty="0"/>
          </a:p>
        </p:txBody>
      </p:sp>
      <p:sp>
        <p:nvSpPr>
          <p:cNvPr id="8" name="Text 4"/>
          <p:cNvSpPr txBox="1"/>
          <p:nvPr/>
        </p:nvSpPr>
        <p:spPr>
          <a:xfrm>
            <a:off x="548640" y="5166360"/>
            <a:ext cx="6583680" cy="10972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Causal: </a:t>
            </a:r>
            <a:r>
              <a:rPr lang="en-US" sz="1500" dirty="0">
                <a:solidFill>
                  <a:schemeClr val="tx1"/>
                </a:solidFill>
              </a:rPr>
              <a:t>lower triangle. The answer token is in the input, so only the mask keeps the model from reading it.</a:t>
            </a:r>
            <a:endParaRPr lang="en-US" sz="1500" dirty="0"/>
          </a:p>
          <a:p>
            <a:pPr marL="228600" indent="-228600">
              <a:spcAft>
                <a:spcPts val="800"/>
              </a:spcAft>
              <a:buSzPct val="100000"/>
              <a:buChar char="•"/>
            </a:pPr>
            <a:r>
              <a:rPr lang="en-US" sz="1500" b="1" dirty="0">
                <a:solidFill>
                  <a:schemeClr val="tx1"/>
                </a:solidFill>
              </a:rPr>
              <a:t>Bidirectional: </a:t>
            </a:r>
            <a:r>
              <a:rPr lang="en-US" sz="1500" dirty="0">
                <a:solidFill>
                  <a:schemeClr val="tx1"/>
                </a:solidFill>
              </a:rPr>
              <a:t>full square. Safe for BERT because the answer is replaced by </a:t>
            </a:r>
            <a:r>
              <a:rPr lang="en-US" sz="1500" dirty="0">
                <a:solidFill>
                  <a:schemeClr val="tx1"/>
                </a:solidFill>
                <a:latin typeface="Courier New" pitchFamily="34" charset="0"/>
                <a:ea typeface="Courier New" pitchFamily="34" charset="-122"/>
                <a:cs typeface="Courier New" pitchFamily="34" charset="-120"/>
              </a:rPr>
              <a:t>[MASK]</a:t>
            </a:r>
            <a:r>
              <a:rPr lang="en-US" sz="1500" dirty="0">
                <a:solidFill>
                  <a:schemeClr val="tx1"/>
                </a:solidFill>
              </a:rPr>
              <a:t> first.</a:t>
            </a:r>
            <a:endParaRPr lang="en-US" sz="1500" dirty="0"/>
          </a:p>
        </p:txBody>
      </p:sp>
      <p:sp>
        <p:nvSpPr>
          <p:cNvPr id="9" name="confusion 1"/>
          <p:cNvSpPr/>
          <p:nvPr/>
        </p:nvSpPr>
        <p:spPr>
          <a:xfrm>
            <a:off x="7498080" y="1417320"/>
            <a:ext cx="4114800" cy="2240280"/>
          </a:xfrm>
          <a:prstGeom prst="roundRect">
            <a:avLst>
              <a:gd name="adj" fmla="val 4898"/>
            </a:avLst>
          </a:prstGeom>
          <a:solidFill>
            <a:schemeClr val="accent6"/>
          </a:solidFill>
          <a:ln w="12700">
            <a:solidFill>
              <a:schemeClr val="accent6"/>
            </a:solidFill>
            <a:prstDash val="solid"/>
          </a:ln>
        </p:spPr>
      </p:sp>
      <p:sp>
        <p:nvSpPr>
          <p:cNvPr id="10" name="Text 6"/>
          <p:cNvSpPr txBox="1"/>
          <p:nvPr/>
        </p:nvSpPr>
        <p:spPr>
          <a:xfrm>
            <a:off x="7772400" y="1600200"/>
            <a:ext cx="3566160" cy="1920240"/>
          </a:xfrm>
          <a:prstGeom prst="rect">
            <a:avLst/>
          </a:prstGeom>
          <a:noFill/>
          <a:ln/>
        </p:spPr>
        <p:txBody>
          <a:bodyPr wrap="square" lIns="0" tIns="0" rIns="0" bIns="0" rtlCol="0" anchor="t"/>
          <a:lstStyle/>
          <a:p>
            <a:pPr indent="0" marL="0">
              <a:buNone/>
            </a:pPr>
            <a:r>
              <a:rPr lang="en-US" sz="1500" b="1" dirty="0">
                <a:solidFill>
                  <a:schemeClr val="accent3"/>
                </a:solidFill>
              </a:rPr>
              <a:t>[MASK] is not the attention mask</a:t>
            </a:r>
            <a:endParaRPr lang="en-US" sz="1500" dirty="0"/>
          </a:p>
          <a:p>
            <a:pPr indent="0" marL="0">
              <a:buNone/>
            </a:pPr>
            <a:r>
              <a:rPr lang="en-US" sz="1500" dirty="0">
                <a:solidFill>
                  <a:schemeClr val="tx1"/>
                </a:solidFill>
              </a:rPr>
              <a:t>[MASK] is a token BERT puts into its input. GPT-2's attention mask is a rule about which positions may read which; it changes nothing in the input.</a:t>
            </a:r>
            <a:endParaRPr lang="en-US" sz="1500" dirty="0"/>
          </a:p>
        </p:txBody>
      </p:sp>
      <p:sp>
        <p:nvSpPr>
          <p:cNvPr id="11" name="confusion 2"/>
          <p:cNvSpPr/>
          <p:nvPr/>
        </p:nvSpPr>
        <p:spPr>
          <a:xfrm>
            <a:off x="7498080" y="3840480"/>
            <a:ext cx="4114800" cy="2286000"/>
          </a:xfrm>
          <a:prstGeom prst="roundRect">
            <a:avLst>
              <a:gd name="adj" fmla="val 4800"/>
            </a:avLst>
          </a:prstGeom>
          <a:solidFill>
            <a:schemeClr val="bg2"/>
          </a:solidFill>
          <a:ln w="12700">
            <a:solidFill>
              <a:schemeClr val="bg2"/>
            </a:solidFill>
            <a:prstDash val="solid"/>
          </a:ln>
        </p:spPr>
      </p:sp>
      <p:sp>
        <p:nvSpPr>
          <p:cNvPr id="12" name="Text 8"/>
          <p:cNvSpPr txBox="1"/>
          <p:nvPr/>
        </p:nvSpPr>
        <p:spPr>
          <a:xfrm>
            <a:off x="7772400" y="4023360"/>
            <a:ext cx="3566160" cy="1965960"/>
          </a:xfrm>
          <a:prstGeom prst="rect">
            <a:avLst/>
          </a:prstGeom>
          <a:noFill/>
          <a:ln/>
        </p:spPr>
        <p:txBody>
          <a:bodyPr wrap="square" lIns="0" tIns="0" rIns="0" bIns="0" rtlCol="0" anchor="t"/>
          <a:lstStyle/>
          <a:p>
            <a:pPr indent="0" marL="0">
              <a:buNone/>
            </a:pPr>
            <a:r>
              <a:rPr lang="en-US" sz="1500" b="1" dirty="0">
                <a:solidFill>
                  <a:schemeClr val="tx1"/>
                </a:solidFill>
              </a:rPr>
              <a:t>Neither objective is “better”</a:t>
            </a:r>
            <a:endParaRPr lang="en-US" sz="1500" dirty="0"/>
          </a:p>
          <a:p>
            <a:pPr indent="0" marL="0">
              <a:buNone/>
            </a:pPr>
            <a:r>
              <a:rPr lang="en-US" sz="1500" dirty="0">
                <a:solidFill>
                  <a:schemeClr val="tx1"/>
                </a:solidFill>
              </a:rPr>
              <a:t>Causal matches the task of generating text. Masked uses context from both sides, which helps understanding tasks, but gets fewer training signals per sequence.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token IDs to logits</a:t>
            </a:r>
            <a:endParaRPr lang="en-US" sz="3200" dirty="0"/>
          </a:p>
        </p:txBody>
      </p:sp>
      <p:pic>
        <p:nvPicPr>
          <p:cNvPr id="4" name="Image 0" descr="GPT-2 forward pass: token IDs (B, T) plus learned position embeddings give (B, T, D); N pre-norm blocks of causal multi-head self-attention and a GELU feed-forward network, each with a residual add; final layer norm; linear projection to the vocabulary, tied to the token embedding, gives logits (B, T, V).">    </p:cNvPr>
          <p:cNvPicPr>
            <a:picLocks noChangeAspect="1"/>
          </p:cNvPicPr>
          <p:nvPr/>
        </p:nvPicPr>
        <p:blipFill>
          <a:blip r:embed="rId1"/>
          <a:stretch>
            <a:fillRect/>
          </a:stretch>
        </p:blipFill>
        <p:spPr>
          <a:xfrm>
            <a:off x="548640" y="1188720"/>
            <a:ext cx="3685330" cy="507492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99730" y="1280160"/>
          <a:ext cx="7013150" cy="914400"/>
        </p:xfrm>
        <a:graphic>
          <a:graphicData uri="http://schemas.openxmlformats.org/drawingml/2006/table">
            <a:tbl>
              <a:tblPr/>
              <a:tblGrid>
                <a:gridCol w="2057400"/>
                <a:gridCol w="3629870"/>
                <a:gridCol w="1325880"/>
              </a:tblGrid>
              <a:tr h="475488">
                <a:tc>
                  <a:txBody>
                    <a:bodyPr/>
                    <a:lstStyle/>
                    <a:p>
                      <a:pPr indent="0" marL="0">
                        <a:buNone/>
                      </a:pPr>
                      <a:r>
                        <a:rPr lang="en-US" sz="1300" b="1" dirty="0">
                          <a:solidFill>
                            <a:schemeClr val="bg1"/>
                          </a:solidFill>
                        </a:rPr>
                        <a:t>Component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it does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Mixes positions?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75488">
                <a:tc>
                  <a:txBody>
                    <a:bodyPr/>
                    <a:lstStyle/>
                    <a:p>
                      <a:pPr indent="0" marL="0">
                        <a:buNone/>
                      </a:pPr>
                      <a:r>
                        <a:rPr lang="en-US" sz="1300" dirty="0">
                          <a:solidFill>
                            <a:schemeClr val="tx1"/>
                          </a:solidFill>
                        </a:rPr>
                        <a:t>Token + position embedding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ID → D-dim vector that also encodes its position (both learned)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Layer norm (pre-norm)</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Normalizes the input to each sublayer</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Causal self-attention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Each position gathers information from itself and earlier positions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yes, and only here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Feed-forward network</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 → 4D → GELU → D, each position separately</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300" dirty="0">
                          <a:solidFill>
                            <a:schemeClr val="tx1"/>
                          </a:solidFill>
                        </a:rPr>
                        <a:t>Residual add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Adds each sublayer's output back to its input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Final norm + vocabulary projection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 → V logits; weights tied to the token embedding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6" name="key idea"/>
          <p:cNvSpPr/>
          <p:nvPr/>
        </p:nvSpPr>
        <p:spPr>
          <a:xfrm>
            <a:off x="4599730" y="4983480"/>
            <a:ext cx="7013150" cy="1188720"/>
          </a:xfrm>
          <a:prstGeom prst="roundRect">
            <a:avLst>
              <a:gd name="adj" fmla="val 9231"/>
            </a:avLst>
          </a:prstGeom>
          <a:solidFill>
            <a:schemeClr val="accent5"/>
          </a:solidFill>
          <a:ln w="12700">
            <a:solidFill>
              <a:schemeClr val="accent5"/>
            </a:solidFill>
            <a:prstDash val="solid"/>
          </a:ln>
        </p:spPr>
      </p:sp>
      <p:sp>
        <p:nvSpPr>
          <p:cNvPr id="7" name="Text 2"/>
          <p:cNvSpPr txBox="1"/>
          <p:nvPr/>
        </p:nvSpPr>
        <p:spPr>
          <a:xfrm>
            <a:off x="4828330" y="4983480"/>
            <a:ext cx="6555950" cy="1188720"/>
          </a:xfrm>
          <a:prstGeom prst="rect">
            <a:avLst/>
          </a:prstGeom>
          <a:noFill/>
          <a:ln/>
        </p:spPr>
        <p:txBody>
          <a:bodyPr wrap="square" lIns="0" tIns="0" rIns="0" bIns="0" rtlCol="0" anchor="ctr"/>
          <a:lstStyle/>
          <a:p>
            <a:pPr indent="0" marL="0">
              <a:buNone/>
            </a:pPr>
            <a:r>
              <a:rPr lang="en-US" sz="1500" b="1" dirty="0">
                <a:solidFill>
                  <a:schemeClr val="tx1"/>
                </a:solidFill>
              </a:rPr>
              <a:t>Key idea: </a:t>
            </a:r>
            <a:r>
              <a:rPr lang="en-US" sz="1500" dirty="0">
                <a:solidFill>
                  <a:schemeClr val="tx1"/>
                </a:solidFill>
              </a:rPr>
              <a:t>attention is the only place positions exchange information, so one mask inside attention makes the whole model causal. Every block maps (B, T, D) → (B, T, D), so blocks stack.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Inside causal self-attention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583680" cy="914400"/>
        </p:xfrm>
        <a:graphic>
          <a:graphicData uri="http://schemas.openxmlformats.org/drawingml/2006/table">
            <a:tbl>
              <a:tblPr/>
              <a:tblGrid>
                <a:gridCol w="1371600"/>
                <a:gridCol w="2834640"/>
                <a:gridCol w="2377440"/>
              </a:tblGrid>
              <a:tr h="457200">
                <a:tc>
                  <a:txBody>
                    <a:bodyPr/>
                    <a:lstStyle/>
                    <a:p>
                      <a:pPr indent="0" marL="0">
                        <a:buNone/>
                      </a:pPr>
                      <a:r>
                        <a:rPr lang="en-US" sz="1500" b="1" dirty="0">
                          <a:solidFill>
                            <a:schemeClr val="bg1"/>
                          </a:solidFill>
                        </a:rPr>
                        <a:t>Vector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Role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Filing-cabinet picture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indent="0" marL="0">
                        <a:buNone/>
                      </a:pPr>
                      <a:r>
                        <a:rPr lang="en-US" sz="1500" b="1" dirty="0">
                          <a:solidFill>
                            <a:schemeClr val="tx1"/>
                          </a:solidFill>
                        </a:rPr>
                        <a:t>Query qᵢ</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position i is looking for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note describing your topic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Key kⱼ</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what position j offers to be matched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the label on a folder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Value vⱼ</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what j contributes if selected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the contents of the folder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7498080" y="1280160"/>
            <a:ext cx="4114800" cy="365760"/>
          </a:xfrm>
          <a:prstGeom prst="rect">
            <a:avLst/>
          </a:prstGeom>
          <a:noFill/>
          <a:ln/>
        </p:spPr>
        <p:txBody>
          <a:bodyPr wrap="square" lIns="0" tIns="0" rIns="0" bIns="0" rtlCol="0" anchor="t"/>
          <a:lstStyle/>
          <a:p>
            <a:pPr indent="0" marL="0">
              <a:buNone/>
            </a:pPr>
            <a:r>
              <a:rPr lang="en-US" sz="1800" b="1" dirty="0">
                <a:solidFill>
                  <a:schemeClr val="tx1"/>
                </a:solidFill>
              </a:rPr>
              <a:t>For each position i</a:t>
            </a:r>
            <a:endParaRPr lang="en-US" sz="1800" dirty="0"/>
          </a:p>
        </p:txBody>
      </p:sp>
      <p:sp>
        <p:nvSpPr>
          <p:cNvPr id="6" name="Shape 2"/>
          <p:cNvSpPr/>
          <p:nvPr/>
        </p:nvSpPr>
        <p:spPr>
          <a:xfrm>
            <a:off x="7498080" y="1737360"/>
            <a:ext cx="411480" cy="411480"/>
          </a:xfrm>
          <a:prstGeom prst="ellipse">
            <a:avLst/>
          </a:prstGeom>
          <a:solidFill>
            <a:schemeClr val="accent1"/>
          </a:solidFill>
          <a:ln w="12700">
            <a:solidFill>
              <a:schemeClr val="accent1"/>
            </a:solidFill>
            <a:prstDash val="solid"/>
          </a:ln>
        </p:spPr>
      </p:sp>
      <p:sp>
        <p:nvSpPr>
          <p:cNvPr id="7" name="Text 3"/>
          <p:cNvSpPr txBox="1"/>
          <p:nvPr/>
        </p:nvSpPr>
        <p:spPr>
          <a:xfrm>
            <a:off x="7498080" y="17373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4"/>
          <p:cNvSpPr txBox="1"/>
          <p:nvPr/>
        </p:nvSpPr>
        <p:spPr>
          <a:xfrm>
            <a:off x="8046720" y="1737360"/>
            <a:ext cx="3566160" cy="411480"/>
          </a:xfrm>
          <a:prstGeom prst="rect">
            <a:avLst/>
          </a:prstGeom>
          <a:noFill/>
          <a:ln/>
        </p:spPr>
        <p:txBody>
          <a:bodyPr wrap="square" lIns="0" tIns="0" rIns="0" bIns="0" rtlCol="0" anchor="ctr"/>
          <a:lstStyle/>
          <a:p>
            <a:pPr indent="0" marL="0">
              <a:buNone/>
            </a:pPr>
            <a:r>
              <a:rPr lang="en-US" sz="1600" dirty="0">
                <a:solidFill>
                  <a:schemeClr val="tx1"/>
                </a:solidFill>
              </a:rPr>
              <a:t>Score every allowed key: </a:t>
            </a:r>
            <a:r>
              <a:rPr lang="en-US" sz="1600" dirty="0">
                <a:solidFill>
                  <a:schemeClr val="tx1"/>
                </a:solidFill>
                <a:latin typeface="Cambria" pitchFamily="34" charset="0"/>
                <a:ea typeface="Cambria" pitchFamily="34" charset="-122"/>
                <a:cs typeface="Cambria" pitchFamily="34" charset="-120"/>
              </a:rPr>
              <a:t>qᵢ · kⱼ / √d</a:t>
            </a:r>
            <a:r>
              <a:rPr lang="en-US" sz="1600" baseline="-40000" dirty="0">
                <a:solidFill>
                  <a:schemeClr val="tx1"/>
                </a:solidFill>
              </a:rPr>
              <a:t>k</a:t>
            </a:r>
            <a:endParaRPr lang="en-US" sz="1600" dirty="0"/>
          </a:p>
        </p:txBody>
      </p:sp>
      <p:sp>
        <p:nvSpPr>
          <p:cNvPr id="9" name="Shape 5"/>
          <p:cNvSpPr/>
          <p:nvPr/>
        </p:nvSpPr>
        <p:spPr>
          <a:xfrm>
            <a:off x="7498080" y="2286000"/>
            <a:ext cx="411480" cy="411480"/>
          </a:xfrm>
          <a:prstGeom prst="ellipse">
            <a:avLst/>
          </a:prstGeom>
          <a:solidFill>
            <a:schemeClr val="accent1"/>
          </a:solidFill>
          <a:ln w="12700">
            <a:solidFill>
              <a:schemeClr val="accent1"/>
            </a:solidFill>
            <a:prstDash val="solid"/>
          </a:ln>
        </p:spPr>
      </p:sp>
      <p:sp>
        <p:nvSpPr>
          <p:cNvPr id="10" name="Text 6"/>
          <p:cNvSpPr txBox="1"/>
          <p:nvPr/>
        </p:nvSpPr>
        <p:spPr>
          <a:xfrm>
            <a:off x="7498080" y="228600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7"/>
          <p:cNvSpPr txBox="1"/>
          <p:nvPr/>
        </p:nvSpPr>
        <p:spPr>
          <a:xfrm>
            <a:off x="8046720" y="2286000"/>
            <a:ext cx="3566160" cy="411480"/>
          </a:xfrm>
          <a:prstGeom prst="rect">
            <a:avLst/>
          </a:prstGeom>
          <a:noFill/>
          <a:ln/>
        </p:spPr>
        <p:txBody>
          <a:bodyPr wrap="square" lIns="0" tIns="0" rIns="0" bIns="0" rtlCol="0" anchor="ctr"/>
          <a:lstStyle/>
          <a:p>
            <a:pPr indent="0" marL="0">
              <a:buNone/>
            </a:pPr>
            <a:r>
              <a:rPr lang="en-US" sz="1600" dirty="0">
                <a:solidFill>
                  <a:schemeClr val="tx1"/>
                </a:solidFill>
              </a:rPr>
              <a:t>Turn the scores into weights with softmax</a:t>
            </a:r>
            <a:endParaRPr lang="en-US" sz="1600" dirty="0"/>
          </a:p>
        </p:txBody>
      </p:sp>
      <p:sp>
        <p:nvSpPr>
          <p:cNvPr id="12" name="Shape 8"/>
          <p:cNvSpPr/>
          <p:nvPr/>
        </p:nvSpPr>
        <p:spPr>
          <a:xfrm>
            <a:off x="7498080" y="2834640"/>
            <a:ext cx="411480" cy="411480"/>
          </a:xfrm>
          <a:prstGeom prst="ellipse">
            <a:avLst/>
          </a:prstGeom>
          <a:solidFill>
            <a:schemeClr val="accent1"/>
          </a:solidFill>
          <a:ln w="12700">
            <a:solidFill>
              <a:schemeClr val="accent1"/>
            </a:solidFill>
            <a:prstDash val="solid"/>
          </a:ln>
        </p:spPr>
      </p:sp>
      <p:sp>
        <p:nvSpPr>
          <p:cNvPr id="13" name="Text 9"/>
          <p:cNvSpPr txBox="1"/>
          <p:nvPr/>
        </p:nvSpPr>
        <p:spPr>
          <a:xfrm>
            <a:off x="7498080" y="283464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0"/>
          <p:cNvSpPr txBox="1"/>
          <p:nvPr/>
        </p:nvSpPr>
        <p:spPr>
          <a:xfrm>
            <a:off x="8046720" y="2834640"/>
            <a:ext cx="3566160" cy="411480"/>
          </a:xfrm>
          <a:prstGeom prst="rect">
            <a:avLst/>
          </a:prstGeom>
          <a:noFill/>
          <a:ln/>
        </p:spPr>
        <p:txBody>
          <a:bodyPr wrap="square" lIns="0" tIns="0" rIns="0" bIns="0" rtlCol="0" anchor="ctr"/>
          <a:lstStyle/>
          <a:p>
            <a:pPr indent="0" marL="0">
              <a:buNone/>
            </a:pPr>
            <a:r>
              <a:rPr lang="en-US" sz="1600" dirty="0">
                <a:solidFill>
                  <a:schemeClr val="tx1"/>
                </a:solidFill>
              </a:rPr>
              <a:t>Output the weighted sum of the values</a:t>
            </a:r>
            <a:endParaRPr lang="en-US" sz="1600" dirty="0"/>
          </a:p>
        </p:txBody>
      </p:sp>
      <p:sp>
        <p:nvSpPr>
          <p:cNvPr id="15" name="Text 11"/>
          <p:cNvSpPr txBox="1"/>
          <p:nvPr/>
        </p:nvSpPr>
        <p:spPr>
          <a:xfrm>
            <a:off x="548640" y="3520440"/>
            <a:ext cx="11064240" cy="365760"/>
          </a:xfrm>
          <a:prstGeom prst="rect">
            <a:avLst/>
          </a:prstGeom>
          <a:noFill/>
          <a:ln/>
        </p:spPr>
        <p:txBody>
          <a:bodyPr wrap="square" lIns="0" tIns="0" rIns="0" bIns="0" rtlCol="0" anchor="t"/>
          <a:lstStyle/>
          <a:p>
            <a:pPr indent="0" marL="0">
              <a:buNone/>
            </a:pPr>
            <a:r>
              <a:rPr lang="en-US" sz="1800" b="1" dirty="0">
                <a:solidFill>
                  <a:schemeClr val="tx1"/>
                </a:solidFill>
              </a:rPr>
              <a:t>Shape trace through one attention layer</a:t>
            </a:r>
            <a:endParaRPr lang="en-US" sz="1800" dirty="0"/>
          </a:p>
        </p:txBody>
      </p:sp>
      <p:sp>
        <p:nvSpPr>
          <p:cNvPr id="16" name="Input x"/>
          <p:cNvSpPr/>
          <p:nvPr/>
        </p:nvSpPr>
        <p:spPr>
          <a:xfrm>
            <a:off x="548640" y="4023360"/>
            <a:ext cx="1417320" cy="1325880"/>
          </a:xfrm>
          <a:prstGeom prst="roundRect">
            <a:avLst>
              <a:gd name="adj" fmla="val 8276"/>
            </a:avLst>
          </a:prstGeom>
          <a:solidFill>
            <a:schemeClr val="bg2"/>
          </a:solidFill>
          <a:ln w="12700">
            <a:solidFill>
              <a:schemeClr val="bg2"/>
            </a:solidFill>
            <a:prstDash val="solid"/>
          </a:ln>
        </p:spPr>
      </p:sp>
      <p:sp>
        <p:nvSpPr>
          <p:cNvPr id="17" name="Text 13"/>
          <p:cNvSpPr txBox="1"/>
          <p:nvPr/>
        </p:nvSpPr>
        <p:spPr>
          <a:xfrm>
            <a:off x="6400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Input x</a:t>
            </a:r>
            <a:endParaRPr lang="en-US" sz="1400" dirty="0"/>
          </a:p>
        </p:txBody>
      </p:sp>
      <p:sp>
        <p:nvSpPr>
          <p:cNvPr id="18" name="Text 14"/>
          <p:cNvSpPr txBox="1"/>
          <p:nvPr/>
        </p:nvSpPr>
        <p:spPr>
          <a:xfrm>
            <a:off x="5943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 T, D)</a:t>
            </a:r>
            <a:endParaRPr lang="en-US" sz="1300" dirty="0"/>
          </a:p>
        </p:txBody>
      </p:sp>
      <p:sp>
        <p:nvSpPr>
          <p:cNvPr id="19" name="Shape 15"/>
          <p:cNvSpPr/>
          <p:nvPr/>
        </p:nvSpPr>
        <p:spPr>
          <a:xfrm>
            <a:off x="1975104" y="4686300"/>
            <a:ext cx="164592" cy="0"/>
          </a:xfrm>
          <a:prstGeom prst="line">
            <a:avLst/>
          </a:prstGeom>
          <a:noFill/>
          <a:ln w="22225">
            <a:solidFill>
              <a:schemeClr val="tx1"/>
            </a:solidFill>
            <a:prstDash val="solid"/>
            <a:tailEnd type="triangle"/>
          </a:ln>
        </p:spPr>
      </p:sp>
      <p:sp>
        <p:nvSpPr>
          <p:cNvPr id="20" name="Fused Q, K, V projection D → 3D"/>
          <p:cNvSpPr/>
          <p:nvPr/>
        </p:nvSpPr>
        <p:spPr>
          <a:xfrm>
            <a:off x="2148840" y="4023360"/>
            <a:ext cx="1417320" cy="1325880"/>
          </a:xfrm>
          <a:prstGeom prst="roundRect">
            <a:avLst>
              <a:gd name="adj" fmla="val 8276"/>
            </a:avLst>
          </a:prstGeom>
          <a:solidFill>
            <a:schemeClr val="bg2"/>
          </a:solidFill>
          <a:ln w="12700">
            <a:solidFill>
              <a:schemeClr val="bg2"/>
            </a:solidFill>
            <a:prstDash val="solid"/>
          </a:ln>
        </p:spPr>
      </p:sp>
      <p:sp>
        <p:nvSpPr>
          <p:cNvPr id="21" name="Text 17"/>
          <p:cNvSpPr txBox="1"/>
          <p:nvPr/>
        </p:nvSpPr>
        <p:spPr>
          <a:xfrm>
            <a:off x="22402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Fused Q, K, V projection D → 3D</a:t>
            </a:r>
            <a:endParaRPr lang="en-US" sz="1400" dirty="0"/>
          </a:p>
        </p:txBody>
      </p:sp>
      <p:sp>
        <p:nvSpPr>
          <p:cNvPr id="22" name="Text 18"/>
          <p:cNvSpPr txBox="1"/>
          <p:nvPr/>
        </p:nvSpPr>
        <p:spPr>
          <a:xfrm>
            <a:off x="21945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 T, 3D)</a:t>
            </a:r>
            <a:endParaRPr lang="en-US" sz="1300" dirty="0"/>
          </a:p>
        </p:txBody>
      </p:sp>
      <p:sp>
        <p:nvSpPr>
          <p:cNvPr id="23" name="Shape 19"/>
          <p:cNvSpPr/>
          <p:nvPr/>
        </p:nvSpPr>
        <p:spPr>
          <a:xfrm>
            <a:off x="3575304" y="4686300"/>
            <a:ext cx="164592" cy="0"/>
          </a:xfrm>
          <a:prstGeom prst="line">
            <a:avLst/>
          </a:prstGeom>
          <a:noFill/>
          <a:ln w="22225">
            <a:solidFill>
              <a:schemeClr val="tx1"/>
            </a:solidFill>
            <a:prstDash val="solid"/>
            <a:tailEnd type="triangle"/>
          </a:ln>
        </p:spPr>
      </p:sp>
      <p:sp>
        <p:nvSpPr>
          <p:cNvPr id="24" name="Split, then reshape into heads"/>
          <p:cNvSpPr/>
          <p:nvPr/>
        </p:nvSpPr>
        <p:spPr>
          <a:xfrm>
            <a:off x="3749040" y="4023360"/>
            <a:ext cx="1417320" cy="1325880"/>
          </a:xfrm>
          <a:prstGeom prst="roundRect">
            <a:avLst>
              <a:gd name="adj" fmla="val 8276"/>
            </a:avLst>
          </a:prstGeom>
          <a:solidFill>
            <a:schemeClr val="bg2"/>
          </a:solidFill>
          <a:ln w="12700">
            <a:solidFill>
              <a:schemeClr val="bg2"/>
            </a:solidFill>
            <a:prstDash val="solid"/>
          </a:ln>
        </p:spPr>
      </p:sp>
      <p:sp>
        <p:nvSpPr>
          <p:cNvPr id="25" name="Text 21"/>
          <p:cNvSpPr txBox="1"/>
          <p:nvPr/>
        </p:nvSpPr>
        <p:spPr>
          <a:xfrm>
            <a:off x="38404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Split, then reshape into heads</a:t>
            </a:r>
            <a:endParaRPr lang="en-US" sz="1400" dirty="0"/>
          </a:p>
        </p:txBody>
      </p:sp>
      <p:sp>
        <p:nvSpPr>
          <p:cNvPr id="26" name="Text 22"/>
          <p:cNvSpPr txBox="1"/>
          <p:nvPr/>
        </p:nvSpPr>
        <p:spPr>
          <a:xfrm>
            <a:off x="37947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q, k, v (B, H, T, dₖ)</a:t>
            </a:r>
            <a:endParaRPr lang="en-US" sz="1300" dirty="0"/>
          </a:p>
        </p:txBody>
      </p:sp>
      <p:sp>
        <p:nvSpPr>
          <p:cNvPr id="27" name="Shape 23"/>
          <p:cNvSpPr/>
          <p:nvPr/>
        </p:nvSpPr>
        <p:spPr>
          <a:xfrm>
            <a:off x="5175504" y="4686300"/>
            <a:ext cx="164592" cy="0"/>
          </a:xfrm>
          <a:prstGeom prst="line">
            <a:avLst/>
          </a:prstGeom>
          <a:noFill/>
          <a:ln w="22225">
            <a:solidFill>
              <a:schemeClr val="tx1"/>
            </a:solidFill>
            <a:prstDash val="solid"/>
            <a:tailEnd type="triangle"/>
          </a:ln>
        </p:spPr>
      </p:sp>
      <p:sp>
        <p:nvSpPr>
          <p:cNvPr id="28" name="q kᵀ / √dₖ → mask → softmax"/>
          <p:cNvSpPr/>
          <p:nvPr/>
        </p:nvSpPr>
        <p:spPr>
          <a:xfrm>
            <a:off x="5349240" y="4023360"/>
            <a:ext cx="1417320" cy="1325880"/>
          </a:xfrm>
          <a:prstGeom prst="roundRect">
            <a:avLst>
              <a:gd name="adj" fmla="val 8276"/>
            </a:avLst>
          </a:prstGeom>
          <a:solidFill>
            <a:schemeClr val="accent6"/>
          </a:solidFill>
          <a:ln w="12700">
            <a:solidFill>
              <a:schemeClr val="accent6"/>
            </a:solidFill>
            <a:prstDash val="solid"/>
          </a:ln>
        </p:spPr>
      </p:sp>
      <p:sp>
        <p:nvSpPr>
          <p:cNvPr id="29" name="Text 25"/>
          <p:cNvSpPr txBox="1"/>
          <p:nvPr/>
        </p:nvSpPr>
        <p:spPr>
          <a:xfrm>
            <a:off x="54406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q kᵀ / √dₖ → mask → softmax</a:t>
            </a:r>
            <a:endParaRPr lang="en-US" sz="1400" dirty="0"/>
          </a:p>
        </p:txBody>
      </p:sp>
      <p:sp>
        <p:nvSpPr>
          <p:cNvPr id="30" name="Text 26"/>
          <p:cNvSpPr txBox="1"/>
          <p:nvPr/>
        </p:nvSpPr>
        <p:spPr>
          <a:xfrm>
            <a:off x="53949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3"/>
                </a:solidFill>
                <a:latin typeface="Courier New" pitchFamily="34" charset="0"/>
                <a:ea typeface="Courier New" pitchFamily="34" charset="-122"/>
                <a:cs typeface="Courier New" pitchFamily="34" charset="-120"/>
              </a:rPr>
              <a:t>(B, H, T, T)</a:t>
            </a:r>
            <a:endParaRPr lang="en-US" sz="1300" dirty="0"/>
          </a:p>
        </p:txBody>
      </p:sp>
      <p:sp>
        <p:nvSpPr>
          <p:cNvPr id="31" name="Shape 27"/>
          <p:cNvSpPr/>
          <p:nvPr/>
        </p:nvSpPr>
        <p:spPr>
          <a:xfrm>
            <a:off x="6775704" y="4686300"/>
            <a:ext cx="164592" cy="0"/>
          </a:xfrm>
          <a:prstGeom prst="line">
            <a:avLst/>
          </a:prstGeom>
          <a:noFill/>
          <a:ln w="22225">
            <a:solidFill>
              <a:schemeClr val="tx1"/>
            </a:solidFill>
            <a:prstDash val="solid"/>
            <a:tailEnd type="triangle"/>
          </a:ln>
        </p:spPr>
      </p:sp>
      <p:sp>
        <p:nvSpPr>
          <p:cNvPr id="32" name="Weighted values: weights @ v"/>
          <p:cNvSpPr/>
          <p:nvPr/>
        </p:nvSpPr>
        <p:spPr>
          <a:xfrm>
            <a:off x="6949440" y="4023360"/>
            <a:ext cx="1417320" cy="1325880"/>
          </a:xfrm>
          <a:prstGeom prst="roundRect">
            <a:avLst>
              <a:gd name="adj" fmla="val 8276"/>
            </a:avLst>
          </a:prstGeom>
          <a:solidFill>
            <a:schemeClr val="bg2"/>
          </a:solidFill>
          <a:ln w="12700">
            <a:solidFill>
              <a:schemeClr val="bg2"/>
            </a:solidFill>
            <a:prstDash val="solid"/>
          </a:ln>
        </p:spPr>
      </p:sp>
      <p:sp>
        <p:nvSpPr>
          <p:cNvPr id="33" name="Text 29"/>
          <p:cNvSpPr txBox="1"/>
          <p:nvPr/>
        </p:nvSpPr>
        <p:spPr>
          <a:xfrm>
            <a:off x="70408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Weighted values: weights @ v</a:t>
            </a:r>
            <a:endParaRPr lang="en-US" sz="1400" dirty="0"/>
          </a:p>
        </p:txBody>
      </p:sp>
      <p:sp>
        <p:nvSpPr>
          <p:cNvPr id="34" name="Text 30"/>
          <p:cNvSpPr txBox="1"/>
          <p:nvPr/>
        </p:nvSpPr>
        <p:spPr>
          <a:xfrm>
            <a:off x="69951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 H, T, dₖ)</a:t>
            </a:r>
            <a:endParaRPr lang="en-US" sz="1300" dirty="0"/>
          </a:p>
        </p:txBody>
      </p:sp>
      <p:sp>
        <p:nvSpPr>
          <p:cNvPr id="35" name="Shape 31"/>
          <p:cNvSpPr/>
          <p:nvPr/>
        </p:nvSpPr>
        <p:spPr>
          <a:xfrm>
            <a:off x="8375904" y="4686300"/>
            <a:ext cx="164592" cy="0"/>
          </a:xfrm>
          <a:prstGeom prst="line">
            <a:avLst/>
          </a:prstGeom>
          <a:noFill/>
          <a:ln w="22225">
            <a:solidFill>
              <a:schemeClr val="tx1"/>
            </a:solidFill>
            <a:prstDash val="solid"/>
            <a:tailEnd type="triangle"/>
          </a:ln>
        </p:spPr>
      </p:sp>
      <p:sp>
        <p:nvSpPr>
          <p:cNvPr id="36" name="Merge heads"/>
          <p:cNvSpPr/>
          <p:nvPr/>
        </p:nvSpPr>
        <p:spPr>
          <a:xfrm>
            <a:off x="8549640" y="4023360"/>
            <a:ext cx="1417320" cy="1325880"/>
          </a:xfrm>
          <a:prstGeom prst="roundRect">
            <a:avLst>
              <a:gd name="adj" fmla="val 8276"/>
            </a:avLst>
          </a:prstGeom>
          <a:solidFill>
            <a:schemeClr val="bg2"/>
          </a:solidFill>
          <a:ln w="12700">
            <a:solidFill>
              <a:schemeClr val="bg2"/>
            </a:solidFill>
            <a:prstDash val="solid"/>
          </a:ln>
        </p:spPr>
      </p:sp>
      <p:sp>
        <p:nvSpPr>
          <p:cNvPr id="37" name="Text 33"/>
          <p:cNvSpPr txBox="1"/>
          <p:nvPr/>
        </p:nvSpPr>
        <p:spPr>
          <a:xfrm>
            <a:off x="86410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Merge heads</a:t>
            </a:r>
            <a:endParaRPr lang="en-US" sz="1400" dirty="0"/>
          </a:p>
        </p:txBody>
      </p:sp>
      <p:sp>
        <p:nvSpPr>
          <p:cNvPr id="38" name="Text 34"/>
          <p:cNvSpPr txBox="1"/>
          <p:nvPr/>
        </p:nvSpPr>
        <p:spPr>
          <a:xfrm>
            <a:off x="85953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 T, D)</a:t>
            </a:r>
            <a:endParaRPr lang="en-US" sz="1300" dirty="0"/>
          </a:p>
        </p:txBody>
      </p:sp>
      <p:sp>
        <p:nvSpPr>
          <p:cNvPr id="39" name="Shape 35"/>
          <p:cNvSpPr/>
          <p:nvPr/>
        </p:nvSpPr>
        <p:spPr>
          <a:xfrm>
            <a:off x="9976104" y="4686300"/>
            <a:ext cx="164592" cy="0"/>
          </a:xfrm>
          <a:prstGeom prst="line">
            <a:avLst/>
          </a:prstGeom>
          <a:noFill/>
          <a:ln w="22225">
            <a:solidFill>
              <a:schemeClr val="tx1"/>
            </a:solidFill>
            <a:prstDash val="solid"/>
            <a:tailEnd type="triangle"/>
          </a:ln>
        </p:spPr>
      </p:sp>
      <p:sp>
        <p:nvSpPr>
          <p:cNvPr id="40" name="Output projection D → D (heads mix)"/>
          <p:cNvSpPr/>
          <p:nvPr/>
        </p:nvSpPr>
        <p:spPr>
          <a:xfrm>
            <a:off x="10149840" y="4023360"/>
            <a:ext cx="1417320" cy="1325880"/>
          </a:xfrm>
          <a:prstGeom prst="roundRect">
            <a:avLst>
              <a:gd name="adj" fmla="val 8276"/>
            </a:avLst>
          </a:prstGeom>
          <a:solidFill>
            <a:schemeClr val="bg2"/>
          </a:solidFill>
          <a:ln w="12700">
            <a:solidFill>
              <a:schemeClr val="bg2"/>
            </a:solidFill>
            <a:prstDash val="solid"/>
          </a:ln>
        </p:spPr>
      </p:sp>
      <p:sp>
        <p:nvSpPr>
          <p:cNvPr id="41" name="Text 37"/>
          <p:cNvSpPr txBox="1"/>
          <p:nvPr/>
        </p:nvSpPr>
        <p:spPr>
          <a:xfrm>
            <a:off x="10241280" y="411480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Output projection D → D (heads mix)</a:t>
            </a:r>
            <a:endParaRPr lang="en-US" sz="1400" dirty="0"/>
          </a:p>
        </p:txBody>
      </p:sp>
      <p:sp>
        <p:nvSpPr>
          <p:cNvPr id="42" name="Text 38"/>
          <p:cNvSpPr txBox="1"/>
          <p:nvPr/>
        </p:nvSpPr>
        <p:spPr>
          <a:xfrm>
            <a:off x="10195560" y="4864608"/>
            <a:ext cx="1325880" cy="411480"/>
          </a:xfrm>
          <a:prstGeom prst="rect">
            <a:avLst/>
          </a:prstGeom>
          <a:no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(B, T, D)</a:t>
            </a:r>
            <a:endParaRPr lang="en-US" sz="1300" dirty="0"/>
          </a:p>
        </p:txBody>
      </p:sp>
      <p:sp>
        <p:nvSpPr>
          <p:cNvPr id="43" name="Text 39"/>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500" b="1" dirty="0">
                <a:solidFill>
                  <a:schemeClr val="tx1"/>
                </a:solidFill>
              </a:rPr>
              <a:t>Heads: </a:t>
            </a:r>
            <a:r>
              <a:rPr lang="en-US" sz="1500" dirty="0">
                <a:solidFill>
                  <a:schemeClr val="tx1"/>
                </a:solidFill>
              </a:rPr>
              <a:t>each works on a dₖ = D / H slice, so different heads can attend to different positions. GPT-2 small: D = 768, H = 12, dₖ = 64.</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causal mask on made-up scores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10</a:t>
            </a:r>
            <a:endParaRPr lang="en-US" sz="1400" dirty="0"/>
          </a:p>
        </p:txBody>
      </p:sp>
      <p:sp>
        <p:nvSpPr>
          <p:cNvPr id="6" name="Text 3"/>
          <p:cNvSpPr txBox="1"/>
          <p:nvPr/>
        </p:nvSpPr>
        <p:spPr>
          <a:xfrm>
            <a:off x="548640" y="1188720"/>
            <a:ext cx="8229600" cy="54864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A = softmax( QK</a:t>
            </a:r>
            <a:r>
              <a:rPr lang="en-US" sz="2200" baseline="30000" dirty="0">
                <a:solidFill>
                  <a:schemeClr val="tx1"/>
                </a:solidFill>
                <a:latin typeface="Cambria" pitchFamily="34" charset="0"/>
                <a:ea typeface="Cambria" pitchFamily="34" charset="-122"/>
                <a:cs typeface="Cambria" pitchFamily="34" charset="-120"/>
              </a:rPr>
              <a:t>T</a:t>
            </a:r>
            <a:r>
              <a:rPr lang="en-US" sz="2200" dirty="0">
                <a:solidFill>
                  <a:schemeClr val="tx1"/>
                </a:solidFill>
                <a:latin typeface="Cambria" pitchFamily="34" charset="0"/>
                <a:ea typeface="Cambria" pitchFamily="34" charset="-122"/>
                <a:cs typeface="Cambria" pitchFamily="34" charset="-120"/>
              </a:rPr>
              <a:t> / √d</a:t>
            </a:r>
            <a:r>
              <a:rPr lang="en-US" sz="2200" baseline="-40000" dirty="0">
                <a:solidFill>
                  <a:schemeClr val="tx1"/>
                </a:solidFill>
                <a:latin typeface="Cambria" pitchFamily="34" charset="0"/>
                <a:ea typeface="Cambria" pitchFamily="34" charset="-122"/>
                <a:cs typeface="Cambria" pitchFamily="34" charset="-120"/>
              </a:rPr>
              <a:t>k</a:t>
            </a:r>
            <a:r>
              <a:rPr lang="en-US" sz="2200" dirty="0">
                <a:solidFill>
                  <a:schemeClr val="tx1"/>
                </a:solidFill>
                <a:latin typeface="Cambria" pitchFamily="34" charset="0"/>
                <a:ea typeface="Cambria" pitchFamily="34" charset="-122"/>
                <a:cs typeface="Cambria" pitchFamily="34" charset="-120"/>
              </a:rPr>
              <a:t> + M ),     M</a:t>
            </a:r>
            <a:r>
              <a:rPr lang="en-US" sz="2200" baseline="-40000" dirty="0">
                <a:solidFill>
                  <a:schemeClr val="tx1"/>
                </a:solidFill>
                <a:latin typeface="Cambria" pitchFamily="34" charset="0"/>
                <a:ea typeface="Cambria" pitchFamily="34" charset="-122"/>
                <a:cs typeface="Cambria" pitchFamily="34" charset="-120"/>
              </a:rPr>
              <a:t>ij</a:t>
            </a:r>
            <a:r>
              <a:rPr lang="en-US" sz="2200" dirty="0">
                <a:solidFill>
                  <a:schemeClr val="tx1"/>
                </a:solidFill>
                <a:latin typeface="Cambria" pitchFamily="34" charset="0"/>
                <a:ea typeface="Cambria" pitchFamily="34" charset="-122"/>
                <a:cs typeface="Cambria" pitchFamily="34" charset="-120"/>
              </a:rPr>
              <a:t> = 0 if j ≤ i,  −∞ if j &gt; i</a:t>
            </a:r>
            <a:endParaRPr lang="en-US" sz="2200" dirty="0"/>
          </a:p>
        </p:txBody>
      </p:sp>
      <p:sp>
        <p:nvSpPr>
          <p:cNvPr id="7" name="Text 4"/>
          <p:cNvSpPr txBox="1"/>
          <p:nvPr/>
        </p:nvSpPr>
        <p:spPr>
          <a:xfrm>
            <a:off x="548640" y="2011680"/>
            <a:ext cx="4233672" cy="365760"/>
          </a:xfrm>
          <a:prstGeom prst="rect">
            <a:avLst/>
          </a:prstGeom>
          <a:noFill/>
          <a:ln/>
        </p:spPr>
        <p:txBody>
          <a:bodyPr wrap="square" lIns="0" tIns="0" rIns="0" bIns="0" rtlCol="0" anchor="t"/>
          <a:lstStyle/>
          <a:p>
            <a:pPr indent="0" marL="0">
              <a:buNone/>
            </a:pPr>
            <a:r>
              <a:rPr lang="en-US" sz="1600" b="1" dirty="0">
                <a:solidFill>
                  <a:schemeClr val="tx1"/>
                </a:solidFill>
              </a:rPr>
              <a:t>Scores after masking</a:t>
            </a:r>
            <a:endParaRPr lang="en-US" sz="1600" dirty="0"/>
          </a:p>
        </p:txBody>
      </p:sp>
      <p:sp>
        <p:nvSpPr>
          <p:cNvPr id="8" name="Text 5"/>
          <p:cNvSpPr txBox="1"/>
          <p:nvPr/>
        </p:nvSpPr>
        <p:spPr>
          <a:xfrm>
            <a:off x="1417320"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robot</a:t>
            </a:r>
            <a:endParaRPr lang="en-US" sz="1200" dirty="0"/>
          </a:p>
        </p:txBody>
      </p:sp>
      <p:sp>
        <p:nvSpPr>
          <p:cNvPr id="9" name="Text 6"/>
          <p:cNvSpPr txBox="1"/>
          <p:nvPr/>
        </p:nvSpPr>
        <p:spPr>
          <a:xfrm>
            <a:off x="2258568"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must</a:t>
            </a:r>
            <a:endParaRPr lang="en-US" sz="1200" dirty="0"/>
          </a:p>
        </p:txBody>
      </p:sp>
      <p:sp>
        <p:nvSpPr>
          <p:cNvPr id="10" name="Text 7"/>
          <p:cNvSpPr txBox="1"/>
          <p:nvPr/>
        </p:nvSpPr>
        <p:spPr>
          <a:xfrm>
            <a:off x="3099816"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obey</a:t>
            </a:r>
            <a:endParaRPr lang="en-US" sz="1200" dirty="0"/>
          </a:p>
        </p:txBody>
      </p:sp>
      <p:sp>
        <p:nvSpPr>
          <p:cNvPr id="11" name="Text 8"/>
          <p:cNvSpPr txBox="1"/>
          <p:nvPr/>
        </p:nvSpPr>
        <p:spPr>
          <a:xfrm>
            <a:off x="3941064"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orders</a:t>
            </a:r>
            <a:endParaRPr lang="en-US" sz="1200" dirty="0"/>
          </a:p>
        </p:txBody>
      </p:sp>
      <p:sp>
        <p:nvSpPr>
          <p:cNvPr id="12" name="Text 9"/>
          <p:cNvSpPr txBox="1"/>
          <p:nvPr/>
        </p:nvSpPr>
        <p:spPr>
          <a:xfrm>
            <a:off x="548640" y="274320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robot</a:t>
            </a:r>
            <a:endParaRPr lang="en-US" sz="1200" dirty="0"/>
          </a:p>
        </p:txBody>
      </p:sp>
      <p:sp>
        <p:nvSpPr>
          <p:cNvPr id="13" name="Shape 10"/>
          <p:cNvSpPr/>
          <p:nvPr/>
        </p:nvSpPr>
        <p:spPr>
          <a:xfrm>
            <a:off x="1417320" y="2743200"/>
            <a:ext cx="841248" cy="502920"/>
          </a:xfrm>
          <a:prstGeom prst="rect">
            <a:avLst/>
          </a:prstGeom>
          <a:solidFill>
            <a:schemeClr val="bg2"/>
          </a:solidFill>
          <a:ln w="19050">
            <a:solidFill>
              <a:schemeClr val="bg1"/>
            </a:solidFill>
            <a:prstDash val="solid"/>
          </a:ln>
        </p:spPr>
      </p:sp>
      <p:sp>
        <p:nvSpPr>
          <p:cNvPr id="14" name="Text 11"/>
          <p:cNvSpPr txBox="1"/>
          <p:nvPr/>
        </p:nvSpPr>
        <p:spPr>
          <a:xfrm>
            <a:off x="1417320" y="274320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2.0</a:t>
            </a:r>
            <a:endParaRPr lang="en-US" sz="1400" dirty="0"/>
          </a:p>
        </p:txBody>
      </p:sp>
      <p:sp>
        <p:nvSpPr>
          <p:cNvPr id="15" name="Shape 12"/>
          <p:cNvSpPr/>
          <p:nvPr/>
        </p:nvSpPr>
        <p:spPr>
          <a:xfrm>
            <a:off x="2258568" y="2743200"/>
            <a:ext cx="841248" cy="502920"/>
          </a:xfrm>
          <a:prstGeom prst="rect">
            <a:avLst/>
          </a:prstGeom>
          <a:solidFill>
            <a:schemeClr val="accent6"/>
          </a:solidFill>
          <a:ln w="19050">
            <a:solidFill>
              <a:schemeClr val="bg1"/>
            </a:solidFill>
            <a:prstDash val="solid"/>
          </a:ln>
        </p:spPr>
      </p:sp>
      <p:sp>
        <p:nvSpPr>
          <p:cNvPr id="16" name="Text 13"/>
          <p:cNvSpPr txBox="1"/>
          <p:nvPr/>
        </p:nvSpPr>
        <p:spPr>
          <a:xfrm>
            <a:off x="2258568"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3099816" y="2743200"/>
            <a:ext cx="841248" cy="502920"/>
          </a:xfrm>
          <a:prstGeom prst="rect">
            <a:avLst/>
          </a:prstGeom>
          <a:solidFill>
            <a:schemeClr val="accent6"/>
          </a:solidFill>
          <a:ln w="19050">
            <a:solidFill>
              <a:schemeClr val="bg1"/>
            </a:solidFill>
            <a:prstDash val="solid"/>
          </a:ln>
        </p:spPr>
      </p:sp>
      <p:sp>
        <p:nvSpPr>
          <p:cNvPr id="18" name="Text 15"/>
          <p:cNvSpPr txBox="1"/>
          <p:nvPr/>
        </p:nvSpPr>
        <p:spPr>
          <a:xfrm>
            <a:off x="3099816"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19" name="Shape 16"/>
          <p:cNvSpPr/>
          <p:nvPr/>
        </p:nvSpPr>
        <p:spPr>
          <a:xfrm>
            <a:off x="3941064" y="2743200"/>
            <a:ext cx="841248" cy="502920"/>
          </a:xfrm>
          <a:prstGeom prst="rect">
            <a:avLst/>
          </a:prstGeom>
          <a:solidFill>
            <a:schemeClr val="accent6"/>
          </a:solidFill>
          <a:ln w="19050">
            <a:solidFill>
              <a:schemeClr val="bg1"/>
            </a:solidFill>
            <a:prstDash val="solid"/>
          </a:ln>
        </p:spPr>
      </p:sp>
      <p:sp>
        <p:nvSpPr>
          <p:cNvPr id="20" name="Text 17"/>
          <p:cNvSpPr txBox="1"/>
          <p:nvPr/>
        </p:nvSpPr>
        <p:spPr>
          <a:xfrm>
            <a:off x="3941064"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21" name="Text 18"/>
          <p:cNvSpPr txBox="1"/>
          <p:nvPr/>
        </p:nvSpPr>
        <p:spPr>
          <a:xfrm>
            <a:off x="548640" y="324612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must</a:t>
            </a:r>
            <a:endParaRPr lang="en-US" sz="1200" dirty="0"/>
          </a:p>
        </p:txBody>
      </p:sp>
      <p:sp>
        <p:nvSpPr>
          <p:cNvPr id="22" name="Shape 19"/>
          <p:cNvSpPr/>
          <p:nvPr/>
        </p:nvSpPr>
        <p:spPr>
          <a:xfrm>
            <a:off x="1417320" y="3246120"/>
            <a:ext cx="841248" cy="502920"/>
          </a:xfrm>
          <a:prstGeom prst="rect">
            <a:avLst/>
          </a:prstGeom>
          <a:solidFill>
            <a:schemeClr val="bg2"/>
          </a:solidFill>
          <a:ln w="19050">
            <a:solidFill>
              <a:schemeClr val="bg1"/>
            </a:solidFill>
            <a:prstDash val="solid"/>
          </a:ln>
        </p:spPr>
      </p:sp>
      <p:sp>
        <p:nvSpPr>
          <p:cNvPr id="23" name="Text 20"/>
          <p:cNvSpPr txBox="1"/>
          <p:nvPr/>
        </p:nvSpPr>
        <p:spPr>
          <a:xfrm>
            <a:off x="1417320" y="324612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1.5</a:t>
            </a:r>
            <a:endParaRPr lang="en-US" sz="1400" dirty="0"/>
          </a:p>
        </p:txBody>
      </p:sp>
      <p:sp>
        <p:nvSpPr>
          <p:cNvPr id="24" name="Shape 21"/>
          <p:cNvSpPr/>
          <p:nvPr/>
        </p:nvSpPr>
        <p:spPr>
          <a:xfrm>
            <a:off x="2258568" y="3246120"/>
            <a:ext cx="841248" cy="502920"/>
          </a:xfrm>
          <a:prstGeom prst="rect">
            <a:avLst/>
          </a:prstGeom>
          <a:solidFill>
            <a:schemeClr val="bg2"/>
          </a:solidFill>
          <a:ln w="19050">
            <a:solidFill>
              <a:schemeClr val="bg1"/>
            </a:solidFill>
            <a:prstDash val="solid"/>
          </a:ln>
        </p:spPr>
      </p:sp>
      <p:sp>
        <p:nvSpPr>
          <p:cNvPr id="25" name="Text 22"/>
          <p:cNvSpPr txBox="1"/>
          <p:nvPr/>
        </p:nvSpPr>
        <p:spPr>
          <a:xfrm>
            <a:off x="2258568" y="324612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1.6</a:t>
            </a:r>
            <a:endParaRPr lang="en-US" sz="1400" dirty="0"/>
          </a:p>
        </p:txBody>
      </p:sp>
      <p:sp>
        <p:nvSpPr>
          <p:cNvPr id="26" name="Shape 23"/>
          <p:cNvSpPr/>
          <p:nvPr/>
        </p:nvSpPr>
        <p:spPr>
          <a:xfrm>
            <a:off x="3099816" y="3246120"/>
            <a:ext cx="841248" cy="502920"/>
          </a:xfrm>
          <a:prstGeom prst="rect">
            <a:avLst/>
          </a:prstGeom>
          <a:solidFill>
            <a:schemeClr val="accent6"/>
          </a:solidFill>
          <a:ln w="19050">
            <a:solidFill>
              <a:schemeClr val="bg1"/>
            </a:solidFill>
            <a:prstDash val="solid"/>
          </a:ln>
        </p:spPr>
      </p:sp>
      <p:sp>
        <p:nvSpPr>
          <p:cNvPr id="27" name="Text 24"/>
          <p:cNvSpPr txBox="1"/>
          <p:nvPr/>
        </p:nvSpPr>
        <p:spPr>
          <a:xfrm>
            <a:off x="3099816" y="324612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28" name="Shape 25"/>
          <p:cNvSpPr/>
          <p:nvPr/>
        </p:nvSpPr>
        <p:spPr>
          <a:xfrm>
            <a:off x="3941064" y="3246120"/>
            <a:ext cx="841248" cy="502920"/>
          </a:xfrm>
          <a:prstGeom prst="rect">
            <a:avLst/>
          </a:prstGeom>
          <a:solidFill>
            <a:schemeClr val="accent6"/>
          </a:solidFill>
          <a:ln w="19050">
            <a:solidFill>
              <a:schemeClr val="bg1"/>
            </a:solidFill>
            <a:prstDash val="solid"/>
          </a:ln>
        </p:spPr>
      </p:sp>
      <p:sp>
        <p:nvSpPr>
          <p:cNvPr id="29" name="Text 26"/>
          <p:cNvSpPr txBox="1"/>
          <p:nvPr/>
        </p:nvSpPr>
        <p:spPr>
          <a:xfrm>
            <a:off x="3941064" y="324612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30" name="Text 27"/>
          <p:cNvSpPr txBox="1"/>
          <p:nvPr/>
        </p:nvSpPr>
        <p:spPr>
          <a:xfrm>
            <a:off x="548640" y="374904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obey</a:t>
            </a:r>
            <a:endParaRPr lang="en-US" sz="1200" dirty="0"/>
          </a:p>
        </p:txBody>
      </p:sp>
      <p:sp>
        <p:nvSpPr>
          <p:cNvPr id="31" name="Shape 28"/>
          <p:cNvSpPr/>
          <p:nvPr/>
        </p:nvSpPr>
        <p:spPr>
          <a:xfrm>
            <a:off x="1417320" y="3749040"/>
            <a:ext cx="841248" cy="502920"/>
          </a:xfrm>
          <a:prstGeom prst="rect">
            <a:avLst/>
          </a:prstGeom>
          <a:solidFill>
            <a:schemeClr val="bg2"/>
          </a:solidFill>
          <a:ln w="19050">
            <a:solidFill>
              <a:schemeClr val="bg1"/>
            </a:solidFill>
            <a:prstDash val="solid"/>
          </a:ln>
        </p:spPr>
      </p:sp>
      <p:sp>
        <p:nvSpPr>
          <p:cNvPr id="32" name="Text 29"/>
          <p:cNvSpPr txBox="1"/>
          <p:nvPr/>
        </p:nvSpPr>
        <p:spPr>
          <a:xfrm>
            <a:off x="1417320" y="374904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0.5</a:t>
            </a:r>
            <a:endParaRPr lang="en-US" sz="1400" dirty="0"/>
          </a:p>
        </p:txBody>
      </p:sp>
      <p:sp>
        <p:nvSpPr>
          <p:cNvPr id="33" name="Shape 30"/>
          <p:cNvSpPr/>
          <p:nvPr/>
        </p:nvSpPr>
        <p:spPr>
          <a:xfrm>
            <a:off x="2258568" y="3749040"/>
            <a:ext cx="841248" cy="502920"/>
          </a:xfrm>
          <a:prstGeom prst="rect">
            <a:avLst/>
          </a:prstGeom>
          <a:solidFill>
            <a:schemeClr val="bg2"/>
          </a:solidFill>
          <a:ln w="19050">
            <a:solidFill>
              <a:schemeClr val="bg1"/>
            </a:solidFill>
            <a:prstDash val="solid"/>
          </a:ln>
        </p:spPr>
      </p:sp>
      <p:sp>
        <p:nvSpPr>
          <p:cNvPr id="34" name="Text 31"/>
          <p:cNvSpPr txBox="1"/>
          <p:nvPr/>
        </p:nvSpPr>
        <p:spPr>
          <a:xfrm>
            <a:off x="2258568" y="374904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1.2</a:t>
            </a:r>
            <a:endParaRPr lang="en-US" sz="1400" dirty="0"/>
          </a:p>
        </p:txBody>
      </p:sp>
      <p:sp>
        <p:nvSpPr>
          <p:cNvPr id="35" name="Shape 32"/>
          <p:cNvSpPr/>
          <p:nvPr/>
        </p:nvSpPr>
        <p:spPr>
          <a:xfrm>
            <a:off x="3099816" y="3749040"/>
            <a:ext cx="841248" cy="502920"/>
          </a:xfrm>
          <a:prstGeom prst="rect">
            <a:avLst/>
          </a:prstGeom>
          <a:solidFill>
            <a:schemeClr val="bg2"/>
          </a:solidFill>
          <a:ln w="19050">
            <a:solidFill>
              <a:schemeClr val="bg1"/>
            </a:solidFill>
            <a:prstDash val="solid"/>
          </a:ln>
        </p:spPr>
      </p:sp>
      <p:sp>
        <p:nvSpPr>
          <p:cNvPr id="36" name="Text 33"/>
          <p:cNvSpPr txBox="1"/>
          <p:nvPr/>
        </p:nvSpPr>
        <p:spPr>
          <a:xfrm>
            <a:off x="3099816" y="374904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1.4</a:t>
            </a:r>
            <a:endParaRPr lang="en-US" sz="1400" dirty="0"/>
          </a:p>
        </p:txBody>
      </p:sp>
      <p:sp>
        <p:nvSpPr>
          <p:cNvPr id="37" name="Shape 34"/>
          <p:cNvSpPr/>
          <p:nvPr/>
        </p:nvSpPr>
        <p:spPr>
          <a:xfrm>
            <a:off x="3941064" y="3749040"/>
            <a:ext cx="841248" cy="502920"/>
          </a:xfrm>
          <a:prstGeom prst="rect">
            <a:avLst/>
          </a:prstGeom>
          <a:solidFill>
            <a:schemeClr val="accent6"/>
          </a:solidFill>
          <a:ln w="19050">
            <a:solidFill>
              <a:schemeClr val="bg1"/>
            </a:solidFill>
            <a:prstDash val="solid"/>
          </a:ln>
        </p:spPr>
      </p:sp>
      <p:sp>
        <p:nvSpPr>
          <p:cNvPr id="38" name="Text 35"/>
          <p:cNvSpPr txBox="1"/>
          <p:nvPr/>
        </p:nvSpPr>
        <p:spPr>
          <a:xfrm>
            <a:off x="3941064" y="374904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a:t>
            </a:r>
            <a:endParaRPr lang="en-US" sz="1400" dirty="0"/>
          </a:p>
        </p:txBody>
      </p:sp>
      <p:sp>
        <p:nvSpPr>
          <p:cNvPr id="39" name="Text 36"/>
          <p:cNvSpPr txBox="1"/>
          <p:nvPr/>
        </p:nvSpPr>
        <p:spPr>
          <a:xfrm>
            <a:off x="548640" y="425196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orders</a:t>
            </a:r>
            <a:endParaRPr lang="en-US" sz="1200" dirty="0"/>
          </a:p>
        </p:txBody>
      </p:sp>
      <p:sp>
        <p:nvSpPr>
          <p:cNvPr id="40" name="Shape 37"/>
          <p:cNvSpPr/>
          <p:nvPr/>
        </p:nvSpPr>
        <p:spPr>
          <a:xfrm>
            <a:off x="1417320" y="4251960"/>
            <a:ext cx="841248" cy="502920"/>
          </a:xfrm>
          <a:prstGeom prst="rect">
            <a:avLst/>
          </a:prstGeom>
          <a:solidFill>
            <a:schemeClr val="bg2"/>
          </a:solidFill>
          <a:ln w="19050">
            <a:solidFill>
              <a:schemeClr val="bg1"/>
            </a:solidFill>
            <a:prstDash val="solid"/>
          </a:ln>
        </p:spPr>
      </p:sp>
      <p:sp>
        <p:nvSpPr>
          <p:cNvPr id="41" name="Text 38"/>
          <p:cNvSpPr txBox="1"/>
          <p:nvPr/>
        </p:nvSpPr>
        <p:spPr>
          <a:xfrm>
            <a:off x="1417320"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0.3</a:t>
            </a:r>
            <a:endParaRPr lang="en-US" sz="1400" dirty="0"/>
          </a:p>
        </p:txBody>
      </p:sp>
      <p:sp>
        <p:nvSpPr>
          <p:cNvPr id="42" name="Shape 39"/>
          <p:cNvSpPr/>
          <p:nvPr/>
        </p:nvSpPr>
        <p:spPr>
          <a:xfrm>
            <a:off x="2258568" y="4251960"/>
            <a:ext cx="841248" cy="502920"/>
          </a:xfrm>
          <a:prstGeom prst="rect">
            <a:avLst/>
          </a:prstGeom>
          <a:solidFill>
            <a:schemeClr val="bg2"/>
          </a:solidFill>
          <a:ln w="19050">
            <a:solidFill>
              <a:schemeClr val="bg1"/>
            </a:solidFill>
            <a:prstDash val="solid"/>
          </a:ln>
        </p:spPr>
      </p:sp>
      <p:sp>
        <p:nvSpPr>
          <p:cNvPr id="43" name="Text 40"/>
          <p:cNvSpPr txBox="1"/>
          <p:nvPr/>
        </p:nvSpPr>
        <p:spPr>
          <a:xfrm>
            <a:off x="2258568"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0.6</a:t>
            </a:r>
            <a:endParaRPr lang="en-US" sz="1400" dirty="0"/>
          </a:p>
        </p:txBody>
      </p:sp>
      <p:sp>
        <p:nvSpPr>
          <p:cNvPr id="44" name="Shape 41"/>
          <p:cNvSpPr/>
          <p:nvPr/>
        </p:nvSpPr>
        <p:spPr>
          <a:xfrm>
            <a:off x="3099816" y="4251960"/>
            <a:ext cx="841248" cy="502920"/>
          </a:xfrm>
          <a:prstGeom prst="rect">
            <a:avLst/>
          </a:prstGeom>
          <a:solidFill>
            <a:schemeClr val="bg2"/>
          </a:solidFill>
          <a:ln w="19050">
            <a:solidFill>
              <a:schemeClr val="bg1"/>
            </a:solidFill>
            <a:prstDash val="solid"/>
          </a:ln>
        </p:spPr>
      </p:sp>
      <p:sp>
        <p:nvSpPr>
          <p:cNvPr id="45" name="Text 42"/>
          <p:cNvSpPr txBox="1"/>
          <p:nvPr/>
        </p:nvSpPr>
        <p:spPr>
          <a:xfrm>
            <a:off x="3099816"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1.1</a:t>
            </a:r>
            <a:endParaRPr lang="en-US" sz="1400" dirty="0"/>
          </a:p>
        </p:txBody>
      </p:sp>
      <p:sp>
        <p:nvSpPr>
          <p:cNvPr id="46" name="Shape 43"/>
          <p:cNvSpPr/>
          <p:nvPr/>
        </p:nvSpPr>
        <p:spPr>
          <a:xfrm>
            <a:off x="3941064" y="4251960"/>
            <a:ext cx="841248" cy="502920"/>
          </a:xfrm>
          <a:prstGeom prst="rect">
            <a:avLst/>
          </a:prstGeom>
          <a:solidFill>
            <a:schemeClr val="bg2"/>
          </a:solidFill>
          <a:ln w="19050">
            <a:solidFill>
              <a:schemeClr val="bg1"/>
            </a:solidFill>
            <a:prstDash val="solid"/>
          </a:ln>
        </p:spPr>
      </p:sp>
      <p:sp>
        <p:nvSpPr>
          <p:cNvPr id="47" name="Text 44"/>
          <p:cNvSpPr txBox="1"/>
          <p:nvPr/>
        </p:nvSpPr>
        <p:spPr>
          <a:xfrm>
            <a:off x="3941064"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1.5</a:t>
            </a:r>
            <a:endParaRPr lang="en-US" sz="1400" dirty="0"/>
          </a:p>
        </p:txBody>
      </p:sp>
      <p:sp>
        <p:nvSpPr>
          <p:cNvPr id="48" name="Text 45"/>
          <p:cNvSpPr txBox="1"/>
          <p:nvPr/>
        </p:nvSpPr>
        <p:spPr>
          <a:xfrm>
            <a:off x="1417320" y="4800600"/>
            <a:ext cx="3364992" cy="274320"/>
          </a:xfrm>
          <a:prstGeom prst="rect">
            <a:avLst/>
          </a:prstGeom>
          <a:noFill/>
          <a:ln/>
        </p:spPr>
        <p:txBody>
          <a:bodyPr wrap="square" lIns="0" tIns="0" rIns="0" bIns="0" rtlCol="0" anchor="t"/>
          <a:lstStyle/>
          <a:p>
            <a:pPr algn="ctr" indent="0" marL="0">
              <a:buNone/>
            </a:pPr>
            <a:r>
              <a:rPr lang="en-US" sz="1200" dirty="0">
                <a:solidFill>
                  <a:schemeClr val="tx2"/>
                </a:solidFill>
              </a:rPr>
              <a:t>rows: query  ·  columns: key</a:t>
            </a:r>
            <a:endParaRPr lang="en-US" sz="1200" dirty="0"/>
          </a:p>
        </p:txBody>
      </p:sp>
      <p:sp>
        <p:nvSpPr>
          <p:cNvPr id="49" name="Shape 46"/>
          <p:cNvSpPr/>
          <p:nvPr/>
        </p:nvSpPr>
        <p:spPr>
          <a:xfrm>
            <a:off x="4983480" y="3749040"/>
            <a:ext cx="731520" cy="0"/>
          </a:xfrm>
          <a:prstGeom prst="line">
            <a:avLst/>
          </a:prstGeom>
          <a:noFill/>
          <a:ln w="22225">
            <a:solidFill>
              <a:schemeClr val="tx1"/>
            </a:solidFill>
            <a:prstDash val="solid"/>
            <a:tailEnd type="triangle"/>
          </a:ln>
        </p:spPr>
      </p:sp>
      <p:sp>
        <p:nvSpPr>
          <p:cNvPr id="50" name="Text 47"/>
          <p:cNvSpPr txBox="1"/>
          <p:nvPr/>
        </p:nvSpPr>
        <p:spPr>
          <a:xfrm>
            <a:off x="4892040" y="3840480"/>
            <a:ext cx="914400" cy="548640"/>
          </a:xfrm>
          <a:prstGeom prst="rect">
            <a:avLst/>
          </a:prstGeom>
          <a:noFill/>
          <a:ln/>
        </p:spPr>
        <p:txBody>
          <a:bodyPr wrap="square" lIns="0" tIns="0" rIns="0" bIns="0" rtlCol="0" anchor="t"/>
          <a:lstStyle/>
          <a:p>
            <a:pPr algn="ctr" indent="0" marL="0">
              <a:buNone/>
            </a:pPr>
            <a:r>
              <a:rPr lang="en-US" sz="1200" dirty="0">
                <a:solidFill>
                  <a:schemeClr val="tx2"/>
                </a:solidFill>
              </a:rPr>
              <a:t>softmax</a:t>
            </a:r>
            <a:endParaRPr lang="en-US" sz="1200" dirty="0"/>
          </a:p>
          <a:p>
            <a:pPr algn="ctr" indent="0" marL="0">
              <a:buNone/>
            </a:pPr>
            <a:r>
              <a:rPr lang="en-US" sz="1200" dirty="0">
                <a:solidFill>
                  <a:schemeClr val="tx2"/>
                </a:solidFill>
              </a:rPr>
              <a:t>per row</a:t>
            </a:r>
            <a:endParaRPr lang="en-US" sz="1200" dirty="0"/>
          </a:p>
        </p:txBody>
      </p:sp>
      <p:sp>
        <p:nvSpPr>
          <p:cNvPr id="51" name="Text 48"/>
          <p:cNvSpPr txBox="1"/>
          <p:nvPr/>
        </p:nvSpPr>
        <p:spPr>
          <a:xfrm>
            <a:off x="5806440" y="2011680"/>
            <a:ext cx="4233672" cy="365760"/>
          </a:xfrm>
          <a:prstGeom prst="rect">
            <a:avLst/>
          </a:prstGeom>
          <a:noFill/>
          <a:ln/>
        </p:spPr>
        <p:txBody>
          <a:bodyPr wrap="square" lIns="0" tIns="0" rIns="0" bIns="0" rtlCol="0" anchor="t"/>
          <a:lstStyle/>
          <a:p>
            <a:pPr indent="0" marL="0">
              <a:buNone/>
            </a:pPr>
            <a:r>
              <a:rPr lang="en-US" sz="1600" b="1" dirty="0">
                <a:solidFill>
                  <a:schemeClr val="tx1"/>
                </a:solidFill>
              </a:rPr>
              <a:t>Attention weights</a:t>
            </a:r>
            <a:endParaRPr lang="en-US" sz="1600" dirty="0"/>
          </a:p>
        </p:txBody>
      </p:sp>
      <p:sp>
        <p:nvSpPr>
          <p:cNvPr id="52" name="Text 49"/>
          <p:cNvSpPr txBox="1"/>
          <p:nvPr/>
        </p:nvSpPr>
        <p:spPr>
          <a:xfrm>
            <a:off x="6675120"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robot</a:t>
            </a:r>
            <a:endParaRPr lang="en-US" sz="1200" dirty="0"/>
          </a:p>
        </p:txBody>
      </p:sp>
      <p:sp>
        <p:nvSpPr>
          <p:cNvPr id="53" name="Text 50"/>
          <p:cNvSpPr txBox="1"/>
          <p:nvPr/>
        </p:nvSpPr>
        <p:spPr>
          <a:xfrm>
            <a:off x="7516368"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must</a:t>
            </a:r>
            <a:endParaRPr lang="en-US" sz="1200" dirty="0"/>
          </a:p>
        </p:txBody>
      </p:sp>
      <p:sp>
        <p:nvSpPr>
          <p:cNvPr id="54" name="Text 51"/>
          <p:cNvSpPr txBox="1"/>
          <p:nvPr/>
        </p:nvSpPr>
        <p:spPr>
          <a:xfrm>
            <a:off x="8357616"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obey</a:t>
            </a:r>
            <a:endParaRPr lang="en-US" sz="1200" dirty="0"/>
          </a:p>
        </p:txBody>
      </p:sp>
      <p:sp>
        <p:nvSpPr>
          <p:cNvPr id="55" name="Text 52"/>
          <p:cNvSpPr txBox="1"/>
          <p:nvPr/>
        </p:nvSpPr>
        <p:spPr>
          <a:xfrm>
            <a:off x="9198864" y="2423160"/>
            <a:ext cx="841248" cy="274320"/>
          </a:xfrm>
          <a:prstGeom prst="rect">
            <a:avLst/>
          </a:prstGeom>
          <a:noFill/>
          <a:ln/>
        </p:spPr>
        <p:txBody>
          <a:bodyPr wrap="square" lIns="0" tIns="0" rIns="0" bIns="0" rtlCol="0" anchor="t"/>
          <a:lstStyle/>
          <a:p>
            <a:pPr algn="ctr" indent="0" marL="0">
              <a:buNone/>
            </a:pPr>
            <a:r>
              <a:rPr lang="en-US" sz="1200" dirty="0">
                <a:solidFill>
                  <a:schemeClr val="tx2"/>
                </a:solidFill>
              </a:rPr>
              <a:t>orders</a:t>
            </a:r>
            <a:endParaRPr lang="en-US" sz="1200" dirty="0"/>
          </a:p>
        </p:txBody>
      </p:sp>
      <p:sp>
        <p:nvSpPr>
          <p:cNvPr id="56" name="Text 53"/>
          <p:cNvSpPr txBox="1"/>
          <p:nvPr/>
        </p:nvSpPr>
        <p:spPr>
          <a:xfrm>
            <a:off x="5806440" y="274320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robot</a:t>
            </a:r>
            <a:endParaRPr lang="en-US" sz="1200" dirty="0"/>
          </a:p>
        </p:txBody>
      </p:sp>
      <p:sp>
        <p:nvSpPr>
          <p:cNvPr id="57" name="Shape 54"/>
          <p:cNvSpPr/>
          <p:nvPr/>
        </p:nvSpPr>
        <p:spPr>
          <a:xfrm>
            <a:off x="6675120" y="2743200"/>
            <a:ext cx="841248" cy="502920"/>
          </a:xfrm>
          <a:prstGeom prst="rect">
            <a:avLst/>
          </a:prstGeom>
          <a:solidFill>
            <a:schemeClr val="accent1"/>
          </a:solidFill>
          <a:ln w="19050">
            <a:solidFill>
              <a:schemeClr val="bg1"/>
            </a:solidFill>
            <a:prstDash val="solid"/>
          </a:ln>
        </p:spPr>
      </p:sp>
      <p:sp>
        <p:nvSpPr>
          <p:cNvPr id="58" name="Text 55"/>
          <p:cNvSpPr txBox="1"/>
          <p:nvPr/>
        </p:nvSpPr>
        <p:spPr>
          <a:xfrm>
            <a:off x="6675120" y="2743200"/>
            <a:ext cx="841248"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1.00</a:t>
            </a:r>
            <a:endParaRPr lang="en-US" sz="1400" dirty="0"/>
          </a:p>
        </p:txBody>
      </p:sp>
      <p:sp>
        <p:nvSpPr>
          <p:cNvPr id="59" name="Shape 56"/>
          <p:cNvSpPr/>
          <p:nvPr/>
        </p:nvSpPr>
        <p:spPr>
          <a:xfrm>
            <a:off x="7516368" y="2743200"/>
            <a:ext cx="841248" cy="502920"/>
          </a:xfrm>
          <a:prstGeom prst="rect">
            <a:avLst/>
          </a:prstGeom>
          <a:solidFill>
            <a:schemeClr val="accent6"/>
          </a:solidFill>
          <a:ln w="19050">
            <a:solidFill>
              <a:schemeClr val="bg1"/>
            </a:solidFill>
            <a:prstDash val="solid"/>
          </a:ln>
        </p:spPr>
      </p:sp>
      <p:sp>
        <p:nvSpPr>
          <p:cNvPr id="60" name="Text 57"/>
          <p:cNvSpPr txBox="1"/>
          <p:nvPr/>
        </p:nvSpPr>
        <p:spPr>
          <a:xfrm>
            <a:off x="7516368"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61" name="Shape 58"/>
          <p:cNvSpPr/>
          <p:nvPr/>
        </p:nvSpPr>
        <p:spPr>
          <a:xfrm>
            <a:off x="8357616" y="2743200"/>
            <a:ext cx="841248" cy="502920"/>
          </a:xfrm>
          <a:prstGeom prst="rect">
            <a:avLst/>
          </a:prstGeom>
          <a:solidFill>
            <a:schemeClr val="accent6"/>
          </a:solidFill>
          <a:ln w="19050">
            <a:solidFill>
              <a:schemeClr val="bg1"/>
            </a:solidFill>
            <a:prstDash val="solid"/>
          </a:ln>
        </p:spPr>
      </p:sp>
      <p:sp>
        <p:nvSpPr>
          <p:cNvPr id="62" name="Text 59"/>
          <p:cNvSpPr txBox="1"/>
          <p:nvPr/>
        </p:nvSpPr>
        <p:spPr>
          <a:xfrm>
            <a:off x="8357616"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63" name="Shape 60"/>
          <p:cNvSpPr/>
          <p:nvPr/>
        </p:nvSpPr>
        <p:spPr>
          <a:xfrm>
            <a:off x="9198864" y="2743200"/>
            <a:ext cx="841248" cy="502920"/>
          </a:xfrm>
          <a:prstGeom prst="rect">
            <a:avLst/>
          </a:prstGeom>
          <a:solidFill>
            <a:schemeClr val="accent6"/>
          </a:solidFill>
          <a:ln w="19050">
            <a:solidFill>
              <a:schemeClr val="bg1"/>
            </a:solidFill>
            <a:prstDash val="solid"/>
          </a:ln>
        </p:spPr>
      </p:sp>
      <p:sp>
        <p:nvSpPr>
          <p:cNvPr id="64" name="Text 61"/>
          <p:cNvSpPr txBox="1"/>
          <p:nvPr/>
        </p:nvSpPr>
        <p:spPr>
          <a:xfrm>
            <a:off x="9198864" y="274320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65" name="Text 62"/>
          <p:cNvSpPr txBox="1"/>
          <p:nvPr/>
        </p:nvSpPr>
        <p:spPr>
          <a:xfrm>
            <a:off x="5806440" y="324612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must</a:t>
            </a:r>
            <a:endParaRPr lang="en-US" sz="1200" dirty="0"/>
          </a:p>
        </p:txBody>
      </p:sp>
      <p:sp>
        <p:nvSpPr>
          <p:cNvPr id="66" name="Shape 63"/>
          <p:cNvSpPr/>
          <p:nvPr/>
        </p:nvSpPr>
        <p:spPr>
          <a:xfrm>
            <a:off x="6675120" y="3246120"/>
            <a:ext cx="841248" cy="502920"/>
          </a:xfrm>
          <a:prstGeom prst="rect">
            <a:avLst/>
          </a:prstGeom>
          <a:solidFill>
            <a:schemeClr val="accent1"/>
          </a:solidFill>
          <a:ln w="19050">
            <a:solidFill>
              <a:schemeClr val="bg1"/>
            </a:solidFill>
            <a:prstDash val="solid"/>
          </a:ln>
        </p:spPr>
      </p:sp>
      <p:sp>
        <p:nvSpPr>
          <p:cNvPr id="67" name="Text 64"/>
          <p:cNvSpPr txBox="1"/>
          <p:nvPr/>
        </p:nvSpPr>
        <p:spPr>
          <a:xfrm>
            <a:off x="6675120" y="3246120"/>
            <a:ext cx="841248"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0.48</a:t>
            </a:r>
            <a:endParaRPr lang="en-US" sz="1400" dirty="0"/>
          </a:p>
        </p:txBody>
      </p:sp>
      <p:sp>
        <p:nvSpPr>
          <p:cNvPr id="68" name="Shape 65"/>
          <p:cNvSpPr/>
          <p:nvPr/>
        </p:nvSpPr>
        <p:spPr>
          <a:xfrm>
            <a:off x="7516368" y="3246120"/>
            <a:ext cx="841248" cy="502920"/>
          </a:xfrm>
          <a:prstGeom prst="rect">
            <a:avLst/>
          </a:prstGeom>
          <a:solidFill>
            <a:schemeClr val="accent1"/>
          </a:solidFill>
          <a:ln w="19050">
            <a:solidFill>
              <a:schemeClr val="bg1"/>
            </a:solidFill>
            <a:prstDash val="solid"/>
          </a:ln>
        </p:spPr>
      </p:sp>
      <p:sp>
        <p:nvSpPr>
          <p:cNvPr id="69" name="Text 66"/>
          <p:cNvSpPr txBox="1"/>
          <p:nvPr/>
        </p:nvSpPr>
        <p:spPr>
          <a:xfrm>
            <a:off x="7516368" y="3246120"/>
            <a:ext cx="841248"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0.52</a:t>
            </a:r>
            <a:endParaRPr lang="en-US" sz="1400" dirty="0"/>
          </a:p>
        </p:txBody>
      </p:sp>
      <p:sp>
        <p:nvSpPr>
          <p:cNvPr id="70" name="Shape 67"/>
          <p:cNvSpPr/>
          <p:nvPr/>
        </p:nvSpPr>
        <p:spPr>
          <a:xfrm>
            <a:off x="8357616" y="3246120"/>
            <a:ext cx="841248" cy="502920"/>
          </a:xfrm>
          <a:prstGeom prst="rect">
            <a:avLst/>
          </a:prstGeom>
          <a:solidFill>
            <a:schemeClr val="accent6"/>
          </a:solidFill>
          <a:ln w="19050">
            <a:solidFill>
              <a:schemeClr val="bg1"/>
            </a:solidFill>
            <a:prstDash val="solid"/>
          </a:ln>
        </p:spPr>
      </p:sp>
      <p:sp>
        <p:nvSpPr>
          <p:cNvPr id="71" name="Text 68"/>
          <p:cNvSpPr txBox="1"/>
          <p:nvPr/>
        </p:nvSpPr>
        <p:spPr>
          <a:xfrm>
            <a:off x="8357616" y="324612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72" name="Shape 69"/>
          <p:cNvSpPr/>
          <p:nvPr/>
        </p:nvSpPr>
        <p:spPr>
          <a:xfrm>
            <a:off x="9198864" y="3246120"/>
            <a:ext cx="841248" cy="502920"/>
          </a:xfrm>
          <a:prstGeom prst="rect">
            <a:avLst/>
          </a:prstGeom>
          <a:solidFill>
            <a:schemeClr val="accent6"/>
          </a:solidFill>
          <a:ln w="19050">
            <a:solidFill>
              <a:schemeClr val="bg1"/>
            </a:solidFill>
            <a:prstDash val="solid"/>
          </a:ln>
        </p:spPr>
      </p:sp>
      <p:sp>
        <p:nvSpPr>
          <p:cNvPr id="73" name="Text 70"/>
          <p:cNvSpPr txBox="1"/>
          <p:nvPr/>
        </p:nvSpPr>
        <p:spPr>
          <a:xfrm>
            <a:off x="9198864" y="324612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74" name="Text 71"/>
          <p:cNvSpPr txBox="1"/>
          <p:nvPr/>
        </p:nvSpPr>
        <p:spPr>
          <a:xfrm>
            <a:off x="5806440" y="374904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obey</a:t>
            </a:r>
            <a:endParaRPr lang="en-US" sz="1200" dirty="0"/>
          </a:p>
        </p:txBody>
      </p:sp>
      <p:sp>
        <p:nvSpPr>
          <p:cNvPr id="75" name="Shape 72"/>
          <p:cNvSpPr/>
          <p:nvPr/>
        </p:nvSpPr>
        <p:spPr>
          <a:xfrm>
            <a:off x="6675120" y="3749040"/>
            <a:ext cx="841248" cy="502920"/>
          </a:xfrm>
          <a:prstGeom prst="rect">
            <a:avLst/>
          </a:prstGeom>
          <a:solidFill>
            <a:schemeClr val="bg2"/>
          </a:solidFill>
          <a:ln w="19050">
            <a:solidFill>
              <a:schemeClr val="bg1"/>
            </a:solidFill>
            <a:prstDash val="solid"/>
          </a:ln>
        </p:spPr>
      </p:sp>
      <p:sp>
        <p:nvSpPr>
          <p:cNvPr id="76" name="Text 73"/>
          <p:cNvSpPr txBox="1"/>
          <p:nvPr/>
        </p:nvSpPr>
        <p:spPr>
          <a:xfrm>
            <a:off x="6675120" y="374904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0.18</a:t>
            </a:r>
            <a:endParaRPr lang="en-US" sz="1400" dirty="0"/>
          </a:p>
        </p:txBody>
      </p:sp>
      <p:sp>
        <p:nvSpPr>
          <p:cNvPr id="77" name="Shape 74"/>
          <p:cNvSpPr/>
          <p:nvPr/>
        </p:nvSpPr>
        <p:spPr>
          <a:xfrm>
            <a:off x="7516368" y="3749040"/>
            <a:ext cx="841248" cy="502920"/>
          </a:xfrm>
          <a:prstGeom prst="rect">
            <a:avLst/>
          </a:prstGeom>
          <a:solidFill>
            <a:schemeClr val="bg2"/>
          </a:solidFill>
          <a:ln w="19050">
            <a:solidFill>
              <a:schemeClr val="bg1"/>
            </a:solidFill>
            <a:prstDash val="solid"/>
          </a:ln>
        </p:spPr>
      </p:sp>
      <p:sp>
        <p:nvSpPr>
          <p:cNvPr id="78" name="Text 75"/>
          <p:cNvSpPr txBox="1"/>
          <p:nvPr/>
        </p:nvSpPr>
        <p:spPr>
          <a:xfrm>
            <a:off x="7516368" y="374904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0.37</a:t>
            </a:r>
            <a:endParaRPr lang="en-US" sz="1400" dirty="0"/>
          </a:p>
        </p:txBody>
      </p:sp>
      <p:sp>
        <p:nvSpPr>
          <p:cNvPr id="79" name="Shape 76"/>
          <p:cNvSpPr/>
          <p:nvPr/>
        </p:nvSpPr>
        <p:spPr>
          <a:xfrm>
            <a:off x="8357616" y="3749040"/>
            <a:ext cx="841248" cy="502920"/>
          </a:xfrm>
          <a:prstGeom prst="rect">
            <a:avLst/>
          </a:prstGeom>
          <a:solidFill>
            <a:schemeClr val="accent1"/>
          </a:solidFill>
          <a:ln w="19050">
            <a:solidFill>
              <a:schemeClr val="bg1"/>
            </a:solidFill>
            <a:prstDash val="solid"/>
          </a:ln>
        </p:spPr>
      </p:sp>
      <p:sp>
        <p:nvSpPr>
          <p:cNvPr id="80" name="Text 77"/>
          <p:cNvSpPr txBox="1"/>
          <p:nvPr/>
        </p:nvSpPr>
        <p:spPr>
          <a:xfrm>
            <a:off x="8357616" y="3749040"/>
            <a:ext cx="841248"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0.45</a:t>
            </a:r>
            <a:endParaRPr lang="en-US" sz="1400" dirty="0"/>
          </a:p>
        </p:txBody>
      </p:sp>
      <p:sp>
        <p:nvSpPr>
          <p:cNvPr id="81" name="Shape 78"/>
          <p:cNvSpPr/>
          <p:nvPr/>
        </p:nvSpPr>
        <p:spPr>
          <a:xfrm>
            <a:off x="9198864" y="3749040"/>
            <a:ext cx="841248" cy="502920"/>
          </a:xfrm>
          <a:prstGeom prst="rect">
            <a:avLst/>
          </a:prstGeom>
          <a:solidFill>
            <a:schemeClr val="accent6"/>
          </a:solidFill>
          <a:ln w="19050">
            <a:solidFill>
              <a:schemeClr val="bg1"/>
            </a:solidFill>
            <a:prstDash val="solid"/>
          </a:ln>
        </p:spPr>
      </p:sp>
      <p:sp>
        <p:nvSpPr>
          <p:cNvPr id="82" name="Text 79"/>
          <p:cNvSpPr txBox="1"/>
          <p:nvPr/>
        </p:nvSpPr>
        <p:spPr>
          <a:xfrm>
            <a:off x="9198864" y="3749040"/>
            <a:ext cx="841248" cy="502920"/>
          </a:xfrm>
          <a:prstGeom prst="rect">
            <a:avLst/>
          </a:prstGeom>
          <a:noFill/>
          <a:ln/>
        </p:spPr>
        <p:txBody>
          <a:bodyPr wrap="square" lIns="0" tIns="0" rIns="0" bIns="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0.00</a:t>
            </a:r>
            <a:endParaRPr lang="en-US" sz="1400" dirty="0"/>
          </a:p>
        </p:txBody>
      </p:sp>
      <p:sp>
        <p:nvSpPr>
          <p:cNvPr id="83" name="Text 80"/>
          <p:cNvSpPr txBox="1"/>
          <p:nvPr/>
        </p:nvSpPr>
        <p:spPr>
          <a:xfrm>
            <a:off x="5806440" y="4251960"/>
            <a:ext cx="777240" cy="502920"/>
          </a:xfrm>
          <a:prstGeom prst="rect">
            <a:avLst/>
          </a:prstGeom>
          <a:noFill/>
          <a:ln/>
        </p:spPr>
        <p:txBody>
          <a:bodyPr wrap="square" lIns="0" tIns="0" rIns="0" bIns="0" rtlCol="0" anchor="ctr"/>
          <a:lstStyle/>
          <a:p>
            <a:pPr algn="r" indent="0" marL="0">
              <a:buNone/>
            </a:pPr>
            <a:r>
              <a:rPr lang="en-US" sz="1200" dirty="0">
                <a:solidFill>
                  <a:schemeClr val="tx2"/>
                </a:solidFill>
              </a:rPr>
              <a:t>orders</a:t>
            </a:r>
            <a:endParaRPr lang="en-US" sz="1200" dirty="0"/>
          </a:p>
        </p:txBody>
      </p:sp>
      <p:sp>
        <p:nvSpPr>
          <p:cNvPr id="84" name="Shape 81"/>
          <p:cNvSpPr/>
          <p:nvPr/>
        </p:nvSpPr>
        <p:spPr>
          <a:xfrm>
            <a:off x="6675120" y="4251960"/>
            <a:ext cx="841248" cy="502920"/>
          </a:xfrm>
          <a:prstGeom prst="rect">
            <a:avLst/>
          </a:prstGeom>
          <a:solidFill>
            <a:schemeClr val="bg2"/>
          </a:solidFill>
          <a:ln w="19050">
            <a:solidFill>
              <a:schemeClr val="bg1"/>
            </a:solidFill>
            <a:prstDash val="solid"/>
          </a:ln>
        </p:spPr>
      </p:sp>
      <p:sp>
        <p:nvSpPr>
          <p:cNvPr id="85" name="Text 82"/>
          <p:cNvSpPr txBox="1"/>
          <p:nvPr/>
        </p:nvSpPr>
        <p:spPr>
          <a:xfrm>
            <a:off x="6675120"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0.13</a:t>
            </a:r>
            <a:endParaRPr lang="en-US" sz="1400" dirty="0"/>
          </a:p>
        </p:txBody>
      </p:sp>
      <p:sp>
        <p:nvSpPr>
          <p:cNvPr id="86" name="Shape 83"/>
          <p:cNvSpPr/>
          <p:nvPr/>
        </p:nvSpPr>
        <p:spPr>
          <a:xfrm>
            <a:off x="7516368" y="4251960"/>
            <a:ext cx="841248" cy="502920"/>
          </a:xfrm>
          <a:prstGeom prst="rect">
            <a:avLst/>
          </a:prstGeom>
          <a:solidFill>
            <a:schemeClr val="bg2"/>
          </a:solidFill>
          <a:ln w="19050">
            <a:solidFill>
              <a:schemeClr val="bg1"/>
            </a:solidFill>
            <a:prstDash val="solid"/>
          </a:ln>
        </p:spPr>
      </p:sp>
      <p:sp>
        <p:nvSpPr>
          <p:cNvPr id="87" name="Text 84"/>
          <p:cNvSpPr txBox="1"/>
          <p:nvPr/>
        </p:nvSpPr>
        <p:spPr>
          <a:xfrm>
            <a:off x="7516368"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0.17</a:t>
            </a:r>
            <a:endParaRPr lang="en-US" sz="1400" dirty="0"/>
          </a:p>
        </p:txBody>
      </p:sp>
      <p:sp>
        <p:nvSpPr>
          <p:cNvPr id="88" name="Shape 85"/>
          <p:cNvSpPr/>
          <p:nvPr/>
        </p:nvSpPr>
        <p:spPr>
          <a:xfrm>
            <a:off x="8357616" y="4251960"/>
            <a:ext cx="841248" cy="502920"/>
          </a:xfrm>
          <a:prstGeom prst="rect">
            <a:avLst/>
          </a:prstGeom>
          <a:solidFill>
            <a:schemeClr val="bg2"/>
          </a:solidFill>
          <a:ln w="19050">
            <a:solidFill>
              <a:schemeClr val="bg1"/>
            </a:solidFill>
            <a:prstDash val="solid"/>
          </a:ln>
        </p:spPr>
      </p:sp>
      <p:sp>
        <p:nvSpPr>
          <p:cNvPr id="89" name="Text 86"/>
          <p:cNvSpPr txBox="1"/>
          <p:nvPr/>
        </p:nvSpPr>
        <p:spPr>
          <a:xfrm>
            <a:off x="8357616" y="4251960"/>
            <a:ext cx="841248"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0.28</a:t>
            </a:r>
            <a:endParaRPr lang="en-US" sz="1400" dirty="0"/>
          </a:p>
        </p:txBody>
      </p:sp>
      <p:sp>
        <p:nvSpPr>
          <p:cNvPr id="90" name="Shape 87"/>
          <p:cNvSpPr/>
          <p:nvPr/>
        </p:nvSpPr>
        <p:spPr>
          <a:xfrm>
            <a:off x="9198864" y="4251960"/>
            <a:ext cx="841248" cy="502920"/>
          </a:xfrm>
          <a:prstGeom prst="rect">
            <a:avLst/>
          </a:prstGeom>
          <a:solidFill>
            <a:schemeClr val="accent1"/>
          </a:solidFill>
          <a:ln w="19050">
            <a:solidFill>
              <a:schemeClr val="bg1"/>
            </a:solidFill>
            <a:prstDash val="solid"/>
          </a:ln>
        </p:spPr>
      </p:sp>
      <p:sp>
        <p:nvSpPr>
          <p:cNvPr id="91" name="Text 88"/>
          <p:cNvSpPr txBox="1"/>
          <p:nvPr/>
        </p:nvSpPr>
        <p:spPr>
          <a:xfrm>
            <a:off x="9198864" y="4251960"/>
            <a:ext cx="841248"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0.42</a:t>
            </a:r>
            <a:endParaRPr lang="en-US" sz="1400" dirty="0"/>
          </a:p>
        </p:txBody>
      </p:sp>
      <p:sp>
        <p:nvSpPr>
          <p:cNvPr id="92" name="Text 89"/>
          <p:cNvSpPr txBox="1"/>
          <p:nvPr/>
        </p:nvSpPr>
        <p:spPr>
          <a:xfrm>
            <a:off x="6675120" y="4800600"/>
            <a:ext cx="3364992" cy="274320"/>
          </a:xfrm>
          <a:prstGeom prst="rect">
            <a:avLst/>
          </a:prstGeom>
          <a:noFill/>
          <a:ln/>
        </p:spPr>
        <p:txBody>
          <a:bodyPr wrap="square" lIns="0" tIns="0" rIns="0" bIns="0" rtlCol="0" anchor="t"/>
          <a:lstStyle/>
          <a:p>
            <a:pPr algn="ctr" indent="0" marL="0">
              <a:buNone/>
            </a:pPr>
            <a:r>
              <a:rPr lang="en-US" sz="1200" dirty="0">
                <a:solidFill>
                  <a:schemeClr val="tx2"/>
                </a:solidFill>
              </a:rPr>
              <a:t>rows: query  ·  columns: key</a:t>
            </a:r>
            <a:endParaRPr lang="en-US" sz="1200" dirty="0"/>
          </a:p>
        </p:txBody>
      </p:sp>
      <p:sp>
        <p:nvSpPr>
          <p:cNvPr id="93" name="takeaways"/>
          <p:cNvSpPr/>
          <p:nvPr/>
        </p:nvSpPr>
        <p:spPr>
          <a:xfrm>
            <a:off x="548640" y="5166360"/>
            <a:ext cx="11064240" cy="1005840"/>
          </a:xfrm>
          <a:prstGeom prst="roundRect">
            <a:avLst>
              <a:gd name="adj" fmla="val 10909"/>
            </a:avLst>
          </a:prstGeom>
          <a:solidFill>
            <a:schemeClr val="accent5"/>
          </a:solidFill>
          <a:ln w="12700">
            <a:solidFill>
              <a:schemeClr val="accent5"/>
            </a:solidFill>
            <a:prstDash val="solid"/>
          </a:ln>
        </p:spPr>
      </p:sp>
      <p:sp>
        <p:nvSpPr>
          <p:cNvPr id="94" name="Text 91"/>
          <p:cNvSpPr txBox="1"/>
          <p:nvPr/>
        </p:nvSpPr>
        <p:spPr>
          <a:xfrm>
            <a:off x="822960" y="5257800"/>
            <a:ext cx="10607040" cy="8686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Future positions get exactly zero weight, </a:t>
            </a:r>
            <a:r>
              <a:rPr lang="en-US" sz="1500" dirty="0">
                <a:solidFill>
                  <a:schemeClr val="tx1"/>
                </a:solidFill>
              </a:rPr>
              <a:t>and each row still sums to 1: softmax normalizes over the allowed columns only.</a:t>
            </a:r>
            <a:endParaRPr lang="en-US" sz="1500" dirty="0"/>
          </a:p>
          <a:p>
            <a:pPr marL="228600" indent="-228600">
              <a:spcAft>
                <a:spcPts val="800"/>
              </a:spcAft>
              <a:buSzPct val="100000"/>
              <a:buChar char="•"/>
            </a:pPr>
            <a:r>
              <a:rPr lang="en-US" sz="1500" b="1" dirty="0">
                <a:solidFill>
                  <a:schemeClr val="tx1"/>
                </a:solidFill>
              </a:rPr>
              <a:t>The mask limits what each position reads; </a:t>
            </a:r>
            <a:r>
              <a:rPr lang="en-US" sz="1500" dirty="0">
                <a:solidFill>
                  <a:schemeClr val="tx1"/>
                </a:solidFill>
              </a:rPr>
              <a:t>it does not make computation sequential. All rows come out of one matrix operation.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Is the model really causal? Three checks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13–25</a:t>
            </a:r>
            <a:endParaRPr lang="en-US" sz="1400" dirty="0"/>
          </a:p>
        </p:txBody>
      </p:sp>
      <p:sp>
        <p:nvSpPr>
          <p:cNvPr id="6" name="model"/>
          <p:cNvSpPr/>
          <p:nvPr/>
        </p:nvSpPr>
        <p:spPr>
          <a:xfrm>
            <a:off x="548640" y="1234440"/>
            <a:ext cx="11064240" cy="685800"/>
          </a:xfrm>
          <a:prstGeom prst="roundRect">
            <a:avLst>
              <a:gd name="adj" fmla="val 16000"/>
            </a:avLst>
          </a:prstGeom>
          <a:solidFill>
            <a:schemeClr val="bg2"/>
          </a:solidFill>
          <a:ln w="12700">
            <a:solidFill>
              <a:schemeClr val="bg2"/>
            </a:solidFill>
            <a:prstDash val="solid"/>
          </a:ln>
        </p:spPr>
      </p:sp>
      <p:sp>
        <p:nvSpPr>
          <p:cNvPr id="7" name="Text 4"/>
          <p:cNvSpPr txBox="1"/>
          <p:nvPr/>
        </p:nvSpPr>
        <p:spPr>
          <a:xfrm>
            <a:off x="822960" y="1234440"/>
            <a:ext cx="10607040" cy="685800"/>
          </a:xfrm>
          <a:prstGeom prst="rect">
            <a:avLst/>
          </a:prstGeom>
          <a:noFill/>
          <a:ln/>
        </p:spPr>
        <p:txBody>
          <a:bodyPr wrap="square" lIns="0" tIns="0" rIns="0" bIns="0" rtlCol="0" anchor="ctr"/>
          <a:lstStyle/>
          <a:p>
            <a:pPr indent="0" marL="0">
              <a:buNone/>
            </a:pPr>
            <a:r>
              <a:rPr lang="en-US" sz="1600" b="1" dirty="0">
                <a:solidFill>
                  <a:schemeClr val="tx1"/>
                </a:solidFill>
              </a:rPr>
              <a:t>TinyGPT2: </a:t>
            </a:r>
            <a:r>
              <a:rPr lang="en-US" sz="1600" dirty="0">
                <a:solidFill>
                  <a:schemeClr val="tx1"/>
                </a:solidFill>
                <a:latin typeface="Courier New" pitchFamily="34" charset="0"/>
                <a:ea typeface="Courier New" pitchFamily="34" charset="-122"/>
                <a:cs typeface="Courier New" pitchFamily="34" charset="-120"/>
              </a:rPr>
              <a:t>V = 16, D = 32, H = 4, N = 2</a:t>
            </a:r>
            <a:r>
              <a:rPr lang="en-US" sz="1600" dirty="0">
                <a:solidFill>
                  <a:schemeClr val="tx1"/>
                </a:solidFill>
              </a:rPr>
              <a:t>  ·  26,496 parameters  ·  logits </a:t>
            </a:r>
            <a:r>
              <a:rPr lang="en-US" sz="1600" dirty="0">
                <a:solidFill>
                  <a:schemeClr val="tx1"/>
                </a:solidFill>
                <a:latin typeface="Courier New" pitchFamily="34" charset="0"/>
                <a:ea typeface="Courier New" pitchFamily="34" charset="-122"/>
                <a:cs typeface="Courier New" pitchFamily="34" charset="-120"/>
              </a:rPr>
              <a:t>(1, 4, 16)</a:t>
            </a:r>
            <a:r>
              <a:rPr lang="en-US" sz="1600" dirty="0">
                <a:solidFill>
                  <a:schemeClr val="tx1"/>
                </a:solidFill>
              </a:rPr>
              <a:t>  ·  attention </a:t>
            </a:r>
            <a:r>
              <a:rPr lang="en-US" sz="1600" dirty="0">
                <a:solidFill>
                  <a:schemeClr val="tx1"/>
                </a:solidFill>
                <a:latin typeface="Courier New" pitchFamily="34" charset="0"/>
                <a:ea typeface="Courier New" pitchFamily="34" charset="-122"/>
                <a:cs typeface="Courier New" pitchFamily="34" charset="-120"/>
              </a:rPr>
              <a:t>(1, 4, 4, 4)</a:t>
            </a:r>
            <a:endParaRPr lang="en-US" sz="1600" dirty="0"/>
          </a:p>
        </p:txBody>
      </p:sp>
      <p:sp>
        <p:nvSpPr>
          <p:cNvPr id="8" name="Visual check"/>
          <p:cNvSpPr/>
          <p:nvPr/>
        </p:nvSpPr>
        <p:spPr>
          <a:xfrm>
            <a:off x="548640" y="2148840"/>
            <a:ext cx="3474720" cy="2880360"/>
          </a:xfrm>
          <a:prstGeom prst="roundRect">
            <a:avLst>
              <a:gd name="adj" fmla="val 3810"/>
            </a:avLst>
          </a:prstGeom>
          <a:solidFill>
            <a:schemeClr val="bg2"/>
          </a:solidFill>
          <a:ln w="12700">
            <a:solidFill>
              <a:schemeClr val="bg2"/>
            </a:solidFill>
            <a:prstDash val="solid"/>
          </a:ln>
        </p:spPr>
      </p:sp>
      <p:sp>
        <p:nvSpPr>
          <p:cNvPr id="9" name="Shape 6"/>
          <p:cNvSpPr/>
          <p:nvPr/>
        </p:nvSpPr>
        <p:spPr>
          <a:xfrm>
            <a:off x="777240" y="2377440"/>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77724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1371600" y="23774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Visual check</a:t>
            </a:r>
            <a:endParaRPr lang="en-US" sz="1800" dirty="0"/>
          </a:p>
        </p:txBody>
      </p:sp>
      <p:sp>
        <p:nvSpPr>
          <p:cNvPr id="12" name="Text 9"/>
          <p:cNvSpPr txBox="1"/>
          <p:nvPr/>
        </p:nvSpPr>
        <p:spPr>
          <a:xfrm>
            <a:off x="777240" y="2971800"/>
            <a:ext cx="3017520" cy="822960"/>
          </a:xfrm>
          <a:prstGeom prst="rect">
            <a:avLst/>
          </a:prstGeom>
          <a:noFill/>
          <a:ln/>
        </p:spPr>
        <p:txBody>
          <a:bodyPr wrap="square" lIns="0" tIns="0" rIns="0" bIns="0" rtlCol="0" anchor="t"/>
          <a:lstStyle/>
          <a:p>
            <a:pPr indent="0" marL="0">
              <a:buNone/>
            </a:pPr>
            <a:r>
              <a:rPr lang="en-US" sz="1400" dirty="0">
                <a:solidFill>
                  <a:schemeClr val="tx2"/>
                </a:solidFill>
              </a:rPr>
              <a:t>One head of the untrained model: every weight above the diagonal is 0.</a:t>
            </a:r>
            <a:endParaRPr lang="en-US" sz="1400" dirty="0"/>
          </a:p>
        </p:txBody>
      </p:sp>
      <p:sp>
        <p:nvSpPr>
          <p:cNvPr id="13" name="Text 10"/>
          <p:cNvSpPr txBox="1"/>
          <p:nvPr/>
        </p:nvSpPr>
        <p:spPr>
          <a:xfrm>
            <a:off x="777240" y="3749040"/>
            <a:ext cx="3017520" cy="54864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4" name="Text 11"/>
          <p:cNvSpPr txBox="1"/>
          <p:nvPr/>
        </p:nvSpPr>
        <p:spPr>
          <a:xfrm>
            <a:off x="777240" y="4343400"/>
            <a:ext cx="3017520" cy="411480"/>
          </a:xfrm>
          <a:prstGeom prst="rect">
            <a:avLst/>
          </a:prstGeom>
          <a:noFill/>
          <a:ln/>
        </p:spPr>
        <p:txBody>
          <a:bodyPr wrap="square" lIns="0" tIns="0" rIns="0" bIns="0" rtlCol="0" anchor="t"/>
          <a:lstStyle/>
          <a:p>
            <a:pPr indent="0" marL="0">
              <a:buNone/>
            </a:pPr>
            <a:r>
              <a:rPr lang="en-US" sz="1300" dirty="0">
                <a:solidFill>
                  <a:schemeClr val="tx2"/>
                </a:solidFill>
              </a:rPr>
              <a:t>future-position weights</a:t>
            </a:r>
            <a:endParaRPr lang="en-US" sz="1300" dirty="0"/>
          </a:p>
        </p:txBody>
      </p:sp>
      <p:sp>
        <p:nvSpPr>
          <p:cNvPr id="15" name="Text 12"/>
          <p:cNvSpPr txBox="1"/>
          <p:nvPr/>
        </p:nvSpPr>
        <p:spPr>
          <a:xfrm>
            <a:off x="2926080" y="4663440"/>
            <a:ext cx="914400" cy="274320"/>
          </a:xfrm>
          <a:prstGeom prst="rect">
            <a:avLst/>
          </a:prstGeom>
          <a:noFill/>
          <a:ln/>
        </p:spPr>
        <p:txBody>
          <a:bodyPr wrap="square" lIns="0" tIns="0" rIns="0" bIns="0" rtlCol="0" anchor="t"/>
          <a:lstStyle/>
          <a:p>
            <a:pPr algn="r" indent="0" marL="0">
              <a:buNone/>
            </a:pPr>
            <a:r>
              <a:rPr lang="en-US" sz="1100" dirty="0">
                <a:solidFill>
                  <a:schemeClr val="tx2"/>
                </a:solidFill>
              </a:rPr>
              <a:t>cell 21</a:t>
            </a:r>
            <a:endParaRPr lang="en-US" sz="1100" dirty="0"/>
          </a:p>
        </p:txBody>
      </p:sp>
      <p:sp>
        <p:nvSpPr>
          <p:cNvPr id="16" name="Leakage test"/>
          <p:cNvSpPr/>
          <p:nvPr/>
        </p:nvSpPr>
        <p:spPr>
          <a:xfrm>
            <a:off x="4297680" y="2148840"/>
            <a:ext cx="3474720" cy="2880360"/>
          </a:xfrm>
          <a:prstGeom prst="roundRect">
            <a:avLst>
              <a:gd name="adj" fmla="val 3810"/>
            </a:avLst>
          </a:prstGeom>
          <a:solidFill>
            <a:schemeClr val="bg2"/>
          </a:solidFill>
          <a:ln w="12700">
            <a:solidFill>
              <a:schemeClr val="bg2"/>
            </a:solidFill>
            <a:prstDash val="solid"/>
          </a:ln>
        </p:spPr>
      </p:sp>
      <p:sp>
        <p:nvSpPr>
          <p:cNvPr id="17" name="Shape 14"/>
          <p:cNvSpPr/>
          <p:nvPr/>
        </p:nvSpPr>
        <p:spPr>
          <a:xfrm>
            <a:off x="4526280" y="2377440"/>
            <a:ext cx="457200" cy="457200"/>
          </a:xfrm>
          <a:prstGeom prst="ellipse">
            <a:avLst/>
          </a:prstGeom>
          <a:solidFill>
            <a:schemeClr val="accent3"/>
          </a:solidFill>
          <a:ln w="12700">
            <a:solidFill>
              <a:schemeClr val="accent3"/>
            </a:solidFill>
            <a:prstDash val="solid"/>
          </a:ln>
        </p:spPr>
      </p:sp>
      <p:sp>
        <p:nvSpPr>
          <p:cNvPr id="18" name="Text 15"/>
          <p:cNvSpPr txBox="1"/>
          <p:nvPr/>
        </p:nvSpPr>
        <p:spPr>
          <a:xfrm>
            <a:off x="452628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ext 16"/>
          <p:cNvSpPr txBox="1"/>
          <p:nvPr/>
        </p:nvSpPr>
        <p:spPr>
          <a:xfrm>
            <a:off x="5120640" y="23774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Leakage test</a:t>
            </a:r>
            <a:endParaRPr lang="en-US" sz="1800" dirty="0"/>
          </a:p>
        </p:txBody>
      </p:sp>
      <p:sp>
        <p:nvSpPr>
          <p:cNvPr id="20" name="Text 17"/>
          <p:cNvSpPr txBox="1"/>
          <p:nvPr/>
        </p:nvSpPr>
        <p:spPr>
          <a:xfrm>
            <a:off x="4526280" y="2971800"/>
            <a:ext cx="3017520" cy="822960"/>
          </a:xfrm>
          <a:prstGeom prst="rect">
            <a:avLst/>
          </a:prstGeom>
          <a:noFill/>
          <a:ln/>
        </p:spPr>
        <p:txBody>
          <a:bodyPr wrap="square" lIns="0" tIns="0" rIns="0" bIns="0" rtlCol="0" anchor="t"/>
          <a:lstStyle/>
          <a:p>
            <a:pPr indent="0" marL="0">
              <a:buNone/>
            </a:pPr>
            <a:r>
              <a:rPr lang="en-US" sz="1400" dirty="0">
                <a:solidFill>
                  <a:schemeClr val="tx2"/>
                </a:solidFill>
              </a:rPr>
              <a:t>Change only positions 2–3; do the logits at positions 0–1 move?</a:t>
            </a:r>
            <a:endParaRPr lang="en-US" sz="1400" dirty="0"/>
          </a:p>
        </p:txBody>
      </p:sp>
      <p:sp>
        <p:nvSpPr>
          <p:cNvPr id="21" name="Text 18"/>
          <p:cNvSpPr txBox="1"/>
          <p:nvPr/>
        </p:nvSpPr>
        <p:spPr>
          <a:xfrm>
            <a:off x="4526280" y="3749040"/>
            <a:ext cx="3017520" cy="548640"/>
          </a:xfrm>
          <a:prstGeom prst="rect">
            <a:avLst/>
          </a:prstGeom>
          <a:noFill/>
          <a:ln/>
        </p:spPr>
        <p:txBody>
          <a:bodyPr wrap="square" lIns="0" tIns="0" rIns="0" bIns="0" rtlCol="0" anchor="b"/>
          <a:lstStyle/>
          <a:p>
            <a:pPr indent="0" marL="0">
              <a:buNone/>
            </a:pPr>
            <a:r>
              <a:rPr lang="en-US" sz="2400" b="1" dirty="0">
                <a:solidFill>
                  <a:schemeClr val="accent3"/>
                </a:solidFill>
                <a:latin typeface="Cambria" pitchFamily="34" charset="0"/>
                <a:ea typeface="Cambria" pitchFamily="34" charset="-122"/>
                <a:cs typeface="Cambria" pitchFamily="34" charset="-120"/>
              </a:rPr>
              <a:t>0.0 vs 3.6×10⁻²</a:t>
            </a:r>
            <a:endParaRPr lang="en-US" sz="2400" dirty="0"/>
          </a:p>
        </p:txBody>
      </p:sp>
      <p:sp>
        <p:nvSpPr>
          <p:cNvPr id="22" name="Text 19"/>
          <p:cNvSpPr txBox="1"/>
          <p:nvPr/>
        </p:nvSpPr>
        <p:spPr>
          <a:xfrm>
            <a:off x="4526280" y="4343400"/>
            <a:ext cx="3017520" cy="411480"/>
          </a:xfrm>
          <a:prstGeom prst="rect">
            <a:avLst/>
          </a:prstGeom>
          <a:noFill/>
          <a:ln/>
        </p:spPr>
        <p:txBody>
          <a:bodyPr wrap="square" lIns="0" tIns="0" rIns="0" bIns="0" rtlCol="0" anchor="t"/>
          <a:lstStyle/>
          <a:p>
            <a:pPr indent="0" marL="0">
              <a:buNone/>
            </a:pPr>
            <a:r>
              <a:rPr lang="en-US" sz="1300" dirty="0">
                <a:solidFill>
                  <a:schemeClr val="tx2"/>
                </a:solidFill>
              </a:rPr>
              <a:t>change at 0–1: causal vs. causal=False</a:t>
            </a:r>
            <a:endParaRPr lang="en-US" sz="1300" dirty="0"/>
          </a:p>
        </p:txBody>
      </p:sp>
      <p:sp>
        <p:nvSpPr>
          <p:cNvPr id="23" name="Text 20"/>
          <p:cNvSpPr txBox="1"/>
          <p:nvPr/>
        </p:nvSpPr>
        <p:spPr>
          <a:xfrm>
            <a:off x="6675120" y="4663440"/>
            <a:ext cx="914400" cy="274320"/>
          </a:xfrm>
          <a:prstGeom prst="rect">
            <a:avLst/>
          </a:prstGeom>
          <a:noFill/>
          <a:ln/>
        </p:spPr>
        <p:txBody>
          <a:bodyPr wrap="square" lIns="0" tIns="0" rIns="0" bIns="0" rtlCol="0" anchor="t"/>
          <a:lstStyle/>
          <a:p>
            <a:pPr algn="r" indent="0" marL="0">
              <a:buNone/>
            </a:pPr>
            <a:r>
              <a:rPr lang="en-US" sz="1100" dirty="0">
                <a:solidFill>
                  <a:schemeClr val="tx2"/>
                </a:solidFill>
              </a:rPr>
              <a:t>cell 23</a:t>
            </a:r>
            <a:endParaRPr lang="en-US" sz="1100" dirty="0"/>
          </a:p>
        </p:txBody>
      </p:sp>
      <p:sp>
        <p:nvSpPr>
          <p:cNvPr id="24" name="Prefix consistency"/>
          <p:cNvSpPr/>
          <p:nvPr/>
        </p:nvSpPr>
        <p:spPr>
          <a:xfrm>
            <a:off x="8046720" y="2148840"/>
            <a:ext cx="3474720" cy="2880360"/>
          </a:xfrm>
          <a:prstGeom prst="roundRect">
            <a:avLst>
              <a:gd name="adj" fmla="val 3810"/>
            </a:avLst>
          </a:prstGeom>
          <a:solidFill>
            <a:schemeClr val="bg2"/>
          </a:solidFill>
          <a:ln w="12700">
            <a:solidFill>
              <a:schemeClr val="bg2"/>
            </a:solidFill>
            <a:prstDash val="solid"/>
          </a:ln>
        </p:spPr>
      </p:sp>
      <p:sp>
        <p:nvSpPr>
          <p:cNvPr id="25" name="Shape 22"/>
          <p:cNvSpPr/>
          <p:nvPr/>
        </p:nvSpPr>
        <p:spPr>
          <a:xfrm>
            <a:off x="8275320" y="237744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827532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7" name="Text 24"/>
          <p:cNvSpPr txBox="1"/>
          <p:nvPr/>
        </p:nvSpPr>
        <p:spPr>
          <a:xfrm>
            <a:off x="8869680" y="237744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Prefix consistency</a:t>
            </a:r>
            <a:endParaRPr lang="en-US" sz="1800" dirty="0"/>
          </a:p>
        </p:txBody>
      </p:sp>
      <p:sp>
        <p:nvSpPr>
          <p:cNvPr id="28" name="Text 25"/>
          <p:cNvSpPr txBox="1"/>
          <p:nvPr/>
        </p:nvSpPr>
        <p:spPr>
          <a:xfrm>
            <a:off x="8275320" y="2971800"/>
            <a:ext cx="3017520" cy="822960"/>
          </a:xfrm>
          <a:prstGeom prst="rect">
            <a:avLst/>
          </a:prstGeom>
          <a:noFill/>
          <a:ln/>
        </p:spPr>
        <p:txBody>
          <a:bodyPr wrap="square" lIns="0" tIns="0" rIns="0" bIns="0" rtlCol="0" anchor="t"/>
          <a:lstStyle/>
          <a:p>
            <a:pPr indent="0" marL="0">
              <a:buNone/>
            </a:pPr>
            <a:r>
              <a:rPr lang="en-US" sz="1400" dirty="0">
                <a:solidFill>
                  <a:schemeClr val="tx2"/>
                </a:solidFill>
              </a:rPr>
              <a:t>One pass over the whole sequence vs. separate passes over each prefix.</a:t>
            </a:r>
            <a:endParaRPr lang="en-US" sz="1400" dirty="0"/>
          </a:p>
        </p:txBody>
      </p:sp>
      <p:sp>
        <p:nvSpPr>
          <p:cNvPr id="29" name="Text 26"/>
          <p:cNvSpPr txBox="1"/>
          <p:nvPr/>
        </p:nvSpPr>
        <p:spPr>
          <a:xfrm>
            <a:off x="8275320" y="3749040"/>
            <a:ext cx="3017520" cy="548640"/>
          </a:xfrm>
          <a:prstGeom prst="rect">
            <a:avLst/>
          </a:prstGeom>
          <a:noFill/>
          <a:ln/>
        </p:spPr>
        <p:txBody>
          <a:bodyPr wrap="square" lIns="0" tIns="0" rIns="0" bIns="0" rtlCol="0" anchor="b"/>
          <a:lstStyle/>
          <a:p>
            <a:pPr indent="0" marL="0">
              <a:buNone/>
            </a:pPr>
            <a:r>
              <a:rPr lang="en-US" sz="3000" b="1" dirty="0">
                <a:solidFill>
                  <a:schemeClr val="accent4"/>
                </a:solidFill>
                <a:latin typeface="Cambria" pitchFamily="34" charset="0"/>
                <a:ea typeface="Cambria" pitchFamily="34" charset="-122"/>
                <a:cs typeface="Cambria" pitchFamily="34" charset="-120"/>
              </a:rPr>
              <a:t>6.0×10⁻⁸</a:t>
            </a:r>
            <a:endParaRPr lang="en-US" sz="3000" dirty="0"/>
          </a:p>
        </p:txBody>
      </p:sp>
      <p:sp>
        <p:nvSpPr>
          <p:cNvPr id="30" name="Text 27"/>
          <p:cNvSpPr txBox="1"/>
          <p:nvPr/>
        </p:nvSpPr>
        <p:spPr>
          <a:xfrm>
            <a:off x="8275320" y="4343400"/>
            <a:ext cx="3017520" cy="411480"/>
          </a:xfrm>
          <a:prstGeom prst="rect">
            <a:avLst/>
          </a:prstGeom>
          <a:noFill/>
          <a:ln/>
        </p:spPr>
        <p:txBody>
          <a:bodyPr wrap="square" lIns="0" tIns="0" rIns="0" bIns="0" rtlCol="0" anchor="t"/>
          <a:lstStyle/>
          <a:p>
            <a:pPr indent="0" marL="0">
              <a:buNone/>
            </a:pPr>
            <a:r>
              <a:rPr lang="en-US" sz="1300" dirty="0">
                <a:solidFill>
                  <a:schemeClr val="tx2"/>
                </a:solidFill>
              </a:rPr>
              <a:t>largest difference (float rounding)</a:t>
            </a:r>
            <a:endParaRPr lang="en-US" sz="1300" dirty="0"/>
          </a:p>
        </p:txBody>
      </p:sp>
      <p:sp>
        <p:nvSpPr>
          <p:cNvPr id="31" name="Text 28"/>
          <p:cNvSpPr txBox="1"/>
          <p:nvPr/>
        </p:nvSpPr>
        <p:spPr>
          <a:xfrm>
            <a:off x="10424160" y="4663440"/>
            <a:ext cx="914400" cy="274320"/>
          </a:xfrm>
          <a:prstGeom prst="rect">
            <a:avLst/>
          </a:prstGeom>
          <a:noFill/>
          <a:ln/>
        </p:spPr>
        <p:txBody>
          <a:bodyPr wrap="square" lIns="0" tIns="0" rIns="0" bIns="0" rtlCol="0" anchor="t"/>
          <a:lstStyle/>
          <a:p>
            <a:pPr algn="r" indent="0" marL="0">
              <a:buNone/>
            </a:pPr>
            <a:r>
              <a:rPr lang="en-US" sz="1100" dirty="0">
                <a:solidFill>
                  <a:schemeClr val="tx2"/>
                </a:solidFill>
              </a:rPr>
              <a:t>cell 25</a:t>
            </a:r>
            <a:endParaRPr lang="en-US" sz="1100" dirty="0"/>
          </a:p>
        </p:txBody>
      </p:sp>
      <p:sp>
        <p:nvSpPr>
          <p:cNvPr id="32" name="why it matters"/>
          <p:cNvSpPr/>
          <p:nvPr/>
        </p:nvSpPr>
        <p:spPr>
          <a:xfrm>
            <a:off x="548640" y="5257800"/>
            <a:ext cx="11064240" cy="914400"/>
          </a:xfrm>
          <a:prstGeom prst="roundRect">
            <a:avLst>
              <a:gd name="adj" fmla="val 12000"/>
            </a:avLst>
          </a:prstGeom>
          <a:solidFill>
            <a:schemeClr val="accent5"/>
          </a:solidFill>
          <a:ln w="12700">
            <a:solidFill>
              <a:schemeClr val="accent5"/>
            </a:solidFill>
            <a:prstDash val="solid"/>
          </a:ln>
        </p:spPr>
      </p:sp>
      <p:sp>
        <p:nvSpPr>
          <p:cNvPr id="33" name="Text 30"/>
          <p:cNvSpPr txBox="1"/>
          <p:nvPr/>
        </p:nvSpPr>
        <p:spPr>
          <a:xfrm>
            <a:off x="822960" y="5257800"/>
            <a:ext cx="10607040" cy="914400"/>
          </a:xfrm>
          <a:prstGeom prst="rect">
            <a:avLst/>
          </a:prstGeom>
          <a:noFill/>
          <a:ln/>
        </p:spPr>
        <p:txBody>
          <a:bodyPr wrap="square" lIns="0" tIns="0" rIns="0" bIns="0" rtlCol="0" anchor="ctr"/>
          <a:lstStyle/>
          <a:p>
            <a:pPr indent="0" marL="0">
              <a:buNone/>
            </a:pPr>
            <a:r>
              <a:rPr lang="en-US" sz="1500" b="1" dirty="0">
                <a:solidFill>
                  <a:schemeClr val="tx1"/>
                </a:solidFill>
              </a:rPr>
              <a:t>Why this matters: </a:t>
            </a:r>
            <a:r>
              <a:rPr lang="en-US" sz="1500" dirty="0">
                <a:solidFill>
                  <a:schemeClr val="tx1"/>
                </a:solidFill>
              </a:rPr>
              <a:t>one parallel pass over T tokens computes exactly what T separate prefix runs would. That is why training can score every position at once, and why a key–value cache can reuse past work during generation.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Training: shifted next-token prediction</a:t>
            </a:r>
            <a:endParaRPr lang="en-US" sz="3200" dirty="0"/>
          </a:p>
        </p:txBody>
      </p:sp>
      <p:sp>
        <p:nvSpPr>
          <p:cNvPr id="4" name="Text 1"/>
          <p:cNvSpPr txBox="1"/>
          <p:nvPr/>
        </p:nvSpPr>
        <p:spPr>
          <a:xfrm>
            <a:off x="548640" y="1417320"/>
            <a:ext cx="1097280" cy="502920"/>
          </a:xfrm>
          <a:prstGeom prst="rect">
            <a:avLst/>
          </a:prstGeom>
          <a:noFill/>
          <a:ln/>
        </p:spPr>
        <p:txBody>
          <a:bodyPr wrap="square" lIns="0" tIns="0" rIns="0" bIns="0" rtlCol="0" anchor="ctr"/>
          <a:lstStyle/>
          <a:p>
            <a:pPr indent="0" marL="0">
              <a:buNone/>
            </a:pPr>
            <a:r>
              <a:rPr lang="en-US" sz="1600" b="1" dirty="0">
                <a:solidFill>
                  <a:schemeClr val="tx1"/>
                </a:solidFill>
              </a:rPr>
              <a:t>Input</a:t>
            </a:r>
            <a:endParaRPr lang="en-US" sz="1600" dirty="0"/>
          </a:p>
        </p:txBody>
      </p:sp>
      <p:sp>
        <p:nvSpPr>
          <p:cNvPr id="5" name="Text 2"/>
          <p:cNvSpPr txBox="1"/>
          <p:nvPr/>
        </p:nvSpPr>
        <p:spPr>
          <a:xfrm>
            <a:off x="548640" y="2514600"/>
            <a:ext cx="1097280" cy="502920"/>
          </a:xfrm>
          <a:prstGeom prst="rect">
            <a:avLst/>
          </a:prstGeom>
          <a:noFill/>
          <a:ln/>
        </p:spPr>
        <p:txBody>
          <a:bodyPr wrap="square" lIns="0" tIns="0" rIns="0" bIns="0" rtlCol="0" anchor="ctr"/>
          <a:lstStyle/>
          <a:p>
            <a:pPr indent="0" marL="0">
              <a:buNone/>
            </a:pPr>
            <a:r>
              <a:rPr lang="en-US" sz="1600" b="1" dirty="0">
                <a:solidFill>
                  <a:schemeClr val="tx1"/>
                </a:solidFill>
              </a:rPr>
              <a:t>Target</a:t>
            </a:r>
            <a:endParaRPr lang="en-US" sz="1600" dirty="0"/>
          </a:p>
        </p:txBody>
      </p:sp>
      <p:sp>
        <p:nvSpPr>
          <p:cNvPr id="6" name="Shape 3"/>
          <p:cNvSpPr/>
          <p:nvPr/>
        </p:nvSpPr>
        <p:spPr>
          <a:xfrm>
            <a:off x="1737360" y="1417320"/>
            <a:ext cx="914400" cy="502920"/>
          </a:xfrm>
          <a:prstGeom prst="roundRect">
            <a:avLst>
              <a:gd name="adj" fmla="val 14545"/>
            </a:avLst>
          </a:prstGeom>
          <a:solidFill>
            <a:schemeClr val="bg2"/>
          </a:solidFill>
          <a:ln w="12700">
            <a:solidFill>
              <a:schemeClr val="bg2"/>
            </a:solidFill>
            <a:prstDash val="solid"/>
          </a:ln>
        </p:spPr>
      </p:sp>
      <p:sp>
        <p:nvSpPr>
          <p:cNvPr id="7" name="Text 4"/>
          <p:cNvSpPr txBox="1"/>
          <p:nvPr/>
        </p:nvSpPr>
        <p:spPr>
          <a:xfrm>
            <a:off x="1737360" y="1417320"/>
            <a:ext cx="914400" cy="50292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A</a:t>
            </a:r>
            <a:endParaRPr lang="en-US" sz="1800" dirty="0"/>
          </a:p>
        </p:txBody>
      </p:sp>
      <p:sp>
        <p:nvSpPr>
          <p:cNvPr id="8" name="Shape 5"/>
          <p:cNvSpPr/>
          <p:nvPr/>
        </p:nvSpPr>
        <p:spPr>
          <a:xfrm>
            <a:off x="2880360" y="1417320"/>
            <a:ext cx="914400" cy="502920"/>
          </a:xfrm>
          <a:prstGeom prst="roundRect">
            <a:avLst>
              <a:gd name="adj" fmla="val 14545"/>
            </a:avLst>
          </a:prstGeom>
          <a:solidFill>
            <a:schemeClr val="bg2"/>
          </a:solidFill>
          <a:ln w="12700">
            <a:solidFill>
              <a:schemeClr val="bg2"/>
            </a:solidFill>
            <a:prstDash val="solid"/>
          </a:ln>
        </p:spPr>
      </p:sp>
      <p:sp>
        <p:nvSpPr>
          <p:cNvPr id="9" name="Text 6"/>
          <p:cNvSpPr txBox="1"/>
          <p:nvPr/>
        </p:nvSpPr>
        <p:spPr>
          <a:xfrm>
            <a:off x="2880360" y="1417320"/>
            <a:ext cx="914400" cy="50292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B</a:t>
            </a:r>
            <a:endParaRPr lang="en-US" sz="1800" dirty="0"/>
          </a:p>
        </p:txBody>
      </p:sp>
      <p:sp>
        <p:nvSpPr>
          <p:cNvPr id="10" name="Shape 7"/>
          <p:cNvSpPr/>
          <p:nvPr/>
        </p:nvSpPr>
        <p:spPr>
          <a:xfrm>
            <a:off x="4023360" y="1417320"/>
            <a:ext cx="914400" cy="502920"/>
          </a:xfrm>
          <a:prstGeom prst="roundRect">
            <a:avLst>
              <a:gd name="adj" fmla="val 14545"/>
            </a:avLst>
          </a:prstGeom>
          <a:solidFill>
            <a:schemeClr val="bg2"/>
          </a:solidFill>
          <a:ln w="12700">
            <a:solidFill>
              <a:schemeClr val="bg2"/>
            </a:solidFill>
            <a:prstDash val="solid"/>
          </a:ln>
        </p:spPr>
      </p:sp>
      <p:sp>
        <p:nvSpPr>
          <p:cNvPr id="11" name="Text 8"/>
          <p:cNvSpPr txBox="1"/>
          <p:nvPr/>
        </p:nvSpPr>
        <p:spPr>
          <a:xfrm>
            <a:off x="4023360" y="1417320"/>
            <a:ext cx="914400" cy="50292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C</a:t>
            </a:r>
            <a:endParaRPr lang="en-US" sz="1800" dirty="0"/>
          </a:p>
        </p:txBody>
      </p:sp>
      <p:sp>
        <p:nvSpPr>
          <p:cNvPr id="12" name="Shape 9"/>
          <p:cNvSpPr/>
          <p:nvPr/>
        </p:nvSpPr>
        <p:spPr>
          <a:xfrm>
            <a:off x="5166360" y="1417320"/>
            <a:ext cx="914400" cy="502920"/>
          </a:xfrm>
          <a:prstGeom prst="roundRect">
            <a:avLst>
              <a:gd name="adj" fmla="val 14545"/>
            </a:avLst>
          </a:prstGeom>
          <a:solidFill>
            <a:schemeClr val="bg2"/>
          </a:solidFill>
          <a:ln w="12700">
            <a:solidFill>
              <a:schemeClr val="bg2"/>
            </a:solidFill>
            <a:prstDash val="solid"/>
          </a:ln>
        </p:spPr>
      </p:sp>
      <p:sp>
        <p:nvSpPr>
          <p:cNvPr id="13" name="Text 10"/>
          <p:cNvSpPr txBox="1"/>
          <p:nvPr/>
        </p:nvSpPr>
        <p:spPr>
          <a:xfrm>
            <a:off x="5166360" y="1417320"/>
            <a:ext cx="914400" cy="502920"/>
          </a:xfrm>
          <a:prstGeom prst="rect">
            <a:avLst/>
          </a:prstGeom>
          <a:noFill/>
          <a:ln/>
        </p:spPr>
        <p:txBody>
          <a:bodyPr wrap="square" lIns="0" tIns="0" rIns="0" bIns="0" rtlCol="0" anchor="ctr"/>
          <a:lstStyle/>
          <a:p>
            <a:pPr algn="ctr" indent="0" marL="0">
              <a:buNone/>
            </a:pPr>
            <a:r>
              <a:rPr lang="en-US" sz="1800" dirty="0">
                <a:solidFill>
                  <a:schemeClr val="tx1"/>
                </a:solidFill>
                <a:latin typeface="Courier New" pitchFamily="34" charset="0"/>
                <a:ea typeface="Courier New" pitchFamily="34" charset="-122"/>
                <a:cs typeface="Courier New" pitchFamily="34" charset="-120"/>
              </a:rPr>
              <a:t>D</a:t>
            </a:r>
            <a:endParaRPr lang="en-US" sz="1800" dirty="0"/>
          </a:p>
        </p:txBody>
      </p:sp>
      <p:sp>
        <p:nvSpPr>
          <p:cNvPr id="14" name="Shape 11"/>
          <p:cNvSpPr/>
          <p:nvPr/>
        </p:nvSpPr>
        <p:spPr>
          <a:xfrm>
            <a:off x="1737360" y="2514600"/>
            <a:ext cx="914400" cy="502920"/>
          </a:xfrm>
          <a:prstGeom prst="roundRect">
            <a:avLst>
              <a:gd name="adj" fmla="val 14545"/>
            </a:avLst>
          </a:prstGeom>
          <a:solidFill>
            <a:schemeClr val="accent1"/>
          </a:solidFill>
          <a:ln w="12700">
            <a:solidFill>
              <a:schemeClr val="accent1"/>
            </a:solidFill>
            <a:prstDash val="solid"/>
          </a:ln>
        </p:spPr>
      </p:sp>
      <p:sp>
        <p:nvSpPr>
          <p:cNvPr id="15" name="Text 12"/>
          <p:cNvSpPr txBox="1"/>
          <p:nvPr/>
        </p:nvSpPr>
        <p:spPr>
          <a:xfrm>
            <a:off x="1737360" y="2514600"/>
            <a:ext cx="91440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B</a:t>
            </a:r>
            <a:endParaRPr lang="en-US" sz="1800" dirty="0"/>
          </a:p>
        </p:txBody>
      </p:sp>
      <p:sp>
        <p:nvSpPr>
          <p:cNvPr id="16" name="Shape 13"/>
          <p:cNvSpPr/>
          <p:nvPr/>
        </p:nvSpPr>
        <p:spPr>
          <a:xfrm>
            <a:off x="2880360" y="2514600"/>
            <a:ext cx="914400" cy="502920"/>
          </a:xfrm>
          <a:prstGeom prst="roundRect">
            <a:avLst>
              <a:gd name="adj" fmla="val 14545"/>
            </a:avLst>
          </a:prstGeom>
          <a:solidFill>
            <a:schemeClr val="accent1"/>
          </a:solidFill>
          <a:ln w="12700">
            <a:solidFill>
              <a:schemeClr val="accent1"/>
            </a:solidFill>
            <a:prstDash val="solid"/>
          </a:ln>
        </p:spPr>
      </p:sp>
      <p:sp>
        <p:nvSpPr>
          <p:cNvPr id="17" name="Text 14"/>
          <p:cNvSpPr txBox="1"/>
          <p:nvPr/>
        </p:nvSpPr>
        <p:spPr>
          <a:xfrm>
            <a:off x="2880360" y="2514600"/>
            <a:ext cx="91440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C</a:t>
            </a:r>
            <a:endParaRPr lang="en-US" sz="1800" dirty="0"/>
          </a:p>
        </p:txBody>
      </p:sp>
      <p:sp>
        <p:nvSpPr>
          <p:cNvPr id="18" name="Shape 15"/>
          <p:cNvSpPr/>
          <p:nvPr/>
        </p:nvSpPr>
        <p:spPr>
          <a:xfrm>
            <a:off x="4023360" y="2514600"/>
            <a:ext cx="914400" cy="502920"/>
          </a:xfrm>
          <a:prstGeom prst="roundRect">
            <a:avLst>
              <a:gd name="adj" fmla="val 14545"/>
            </a:avLst>
          </a:prstGeom>
          <a:solidFill>
            <a:schemeClr val="accent1"/>
          </a:solidFill>
          <a:ln w="12700">
            <a:solidFill>
              <a:schemeClr val="accent1"/>
            </a:solidFill>
            <a:prstDash val="solid"/>
          </a:ln>
        </p:spPr>
      </p:sp>
      <p:sp>
        <p:nvSpPr>
          <p:cNvPr id="19" name="Text 16"/>
          <p:cNvSpPr txBox="1"/>
          <p:nvPr/>
        </p:nvSpPr>
        <p:spPr>
          <a:xfrm>
            <a:off x="4023360" y="2514600"/>
            <a:ext cx="91440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D</a:t>
            </a:r>
            <a:endParaRPr lang="en-US" sz="1800" dirty="0"/>
          </a:p>
        </p:txBody>
      </p:sp>
      <p:sp>
        <p:nvSpPr>
          <p:cNvPr id="20" name="Shape 17"/>
          <p:cNvSpPr/>
          <p:nvPr/>
        </p:nvSpPr>
        <p:spPr>
          <a:xfrm>
            <a:off x="5166360" y="2514600"/>
            <a:ext cx="914400" cy="502920"/>
          </a:xfrm>
          <a:prstGeom prst="roundRect">
            <a:avLst>
              <a:gd name="adj" fmla="val 14545"/>
            </a:avLst>
          </a:prstGeom>
          <a:solidFill>
            <a:schemeClr val="accent1"/>
          </a:solidFill>
          <a:ln w="12700">
            <a:solidFill>
              <a:schemeClr val="accent1"/>
            </a:solidFill>
            <a:prstDash val="solid"/>
          </a:ln>
        </p:spPr>
      </p:sp>
      <p:sp>
        <p:nvSpPr>
          <p:cNvPr id="21" name="Text 18"/>
          <p:cNvSpPr txBox="1"/>
          <p:nvPr/>
        </p:nvSpPr>
        <p:spPr>
          <a:xfrm>
            <a:off x="5166360" y="2514600"/>
            <a:ext cx="91440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E</a:t>
            </a:r>
            <a:endParaRPr lang="en-US" sz="1800" dirty="0"/>
          </a:p>
        </p:txBody>
      </p:sp>
      <p:sp>
        <p:nvSpPr>
          <p:cNvPr id="22" name="Shape 19"/>
          <p:cNvSpPr/>
          <p:nvPr/>
        </p:nvSpPr>
        <p:spPr>
          <a:xfrm>
            <a:off x="2194560" y="1965960"/>
            <a:ext cx="0" cy="502920"/>
          </a:xfrm>
          <a:prstGeom prst="line">
            <a:avLst/>
          </a:prstGeom>
          <a:noFill/>
          <a:ln w="22225">
            <a:solidFill>
              <a:schemeClr val="tx2"/>
            </a:solidFill>
            <a:prstDash val="solid"/>
            <a:tailEnd type="triangle"/>
          </a:ln>
        </p:spPr>
      </p:sp>
      <p:sp>
        <p:nvSpPr>
          <p:cNvPr id="23" name="Shape 20"/>
          <p:cNvSpPr/>
          <p:nvPr/>
        </p:nvSpPr>
        <p:spPr>
          <a:xfrm>
            <a:off x="3337560" y="1965960"/>
            <a:ext cx="0" cy="502920"/>
          </a:xfrm>
          <a:prstGeom prst="line">
            <a:avLst/>
          </a:prstGeom>
          <a:noFill/>
          <a:ln w="22225">
            <a:solidFill>
              <a:schemeClr val="tx2"/>
            </a:solidFill>
            <a:prstDash val="solid"/>
            <a:tailEnd type="triangle"/>
          </a:ln>
        </p:spPr>
      </p:sp>
      <p:sp>
        <p:nvSpPr>
          <p:cNvPr id="24" name="Shape 21"/>
          <p:cNvSpPr/>
          <p:nvPr/>
        </p:nvSpPr>
        <p:spPr>
          <a:xfrm>
            <a:off x="4480560" y="1965960"/>
            <a:ext cx="0" cy="502920"/>
          </a:xfrm>
          <a:prstGeom prst="line">
            <a:avLst/>
          </a:prstGeom>
          <a:noFill/>
          <a:ln w="22225">
            <a:solidFill>
              <a:schemeClr val="tx2"/>
            </a:solidFill>
            <a:prstDash val="solid"/>
            <a:tailEnd type="triangle"/>
          </a:ln>
        </p:spPr>
      </p:sp>
      <p:sp>
        <p:nvSpPr>
          <p:cNvPr id="25" name="Shape 22"/>
          <p:cNvSpPr/>
          <p:nvPr/>
        </p:nvSpPr>
        <p:spPr>
          <a:xfrm>
            <a:off x="5623560" y="1965960"/>
            <a:ext cx="0" cy="502920"/>
          </a:xfrm>
          <a:prstGeom prst="line">
            <a:avLst/>
          </a:prstGeom>
          <a:noFill/>
          <a:ln w="22225">
            <a:solidFill>
              <a:schemeClr val="tx2"/>
            </a:solidFill>
            <a:prstDash val="solid"/>
            <a:tailEnd type="triangle"/>
          </a:ln>
        </p:spPr>
      </p:sp>
      <p:sp>
        <p:nvSpPr>
          <p:cNvPr id="26" name="Text 23"/>
          <p:cNvSpPr txBox="1"/>
          <p:nvPr/>
        </p:nvSpPr>
        <p:spPr>
          <a:xfrm>
            <a:off x="1737360" y="3108960"/>
            <a:ext cx="4343400" cy="320040"/>
          </a:xfrm>
          <a:prstGeom prst="rect">
            <a:avLst/>
          </a:prstGeom>
          <a:noFill/>
          <a:ln/>
        </p:spPr>
        <p:txBody>
          <a:bodyPr wrap="square" lIns="0" tIns="0" rIns="0" bIns="0" rtlCol="0" anchor="t"/>
          <a:lstStyle/>
          <a:p>
            <a:pPr indent="0" marL="0">
              <a:buNone/>
            </a:pPr>
            <a:r>
              <a:rPr lang="en-US" sz="1300" dirty="0">
                <a:solidFill>
                  <a:schemeClr val="tx2"/>
                </a:solidFill>
              </a:rPr>
              <a:t>position t is scored against token t + 1</a:t>
            </a:r>
            <a:endParaRPr lang="en-US" sz="1300" dirty="0"/>
          </a:p>
        </p:txBody>
      </p:sp>
      <p:sp>
        <p:nvSpPr>
          <p:cNvPr id="27" name="loss"/>
          <p:cNvSpPr/>
          <p:nvPr/>
        </p:nvSpPr>
        <p:spPr>
          <a:xfrm>
            <a:off x="548640" y="3657600"/>
            <a:ext cx="5669280" cy="2468880"/>
          </a:xfrm>
          <a:prstGeom prst="roundRect">
            <a:avLst>
              <a:gd name="adj" fmla="val 4444"/>
            </a:avLst>
          </a:prstGeom>
          <a:solidFill>
            <a:schemeClr val="bg2"/>
          </a:solidFill>
          <a:ln w="12700">
            <a:solidFill>
              <a:schemeClr val="bg2"/>
            </a:solidFill>
            <a:prstDash val="solid"/>
          </a:ln>
        </p:spPr>
      </p:sp>
      <p:sp>
        <p:nvSpPr>
          <p:cNvPr id="28" name="Text 25"/>
          <p:cNvSpPr txBox="1"/>
          <p:nvPr/>
        </p:nvSpPr>
        <p:spPr>
          <a:xfrm>
            <a:off x="822960" y="3794760"/>
            <a:ext cx="5120640" cy="50292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loss</a:t>
            </a:r>
            <a:r>
              <a:rPr lang="en-US" sz="2000" baseline="-40000" dirty="0">
                <a:solidFill>
                  <a:schemeClr val="tx1"/>
                </a:solidFill>
                <a:latin typeface="Cambria" pitchFamily="34" charset="0"/>
                <a:ea typeface="Cambria" pitchFamily="34" charset="-122"/>
                <a:cs typeface="Cambria" pitchFamily="34" charset="-120"/>
              </a:rPr>
              <a:t>t</a:t>
            </a:r>
            <a:r>
              <a:rPr lang="en-US" sz="2000" dirty="0">
                <a:solidFill>
                  <a:schemeClr val="tx1"/>
                </a:solidFill>
                <a:latin typeface="Cambria" pitchFamily="34" charset="0"/>
                <a:ea typeface="Cambria" pitchFamily="34" charset="-122"/>
                <a:cs typeface="Cambria" pitchFamily="34" charset="-120"/>
              </a:rPr>
              <a:t> = − log softmax(z</a:t>
            </a:r>
            <a:r>
              <a:rPr lang="en-US" sz="2000" baseline="-40000" dirty="0">
                <a:solidFill>
                  <a:schemeClr val="tx1"/>
                </a:solidFill>
                <a:latin typeface="Cambria" pitchFamily="34" charset="0"/>
                <a:ea typeface="Cambria" pitchFamily="34" charset="-122"/>
                <a:cs typeface="Cambria" pitchFamily="34" charset="-120"/>
              </a:rPr>
              <a:t>t</a:t>
            </a:r>
            <a:r>
              <a:rPr lang="en-US" sz="2000" dirty="0">
                <a:solidFill>
                  <a:schemeClr val="tx1"/>
                </a:solidFill>
                <a:latin typeface="Cambria" pitchFamily="34" charset="0"/>
                <a:ea typeface="Cambria" pitchFamily="34" charset="-122"/>
                <a:cs typeface="Cambria" pitchFamily="34" charset="-120"/>
              </a:rPr>
              <a:t>)</a:t>
            </a:r>
            <a:r>
              <a:rPr lang="en-US" sz="2000" baseline="-40000" dirty="0">
                <a:solidFill>
                  <a:schemeClr val="tx1"/>
                </a:solidFill>
                <a:latin typeface="Cambria" pitchFamily="34" charset="0"/>
                <a:ea typeface="Cambria" pitchFamily="34" charset="-122"/>
                <a:cs typeface="Cambria" pitchFamily="34" charset="-120"/>
              </a:rPr>
              <a:t>y(t+1)</a:t>
            </a:r>
            <a:endParaRPr lang="en-US" sz="2000" dirty="0"/>
          </a:p>
        </p:txBody>
      </p:sp>
      <p:sp>
        <p:nvSpPr>
          <p:cNvPr id="29" name="Text 26"/>
          <p:cNvSpPr txBox="1"/>
          <p:nvPr/>
        </p:nvSpPr>
        <p:spPr>
          <a:xfrm>
            <a:off x="822960" y="4389120"/>
            <a:ext cx="51206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Averaged over all </a:t>
            </a:r>
            <a:r>
              <a:rPr lang="en-US" sz="1500" b="1" dirty="0">
                <a:solidFill>
                  <a:schemeClr val="tx1"/>
                </a:solidFill>
              </a:rPr>
              <a:t>B × T</a:t>
            </a:r>
            <a:r>
              <a:rPr lang="en-US" sz="1500" dirty="0">
                <a:solidFill>
                  <a:schemeClr val="tx1"/>
                </a:solidFill>
              </a:rPr>
              <a:t> predictions (</a:t>
            </a:r>
            <a:r>
              <a:rPr lang="en-US" sz="1500" dirty="0">
                <a:solidFill>
                  <a:schemeClr val="tx1"/>
                </a:solidFill>
                <a:latin typeface="Courier New" pitchFamily="34" charset="0"/>
                <a:ea typeface="Courier New" pitchFamily="34" charset="-122"/>
                <a:cs typeface="Courier New" pitchFamily="34" charset="-120"/>
              </a:rPr>
              <a:t>F.cross_entropy</a:t>
            </a:r>
            <a:r>
              <a:rPr lang="en-US" sz="1500" dirty="0">
                <a:solidFill>
                  <a:schemeClr val="tx1"/>
                </a:solidFill>
              </a:rPr>
              <a:t>)</a:t>
            </a:r>
            <a:endParaRPr lang="en-US" sz="1500" dirty="0"/>
          </a:p>
          <a:p>
            <a:pPr marL="228600" indent="-228600">
              <a:spcAft>
                <a:spcPts val="800"/>
              </a:spcAft>
              <a:buSzPct val="100000"/>
              <a:buChar char="•"/>
            </a:pPr>
            <a:r>
              <a:rPr lang="en-US" sz="1500" b="1" dirty="0">
                <a:solidFill>
                  <a:schemeClr val="tx1"/>
                </a:solidFill>
              </a:rPr>
              <a:t>Padding: </a:t>
            </a:r>
            <a:r>
              <a:rPr lang="en-US" sz="1500" dirty="0">
                <a:solidFill>
                  <a:schemeClr val="tx1"/>
                </a:solidFill>
              </a:rPr>
              <a:t>must be left out of the loss separately; the causal mask does not do it</a:t>
            </a:r>
            <a:endParaRPr lang="en-US" sz="1500" dirty="0"/>
          </a:p>
          <a:p>
            <a:pPr marL="228600" indent="-228600">
              <a:spcAft>
                <a:spcPts val="800"/>
              </a:spcAft>
              <a:buSzPct val="100000"/>
              <a:buChar char="•"/>
            </a:pPr>
            <a:r>
              <a:rPr lang="en-US" sz="1500" dirty="0">
                <a:solidFill>
                  <a:schemeClr val="tx1"/>
                </a:solidFill>
              </a:rPr>
              <a:t>Real GPT-2 was pretrained this way on WebText; that needs a large corpus and a lot of compute</a:t>
            </a:r>
            <a:endParaRPr lang="en-US" sz="1500" dirty="0"/>
          </a:p>
        </p:txBody>
      </p:sp>
      <p:sp>
        <p:nvSpPr>
          <p:cNvPr id="30" name="sanity check"/>
          <p:cNvSpPr/>
          <p:nvPr/>
        </p:nvSpPr>
        <p:spPr>
          <a:xfrm>
            <a:off x="6583680" y="1325880"/>
            <a:ext cx="5029200" cy="4800600"/>
          </a:xfrm>
          <a:prstGeom prst="roundRect">
            <a:avLst>
              <a:gd name="adj" fmla="val 2286"/>
            </a:avLst>
          </a:prstGeom>
          <a:solidFill>
            <a:schemeClr val="accent5"/>
          </a:solidFill>
          <a:ln w="12700">
            <a:solidFill>
              <a:schemeClr val="accent5"/>
            </a:solidFill>
            <a:prstDash val="solid"/>
          </a:ln>
        </p:spPr>
      </p:sp>
      <p:sp>
        <p:nvSpPr>
          <p:cNvPr id="31" name="Text 28"/>
          <p:cNvSpPr txBox="1"/>
          <p:nvPr/>
        </p:nvSpPr>
        <p:spPr>
          <a:xfrm>
            <a:off x="6858000" y="1508760"/>
            <a:ext cx="4480560" cy="411480"/>
          </a:xfrm>
          <a:prstGeom prst="rect">
            <a:avLst/>
          </a:prstGeom>
          <a:noFill/>
          <a:ln/>
        </p:spPr>
        <p:txBody>
          <a:bodyPr wrap="square" lIns="0" tIns="0" rIns="0" bIns="0" rtlCol="0" anchor="t"/>
          <a:lstStyle/>
          <a:p>
            <a:pPr indent="0" marL="0">
              <a:buNone/>
            </a:pPr>
            <a:r>
              <a:rPr lang="en-US" sz="1800" b="1" dirty="0">
                <a:solidFill>
                  <a:schemeClr val="tx1"/>
                </a:solidFill>
              </a:rPr>
              <a:t>Sanity check before training</a:t>
            </a:r>
            <a:endParaRPr lang="en-US" sz="1800" dirty="0"/>
          </a:p>
        </p:txBody>
      </p:sp>
      <p:sp>
        <p:nvSpPr>
          <p:cNvPr id="32" name="Text 29"/>
          <p:cNvSpPr txBox="1"/>
          <p:nvPr/>
        </p:nvSpPr>
        <p:spPr>
          <a:xfrm>
            <a:off x="6858000" y="1965960"/>
            <a:ext cx="4480560" cy="777240"/>
          </a:xfrm>
          <a:prstGeom prst="rect">
            <a:avLst/>
          </a:prstGeom>
          <a:noFill/>
          <a:ln/>
        </p:spPr>
        <p:txBody>
          <a:bodyPr wrap="square" lIns="0" tIns="0" rIns="0" bIns="0" rtlCol="0" anchor="t"/>
          <a:lstStyle/>
          <a:p>
            <a:pPr indent="0" marL="0">
              <a:buNone/>
            </a:pPr>
            <a:r>
              <a:rPr lang="en-US" sz="1500" dirty="0">
                <a:solidFill>
                  <a:schemeClr val="tx1"/>
                </a:solidFill>
              </a:rPr>
              <a:t>An untrained model spreads probability evenly, 1/V per token, so the first loss should be close to</a:t>
            </a:r>
            <a:endParaRPr lang="en-US" sz="1500" dirty="0"/>
          </a:p>
        </p:txBody>
      </p:sp>
      <p:sp>
        <p:nvSpPr>
          <p:cNvPr id="33" name="Text 30"/>
          <p:cNvSpPr txBox="1"/>
          <p:nvPr/>
        </p:nvSpPr>
        <p:spPr>
          <a:xfrm>
            <a:off x="6858000" y="2743200"/>
            <a:ext cx="44805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ln V</a:t>
            </a:r>
            <a:endParaRPr lang="en-US" sz="4800" dirty="0"/>
          </a:p>
        </p:txBody>
      </p:sp>
      <p:sp>
        <p:nvSpPr>
          <p:cNvPr id="34" name="Text 31"/>
          <p:cNvSpPr txBox="1"/>
          <p:nvPr/>
        </p:nvSpPr>
        <p:spPr>
          <a:xfrm>
            <a:off x="6858000" y="3520440"/>
            <a:ext cx="4480560" cy="365760"/>
          </a:xfrm>
          <a:prstGeom prst="rect">
            <a:avLst/>
          </a:prstGeom>
          <a:noFill/>
          <a:ln/>
        </p:spPr>
        <p:txBody>
          <a:bodyPr wrap="square" lIns="0" tIns="0" rIns="0" bIns="0" rtlCol="0" anchor="t"/>
          <a:lstStyle/>
          <a:p>
            <a:pPr indent="0" marL="0">
              <a:buNone/>
            </a:pPr>
            <a:r>
              <a:rPr lang="en-US" sz="1600" dirty="0">
                <a:solidFill>
                  <a:schemeClr val="tx1"/>
                </a:solidFill>
                <a:latin typeface="Courier New" pitchFamily="34" charset="0"/>
                <a:ea typeface="Courier New" pitchFamily="34" charset="-122"/>
                <a:cs typeface="Courier New" pitchFamily="34" charset="-120"/>
              </a:rPr>
              <a:t>V = 16 → ln 16 = 2.77</a:t>
            </a:r>
            <a:endParaRPr lang="en-US" sz="1600" dirty="0"/>
          </a:p>
        </p:txBody>
      </p:sp>
      <p:sp>
        <p:nvSpPr>
          <p:cNvPr id="35" name="Text 32"/>
          <p:cNvSpPr txBox="1"/>
          <p:nvPr/>
        </p:nvSpPr>
        <p:spPr>
          <a:xfrm>
            <a:off x="6858000" y="4114800"/>
            <a:ext cx="4480560" cy="18288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accent3"/>
                </a:solidFill>
              </a:rPr>
              <a:t>Much above ln V: </a:t>
            </a:r>
            <a:r>
              <a:rPr lang="en-US" sz="1500" dirty="0">
                <a:solidFill>
                  <a:schemeClr val="tx1"/>
                </a:solidFill>
              </a:rPr>
              <a:t>badly scaled initialization or a bug</a:t>
            </a:r>
            <a:endParaRPr lang="en-US" sz="1500" dirty="0"/>
          </a:p>
          <a:p>
            <a:pPr marL="228600" indent="-228600">
              <a:spcAft>
                <a:spcPts val="800"/>
              </a:spcAft>
              <a:buSzPct val="100000"/>
              <a:buChar char="•"/>
            </a:pPr>
            <a:r>
              <a:rPr lang="en-US" sz="1500" b="1" dirty="0">
                <a:solidFill>
                  <a:schemeClr val="accent3"/>
                </a:solidFill>
              </a:rPr>
              <a:t>Much below ln V: </a:t>
            </a:r>
            <a:r>
              <a:rPr lang="en-US" sz="1500" dirty="0">
                <a:solidFill>
                  <a:schemeClr val="tx1"/>
                </a:solidFill>
              </a:rPr>
              <a:t>the model can probably see its labels (leakage)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toy run: learning the cycle 1 2 3 1 2 4</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28</a:t>
            </a:r>
            <a:endParaRPr lang="en-US" sz="1400" dirty="0"/>
          </a:p>
        </p:txBody>
      </p:sp>
      <p:sp>
        <p:nvSpPr>
          <p:cNvPr id="6" name="Text 3"/>
          <p:cNvSpPr txBox="1"/>
          <p:nvPr/>
        </p:nvSpPr>
        <p:spPr>
          <a:xfrm>
            <a:off x="548640" y="1280160"/>
            <a:ext cx="4937760" cy="365760"/>
          </a:xfrm>
          <a:prstGeom prst="rect">
            <a:avLst/>
          </a:prstGeom>
          <a:noFill/>
          <a:ln/>
        </p:spPr>
        <p:txBody>
          <a:bodyPr wrap="square" lIns="0" tIns="0" rIns="0" bIns="0" rtlCol="0" anchor="t"/>
          <a:lstStyle/>
          <a:p>
            <a:pPr indent="0" marL="0">
              <a:buNone/>
            </a:pPr>
            <a:r>
              <a:rPr lang="en-US" sz="1600" b="1" dirty="0">
                <a:solidFill>
                  <a:schemeClr val="tx1"/>
                </a:solidFill>
              </a:rPr>
              <a:t>The repeating pattern</a:t>
            </a:r>
            <a:endParaRPr lang="en-US" sz="1600" dirty="0"/>
          </a:p>
        </p:txBody>
      </p:sp>
      <p:sp>
        <p:nvSpPr>
          <p:cNvPr id="7" name="Shape 4"/>
          <p:cNvSpPr/>
          <p:nvPr/>
        </p:nvSpPr>
        <p:spPr>
          <a:xfrm>
            <a:off x="548640" y="1737360"/>
            <a:ext cx="475488" cy="457200"/>
          </a:xfrm>
          <a:prstGeom prst="roundRect">
            <a:avLst>
              <a:gd name="adj" fmla="val 16000"/>
            </a:avLst>
          </a:prstGeom>
          <a:solidFill>
            <a:schemeClr val="bg2"/>
          </a:solidFill>
          <a:ln w="12700">
            <a:solidFill>
              <a:schemeClr val="bg2"/>
            </a:solidFill>
            <a:prstDash val="solid"/>
          </a:ln>
        </p:spPr>
      </p:sp>
      <p:sp>
        <p:nvSpPr>
          <p:cNvPr id="8" name="Text 5"/>
          <p:cNvSpPr txBox="1"/>
          <p:nvPr/>
        </p:nvSpPr>
        <p:spPr>
          <a:xfrm>
            <a:off x="54864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9" name="Shape 6"/>
          <p:cNvSpPr/>
          <p:nvPr/>
        </p:nvSpPr>
        <p:spPr>
          <a:xfrm>
            <a:off x="1097280" y="1737360"/>
            <a:ext cx="475488" cy="457200"/>
          </a:xfrm>
          <a:prstGeom prst="roundRect">
            <a:avLst>
              <a:gd name="adj" fmla="val 16000"/>
            </a:avLst>
          </a:prstGeom>
          <a:solidFill>
            <a:schemeClr val="bg2"/>
          </a:solidFill>
          <a:ln w="12700">
            <a:solidFill>
              <a:schemeClr val="bg2"/>
            </a:solidFill>
            <a:prstDash val="solid"/>
          </a:ln>
        </p:spPr>
      </p:sp>
      <p:sp>
        <p:nvSpPr>
          <p:cNvPr id="10" name="Text 7"/>
          <p:cNvSpPr txBox="1"/>
          <p:nvPr/>
        </p:nvSpPr>
        <p:spPr>
          <a:xfrm>
            <a:off x="109728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11" name="Shape 8"/>
          <p:cNvSpPr/>
          <p:nvPr/>
        </p:nvSpPr>
        <p:spPr>
          <a:xfrm>
            <a:off x="1645920" y="1737360"/>
            <a:ext cx="475488" cy="457200"/>
          </a:xfrm>
          <a:prstGeom prst="roundRect">
            <a:avLst>
              <a:gd name="adj" fmla="val 16000"/>
            </a:avLst>
          </a:prstGeom>
          <a:solidFill>
            <a:schemeClr val="bg2"/>
          </a:solidFill>
          <a:ln w="12700">
            <a:solidFill>
              <a:schemeClr val="bg2"/>
            </a:solidFill>
            <a:prstDash val="solid"/>
          </a:ln>
        </p:spPr>
      </p:sp>
      <p:sp>
        <p:nvSpPr>
          <p:cNvPr id="12" name="Text 9"/>
          <p:cNvSpPr txBox="1"/>
          <p:nvPr/>
        </p:nvSpPr>
        <p:spPr>
          <a:xfrm>
            <a:off x="164592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3</a:t>
            </a:r>
            <a:endParaRPr lang="en-US" sz="1600" dirty="0"/>
          </a:p>
        </p:txBody>
      </p:sp>
      <p:sp>
        <p:nvSpPr>
          <p:cNvPr id="13" name="Shape 10"/>
          <p:cNvSpPr/>
          <p:nvPr/>
        </p:nvSpPr>
        <p:spPr>
          <a:xfrm>
            <a:off x="2194560" y="1737360"/>
            <a:ext cx="475488" cy="457200"/>
          </a:xfrm>
          <a:prstGeom prst="roundRect">
            <a:avLst>
              <a:gd name="adj" fmla="val 16000"/>
            </a:avLst>
          </a:prstGeom>
          <a:solidFill>
            <a:schemeClr val="bg2"/>
          </a:solidFill>
          <a:ln w="12700">
            <a:solidFill>
              <a:schemeClr val="bg2"/>
            </a:solidFill>
            <a:prstDash val="solid"/>
          </a:ln>
        </p:spPr>
      </p:sp>
      <p:sp>
        <p:nvSpPr>
          <p:cNvPr id="14" name="Text 11"/>
          <p:cNvSpPr txBox="1"/>
          <p:nvPr/>
        </p:nvSpPr>
        <p:spPr>
          <a:xfrm>
            <a:off x="219456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15" name="Shape 12"/>
          <p:cNvSpPr/>
          <p:nvPr/>
        </p:nvSpPr>
        <p:spPr>
          <a:xfrm>
            <a:off x="2743200" y="1737360"/>
            <a:ext cx="475488" cy="457200"/>
          </a:xfrm>
          <a:prstGeom prst="roundRect">
            <a:avLst>
              <a:gd name="adj" fmla="val 16000"/>
            </a:avLst>
          </a:prstGeom>
          <a:solidFill>
            <a:schemeClr val="bg2"/>
          </a:solidFill>
          <a:ln w="12700">
            <a:solidFill>
              <a:schemeClr val="bg2"/>
            </a:solidFill>
            <a:prstDash val="solid"/>
          </a:ln>
        </p:spPr>
      </p:sp>
      <p:sp>
        <p:nvSpPr>
          <p:cNvPr id="16" name="Text 13"/>
          <p:cNvSpPr txBox="1"/>
          <p:nvPr/>
        </p:nvSpPr>
        <p:spPr>
          <a:xfrm>
            <a:off x="274320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17" name="Shape 14"/>
          <p:cNvSpPr/>
          <p:nvPr/>
        </p:nvSpPr>
        <p:spPr>
          <a:xfrm>
            <a:off x="3291840" y="1737360"/>
            <a:ext cx="475488" cy="457200"/>
          </a:xfrm>
          <a:prstGeom prst="roundRect">
            <a:avLst>
              <a:gd name="adj" fmla="val 16000"/>
            </a:avLst>
          </a:prstGeom>
          <a:solidFill>
            <a:schemeClr val="bg2"/>
          </a:solidFill>
          <a:ln w="12700">
            <a:solidFill>
              <a:schemeClr val="bg2"/>
            </a:solidFill>
            <a:prstDash val="solid"/>
          </a:ln>
        </p:spPr>
      </p:sp>
      <p:sp>
        <p:nvSpPr>
          <p:cNvPr id="18" name="Text 15"/>
          <p:cNvSpPr txBox="1"/>
          <p:nvPr/>
        </p:nvSpPr>
        <p:spPr>
          <a:xfrm>
            <a:off x="329184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4</a:t>
            </a:r>
            <a:endParaRPr lang="en-US" sz="1600" dirty="0"/>
          </a:p>
        </p:txBody>
      </p:sp>
      <p:sp>
        <p:nvSpPr>
          <p:cNvPr id="19" name="Shape 16"/>
          <p:cNvSpPr/>
          <p:nvPr/>
        </p:nvSpPr>
        <p:spPr>
          <a:xfrm>
            <a:off x="3840480" y="1737360"/>
            <a:ext cx="475488" cy="457200"/>
          </a:xfrm>
          <a:prstGeom prst="roundRect">
            <a:avLst>
              <a:gd name="adj" fmla="val 16000"/>
            </a:avLst>
          </a:prstGeom>
          <a:solidFill>
            <a:schemeClr val="bg2"/>
          </a:solidFill>
          <a:ln w="12700">
            <a:solidFill>
              <a:schemeClr val="bg2"/>
            </a:solidFill>
            <a:prstDash val="solid"/>
          </a:ln>
        </p:spPr>
      </p:sp>
      <p:sp>
        <p:nvSpPr>
          <p:cNvPr id="20" name="Text 17"/>
          <p:cNvSpPr txBox="1"/>
          <p:nvPr/>
        </p:nvSpPr>
        <p:spPr>
          <a:xfrm>
            <a:off x="384048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21" name="Shape 18"/>
          <p:cNvSpPr/>
          <p:nvPr/>
        </p:nvSpPr>
        <p:spPr>
          <a:xfrm>
            <a:off x="4389120" y="1737360"/>
            <a:ext cx="475488" cy="457200"/>
          </a:xfrm>
          <a:prstGeom prst="roundRect">
            <a:avLst>
              <a:gd name="adj" fmla="val 16000"/>
            </a:avLst>
          </a:prstGeom>
          <a:solidFill>
            <a:schemeClr val="bg2"/>
          </a:solidFill>
          <a:ln w="12700">
            <a:solidFill>
              <a:schemeClr val="bg2"/>
            </a:solidFill>
            <a:prstDash val="solid"/>
          </a:ln>
        </p:spPr>
      </p:sp>
      <p:sp>
        <p:nvSpPr>
          <p:cNvPr id="22" name="Text 19"/>
          <p:cNvSpPr txBox="1"/>
          <p:nvPr/>
        </p:nvSpPr>
        <p:spPr>
          <a:xfrm>
            <a:off x="4389120" y="1737360"/>
            <a:ext cx="475488" cy="457200"/>
          </a:xfrm>
          <a:prstGeom prst="rect">
            <a:avLst/>
          </a:prstGeom>
          <a:noFill/>
          <a:ln/>
        </p:spPr>
        <p:txBody>
          <a:bodyPr wrap="square" lIns="0" tIns="0" rIns="0" bIns="0" rtlCol="0" anchor="ctr"/>
          <a:lstStyle/>
          <a:p>
            <a:pPr algn="ctr" indent="0" marL="0">
              <a:buNone/>
            </a:pPr>
            <a:r>
              <a:rPr lang="en-US" sz="1600"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23" name="Shape 20"/>
          <p:cNvSpPr/>
          <p:nvPr/>
        </p:nvSpPr>
        <p:spPr>
          <a:xfrm>
            <a:off x="4937760" y="1737360"/>
            <a:ext cx="475488" cy="457200"/>
          </a:xfrm>
          <a:prstGeom prst="roundRect">
            <a:avLst>
              <a:gd name="adj" fmla="val 16000"/>
            </a:avLst>
          </a:prstGeom>
          <a:solidFill>
            <a:schemeClr val="bg1"/>
          </a:solidFill>
          <a:ln w="12700">
            <a:solidFill>
              <a:srgbClr val="AAB2C0"/>
            </a:solidFill>
            <a:prstDash val="dash"/>
          </a:ln>
        </p:spPr>
      </p:sp>
      <p:sp>
        <p:nvSpPr>
          <p:cNvPr id="24" name="Text 21"/>
          <p:cNvSpPr txBox="1"/>
          <p:nvPr/>
        </p:nvSpPr>
        <p:spPr>
          <a:xfrm>
            <a:off x="4937760" y="1737360"/>
            <a:ext cx="475488" cy="457200"/>
          </a:xfrm>
          <a:prstGeom prst="rect">
            <a:avLst/>
          </a:prstGeom>
          <a:noFill/>
          <a:ln/>
        </p:spPr>
        <p:txBody>
          <a:bodyPr wrap="square" lIns="0" tIns="0" rIns="0" bIns="0" rtlCol="0" anchor="ctr"/>
          <a:lstStyle/>
          <a:p>
            <a:pPr algn="ctr" indent="0" marL="0">
              <a:buNone/>
            </a:pPr>
            <a:r>
              <a:rPr lang="en-US" sz="1600" dirty="0">
                <a:solidFill>
                  <a:schemeClr val="tx2"/>
                </a:solidFill>
                <a:latin typeface="Courier New" pitchFamily="34" charset="0"/>
                <a:ea typeface="Courier New" pitchFamily="34" charset="-122"/>
                <a:cs typeface="Courier New" pitchFamily="34" charset="-120"/>
              </a:rPr>
              <a:t>?</a:t>
            </a:r>
            <a:endParaRPr lang="en-US" sz="1600" dirty="0"/>
          </a:p>
        </p:txBody>
      </p:sp>
      <p:sp>
        <p:nvSpPr>
          <p:cNvPr id="25" name="Text 22"/>
          <p:cNvSpPr txBox="1"/>
          <p:nvPr/>
        </p:nvSpPr>
        <p:spPr>
          <a:xfrm>
            <a:off x="548640" y="2423160"/>
            <a:ext cx="4937760" cy="27432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After </a:t>
            </a:r>
            <a:r>
              <a:rPr lang="en-US" sz="1500" dirty="0">
                <a:solidFill>
                  <a:schemeClr val="tx1"/>
                </a:solidFill>
                <a:latin typeface="Courier New" pitchFamily="34" charset="0"/>
                <a:ea typeface="Courier New" pitchFamily="34" charset="-122"/>
                <a:cs typeface="Courier New" pitchFamily="34" charset="-120"/>
              </a:rPr>
              <a:t>1 2</a:t>
            </a:r>
            <a:r>
              <a:rPr lang="en-US" sz="1500" dirty="0">
                <a:solidFill>
                  <a:schemeClr val="tx1"/>
                </a:solidFill>
              </a:rPr>
              <a:t> comes </a:t>
            </a:r>
            <a:r>
              <a:rPr lang="en-US" sz="1500" dirty="0">
                <a:solidFill>
                  <a:schemeClr val="tx1"/>
                </a:solidFill>
                <a:latin typeface="Courier New" pitchFamily="34" charset="0"/>
                <a:ea typeface="Courier New" pitchFamily="34" charset="-122"/>
                <a:cs typeface="Courier New" pitchFamily="34" charset="-120"/>
              </a:rPr>
              <a:t>3</a:t>
            </a:r>
            <a:r>
              <a:rPr lang="en-US" sz="1500" dirty="0">
                <a:solidFill>
                  <a:schemeClr val="tx1"/>
                </a:solidFill>
              </a:rPr>
              <a:t> or </a:t>
            </a:r>
            <a:r>
              <a:rPr lang="en-US" sz="1500" dirty="0">
                <a:solidFill>
                  <a:schemeClr val="tx1"/>
                </a:solidFill>
                <a:latin typeface="Courier New" pitchFamily="34" charset="0"/>
                <a:ea typeface="Courier New" pitchFamily="34" charset="-122"/>
                <a:cs typeface="Courier New" pitchFamily="34" charset="-120"/>
              </a:rPr>
              <a:t>4</a:t>
            </a:r>
            <a:r>
              <a:rPr lang="en-US" sz="1500" dirty="0">
                <a:solidFill>
                  <a:schemeClr val="tx1"/>
                </a:solidFill>
              </a:rPr>
              <a:t>, depending on what came </a:t>
            </a:r>
            <a:r>
              <a:rPr lang="en-US" sz="1500" b="1" dirty="0">
                <a:solidFill>
                  <a:schemeClr val="tx1"/>
                </a:solidFill>
              </a:rPr>
              <a:t>before</a:t>
            </a:r>
            <a:r>
              <a:rPr lang="en-US" sz="1500" dirty="0">
                <a:solidFill>
                  <a:schemeClr val="tx1"/>
                </a:solidFill>
              </a:rPr>
              <a:t> the </a:t>
            </a:r>
            <a:r>
              <a:rPr lang="en-US" sz="1500" dirty="0">
                <a:solidFill>
                  <a:schemeClr val="tx1"/>
                </a:solidFill>
                <a:latin typeface="Courier New" pitchFamily="34" charset="0"/>
                <a:ea typeface="Courier New" pitchFamily="34" charset="-122"/>
                <a:cs typeface="Courier New" pitchFamily="34" charset="-120"/>
              </a:rPr>
              <a:t>1</a:t>
            </a:r>
            <a:r>
              <a:rPr lang="en-US" sz="1500" dirty="0">
                <a:solidFill>
                  <a:schemeClr val="tx1"/>
                </a:solidFill>
              </a:rPr>
              <a:t>. The current token alone is not enough: the model needs attention.</a:t>
            </a:r>
            <a:endParaRPr lang="en-US" sz="1500" dirty="0"/>
          </a:p>
          <a:p>
            <a:pPr marL="228600" indent="-228600">
              <a:spcAft>
                <a:spcPts val="800"/>
              </a:spcAft>
              <a:buSzPct val="100000"/>
              <a:buChar char="•"/>
            </a:pPr>
            <a:r>
              <a:rPr lang="en-US" sz="1500" dirty="0">
                <a:solidFill>
                  <a:schemeClr val="tx1"/>
                </a:solidFill>
              </a:rPr>
              <a:t>Batches: 32 windows of 17 tokens at random offsets; 16 inputs, 16 shifted targets</a:t>
            </a:r>
            <a:endParaRPr lang="en-US" sz="1500" dirty="0"/>
          </a:p>
          <a:p>
            <a:pPr marL="228600" indent="-228600">
              <a:spcAft>
                <a:spcPts val="800"/>
              </a:spcAft>
              <a:buSzPct val="100000"/>
              <a:buChar char="•"/>
            </a:pPr>
            <a:r>
              <a:rPr lang="en-US" sz="1500" dirty="0">
                <a:solidFill>
                  <a:schemeClr val="tx1"/>
                </a:solidFill>
              </a:rPr>
              <a:t>300 AdamW steps, learning rate 3×10⁻³, on a CPU</a:t>
            </a:r>
            <a:endParaRPr lang="en-US" sz="1500" dirty="0"/>
          </a:p>
          <a:p>
            <a:pPr marL="228600" indent="-228600">
              <a:spcAft>
                <a:spcPts val="800"/>
              </a:spcAft>
              <a:buSzPct val="100000"/>
              <a:buChar char="•"/>
            </a:pPr>
            <a:r>
              <a:rPr lang="en-US" sz="1500" b="1" dirty="0">
                <a:solidFill>
                  <a:schemeClr val="tx1"/>
                </a:solidFill>
              </a:rPr>
              <a:t>Scope: </a:t>
            </a:r>
            <a:r>
              <a:rPr lang="en-US" sz="1500" dirty="0">
                <a:solidFill>
                  <a:schemeClr val="tx1"/>
                </a:solidFill>
              </a:rPr>
              <a:t>this shows that optimization works, not a language-modeling result</a:t>
            </a:r>
            <a:endParaRPr lang="en-US" sz="1500" dirty="0"/>
          </a:p>
        </p:txBody>
      </p:sp>
      <p:sp>
        <p:nvSpPr>
          <p:cNvPr id="26" name="loss at step 1"/>
          <p:cNvSpPr/>
          <p:nvPr/>
        </p:nvSpPr>
        <p:spPr>
          <a:xfrm>
            <a:off x="548640" y="5074920"/>
            <a:ext cx="1554480" cy="1097280"/>
          </a:xfrm>
          <a:prstGeom prst="roundRect">
            <a:avLst>
              <a:gd name="adj" fmla="val 10000"/>
            </a:avLst>
          </a:prstGeom>
          <a:solidFill>
            <a:schemeClr val="bg2"/>
          </a:solidFill>
          <a:ln w="12700">
            <a:solidFill>
              <a:schemeClr val="bg2"/>
            </a:solidFill>
            <a:prstDash val="solid"/>
          </a:ln>
        </p:spPr>
      </p:sp>
      <p:sp>
        <p:nvSpPr>
          <p:cNvPr id="27" name="Text 24"/>
          <p:cNvSpPr txBox="1"/>
          <p:nvPr/>
        </p:nvSpPr>
        <p:spPr>
          <a:xfrm>
            <a:off x="685800" y="5120640"/>
            <a:ext cx="1280160" cy="548640"/>
          </a:xfrm>
          <a:prstGeom prst="rect">
            <a:avLst/>
          </a:prstGeom>
          <a:noFill/>
          <a:ln/>
        </p:spPr>
        <p:txBody>
          <a:bodyPr wrap="square" lIns="0" tIns="0" rIns="0" bIns="0" rtlCol="0" anchor="b"/>
          <a:lstStyle/>
          <a:p>
            <a:pPr indent="0" marL="0">
              <a:buNone/>
            </a:pPr>
            <a:r>
              <a:rPr lang="en-US" sz="2400" b="1" dirty="0">
                <a:solidFill>
                  <a:schemeClr val="tx1"/>
                </a:solidFill>
                <a:latin typeface="Cambria" pitchFamily="34" charset="0"/>
                <a:ea typeface="Cambria" pitchFamily="34" charset="-122"/>
                <a:cs typeface="Cambria" pitchFamily="34" charset="-120"/>
              </a:rPr>
              <a:t>2.813</a:t>
            </a:r>
            <a:endParaRPr lang="en-US" sz="2400" dirty="0"/>
          </a:p>
        </p:txBody>
      </p:sp>
      <p:sp>
        <p:nvSpPr>
          <p:cNvPr id="28" name="Text 25"/>
          <p:cNvSpPr txBox="1"/>
          <p:nvPr/>
        </p:nvSpPr>
        <p:spPr>
          <a:xfrm>
            <a:off x="685800" y="5669280"/>
            <a:ext cx="1280160" cy="411480"/>
          </a:xfrm>
          <a:prstGeom prst="rect">
            <a:avLst/>
          </a:prstGeom>
          <a:noFill/>
          <a:ln/>
        </p:spPr>
        <p:txBody>
          <a:bodyPr wrap="square" lIns="0" tIns="0" rIns="0" bIns="0" rtlCol="0" anchor="t"/>
          <a:lstStyle/>
          <a:p>
            <a:pPr indent="0" marL="0">
              <a:buNone/>
            </a:pPr>
            <a:r>
              <a:rPr lang="en-US" sz="1300" dirty="0">
                <a:solidFill>
                  <a:schemeClr val="tx2"/>
                </a:solidFill>
              </a:rPr>
              <a:t>loss at step 1</a:t>
            </a:r>
            <a:endParaRPr lang="en-US" sz="1300" dirty="0"/>
          </a:p>
        </p:txBody>
      </p:sp>
      <p:sp>
        <p:nvSpPr>
          <p:cNvPr id="29" name="ln 16"/>
          <p:cNvSpPr/>
          <p:nvPr/>
        </p:nvSpPr>
        <p:spPr>
          <a:xfrm>
            <a:off x="2240280" y="5074920"/>
            <a:ext cx="1554480" cy="1097280"/>
          </a:xfrm>
          <a:prstGeom prst="roundRect">
            <a:avLst>
              <a:gd name="adj" fmla="val 10000"/>
            </a:avLst>
          </a:prstGeom>
          <a:solidFill>
            <a:schemeClr val="bg2"/>
          </a:solidFill>
          <a:ln w="12700">
            <a:solidFill>
              <a:schemeClr val="bg2"/>
            </a:solidFill>
            <a:prstDash val="solid"/>
          </a:ln>
        </p:spPr>
      </p:sp>
      <p:sp>
        <p:nvSpPr>
          <p:cNvPr id="30" name="Text 27"/>
          <p:cNvSpPr txBox="1"/>
          <p:nvPr/>
        </p:nvSpPr>
        <p:spPr>
          <a:xfrm>
            <a:off x="2377440" y="5120640"/>
            <a:ext cx="1280160" cy="548640"/>
          </a:xfrm>
          <a:prstGeom prst="rect">
            <a:avLst/>
          </a:prstGeom>
          <a:noFill/>
          <a:ln/>
        </p:spPr>
        <p:txBody>
          <a:bodyPr wrap="square" lIns="0" tIns="0" rIns="0" bIns="0" rtlCol="0" anchor="b"/>
          <a:lstStyle/>
          <a:p>
            <a:pPr indent="0" marL="0">
              <a:buNone/>
            </a:pPr>
            <a:r>
              <a:rPr lang="en-US" sz="2400" b="1" dirty="0">
                <a:solidFill>
                  <a:schemeClr val="tx1"/>
                </a:solidFill>
                <a:latin typeface="Cambria" pitchFamily="34" charset="0"/>
                <a:ea typeface="Cambria" pitchFamily="34" charset="-122"/>
                <a:cs typeface="Cambria" pitchFamily="34" charset="-120"/>
              </a:rPr>
              <a:t>2.773</a:t>
            </a:r>
            <a:endParaRPr lang="en-US" sz="2400" dirty="0"/>
          </a:p>
        </p:txBody>
      </p:sp>
      <p:sp>
        <p:nvSpPr>
          <p:cNvPr id="31" name="Text 28"/>
          <p:cNvSpPr txBox="1"/>
          <p:nvPr/>
        </p:nvSpPr>
        <p:spPr>
          <a:xfrm>
            <a:off x="2377440" y="5669280"/>
            <a:ext cx="1280160" cy="411480"/>
          </a:xfrm>
          <a:prstGeom prst="rect">
            <a:avLst/>
          </a:prstGeom>
          <a:noFill/>
          <a:ln/>
        </p:spPr>
        <p:txBody>
          <a:bodyPr wrap="square" lIns="0" tIns="0" rIns="0" bIns="0" rtlCol="0" anchor="t"/>
          <a:lstStyle/>
          <a:p>
            <a:pPr indent="0" marL="0">
              <a:buNone/>
            </a:pPr>
            <a:r>
              <a:rPr lang="en-US" sz="1300" dirty="0">
                <a:solidFill>
                  <a:schemeClr val="tx2"/>
                </a:solidFill>
              </a:rPr>
              <a:t>ln 16</a:t>
            </a:r>
            <a:endParaRPr lang="en-US" sz="1300" dirty="0"/>
          </a:p>
        </p:txBody>
      </p:sp>
      <p:sp>
        <p:nvSpPr>
          <p:cNvPr id="32" name="loss at step 300"/>
          <p:cNvSpPr/>
          <p:nvPr/>
        </p:nvSpPr>
        <p:spPr>
          <a:xfrm>
            <a:off x="3931920" y="5074920"/>
            <a:ext cx="1554480" cy="1097280"/>
          </a:xfrm>
          <a:prstGeom prst="roundRect">
            <a:avLst>
              <a:gd name="adj" fmla="val 10000"/>
            </a:avLst>
          </a:prstGeom>
          <a:solidFill>
            <a:schemeClr val="bg2"/>
          </a:solidFill>
          <a:ln w="12700">
            <a:solidFill>
              <a:schemeClr val="bg2"/>
            </a:solidFill>
            <a:prstDash val="solid"/>
          </a:ln>
        </p:spPr>
      </p:sp>
      <p:sp>
        <p:nvSpPr>
          <p:cNvPr id="33" name="Text 30"/>
          <p:cNvSpPr txBox="1"/>
          <p:nvPr/>
        </p:nvSpPr>
        <p:spPr>
          <a:xfrm>
            <a:off x="4069080" y="5120640"/>
            <a:ext cx="1280160" cy="548640"/>
          </a:xfrm>
          <a:prstGeom prst="rect">
            <a:avLst/>
          </a:prstGeom>
          <a:noFill/>
          <a:ln/>
        </p:spPr>
        <p:txBody>
          <a:bodyPr wrap="square" lIns="0" tIns="0" rIns="0" bIns="0" rtlCol="0" anchor="b"/>
          <a:lstStyle/>
          <a:p>
            <a:pPr indent="0" marL="0">
              <a:buNone/>
            </a:pPr>
            <a:r>
              <a:rPr lang="en-US" sz="2400" b="1" dirty="0">
                <a:solidFill>
                  <a:schemeClr val="accent1"/>
                </a:solidFill>
                <a:latin typeface="Cambria" pitchFamily="34" charset="0"/>
                <a:ea typeface="Cambria" pitchFamily="34" charset="-122"/>
                <a:cs typeface="Cambria" pitchFamily="34" charset="-120"/>
              </a:rPr>
              <a:t>0.035</a:t>
            </a:r>
            <a:endParaRPr lang="en-US" sz="2400" dirty="0"/>
          </a:p>
        </p:txBody>
      </p:sp>
      <p:sp>
        <p:nvSpPr>
          <p:cNvPr id="34" name="Text 31"/>
          <p:cNvSpPr txBox="1"/>
          <p:nvPr/>
        </p:nvSpPr>
        <p:spPr>
          <a:xfrm>
            <a:off x="4069080" y="5669280"/>
            <a:ext cx="1280160" cy="411480"/>
          </a:xfrm>
          <a:prstGeom prst="rect">
            <a:avLst/>
          </a:prstGeom>
          <a:noFill/>
          <a:ln/>
        </p:spPr>
        <p:txBody>
          <a:bodyPr wrap="square" lIns="0" tIns="0" rIns="0" bIns="0" rtlCol="0" anchor="t"/>
          <a:lstStyle/>
          <a:p>
            <a:pPr indent="0" marL="0">
              <a:buNone/>
            </a:pPr>
            <a:r>
              <a:rPr lang="en-US" sz="1300" dirty="0">
                <a:solidFill>
                  <a:schemeClr val="tx2"/>
                </a:solidFill>
              </a:rPr>
              <a:t>loss at step 300</a:t>
            </a:r>
            <a:endParaRPr lang="en-US" sz="1300" dirty="0"/>
          </a:p>
        </p:txBody>
      </p:sp>
      <p:pic>
        <p:nvPicPr>
          <p:cNvPr id="35" name="Image 0" descr="Training loss over 300 steps: starts at about 2.8, next to the ln V line at 2.77, and falls to near zero.">    </p:cNvPr>
          <p:cNvPicPr>
            <a:picLocks noChangeAspect="1"/>
          </p:cNvPicPr>
          <p:nvPr/>
        </p:nvPicPr>
        <p:blipFill>
          <a:blip r:embed="rId1"/>
          <a:stretch>
            <a:fillRect/>
          </a:stretch>
        </p:blipFill>
        <p:spPr>
          <a:xfrm>
            <a:off x="5852160" y="1371600"/>
            <a:ext cx="5760720" cy="3394328"/>
          </a:xfrm>
          <a:prstGeom prst="rect">
            <a:avLst/>
          </a:prstGeom>
        </p:spPr>
      </p:pic>
      <p:sp>
        <p:nvSpPr>
          <p:cNvPr id="36" name="Text 32"/>
          <p:cNvSpPr txBox="1"/>
          <p:nvPr/>
        </p:nvSpPr>
        <p:spPr>
          <a:xfrm>
            <a:off x="5852160" y="4811648"/>
            <a:ext cx="5760720" cy="548640"/>
          </a:xfrm>
          <a:prstGeom prst="rect">
            <a:avLst/>
          </a:prstGeom>
          <a:noFill/>
          <a:ln/>
        </p:spPr>
        <p:txBody>
          <a:bodyPr wrap="square" lIns="0" tIns="0" rIns="0" bIns="0" rtlCol="0" anchor="t"/>
          <a:lstStyle/>
          <a:p>
            <a:pPr indent="0" marL="0">
              <a:buNone/>
            </a:pPr>
            <a:r>
              <a:rPr lang="en-US" sz="1300" dirty="0">
                <a:solidFill>
                  <a:schemeClr val="tx2"/>
                </a:solidFill>
              </a:rPr>
              <a:t>Cross-entropy per step; dashed line: ln V, the loss of a uniform guess. One CPU run, seed 42.</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the trained attention heads look at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30</a:t>
            </a:r>
            <a:endParaRPr lang="en-US" sz="1400" dirty="0"/>
          </a:p>
        </p:txBody>
      </p:sp>
      <p:pic>
        <p:nvPicPr>
          <p:cNvPr id="6" name="Image 0" descr="Attention weights of the four heads in layer 2 on one 16-token sequence. All are lower-triangular; each head concentrates on different earlier positions.">    </p:cNvPr>
          <p:cNvPicPr>
            <a:picLocks noChangeAspect="1"/>
          </p:cNvPicPr>
          <p:nvPr/>
        </p:nvPicPr>
        <p:blipFill>
          <a:blip r:embed="rId1"/>
          <a:stretch>
            <a:fillRect/>
          </a:stretch>
        </p:blipFill>
        <p:spPr>
          <a:xfrm>
            <a:off x="548640" y="1325880"/>
            <a:ext cx="11064240" cy="3056142"/>
          </a:xfrm>
          <a:prstGeom prst="rect">
            <a:avLst/>
          </a:prstGeom>
        </p:spPr>
      </p:pic>
      <p:sp>
        <p:nvSpPr>
          <p:cNvPr id="7" name="Text 3"/>
          <p:cNvSpPr txBox="1"/>
          <p:nvPr/>
        </p:nvSpPr>
        <p:spPr>
          <a:xfrm>
            <a:off x="548640" y="4427742"/>
            <a:ext cx="11064240" cy="365760"/>
          </a:xfrm>
          <a:prstGeom prst="rect">
            <a:avLst/>
          </a:prstGeom>
          <a:noFill/>
          <a:ln/>
        </p:spPr>
        <p:txBody>
          <a:bodyPr wrap="square" lIns="0" tIns="0" rIns="0" bIns="0" rtlCol="0" anchor="t"/>
          <a:lstStyle/>
          <a:p>
            <a:pPr indent="0" marL="0">
              <a:buNone/>
            </a:pPr>
            <a:r>
              <a:rPr lang="en-US" sz="1300" dirty="0">
                <a:solidFill>
                  <a:schemeClr val="tx2"/>
                </a:solidFill>
              </a:rPr>
              <a:t>Layer 2, all four heads, one 16-token sequence. Rows: query position; columns: key position; darker = more weight.</a:t>
            </a:r>
            <a:endParaRPr lang="en-US" sz="1300" dirty="0"/>
          </a:p>
        </p:txBody>
      </p:sp>
      <p:sp>
        <p:nvSpPr>
          <p:cNvPr id="8" name="what is learned"/>
          <p:cNvSpPr/>
          <p:nvPr/>
        </p:nvSpPr>
        <p:spPr>
          <a:xfrm>
            <a:off x="548640" y="4846320"/>
            <a:ext cx="5349240" cy="1280160"/>
          </a:xfrm>
          <a:prstGeom prst="roundRect">
            <a:avLst>
              <a:gd name="adj" fmla="val 8571"/>
            </a:avLst>
          </a:prstGeom>
          <a:solidFill>
            <a:schemeClr val="bg2"/>
          </a:solidFill>
          <a:ln w="12700">
            <a:solidFill>
              <a:schemeClr val="bg2"/>
            </a:solidFill>
            <a:prstDash val="solid"/>
          </a:ln>
        </p:spPr>
      </p:sp>
      <p:sp>
        <p:nvSpPr>
          <p:cNvPr id="9" name="Text 5"/>
          <p:cNvSpPr txBox="1"/>
          <p:nvPr/>
        </p:nvSpPr>
        <p:spPr>
          <a:xfrm>
            <a:off x="822960" y="493776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Forced by the mask: </a:t>
            </a:r>
            <a:endParaRPr lang="en-US" sz="1500" dirty="0"/>
          </a:p>
          <a:p>
            <a:pPr indent="0" marL="0">
              <a:buNone/>
            </a:pPr>
            <a:r>
              <a:rPr lang="en-US" sz="1500" dirty="0">
                <a:solidFill>
                  <a:schemeClr val="tx1"/>
                </a:solidFill>
              </a:rPr>
              <a:t>the empty upper triangle in every head.</a:t>
            </a:r>
            <a:endParaRPr lang="en-US" sz="1500" dirty="0"/>
          </a:p>
        </p:txBody>
      </p:sp>
      <p:sp>
        <p:nvSpPr>
          <p:cNvPr id="10" name="caveat"/>
          <p:cNvSpPr/>
          <p:nvPr/>
        </p:nvSpPr>
        <p:spPr>
          <a:xfrm>
            <a:off x="6263640" y="4846320"/>
            <a:ext cx="5349240" cy="1280160"/>
          </a:xfrm>
          <a:prstGeom prst="roundRect">
            <a:avLst>
              <a:gd name="adj" fmla="val 8571"/>
            </a:avLst>
          </a:prstGeom>
          <a:solidFill>
            <a:schemeClr val="accent6"/>
          </a:solidFill>
          <a:ln w="12700">
            <a:solidFill>
              <a:schemeClr val="accent6"/>
            </a:solidFill>
            <a:prstDash val="solid"/>
          </a:ln>
        </p:spPr>
      </p:sp>
      <p:sp>
        <p:nvSpPr>
          <p:cNvPr id="11" name="Text 7"/>
          <p:cNvSpPr txBox="1"/>
          <p:nvPr/>
        </p:nvSpPr>
        <p:spPr>
          <a:xfrm>
            <a:off x="6537960" y="4937760"/>
            <a:ext cx="4846320" cy="1097280"/>
          </a:xfrm>
          <a:prstGeom prst="rect">
            <a:avLst/>
          </a:prstGeom>
          <a:noFill/>
          <a:ln/>
        </p:spPr>
        <p:txBody>
          <a:bodyPr wrap="square" lIns="0" tIns="0" rIns="0" bIns="0" rtlCol="0" anchor="ctr"/>
          <a:lstStyle/>
          <a:p>
            <a:pPr indent="0" marL="0">
              <a:buNone/>
            </a:pPr>
            <a:r>
              <a:rPr lang="en-US" sz="1500" b="1" dirty="0">
                <a:solidFill>
                  <a:schemeClr val="accent3"/>
                </a:solidFill>
              </a:rPr>
              <a:t>Not an explanation: </a:t>
            </a:r>
            <a:endParaRPr lang="en-US" sz="1500" dirty="0"/>
          </a:p>
          <a:p>
            <a:pPr indent="0" marL="0">
              <a:buNone/>
            </a:pPr>
            <a:r>
              <a:rPr lang="en-US" sz="1500" dirty="0">
                <a:solidFill>
                  <a:schemeClr val="tx1"/>
                </a:solidFill>
              </a:rPr>
              <a:t>attention maps are a diagnostic. The residual stream and feed-forward layers also carry information.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Training is parallel; generation is one token at a time</a:t>
            </a:r>
            <a:endParaRPr lang="en-US" sz="3200" dirty="0"/>
          </a:p>
        </p:txBody>
      </p:sp>
      <p:sp>
        <p:nvSpPr>
          <p:cNvPr id="4" name="Text 1"/>
          <p:cNvSpPr txBox="1"/>
          <p:nvPr/>
        </p:nvSpPr>
        <p:spPr>
          <a:xfrm>
            <a:off x="548640" y="12801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Training</a:t>
            </a:r>
            <a:endParaRPr lang="en-US" sz="1800" dirty="0"/>
          </a:p>
        </p:txBody>
      </p:sp>
      <p:sp>
        <p:nvSpPr>
          <p:cNvPr id="5" name="Shape 2"/>
          <p:cNvSpPr/>
          <p:nvPr/>
        </p:nvSpPr>
        <p:spPr>
          <a:xfrm>
            <a:off x="548640" y="1783080"/>
            <a:ext cx="594360" cy="457200"/>
          </a:xfrm>
          <a:prstGeom prst="roundRect">
            <a:avLst>
              <a:gd name="adj" fmla="val 16000"/>
            </a:avLst>
          </a:prstGeom>
          <a:solidFill>
            <a:schemeClr val="bg2"/>
          </a:solidFill>
          <a:ln w="12700">
            <a:solidFill>
              <a:schemeClr val="bg2"/>
            </a:solidFill>
            <a:prstDash val="solid"/>
          </a:ln>
        </p:spPr>
      </p:sp>
      <p:sp>
        <p:nvSpPr>
          <p:cNvPr id="6" name="Text 3"/>
          <p:cNvSpPr txBox="1"/>
          <p:nvPr/>
        </p:nvSpPr>
        <p:spPr>
          <a:xfrm>
            <a:off x="548640" y="1783080"/>
            <a:ext cx="594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A</a:t>
            </a:r>
            <a:endParaRPr lang="en-US" sz="1400" dirty="0"/>
          </a:p>
        </p:txBody>
      </p:sp>
      <p:sp>
        <p:nvSpPr>
          <p:cNvPr id="7" name="Shape 4"/>
          <p:cNvSpPr/>
          <p:nvPr/>
        </p:nvSpPr>
        <p:spPr>
          <a:xfrm>
            <a:off x="1216152" y="1783080"/>
            <a:ext cx="594360" cy="457200"/>
          </a:xfrm>
          <a:prstGeom prst="roundRect">
            <a:avLst>
              <a:gd name="adj" fmla="val 16000"/>
            </a:avLst>
          </a:prstGeom>
          <a:solidFill>
            <a:schemeClr val="bg2"/>
          </a:solidFill>
          <a:ln w="12700">
            <a:solidFill>
              <a:schemeClr val="bg2"/>
            </a:solidFill>
            <a:prstDash val="solid"/>
          </a:ln>
        </p:spPr>
      </p:sp>
      <p:sp>
        <p:nvSpPr>
          <p:cNvPr id="8" name="Text 5"/>
          <p:cNvSpPr txBox="1"/>
          <p:nvPr/>
        </p:nvSpPr>
        <p:spPr>
          <a:xfrm>
            <a:off x="1216152" y="1783080"/>
            <a:ext cx="594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B</a:t>
            </a:r>
            <a:endParaRPr lang="en-US" sz="1400" dirty="0"/>
          </a:p>
        </p:txBody>
      </p:sp>
      <p:sp>
        <p:nvSpPr>
          <p:cNvPr id="9" name="Shape 6"/>
          <p:cNvSpPr/>
          <p:nvPr/>
        </p:nvSpPr>
        <p:spPr>
          <a:xfrm>
            <a:off x="1883664" y="1783080"/>
            <a:ext cx="594360" cy="457200"/>
          </a:xfrm>
          <a:prstGeom prst="roundRect">
            <a:avLst>
              <a:gd name="adj" fmla="val 16000"/>
            </a:avLst>
          </a:prstGeom>
          <a:solidFill>
            <a:schemeClr val="bg2"/>
          </a:solidFill>
          <a:ln w="12700">
            <a:solidFill>
              <a:schemeClr val="bg2"/>
            </a:solidFill>
            <a:prstDash val="solid"/>
          </a:ln>
        </p:spPr>
      </p:sp>
      <p:sp>
        <p:nvSpPr>
          <p:cNvPr id="10" name="Text 7"/>
          <p:cNvSpPr txBox="1"/>
          <p:nvPr/>
        </p:nvSpPr>
        <p:spPr>
          <a:xfrm>
            <a:off x="1883664" y="1783080"/>
            <a:ext cx="594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C</a:t>
            </a:r>
            <a:endParaRPr lang="en-US" sz="1400" dirty="0"/>
          </a:p>
        </p:txBody>
      </p:sp>
      <p:sp>
        <p:nvSpPr>
          <p:cNvPr id="11" name="Shape 8"/>
          <p:cNvSpPr/>
          <p:nvPr/>
        </p:nvSpPr>
        <p:spPr>
          <a:xfrm>
            <a:off x="2551176" y="1783080"/>
            <a:ext cx="594360" cy="457200"/>
          </a:xfrm>
          <a:prstGeom prst="roundRect">
            <a:avLst>
              <a:gd name="adj" fmla="val 16000"/>
            </a:avLst>
          </a:prstGeom>
          <a:solidFill>
            <a:schemeClr val="bg2"/>
          </a:solidFill>
          <a:ln w="12700">
            <a:solidFill>
              <a:schemeClr val="bg2"/>
            </a:solidFill>
            <a:prstDash val="solid"/>
          </a:ln>
        </p:spPr>
      </p:sp>
      <p:sp>
        <p:nvSpPr>
          <p:cNvPr id="12" name="Text 9"/>
          <p:cNvSpPr txBox="1"/>
          <p:nvPr/>
        </p:nvSpPr>
        <p:spPr>
          <a:xfrm>
            <a:off x="2551176" y="1783080"/>
            <a:ext cx="594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D</a:t>
            </a:r>
            <a:endParaRPr lang="en-US" sz="1400" dirty="0"/>
          </a:p>
        </p:txBody>
      </p:sp>
      <p:sp>
        <p:nvSpPr>
          <p:cNvPr id="13" name="Shape 10"/>
          <p:cNvSpPr/>
          <p:nvPr/>
        </p:nvSpPr>
        <p:spPr>
          <a:xfrm>
            <a:off x="3337560" y="2011680"/>
            <a:ext cx="548640" cy="0"/>
          </a:xfrm>
          <a:prstGeom prst="line">
            <a:avLst/>
          </a:prstGeom>
          <a:noFill/>
          <a:ln w="22225">
            <a:solidFill>
              <a:schemeClr val="tx2"/>
            </a:solidFill>
            <a:prstDash val="solid"/>
            <a:tailEnd type="triangle"/>
          </a:ln>
        </p:spPr>
      </p:sp>
      <p:sp>
        <p:nvSpPr>
          <p:cNvPr id="14" name="one pass"/>
          <p:cNvSpPr/>
          <p:nvPr/>
        </p:nvSpPr>
        <p:spPr>
          <a:xfrm>
            <a:off x="3977640" y="1691640"/>
            <a:ext cx="1463040" cy="640080"/>
          </a:xfrm>
          <a:prstGeom prst="roundRect">
            <a:avLst>
              <a:gd name="adj" fmla="val 17143"/>
            </a:avLst>
          </a:prstGeom>
          <a:solidFill>
            <a:schemeClr val="tx1"/>
          </a:solidFill>
          <a:ln w="12700">
            <a:solidFill>
              <a:schemeClr val="tx1"/>
            </a:solidFill>
            <a:prstDash val="solid"/>
          </a:ln>
        </p:spPr>
      </p:sp>
      <p:sp>
        <p:nvSpPr>
          <p:cNvPr id="15" name="Text 12"/>
          <p:cNvSpPr txBox="1"/>
          <p:nvPr/>
        </p:nvSpPr>
        <p:spPr>
          <a:xfrm>
            <a:off x="3977640" y="1691640"/>
            <a:ext cx="1463040" cy="640080"/>
          </a:xfrm>
          <a:prstGeom prst="rect">
            <a:avLst/>
          </a:prstGeom>
          <a:noFill/>
          <a:ln/>
        </p:spPr>
        <p:txBody>
          <a:bodyPr wrap="square" lIns="0" tIns="0" rIns="0" bIns="0" rtlCol="0" anchor="ctr"/>
          <a:lstStyle/>
          <a:p>
            <a:pPr algn="ctr" indent="0" marL="0">
              <a:buNone/>
            </a:pPr>
            <a:r>
              <a:rPr lang="en-US" sz="1500" b="1" dirty="0">
                <a:solidFill>
                  <a:schemeClr val="bg1"/>
                </a:solidFill>
              </a:rPr>
              <a:t>one pass</a:t>
            </a:r>
            <a:endParaRPr lang="en-US" sz="1500" dirty="0"/>
          </a:p>
        </p:txBody>
      </p:sp>
      <p:sp>
        <p:nvSpPr>
          <p:cNvPr id="16" name="Shape 13"/>
          <p:cNvSpPr/>
          <p:nvPr/>
        </p:nvSpPr>
        <p:spPr>
          <a:xfrm>
            <a:off x="5532120" y="2011680"/>
            <a:ext cx="548640" cy="0"/>
          </a:xfrm>
          <a:prstGeom prst="line">
            <a:avLst/>
          </a:prstGeom>
          <a:noFill/>
          <a:ln w="22225">
            <a:solidFill>
              <a:schemeClr val="tx2"/>
            </a:solidFill>
            <a:prstDash val="solid"/>
            <a:tailEnd type="triangle"/>
          </a:ln>
        </p:spPr>
      </p:sp>
      <p:sp>
        <p:nvSpPr>
          <p:cNvPr id="17" name="Text 14"/>
          <p:cNvSpPr txBox="1"/>
          <p:nvPr/>
        </p:nvSpPr>
        <p:spPr>
          <a:xfrm>
            <a:off x="6172200" y="1783080"/>
            <a:ext cx="2834640" cy="457200"/>
          </a:xfrm>
          <a:prstGeom prst="rect">
            <a:avLst/>
          </a:prstGeom>
          <a:noFill/>
          <a:ln/>
        </p:spPr>
        <p:txBody>
          <a:bodyPr wrap="square" lIns="0" tIns="0" rIns="0" bIns="0" rtlCol="0" anchor="ctr"/>
          <a:lstStyle/>
          <a:p>
            <a:pPr indent="0" marL="0">
              <a:buNone/>
            </a:pPr>
            <a:r>
              <a:rPr lang="en-US" sz="1500" dirty="0">
                <a:solidFill>
                  <a:schemeClr val="tx1"/>
                </a:solidFill>
              </a:rPr>
              <a:t>logits at all 4 positions → loss against</a:t>
            </a:r>
            <a:endParaRPr lang="en-US" sz="1500" dirty="0"/>
          </a:p>
        </p:txBody>
      </p:sp>
      <p:sp>
        <p:nvSpPr>
          <p:cNvPr id="18" name="Shape 15"/>
          <p:cNvSpPr/>
          <p:nvPr/>
        </p:nvSpPr>
        <p:spPr>
          <a:xfrm>
            <a:off x="9052560" y="1783080"/>
            <a:ext cx="594360" cy="457200"/>
          </a:xfrm>
          <a:prstGeom prst="roundRect">
            <a:avLst>
              <a:gd name="adj" fmla="val 16000"/>
            </a:avLst>
          </a:prstGeom>
          <a:solidFill>
            <a:schemeClr val="accent1"/>
          </a:solidFill>
          <a:ln w="12700">
            <a:solidFill>
              <a:schemeClr val="accent1"/>
            </a:solidFill>
            <a:prstDash val="solid"/>
          </a:ln>
        </p:spPr>
      </p:sp>
      <p:sp>
        <p:nvSpPr>
          <p:cNvPr id="19" name="Text 16"/>
          <p:cNvSpPr txBox="1"/>
          <p:nvPr/>
        </p:nvSpPr>
        <p:spPr>
          <a:xfrm>
            <a:off x="9052560" y="178308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20" name="Shape 17"/>
          <p:cNvSpPr/>
          <p:nvPr/>
        </p:nvSpPr>
        <p:spPr>
          <a:xfrm>
            <a:off x="9720072" y="1783080"/>
            <a:ext cx="594360" cy="457200"/>
          </a:xfrm>
          <a:prstGeom prst="roundRect">
            <a:avLst>
              <a:gd name="adj" fmla="val 16000"/>
            </a:avLst>
          </a:prstGeom>
          <a:solidFill>
            <a:schemeClr val="accent1"/>
          </a:solidFill>
          <a:ln w="12700">
            <a:solidFill>
              <a:schemeClr val="accent1"/>
            </a:solidFill>
            <a:prstDash val="solid"/>
          </a:ln>
        </p:spPr>
      </p:sp>
      <p:sp>
        <p:nvSpPr>
          <p:cNvPr id="21" name="Text 18"/>
          <p:cNvSpPr txBox="1"/>
          <p:nvPr/>
        </p:nvSpPr>
        <p:spPr>
          <a:xfrm>
            <a:off x="9720072" y="178308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22" name="Shape 19"/>
          <p:cNvSpPr/>
          <p:nvPr/>
        </p:nvSpPr>
        <p:spPr>
          <a:xfrm>
            <a:off x="10387584" y="1783080"/>
            <a:ext cx="594360" cy="457200"/>
          </a:xfrm>
          <a:prstGeom prst="roundRect">
            <a:avLst>
              <a:gd name="adj" fmla="val 16000"/>
            </a:avLst>
          </a:prstGeom>
          <a:solidFill>
            <a:schemeClr val="accent1"/>
          </a:solidFill>
          <a:ln w="12700">
            <a:solidFill>
              <a:schemeClr val="accent1"/>
            </a:solidFill>
            <a:prstDash val="solid"/>
          </a:ln>
        </p:spPr>
      </p:sp>
      <p:sp>
        <p:nvSpPr>
          <p:cNvPr id="23" name="Text 20"/>
          <p:cNvSpPr txBox="1"/>
          <p:nvPr/>
        </p:nvSpPr>
        <p:spPr>
          <a:xfrm>
            <a:off x="10387584" y="178308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24" name="Shape 21"/>
          <p:cNvSpPr/>
          <p:nvPr/>
        </p:nvSpPr>
        <p:spPr>
          <a:xfrm>
            <a:off x="11055096" y="1783080"/>
            <a:ext cx="594360" cy="457200"/>
          </a:xfrm>
          <a:prstGeom prst="roundRect">
            <a:avLst>
              <a:gd name="adj" fmla="val 16000"/>
            </a:avLst>
          </a:prstGeom>
          <a:solidFill>
            <a:schemeClr val="accent1"/>
          </a:solidFill>
          <a:ln w="12700">
            <a:solidFill>
              <a:schemeClr val="accent1"/>
            </a:solidFill>
            <a:prstDash val="solid"/>
          </a:ln>
        </p:spPr>
      </p:sp>
      <p:sp>
        <p:nvSpPr>
          <p:cNvPr id="25" name="Text 22"/>
          <p:cNvSpPr txBox="1"/>
          <p:nvPr/>
        </p:nvSpPr>
        <p:spPr>
          <a:xfrm>
            <a:off x="11055096" y="178308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a:t>
            </a:r>
            <a:endParaRPr lang="en-US" sz="1400" dirty="0"/>
          </a:p>
        </p:txBody>
      </p:sp>
      <p:sp>
        <p:nvSpPr>
          <p:cNvPr id="26" name="Text 23"/>
          <p:cNvSpPr txBox="1"/>
          <p:nvPr/>
        </p:nvSpPr>
        <p:spPr>
          <a:xfrm>
            <a:off x="548640" y="2697480"/>
            <a:ext cx="2743200" cy="365760"/>
          </a:xfrm>
          <a:prstGeom prst="rect">
            <a:avLst/>
          </a:prstGeom>
          <a:noFill/>
          <a:ln/>
        </p:spPr>
        <p:txBody>
          <a:bodyPr wrap="square" lIns="0" tIns="0" rIns="0" bIns="0" rtlCol="0" anchor="t"/>
          <a:lstStyle/>
          <a:p>
            <a:pPr indent="0" marL="0">
              <a:buNone/>
            </a:pPr>
            <a:r>
              <a:rPr lang="en-US" sz="1800" b="1" dirty="0">
                <a:solidFill>
                  <a:schemeClr val="tx1"/>
                </a:solidFill>
              </a:rPr>
              <a:t>Generation</a:t>
            </a:r>
            <a:endParaRPr lang="en-US" sz="1800" dirty="0"/>
          </a:p>
        </p:txBody>
      </p:sp>
      <p:sp>
        <p:nvSpPr>
          <p:cNvPr id="27" name="Shape 24"/>
          <p:cNvSpPr/>
          <p:nvPr/>
        </p:nvSpPr>
        <p:spPr>
          <a:xfrm>
            <a:off x="548640" y="3200400"/>
            <a:ext cx="384048" cy="457200"/>
          </a:xfrm>
          <a:prstGeom prst="roundRect">
            <a:avLst>
              <a:gd name="adj" fmla="val 19048"/>
            </a:avLst>
          </a:prstGeom>
          <a:solidFill>
            <a:schemeClr val="bg2"/>
          </a:solidFill>
          <a:ln w="12700">
            <a:solidFill>
              <a:schemeClr val="bg2"/>
            </a:solidFill>
            <a:prstDash val="solid"/>
          </a:ln>
        </p:spPr>
      </p:sp>
      <p:sp>
        <p:nvSpPr>
          <p:cNvPr id="28" name="Text 25"/>
          <p:cNvSpPr txBox="1"/>
          <p:nvPr/>
        </p:nvSpPr>
        <p:spPr>
          <a:xfrm>
            <a:off x="548640" y="320040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A</a:t>
            </a:r>
            <a:endParaRPr lang="en-US" sz="1300" dirty="0"/>
          </a:p>
        </p:txBody>
      </p:sp>
      <p:sp>
        <p:nvSpPr>
          <p:cNvPr id="29" name="Shape 26"/>
          <p:cNvSpPr/>
          <p:nvPr/>
        </p:nvSpPr>
        <p:spPr>
          <a:xfrm>
            <a:off x="987552" y="3200400"/>
            <a:ext cx="384048" cy="457200"/>
          </a:xfrm>
          <a:prstGeom prst="roundRect">
            <a:avLst>
              <a:gd name="adj" fmla="val 19048"/>
            </a:avLst>
          </a:prstGeom>
          <a:solidFill>
            <a:schemeClr val="bg2"/>
          </a:solidFill>
          <a:ln w="12700">
            <a:solidFill>
              <a:schemeClr val="bg2"/>
            </a:solidFill>
            <a:prstDash val="solid"/>
          </a:ln>
        </p:spPr>
      </p:sp>
      <p:sp>
        <p:nvSpPr>
          <p:cNvPr id="30" name="Text 27"/>
          <p:cNvSpPr txBox="1"/>
          <p:nvPr/>
        </p:nvSpPr>
        <p:spPr>
          <a:xfrm>
            <a:off x="987552" y="320040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B</a:t>
            </a:r>
            <a:endParaRPr lang="en-US" sz="1300" dirty="0"/>
          </a:p>
        </p:txBody>
      </p:sp>
      <p:sp>
        <p:nvSpPr>
          <p:cNvPr id="31" name="Shape 28"/>
          <p:cNvSpPr/>
          <p:nvPr/>
        </p:nvSpPr>
        <p:spPr>
          <a:xfrm>
            <a:off x="1426464" y="3200400"/>
            <a:ext cx="384048" cy="457200"/>
          </a:xfrm>
          <a:prstGeom prst="roundRect">
            <a:avLst>
              <a:gd name="adj" fmla="val 19048"/>
            </a:avLst>
          </a:prstGeom>
          <a:solidFill>
            <a:schemeClr val="bg2"/>
          </a:solidFill>
          <a:ln w="12700">
            <a:solidFill>
              <a:schemeClr val="bg2"/>
            </a:solidFill>
            <a:prstDash val="solid"/>
          </a:ln>
        </p:spPr>
      </p:sp>
      <p:sp>
        <p:nvSpPr>
          <p:cNvPr id="32" name="Text 29"/>
          <p:cNvSpPr txBox="1"/>
          <p:nvPr/>
        </p:nvSpPr>
        <p:spPr>
          <a:xfrm>
            <a:off x="1426464" y="320040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C</a:t>
            </a:r>
            <a:endParaRPr lang="en-US" sz="1300" dirty="0"/>
          </a:p>
        </p:txBody>
      </p:sp>
      <p:sp>
        <p:nvSpPr>
          <p:cNvPr id="33" name="Shape 30"/>
          <p:cNvSpPr/>
          <p:nvPr/>
        </p:nvSpPr>
        <p:spPr>
          <a:xfrm>
            <a:off x="1865376" y="3200400"/>
            <a:ext cx="384048" cy="457200"/>
          </a:xfrm>
          <a:prstGeom prst="roundRect">
            <a:avLst>
              <a:gd name="adj" fmla="val 19048"/>
            </a:avLst>
          </a:prstGeom>
          <a:solidFill>
            <a:schemeClr val="bg2"/>
          </a:solidFill>
          <a:ln w="12700">
            <a:solidFill>
              <a:schemeClr val="bg2"/>
            </a:solidFill>
            <a:prstDash val="solid"/>
          </a:ln>
        </p:spPr>
      </p:sp>
      <p:sp>
        <p:nvSpPr>
          <p:cNvPr id="34" name="Text 31"/>
          <p:cNvSpPr txBox="1"/>
          <p:nvPr/>
        </p:nvSpPr>
        <p:spPr>
          <a:xfrm>
            <a:off x="1865376" y="320040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a:t>
            </a:r>
            <a:endParaRPr lang="en-US" sz="1300" dirty="0"/>
          </a:p>
        </p:txBody>
      </p:sp>
      <p:sp>
        <p:nvSpPr>
          <p:cNvPr id="35" name="Shape 32"/>
          <p:cNvSpPr/>
          <p:nvPr/>
        </p:nvSpPr>
        <p:spPr>
          <a:xfrm>
            <a:off x="3337560" y="3429000"/>
            <a:ext cx="548640" cy="0"/>
          </a:xfrm>
          <a:prstGeom prst="line">
            <a:avLst/>
          </a:prstGeom>
          <a:noFill/>
          <a:ln w="22225">
            <a:solidFill>
              <a:schemeClr val="tx2"/>
            </a:solidFill>
            <a:prstDash val="solid"/>
            <a:tailEnd type="triangle"/>
          </a:ln>
        </p:spPr>
      </p:sp>
      <p:sp>
        <p:nvSpPr>
          <p:cNvPr id="36" name="pass 1"/>
          <p:cNvSpPr/>
          <p:nvPr/>
        </p:nvSpPr>
        <p:spPr>
          <a:xfrm>
            <a:off x="3977640" y="3154680"/>
            <a:ext cx="1463040" cy="548640"/>
          </a:xfrm>
          <a:prstGeom prst="roundRect">
            <a:avLst>
              <a:gd name="adj" fmla="val 20000"/>
            </a:avLst>
          </a:prstGeom>
          <a:solidFill>
            <a:schemeClr val="tx1"/>
          </a:solidFill>
          <a:ln w="12700">
            <a:solidFill>
              <a:schemeClr val="tx1"/>
            </a:solidFill>
            <a:prstDash val="solid"/>
          </a:ln>
        </p:spPr>
      </p:sp>
      <p:sp>
        <p:nvSpPr>
          <p:cNvPr id="37" name="Text 34"/>
          <p:cNvSpPr txBox="1"/>
          <p:nvPr/>
        </p:nvSpPr>
        <p:spPr>
          <a:xfrm>
            <a:off x="3977640" y="3154680"/>
            <a:ext cx="1463040" cy="548640"/>
          </a:xfrm>
          <a:prstGeom prst="rect">
            <a:avLst/>
          </a:prstGeom>
          <a:noFill/>
          <a:ln/>
        </p:spPr>
        <p:txBody>
          <a:bodyPr wrap="square" lIns="0" tIns="0" rIns="0" bIns="0" rtlCol="0" anchor="ctr"/>
          <a:lstStyle/>
          <a:p>
            <a:pPr algn="ctr" indent="0" marL="0">
              <a:buNone/>
            </a:pPr>
            <a:r>
              <a:rPr lang="en-US" sz="1400" b="1" dirty="0">
                <a:solidFill>
                  <a:schemeClr val="bg1"/>
                </a:solidFill>
              </a:rPr>
              <a:t>pass 1</a:t>
            </a:r>
            <a:endParaRPr lang="en-US" sz="1400" dirty="0"/>
          </a:p>
        </p:txBody>
      </p:sp>
      <p:sp>
        <p:nvSpPr>
          <p:cNvPr id="38" name="Shape 35"/>
          <p:cNvSpPr/>
          <p:nvPr/>
        </p:nvSpPr>
        <p:spPr>
          <a:xfrm>
            <a:off x="5532120" y="3429000"/>
            <a:ext cx="548640" cy="0"/>
          </a:xfrm>
          <a:prstGeom prst="line">
            <a:avLst/>
          </a:prstGeom>
          <a:noFill/>
          <a:ln w="22225">
            <a:solidFill>
              <a:schemeClr val="tx2"/>
            </a:solidFill>
            <a:prstDash val="solid"/>
            <a:tailEnd type="triangle"/>
          </a:ln>
        </p:spPr>
      </p:sp>
      <p:sp>
        <p:nvSpPr>
          <p:cNvPr id="39" name="Text 36"/>
          <p:cNvSpPr txBox="1"/>
          <p:nvPr/>
        </p:nvSpPr>
        <p:spPr>
          <a:xfrm>
            <a:off x="6172200" y="3200400"/>
            <a:ext cx="2834640" cy="457200"/>
          </a:xfrm>
          <a:prstGeom prst="rect">
            <a:avLst/>
          </a:prstGeom>
          <a:noFill/>
          <a:ln/>
        </p:spPr>
        <p:txBody>
          <a:bodyPr wrap="square" lIns="0" tIns="0" rIns="0" bIns="0" rtlCol="0" anchor="ctr"/>
          <a:lstStyle/>
          <a:p>
            <a:pPr indent="0" marL="0">
              <a:buNone/>
            </a:pPr>
            <a:r>
              <a:rPr lang="en-US" sz="1500" dirty="0">
                <a:solidFill>
                  <a:schemeClr val="tx1"/>
                </a:solidFill>
              </a:rPr>
              <a:t>logits at the last position → choose</a:t>
            </a:r>
            <a:endParaRPr lang="en-US" sz="1500" dirty="0"/>
          </a:p>
        </p:txBody>
      </p:sp>
      <p:sp>
        <p:nvSpPr>
          <p:cNvPr id="40" name="Shape 37"/>
          <p:cNvSpPr/>
          <p:nvPr/>
        </p:nvSpPr>
        <p:spPr>
          <a:xfrm>
            <a:off x="9052560" y="3200400"/>
            <a:ext cx="594360" cy="457200"/>
          </a:xfrm>
          <a:prstGeom prst="roundRect">
            <a:avLst>
              <a:gd name="adj" fmla="val 16000"/>
            </a:avLst>
          </a:prstGeom>
          <a:solidFill>
            <a:schemeClr val="accent1"/>
          </a:solidFill>
          <a:ln w="12700">
            <a:solidFill>
              <a:schemeClr val="accent1"/>
            </a:solidFill>
            <a:prstDash val="solid"/>
          </a:ln>
        </p:spPr>
      </p:sp>
      <p:sp>
        <p:nvSpPr>
          <p:cNvPr id="41" name="Text 38"/>
          <p:cNvSpPr txBox="1"/>
          <p:nvPr/>
        </p:nvSpPr>
        <p:spPr>
          <a:xfrm>
            <a:off x="9052560" y="320040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a:t>
            </a:r>
            <a:endParaRPr lang="en-US" sz="1400" dirty="0"/>
          </a:p>
        </p:txBody>
      </p:sp>
      <p:sp>
        <p:nvSpPr>
          <p:cNvPr id="42" name="Text 39"/>
          <p:cNvSpPr txBox="1"/>
          <p:nvPr/>
        </p:nvSpPr>
        <p:spPr>
          <a:xfrm>
            <a:off x="9784080" y="3200400"/>
            <a:ext cx="1280160" cy="457200"/>
          </a:xfrm>
          <a:prstGeom prst="rect">
            <a:avLst/>
          </a:prstGeom>
          <a:noFill/>
          <a:ln/>
        </p:spPr>
        <p:txBody>
          <a:bodyPr wrap="square" lIns="0" tIns="0" rIns="0" bIns="0" rtlCol="0" anchor="ctr"/>
          <a:lstStyle/>
          <a:p>
            <a:pPr indent="0" marL="0">
              <a:buNone/>
            </a:pPr>
            <a:r>
              <a:rPr lang="en-US" sz="1400" dirty="0">
                <a:solidFill>
                  <a:schemeClr val="tx2"/>
                </a:solidFill>
              </a:rPr>
              <a:t>→ append</a:t>
            </a:r>
            <a:endParaRPr lang="en-US" sz="1400" dirty="0"/>
          </a:p>
        </p:txBody>
      </p:sp>
      <p:sp>
        <p:nvSpPr>
          <p:cNvPr id="43" name="Shape 40"/>
          <p:cNvSpPr/>
          <p:nvPr/>
        </p:nvSpPr>
        <p:spPr>
          <a:xfrm>
            <a:off x="548640" y="3840480"/>
            <a:ext cx="384048" cy="457200"/>
          </a:xfrm>
          <a:prstGeom prst="roundRect">
            <a:avLst>
              <a:gd name="adj" fmla="val 19048"/>
            </a:avLst>
          </a:prstGeom>
          <a:solidFill>
            <a:schemeClr val="bg2"/>
          </a:solidFill>
          <a:ln w="12700">
            <a:solidFill>
              <a:schemeClr val="bg2"/>
            </a:solidFill>
            <a:prstDash val="solid"/>
          </a:ln>
        </p:spPr>
      </p:sp>
      <p:sp>
        <p:nvSpPr>
          <p:cNvPr id="44" name="Text 41"/>
          <p:cNvSpPr txBox="1"/>
          <p:nvPr/>
        </p:nvSpPr>
        <p:spPr>
          <a:xfrm>
            <a:off x="548640" y="384048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A</a:t>
            </a:r>
            <a:endParaRPr lang="en-US" sz="1300" dirty="0"/>
          </a:p>
        </p:txBody>
      </p:sp>
      <p:sp>
        <p:nvSpPr>
          <p:cNvPr id="45" name="Shape 42"/>
          <p:cNvSpPr/>
          <p:nvPr/>
        </p:nvSpPr>
        <p:spPr>
          <a:xfrm>
            <a:off x="987552" y="3840480"/>
            <a:ext cx="384048" cy="457200"/>
          </a:xfrm>
          <a:prstGeom prst="roundRect">
            <a:avLst>
              <a:gd name="adj" fmla="val 19048"/>
            </a:avLst>
          </a:prstGeom>
          <a:solidFill>
            <a:schemeClr val="bg2"/>
          </a:solidFill>
          <a:ln w="12700">
            <a:solidFill>
              <a:schemeClr val="bg2"/>
            </a:solidFill>
            <a:prstDash val="solid"/>
          </a:ln>
        </p:spPr>
      </p:sp>
      <p:sp>
        <p:nvSpPr>
          <p:cNvPr id="46" name="Text 43"/>
          <p:cNvSpPr txBox="1"/>
          <p:nvPr/>
        </p:nvSpPr>
        <p:spPr>
          <a:xfrm>
            <a:off x="987552" y="384048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B</a:t>
            </a:r>
            <a:endParaRPr lang="en-US" sz="1300" dirty="0"/>
          </a:p>
        </p:txBody>
      </p:sp>
      <p:sp>
        <p:nvSpPr>
          <p:cNvPr id="47" name="Shape 44"/>
          <p:cNvSpPr/>
          <p:nvPr/>
        </p:nvSpPr>
        <p:spPr>
          <a:xfrm>
            <a:off x="1426464" y="3840480"/>
            <a:ext cx="384048" cy="457200"/>
          </a:xfrm>
          <a:prstGeom prst="roundRect">
            <a:avLst>
              <a:gd name="adj" fmla="val 19048"/>
            </a:avLst>
          </a:prstGeom>
          <a:solidFill>
            <a:schemeClr val="bg2"/>
          </a:solidFill>
          <a:ln w="12700">
            <a:solidFill>
              <a:schemeClr val="bg2"/>
            </a:solidFill>
            <a:prstDash val="solid"/>
          </a:ln>
        </p:spPr>
      </p:sp>
      <p:sp>
        <p:nvSpPr>
          <p:cNvPr id="48" name="Text 45"/>
          <p:cNvSpPr txBox="1"/>
          <p:nvPr/>
        </p:nvSpPr>
        <p:spPr>
          <a:xfrm>
            <a:off x="1426464" y="384048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C</a:t>
            </a:r>
            <a:endParaRPr lang="en-US" sz="1300" dirty="0"/>
          </a:p>
        </p:txBody>
      </p:sp>
      <p:sp>
        <p:nvSpPr>
          <p:cNvPr id="49" name="Shape 46"/>
          <p:cNvSpPr/>
          <p:nvPr/>
        </p:nvSpPr>
        <p:spPr>
          <a:xfrm>
            <a:off x="1865376" y="3840480"/>
            <a:ext cx="384048" cy="457200"/>
          </a:xfrm>
          <a:prstGeom prst="roundRect">
            <a:avLst>
              <a:gd name="adj" fmla="val 19048"/>
            </a:avLst>
          </a:prstGeom>
          <a:solidFill>
            <a:schemeClr val="bg2"/>
          </a:solidFill>
          <a:ln w="12700">
            <a:solidFill>
              <a:schemeClr val="bg2"/>
            </a:solidFill>
            <a:prstDash val="solid"/>
          </a:ln>
        </p:spPr>
      </p:sp>
      <p:sp>
        <p:nvSpPr>
          <p:cNvPr id="50" name="Text 47"/>
          <p:cNvSpPr txBox="1"/>
          <p:nvPr/>
        </p:nvSpPr>
        <p:spPr>
          <a:xfrm>
            <a:off x="1865376" y="384048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a:t>
            </a:r>
            <a:endParaRPr lang="en-US" sz="1300" dirty="0"/>
          </a:p>
        </p:txBody>
      </p:sp>
      <p:sp>
        <p:nvSpPr>
          <p:cNvPr id="51" name="Shape 48"/>
          <p:cNvSpPr/>
          <p:nvPr/>
        </p:nvSpPr>
        <p:spPr>
          <a:xfrm>
            <a:off x="2304288" y="3840480"/>
            <a:ext cx="384048" cy="457200"/>
          </a:xfrm>
          <a:prstGeom prst="roundRect">
            <a:avLst>
              <a:gd name="adj" fmla="val 19048"/>
            </a:avLst>
          </a:prstGeom>
          <a:solidFill>
            <a:schemeClr val="accent1"/>
          </a:solidFill>
          <a:ln w="12700">
            <a:solidFill>
              <a:schemeClr val="accent1"/>
            </a:solidFill>
            <a:prstDash val="solid"/>
          </a:ln>
        </p:spPr>
      </p:sp>
      <p:sp>
        <p:nvSpPr>
          <p:cNvPr id="52" name="Text 49"/>
          <p:cNvSpPr txBox="1"/>
          <p:nvPr/>
        </p:nvSpPr>
        <p:spPr>
          <a:xfrm>
            <a:off x="2304288" y="3840480"/>
            <a:ext cx="3840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a:t>
            </a:r>
            <a:endParaRPr lang="en-US" sz="1300" dirty="0"/>
          </a:p>
        </p:txBody>
      </p:sp>
      <p:sp>
        <p:nvSpPr>
          <p:cNvPr id="53" name="Shape 50"/>
          <p:cNvSpPr/>
          <p:nvPr/>
        </p:nvSpPr>
        <p:spPr>
          <a:xfrm>
            <a:off x="3337560" y="4069080"/>
            <a:ext cx="548640" cy="0"/>
          </a:xfrm>
          <a:prstGeom prst="line">
            <a:avLst/>
          </a:prstGeom>
          <a:noFill/>
          <a:ln w="22225">
            <a:solidFill>
              <a:schemeClr val="tx2"/>
            </a:solidFill>
            <a:prstDash val="solid"/>
            <a:tailEnd type="triangle"/>
          </a:ln>
        </p:spPr>
      </p:sp>
      <p:sp>
        <p:nvSpPr>
          <p:cNvPr id="54" name="pass 2"/>
          <p:cNvSpPr/>
          <p:nvPr/>
        </p:nvSpPr>
        <p:spPr>
          <a:xfrm>
            <a:off x="3977640" y="3794760"/>
            <a:ext cx="1463040" cy="548640"/>
          </a:xfrm>
          <a:prstGeom prst="roundRect">
            <a:avLst>
              <a:gd name="adj" fmla="val 20000"/>
            </a:avLst>
          </a:prstGeom>
          <a:solidFill>
            <a:schemeClr val="tx1"/>
          </a:solidFill>
          <a:ln w="12700">
            <a:solidFill>
              <a:schemeClr val="tx1"/>
            </a:solidFill>
            <a:prstDash val="solid"/>
          </a:ln>
        </p:spPr>
      </p:sp>
      <p:sp>
        <p:nvSpPr>
          <p:cNvPr id="55" name="Text 52"/>
          <p:cNvSpPr txBox="1"/>
          <p:nvPr/>
        </p:nvSpPr>
        <p:spPr>
          <a:xfrm>
            <a:off x="3977640" y="3794760"/>
            <a:ext cx="1463040" cy="548640"/>
          </a:xfrm>
          <a:prstGeom prst="rect">
            <a:avLst/>
          </a:prstGeom>
          <a:noFill/>
          <a:ln/>
        </p:spPr>
        <p:txBody>
          <a:bodyPr wrap="square" lIns="0" tIns="0" rIns="0" bIns="0" rtlCol="0" anchor="ctr"/>
          <a:lstStyle/>
          <a:p>
            <a:pPr algn="ctr" indent="0" marL="0">
              <a:buNone/>
            </a:pPr>
            <a:r>
              <a:rPr lang="en-US" sz="1400" b="1" dirty="0">
                <a:solidFill>
                  <a:schemeClr val="bg1"/>
                </a:solidFill>
              </a:rPr>
              <a:t>pass 2</a:t>
            </a:r>
            <a:endParaRPr lang="en-US" sz="1400" dirty="0"/>
          </a:p>
        </p:txBody>
      </p:sp>
      <p:sp>
        <p:nvSpPr>
          <p:cNvPr id="56" name="Shape 53"/>
          <p:cNvSpPr/>
          <p:nvPr/>
        </p:nvSpPr>
        <p:spPr>
          <a:xfrm>
            <a:off x="5532120" y="4069080"/>
            <a:ext cx="548640" cy="0"/>
          </a:xfrm>
          <a:prstGeom prst="line">
            <a:avLst/>
          </a:prstGeom>
          <a:noFill/>
          <a:ln w="22225">
            <a:solidFill>
              <a:schemeClr val="tx2"/>
            </a:solidFill>
            <a:prstDash val="solid"/>
            <a:tailEnd type="triangle"/>
          </a:ln>
        </p:spPr>
      </p:sp>
      <p:sp>
        <p:nvSpPr>
          <p:cNvPr id="57" name="Text 54"/>
          <p:cNvSpPr txBox="1"/>
          <p:nvPr/>
        </p:nvSpPr>
        <p:spPr>
          <a:xfrm>
            <a:off x="6172200" y="3840480"/>
            <a:ext cx="2834640" cy="457200"/>
          </a:xfrm>
          <a:prstGeom prst="rect">
            <a:avLst/>
          </a:prstGeom>
          <a:noFill/>
          <a:ln/>
        </p:spPr>
        <p:txBody>
          <a:bodyPr wrap="square" lIns="0" tIns="0" rIns="0" bIns="0" rtlCol="0" anchor="ctr"/>
          <a:lstStyle/>
          <a:p>
            <a:pPr indent="0" marL="0">
              <a:buNone/>
            </a:pPr>
            <a:r>
              <a:rPr lang="en-US" sz="1500" dirty="0">
                <a:solidFill>
                  <a:schemeClr val="tx1"/>
                </a:solidFill>
              </a:rPr>
              <a:t>logits at the last position → choose</a:t>
            </a:r>
            <a:endParaRPr lang="en-US" sz="1500" dirty="0"/>
          </a:p>
        </p:txBody>
      </p:sp>
      <p:sp>
        <p:nvSpPr>
          <p:cNvPr id="58" name="Shape 55"/>
          <p:cNvSpPr/>
          <p:nvPr/>
        </p:nvSpPr>
        <p:spPr>
          <a:xfrm>
            <a:off x="9052560" y="3840480"/>
            <a:ext cx="594360" cy="457200"/>
          </a:xfrm>
          <a:prstGeom prst="roundRect">
            <a:avLst>
              <a:gd name="adj" fmla="val 16000"/>
            </a:avLst>
          </a:prstGeom>
          <a:solidFill>
            <a:schemeClr val="accent1"/>
          </a:solidFill>
          <a:ln w="12700">
            <a:solidFill>
              <a:schemeClr val="accent1"/>
            </a:solidFill>
            <a:prstDash val="solid"/>
          </a:ln>
        </p:spPr>
      </p:sp>
      <p:sp>
        <p:nvSpPr>
          <p:cNvPr id="59" name="Text 56"/>
          <p:cNvSpPr txBox="1"/>
          <p:nvPr/>
        </p:nvSpPr>
        <p:spPr>
          <a:xfrm>
            <a:off x="9052560" y="384048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F</a:t>
            </a:r>
            <a:endParaRPr lang="en-US" sz="1400" dirty="0"/>
          </a:p>
        </p:txBody>
      </p:sp>
      <p:sp>
        <p:nvSpPr>
          <p:cNvPr id="60" name="Text 57"/>
          <p:cNvSpPr txBox="1"/>
          <p:nvPr/>
        </p:nvSpPr>
        <p:spPr>
          <a:xfrm>
            <a:off x="9784080" y="3840480"/>
            <a:ext cx="1280160" cy="457200"/>
          </a:xfrm>
          <a:prstGeom prst="rect">
            <a:avLst/>
          </a:prstGeom>
          <a:noFill/>
          <a:ln/>
        </p:spPr>
        <p:txBody>
          <a:bodyPr wrap="square" lIns="0" tIns="0" rIns="0" bIns="0" rtlCol="0" anchor="ctr"/>
          <a:lstStyle/>
          <a:p>
            <a:pPr indent="0" marL="0">
              <a:buNone/>
            </a:pPr>
            <a:r>
              <a:rPr lang="en-US" sz="1400" dirty="0">
                <a:solidFill>
                  <a:schemeClr val="tx2"/>
                </a:solidFill>
              </a:rPr>
              <a:t>→ append</a:t>
            </a:r>
            <a:endParaRPr lang="en-US" sz="1400" dirty="0"/>
          </a:p>
        </p:txBody>
      </p:sp>
      <p:sp>
        <p:nvSpPr>
          <p:cNvPr id="61" name="Shape 58"/>
          <p:cNvSpPr/>
          <p:nvPr/>
        </p:nvSpPr>
        <p:spPr>
          <a:xfrm>
            <a:off x="548640" y="4480560"/>
            <a:ext cx="384048" cy="457200"/>
          </a:xfrm>
          <a:prstGeom prst="roundRect">
            <a:avLst>
              <a:gd name="adj" fmla="val 19048"/>
            </a:avLst>
          </a:prstGeom>
          <a:solidFill>
            <a:schemeClr val="bg2"/>
          </a:solidFill>
          <a:ln w="12700">
            <a:solidFill>
              <a:schemeClr val="bg2"/>
            </a:solidFill>
            <a:prstDash val="solid"/>
          </a:ln>
        </p:spPr>
      </p:sp>
      <p:sp>
        <p:nvSpPr>
          <p:cNvPr id="62" name="Text 59"/>
          <p:cNvSpPr txBox="1"/>
          <p:nvPr/>
        </p:nvSpPr>
        <p:spPr>
          <a:xfrm>
            <a:off x="548640" y="448056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A</a:t>
            </a:r>
            <a:endParaRPr lang="en-US" sz="1300" dirty="0"/>
          </a:p>
        </p:txBody>
      </p:sp>
      <p:sp>
        <p:nvSpPr>
          <p:cNvPr id="63" name="Shape 60"/>
          <p:cNvSpPr/>
          <p:nvPr/>
        </p:nvSpPr>
        <p:spPr>
          <a:xfrm>
            <a:off x="987552" y="4480560"/>
            <a:ext cx="384048" cy="457200"/>
          </a:xfrm>
          <a:prstGeom prst="roundRect">
            <a:avLst>
              <a:gd name="adj" fmla="val 19048"/>
            </a:avLst>
          </a:prstGeom>
          <a:solidFill>
            <a:schemeClr val="bg2"/>
          </a:solidFill>
          <a:ln w="12700">
            <a:solidFill>
              <a:schemeClr val="bg2"/>
            </a:solidFill>
            <a:prstDash val="solid"/>
          </a:ln>
        </p:spPr>
      </p:sp>
      <p:sp>
        <p:nvSpPr>
          <p:cNvPr id="64" name="Text 61"/>
          <p:cNvSpPr txBox="1"/>
          <p:nvPr/>
        </p:nvSpPr>
        <p:spPr>
          <a:xfrm>
            <a:off x="987552" y="448056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B</a:t>
            </a:r>
            <a:endParaRPr lang="en-US" sz="1300" dirty="0"/>
          </a:p>
        </p:txBody>
      </p:sp>
      <p:sp>
        <p:nvSpPr>
          <p:cNvPr id="65" name="Shape 62"/>
          <p:cNvSpPr/>
          <p:nvPr/>
        </p:nvSpPr>
        <p:spPr>
          <a:xfrm>
            <a:off x="1426464" y="4480560"/>
            <a:ext cx="384048" cy="457200"/>
          </a:xfrm>
          <a:prstGeom prst="roundRect">
            <a:avLst>
              <a:gd name="adj" fmla="val 19048"/>
            </a:avLst>
          </a:prstGeom>
          <a:solidFill>
            <a:schemeClr val="bg2"/>
          </a:solidFill>
          <a:ln w="12700">
            <a:solidFill>
              <a:schemeClr val="bg2"/>
            </a:solidFill>
            <a:prstDash val="solid"/>
          </a:ln>
        </p:spPr>
      </p:sp>
      <p:sp>
        <p:nvSpPr>
          <p:cNvPr id="66" name="Text 63"/>
          <p:cNvSpPr txBox="1"/>
          <p:nvPr/>
        </p:nvSpPr>
        <p:spPr>
          <a:xfrm>
            <a:off x="1426464" y="448056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C</a:t>
            </a:r>
            <a:endParaRPr lang="en-US" sz="1300" dirty="0"/>
          </a:p>
        </p:txBody>
      </p:sp>
      <p:sp>
        <p:nvSpPr>
          <p:cNvPr id="67" name="Shape 64"/>
          <p:cNvSpPr/>
          <p:nvPr/>
        </p:nvSpPr>
        <p:spPr>
          <a:xfrm>
            <a:off x="1865376" y="4480560"/>
            <a:ext cx="384048" cy="457200"/>
          </a:xfrm>
          <a:prstGeom prst="roundRect">
            <a:avLst>
              <a:gd name="adj" fmla="val 19048"/>
            </a:avLst>
          </a:prstGeom>
          <a:solidFill>
            <a:schemeClr val="bg2"/>
          </a:solidFill>
          <a:ln w="12700">
            <a:solidFill>
              <a:schemeClr val="bg2"/>
            </a:solidFill>
            <a:prstDash val="solid"/>
          </a:ln>
        </p:spPr>
      </p:sp>
      <p:sp>
        <p:nvSpPr>
          <p:cNvPr id="68" name="Text 65"/>
          <p:cNvSpPr txBox="1"/>
          <p:nvPr/>
        </p:nvSpPr>
        <p:spPr>
          <a:xfrm>
            <a:off x="1865376" y="4480560"/>
            <a:ext cx="384048"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a:t>
            </a:r>
            <a:endParaRPr lang="en-US" sz="1300" dirty="0"/>
          </a:p>
        </p:txBody>
      </p:sp>
      <p:sp>
        <p:nvSpPr>
          <p:cNvPr id="69" name="Shape 66"/>
          <p:cNvSpPr/>
          <p:nvPr/>
        </p:nvSpPr>
        <p:spPr>
          <a:xfrm>
            <a:off x="2304288" y="4480560"/>
            <a:ext cx="384048" cy="457200"/>
          </a:xfrm>
          <a:prstGeom prst="roundRect">
            <a:avLst>
              <a:gd name="adj" fmla="val 19048"/>
            </a:avLst>
          </a:prstGeom>
          <a:solidFill>
            <a:schemeClr val="accent1"/>
          </a:solidFill>
          <a:ln w="12700">
            <a:solidFill>
              <a:schemeClr val="accent1"/>
            </a:solidFill>
            <a:prstDash val="solid"/>
          </a:ln>
        </p:spPr>
      </p:sp>
      <p:sp>
        <p:nvSpPr>
          <p:cNvPr id="70" name="Text 67"/>
          <p:cNvSpPr txBox="1"/>
          <p:nvPr/>
        </p:nvSpPr>
        <p:spPr>
          <a:xfrm>
            <a:off x="2304288" y="4480560"/>
            <a:ext cx="3840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a:t>
            </a:r>
            <a:endParaRPr lang="en-US" sz="1300" dirty="0"/>
          </a:p>
        </p:txBody>
      </p:sp>
      <p:sp>
        <p:nvSpPr>
          <p:cNvPr id="71" name="Shape 68"/>
          <p:cNvSpPr/>
          <p:nvPr/>
        </p:nvSpPr>
        <p:spPr>
          <a:xfrm>
            <a:off x="2743200" y="4480560"/>
            <a:ext cx="384048" cy="457200"/>
          </a:xfrm>
          <a:prstGeom prst="roundRect">
            <a:avLst>
              <a:gd name="adj" fmla="val 19048"/>
            </a:avLst>
          </a:prstGeom>
          <a:solidFill>
            <a:schemeClr val="accent1"/>
          </a:solidFill>
          <a:ln w="12700">
            <a:solidFill>
              <a:schemeClr val="accent1"/>
            </a:solidFill>
            <a:prstDash val="solid"/>
          </a:ln>
        </p:spPr>
      </p:sp>
      <p:sp>
        <p:nvSpPr>
          <p:cNvPr id="72" name="Text 69"/>
          <p:cNvSpPr txBox="1"/>
          <p:nvPr/>
        </p:nvSpPr>
        <p:spPr>
          <a:xfrm>
            <a:off x="2743200" y="4480560"/>
            <a:ext cx="384048"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F</a:t>
            </a:r>
            <a:endParaRPr lang="en-US" sz="1300" dirty="0"/>
          </a:p>
        </p:txBody>
      </p:sp>
      <p:sp>
        <p:nvSpPr>
          <p:cNvPr id="73" name="Shape 70"/>
          <p:cNvSpPr/>
          <p:nvPr/>
        </p:nvSpPr>
        <p:spPr>
          <a:xfrm>
            <a:off x="3337560" y="4709160"/>
            <a:ext cx="548640" cy="0"/>
          </a:xfrm>
          <a:prstGeom prst="line">
            <a:avLst/>
          </a:prstGeom>
          <a:noFill/>
          <a:ln w="22225">
            <a:solidFill>
              <a:schemeClr val="tx2"/>
            </a:solidFill>
            <a:prstDash val="solid"/>
            <a:tailEnd type="triangle"/>
          </a:ln>
        </p:spPr>
      </p:sp>
      <p:sp>
        <p:nvSpPr>
          <p:cNvPr id="74" name="pass 3"/>
          <p:cNvSpPr/>
          <p:nvPr/>
        </p:nvSpPr>
        <p:spPr>
          <a:xfrm>
            <a:off x="3977640" y="4434840"/>
            <a:ext cx="1463040" cy="548640"/>
          </a:xfrm>
          <a:prstGeom prst="roundRect">
            <a:avLst>
              <a:gd name="adj" fmla="val 20000"/>
            </a:avLst>
          </a:prstGeom>
          <a:solidFill>
            <a:schemeClr val="tx1"/>
          </a:solidFill>
          <a:ln w="12700">
            <a:solidFill>
              <a:schemeClr val="tx1"/>
            </a:solidFill>
            <a:prstDash val="solid"/>
          </a:ln>
        </p:spPr>
      </p:sp>
      <p:sp>
        <p:nvSpPr>
          <p:cNvPr id="75" name="Text 72"/>
          <p:cNvSpPr txBox="1"/>
          <p:nvPr/>
        </p:nvSpPr>
        <p:spPr>
          <a:xfrm>
            <a:off x="3977640" y="4434840"/>
            <a:ext cx="1463040" cy="548640"/>
          </a:xfrm>
          <a:prstGeom prst="rect">
            <a:avLst/>
          </a:prstGeom>
          <a:noFill/>
          <a:ln/>
        </p:spPr>
        <p:txBody>
          <a:bodyPr wrap="square" lIns="0" tIns="0" rIns="0" bIns="0" rtlCol="0" anchor="ctr"/>
          <a:lstStyle/>
          <a:p>
            <a:pPr algn="ctr" indent="0" marL="0">
              <a:buNone/>
            </a:pPr>
            <a:r>
              <a:rPr lang="en-US" sz="1400" b="1" dirty="0">
                <a:solidFill>
                  <a:schemeClr val="bg1"/>
                </a:solidFill>
              </a:rPr>
              <a:t>pass 3</a:t>
            </a:r>
            <a:endParaRPr lang="en-US" sz="1400" dirty="0"/>
          </a:p>
        </p:txBody>
      </p:sp>
      <p:sp>
        <p:nvSpPr>
          <p:cNvPr id="76" name="Shape 73"/>
          <p:cNvSpPr/>
          <p:nvPr/>
        </p:nvSpPr>
        <p:spPr>
          <a:xfrm>
            <a:off x="5532120" y="4709160"/>
            <a:ext cx="548640" cy="0"/>
          </a:xfrm>
          <a:prstGeom prst="line">
            <a:avLst/>
          </a:prstGeom>
          <a:noFill/>
          <a:ln w="22225">
            <a:solidFill>
              <a:schemeClr val="tx2"/>
            </a:solidFill>
            <a:prstDash val="solid"/>
            <a:tailEnd type="triangle"/>
          </a:ln>
        </p:spPr>
      </p:sp>
      <p:sp>
        <p:nvSpPr>
          <p:cNvPr id="77" name="Text 74"/>
          <p:cNvSpPr txBox="1"/>
          <p:nvPr/>
        </p:nvSpPr>
        <p:spPr>
          <a:xfrm>
            <a:off x="6172200" y="4480560"/>
            <a:ext cx="2834640" cy="457200"/>
          </a:xfrm>
          <a:prstGeom prst="rect">
            <a:avLst/>
          </a:prstGeom>
          <a:noFill/>
          <a:ln/>
        </p:spPr>
        <p:txBody>
          <a:bodyPr wrap="square" lIns="0" tIns="0" rIns="0" bIns="0" rtlCol="0" anchor="ctr"/>
          <a:lstStyle/>
          <a:p>
            <a:pPr indent="0" marL="0">
              <a:buNone/>
            </a:pPr>
            <a:r>
              <a:rPr lang="en-US" sz="1500" dirty="0">
                <a:solidFill>
                  <a:schemeClr val="tx1"/>
                </a:solidFill>
              </a:rPr>
              <a:t>logits at the last position → choose</a:t>
            </a:r>
            <a:endParaRPr lang="en-US" sz="1500" dirty="0"/>
          </a:p>
        </p:txBody>
      </p:sp>
      <p:sp>
        <p:nvSpPr>
          <p:cNvPr id="78" name="Shape 75"/>
          <p:cNvSpPr/>
          <p:nvPr/>
        </p:nvSpPr>
        <p:spPr>
          <a:xfrm>
            <a:off x="9052560" y="4480560"/>
            <a:ext cx="594360" cy="457200"/>
          </a:xfrm>
          <a:prstGeom prst="roundRect">
            <a:avLst>
              <a:gd name="adj" fmla="val 16000"/>
            </a:avLst>
          </a:prstGeom>
          <a:solidFill>
            <a:schemeClr val="accent1"/>
          </a:solidFill>
          <a:ln w="12700">
            <a:solidFill>
              <a:schemeClr val="accent1"/>
            </a:solidFill>
            <a:prstDash val="solid"/>
          </a:ln>
        </p:spPr>
      </p:sp>
      <p:sp>
        <p:nvSpPr>
          <p:cNvPr id="79" name="Text 76"/>
          <p:cNvSpPr txBox="1"/>
          <p:nvPr/>
        </p:nvSpPr>
        <p:spPr>
          <a:xfrm>
            <a:off x="9052560" y="4480560"/>
            <a:ext cx="5943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G</a:t>
            </a:r>
            <a:endParaRPr lang="en-US" sz="1400" dirty="0"/>
          </a:p>
        </p:txBody>
      </p:sp>
      <p:sp>
        <p:nvSpPr>
          <p:cNvPr id="80" name="Text 77"/>
          <p:cNvSpPr txBox="1"/>
          <p:nvPr/>
        </p:nvSpPr>
        <p:spPr>
          <a:xfrm>
            <a:off x="9784080" y="4480560"/>
            <a:ext cx="1280160" cy="457200"/>
          </a:xfrm>
          <a:prstGeom prst="rect">
            <a:avLst/>
          </a:prstGeom>
          <a:noFill/>
          <a:ln/>
        </p:spPr>
        <p:txBody>
          <a:bodyPr wrap="square" lIns="0" tIns="0" rIns="0" bIns="0" rtlCol="0" anchor="ctr"/>
          <a:lstStyle/>
          <a:p>
            <a:pPr indent="0" marL="0">
              <a:buNone/>
            </a:pPr>
            <a:r>
              <a:rPr lang="en-US" sz="1400" dirty="0">
                <a:solidFill>
                  <a:schemeClr val="tx2"/>
                </a:solidFill>
              </a:rPr>
              <a:t>→ …</a:t>
            </a:r>
            <a:endParaRPr lang="en-US" sz="1400" dirty="0"/>
          </a:p>
        </p:txBody>
      </p:sp>
      <p:sp>
        <p:nvSpPr>
          <p:cNvPr id="81" name="context window"/>
          <p:cNvSpPr/>
          <p:nvPr/>
        </p:nvSpPr>
        <p:spPr>
          <a:xfrm>
            <a:off x="548640" y="5257800"/>
            <a:ext cx="5349240" cy="914400"/>
          </a:xfrm>
          <a:prstGeom prst="roundRect">
            <a:avLst>
              <a:gd name="adj" fmla="val 12000"/>
            </a:avLst>
          </a:prstGeom>
          <a:solidFill>
            <a:schemeClr val="bg2"/>
          </a:solidFill>
          <a:ln w="12700">
            <a:solidFill>
              <a:schemeClr val="bg2"/>
            </a:solidFill>
            <a:prstDash val="solid"/>
          </a:ln>
        </p:spPr>
      </p:sp>
      <p:sp>
        <p:nvSpPr>
          <p:cNvPr id="82" name="Text 79"/>
          <p:cNvSpPr txBox="1"/>
          <p:nvPr/>
        </p:nvSpPr>
        <p:spPr>
          <a:xfrm>
            <a:off x="822960" y="5257800"/>
            <a:ext cx="4846320" cy="914400"/>
          </a:xfrm>
          <a:prstGeom prst="rect">
            <a:avLst/>
          </a:prstGeom>
          <a:noFill/>
          <a:ln/>
        </p:spPr>
        <p:txBody>
          <a:bodyPr wrap="square" lIns="0" tIns="0" rIns="0" bIns="0" rtlCol="0" anchor="ctr"/>
          <a:lstStyle/>
          <a:p>
            <a:pPr indent="0" marL="0">
              <a:buNone/>
            </a:pPr>
            <a:r>
              <a:rPr lang="en-US" sz="1500" b="1" dirty="0">
                <a:solidFill>
                  <a:schemeClr val="tx1"/>
                </a:solidFill>
              </a:rPr>
              <a:t>Context window: </a:t>
            </a:r>
            <a:r>
              <a:rPr lang="en-US" sz="1500" dirty="0">
                <a:solidFill>
                  <a:schemeClr val="tx1"/>
                </a:solidFill>
              </a:rPr>
              <a:t>only the last </a:t>
            </a:r>
            <a:r>
              <a:rPr lang="en-US" sz="1500" dirty="0">
                <a:solidFill>
                  <a:schemeClr val="tx1"/>
                </a:solidFill>
                <a:latin typeface="Courier New" pitchFamily="34" charset="0"/>
                <a:ea typeface="Courier New" pitchFamily="34" charset="-122"/>
                <a:cs typeface="Courier New" pitchFamily="34" charset="-120"/>
              </a:rPr>
              <a:t>context_size</a:t>
            </a:r>
            <a:r>
              <a:rPr lang="en-US" sz="1500" dirty="0">
                <a:solidFill>
                  <a:schemeClr val="tx1"/>
                </a:solidFill>
              </a:rPr>
              <a:t> tokens are visible; older tokens are dropped.</a:t>
            </a:r>
            <a:endParaRPr lang="en-US" sz="1500" dirty="0"/>
          </a:p>
        </p:txBody>
      </p:sp>
      <p:sp>
        <p:nvSpPr>
          <p:cNvPr id="83" name="kv cache"/>
          <p:cNvSpPr/>
          <p:nvPr/>
        </p:nvSpPr>
        <p:spPr>
          <a:xfrm>
            <a:off x="6263640" y="5257800"/>
            <a:ext cx="5349240" cy="914400"/>
          </a:xfrm>
          <a:prstGeom prst="roundRect">
            <a:avLst>
              <a:gd name="adj" fmla="val 12000"/>
            </a:avLst>
          </a:prstGeom>
          <a:solidFill>
            <a:schemeClr val="accent5"/>
          </a:solidFill>
          <a:ln w="12700">
            <a:solidFill>
              <a:schemeClr val="accent5"/>
            </a:solidFill>
            <a:prstDash val="solid"/>
          </a:ln>
        </p:spPr>
      </p:sp>
      <p:sp>
        <p:nvSpPr>
          <p:cNvPr id="84" name="Text 81"/>
          <p:cNvSpPr txBox="1"/>
          <p:nvPr/>
        </p:nvSpPr>
        <p:spPr>
          <a:xfrm>
            <a:off x="6537960" y="5257800"/>
            <a:ext cx="4846320" cy="914400"/>
          </a:xfrm>
          <a:prstGeom prst="rect">
            <a:avLst/>
          </a:prstGeom>
          <a:noFill/>
          <a:ln/>
        </p:spPr>
        <p:txBody>
          <a:bodyPr wrap="square" lIns="0" tIns="0" rIns="0" bIns="0" rtlCol="0" anchor="ctr"/>
          <a:lstStyle/>
          <a:p>
            <a:pPr indent="0" marL="0">
              <a:buNone/>
            </a:pPr>
            <a:r>
              <a:rPr lang="en-US" sz="1500" b="1" dirty="0">
                <a:solidFill>
                  <a:schemeClr val="tx1"/>
                </a:solidFill>
              </a:rPr>
              <a:t>Key–value cache: </a:t>
            </a:r>
            <a:r>
              <a:rPr lang="en-US" sz="1500" dirty="0">
                <a:solidFill>
                  <a:schemeClr val="tx1"/>
                </a:solidFill>
              </a:rPr>
              <a:t>store each block's past keys and values, so each step computes only the newest position. Same result, by prefix consistency.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Decoding: same logits, different choices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33</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120640" cy="914400"/>
        </p:xfrm>
        <a:graphic>
          <a:graphicData uri="http://schemas.openxmlformats.org/drawingml/2006/table">
            <a:tbl>
              <a:tblPr/>
              <a:tblGrid>
                <a:gridCol w="1463040"/>
                <a:gridCol w="3657600"/>
              </a:tblGrid>
              <a:tr h="502920">
                <a:tc>
                  <a:txBody>
                    <a:bodyPr/>
                    <a:lstStyle/>
                    <a:p>
                      <a:pPr indent="0" marL="0">
                        <a:buNone/>
                      </a:pPr>
                      <a:r>
                        <a:rPr lang="en-US" sz="1500" b="1" dirty="0">
                          <a:solidFill>
                            <a:schemeClr val="bg1"/>
                          </a:solidFill>
                        </a:rPr>
                        <a:t>Setting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500" b="1" dirty="0">
                          <a:solidFill>
                            <a:schemeClr val="tx1"/>
                          </a:solidFill>
                        </a:rPr>
                        <a:t>Greedy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pick the most probable token (deterministic)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Sampling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draw a token from the softmax distribution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500" b="1" dirty="0">
                          <a:solidFill>
                            <a:schemeClr val="tx1"/>
                          </a:solidFill>
                        </a:rPr>
                        <a:t>Temperature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divide logits by T before softmax: T &lt; 1 sharpens, T &gt; 1 flattens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500" b="1" dirty="0">
                          <a:solidFill>
                            <a:schemeClr val="tx1"/>
                          </a:solidFill>
                        </a:rPr>
                        <a:t>Top-k</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sample only from the k highest-scoring tokens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7" name="weights unchanged"/>
          <p:cNvSpPr/>
          <p:nvPr/>
        </p:nvSpPr>
        <p:spPr>
          <a:xfrm>
            <a:off x="548640" y="4023360"/>
            <a:ext cx="5120640" cy="2103120"/>
          </a:xfrm>
          <a:prstGeom prst="roundRect">
            <a:avLst>
              <a:gd name="adj" fmla="val 5217"/>
            </a:avLst>
          </a:prstGeom>
          <a:solidFill>
            <a:schemeClr val="accent5"/>
          </a:solidFill>
          <a:ln w="12700">
            <a:solidFill>
              <a:schemeClr val="accent5"/>
            </a:solidFill>
            <a:prstDash val="solid"/>
          </a:ln>
        </p:spPr>
      </p:sp>
      <p:sp>
        <p:nvSpPr>
          <p:cNvPr id="8" name="Text 4"/>
          <p:cNvSpPr txBox="1"/>
          <p:nvPr/>
        </p:nvSpPr>
        <p:spPr>
          <a:xfrm>
            <a:off x="822960" y="4160520"/>
            <a:ext cx="4572000" cy="1828800"/>
          </a:xfrm>
          <a:prstGeom prst="rect">
            <a:avLst/>
          </a:prstGeom>
          <a:noFill/>
          <a:ln/>
        </p:spPr>
        <p:txBody>
          <a:bodyPr wrap="square" lIns="0" tIns="0" rIns="0" bIns="0" rtlCol="0" anchor="t"/>
          <a:lstStyle/>
          <a:p>
            <a:pPr indent="0" marL="0">
              <a:buNone/>
            </a:pPr>
            <a:r>
              <a:rPr lang="en-US" sz="1600" b="1" dirty="0">
                <a:solidFill>
                  <a:schemeClr val="tx1"/>
                </a:solidFill>
              </a:rPr>
              <a:t>None of these change the weights.</a:t>
            </a:r>
            <a:endParaRPr lang="en-US" sz="1600" dirty="0"/>
          </a:p>
          <a:p>
            <a:pPr indent="0" marL="0">
              <a:buNone/>
            </a:pPr>
            <a:r>
              <a:rPr lang="en-US" sz="1600" dirty="0">
                <a:solidFill>
                  <a:schemeClr val="tx1"/>
                </a:solidFill>
              </a:rPr>
              <a:t>Decoding is a choice made at generation time, applied to the same logits. Change it and the model is the same; only the text differs.</a:t>
            </a:r>
            <a:endParaRPr lang="en-US" sz="1600" dirty="0"/>
          </a:p>
        </p:txBody>
      </p:sp>
      <p:sp>
        <p:nvSpPr>
          <p:cNvPr id="9" name="Text 5"/>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600" b="1" dirty="0">
                <a:solidFill>
                  <a:schemeClr val="tx1"/>
                </a:solidFill>
              </a:rPr>
              <a:t>Prompt 1 2 3 1 2, then 10 generated tokens</a:t>
            </a:r>
            <a:endParaRPr lang="en-US" sz="1600" dirty="0"/>
          </a:p>
        </p:txBody>
      </p:sp>
      <p:sp>
        <p:nvSpPr>
          <p:cNvPr id="10" name="Text 6"/>
          <p:cNvSpPr txBox="1"/>
          <p:nvPr/>
        </p:nvSpPr>
        <p:spPr>
          <a:xfrm>
            <a:off x="6035040" y="1783080"/>
            <a:ext cx="2743200" cy="274320"/>
          </a:xfrm>
          <a:prstGeom prst="rect">
            <a:avLst/>
          </a:prstGeom>
          <a:noFill/>
          <a:ln/>
        </p:spPr>
        <p:txBody>
          <a:bodyPr wrap="square" lIns="0" tIns="0" rIns="0" bIns="0" rtlCol="0" anchor="t"/>
          <a:lstStyle/>
          <a:p>
            <a:pPr indent="0" marL="0">
              <a:buNone/>
            </a:pPr>
            <a:r>
              <a:rPr lang="en-US" sz="1300" dirty="0">
                <a:solidFill>
                  <a:schemeClr val="tx2"/>
                </a:solidFill>
              </a:rPr>
              <a:t>pattern</a:t>
            </a:r>
            <a:endParaRPr lang="en-US" sz="1300" dirty="0"/>
          </a:p>
        </p:txBody>
      </p:sp>
      <p:sp>
        <p:nvSpPr>
          <p:cNvPr id="11" name="Shape 7"/>
          <p:cNvSpPr/>
          <p:nvPr/>
        </p:nvSpPr>
        <p:spPr>
          <a:xfrm>
            <a:off x="6035040" y="2075688"/>
            <a:ext cx="329184" cy="411480"/>
          </a:xfrm>
          <a:prstGeom prst="roundRect">
            <a:avLst>
              <a:gd name="adj" fmla="val 22222"/>
            </a:avLst>
          </a:prstGeom>
          <a:solidFill>
            <a:schemeClr val="bg2"/>
          </a:solidFill>
          <a:ln w="12700">
            <a:solidFill>
              <a:schemeClr val="bg2"/>
            </a:solidFill>
            <a:prstDash val="solid"/>
          </a:ln>
        </p:spPr>
      </p:sp>
      <p:sp>
        <p:nvSpPr>
          <p:cNvPr id="12" name="Text 8"/>
          <p:cNvSpPr txBox="1"/>
          <p:nvPr/>
        </p:nvSpPr>
        <p:spPr>
          <a:xfrm>
            <a:off x="6035040" y="20756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3" name="Shape 9"/>
          <p:cNvSpPr/>
          <p:nvPr/>
        </p:nvSpPr>
        <p:spPr>
          <a:xfrm>
            <a:off x="6409944" y="2075688"/>
            <a:ext cx="329184" cy="411480"/>
          </a:xfrm>
          <a:prstGeom prst="roundRect">
            <a:avLst>
              <a:gd name="adj" fmla="val 22222"/>
            </a:avLst>
          </a:prstGeom>
          <a:solidFill>
            <a:schemeClr val="bg2"/>
          </a:solidFill>
          <a:ln w="12700">
            <a:solidFill>
              <a:schemeClr val="bg2"/>
            </a:solidFill>
            <a:prstDash val="solid"/>
          </a:ln>
        </p:spPr>
      </p:sp>
      <p:sp>
        <p:nvSpPr>
          <p:cNvPr id="14" name="Text 10"/>
          <p:cNvSpPr txBox="1"/>
          <p:nvPr/>
        </p:nvSpPr>
        <p:spPr>
          <a:xfrm>
            <a:off x="6409944" y="20756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15" name="Shape 11"/>
          <p:cNvSpPr/>
          <p:nvPr/>
        </p:nvSpPr>
        <p:spPr>
          <a:xfrm>
            <a:off x="6784848" y="2075688"/>
            <a:ext cx="329184" cy="411480"/>
          </a:xfrm>
          <a:prstGeom prst="roundRect">
            <a:avLst>
              <a:gd name="adj" fmla="val 22222"/>
            </a:avLst>
          </a:prstGeom>
          <a:solidFill>
            <a:schemeClr val="bg2"/>
          </a:solidFill>
          <a:ln w="12700">
            <a:solidFill>
              <a:schemeClr val="bg2"/>
            </a:solidFill>
            <a:prstDash val="solid"/>
          </a:ln>
        </p:spPr>
      </p:sp>
      <p:sp>
        <p:nvSpPr>
          <p:cNvPr id="16" name="Text 12"/>
          <p:cNvSpPr txBox="1"/>
          <p:nvPr/>
        </p:nvSpPr>
        <p:spPr>
          <a:xfrm>
            <a:off x="6784848" y="20756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17" name="Shape 13"/>
          <p:cNvSpPr/>
          <p:nvPr/>
        </p:nvSpPr>
        <p:spPr>
          <a:xfrm>
            <a:off x="7159752" y="2075688"/>
            <a:ext cx="329184" cy="411480"/>
          </a:xfrm>
          <a:prstGeom prst="roundRect">
            <a:avLst>
              <a:gd name="adj" fmla="val 22222"/>
            </a:avLst>
          </a:prstGeom>
          <a:solidFill>
            <a:schemeClr val="bg2"/>
          </a:solidFill>
          <a:ln w="12700">
            <a:solidFill>
              <a:schemeClr val="bg2"/>
            </a:solidFill>
            <a:prstDash val="solid"/>
          </a:ln>
        </p:spPr>
      </p:sp>
      <p:sp>
        <p:nvSpPr>
          <p:cNvPr id="18" name="Text 14"/>
          <p:cNvSpPr txBox="1"/>
          <p:nvPr/>
        </p:nvSpPr>
        <p:spPr>
          <a:xfrm>
            <a:off x="7159752" y="20756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9" name="Shape 15"/>
          <p:cNvSpPr/>
          <p:nvPr/>
        </p:nvSpPr>
        <p:spPr>
          <a:xfrm>
            <a:off x="7534656" y="2075688"/>
            <a:ext cx="329184" cy="411480"/>
          </a:xfrm>
          <a:prstGeom prst="roundRect">
            <a:avLst>
              <a:gd name="adj" fmla="val 22222"/>
            </a:avLst>
          </a:prstGeom>
          <a:solidFill>
            <a:schemeClr val="bg2"/>
          </a:solidFill>
          <a:ln w="12700">
            <a:solidFill>
              <a:schemeClr val="bg2"/>
            </a:solidFill>
            <a:prstDash val="solid"/>
          </a:ln>
        </p:spPr>
      </p:sp>
      <p:sp>
        <p:nvSpPr>
          <p:cNvPr id="20" name="Text 16"/>
          <p:cNvSpPr txBox="1"/>
          <p:nvPr/>
        </p:nvSpPr>
        <p:spPr>
          <a:xfrm>
            <a:off x="7534656" y="20756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21" name="Shape 17"/>
          <p:cNvSpPr/>
          <p:nvPr/>
        </p:nvSpPr>
        <p:spPr>
          <a:xfrm>
            <a:off x="7909560" y="2075688"/>
            <a:ext cx="329184" cy="411480"/>
          </a:xfrm>
          <a:prstGeom prst="roundRect">
            <a:avLst>
              <a:gd name="adj" fmla="val 22222"/>
            </a:avLst>
          </a:prstGeom>
          <a:solidFill>
            <a:schemeClr val="bg1"/>
          </a:solidFill>
          <a:ln w="12700">
            <a:solidFill>
              <a:srgbClr val="AAB2C0"/>
            </a:solidFill>
            <a:prstDash val="dash"/>
          </a:ln>
        </p:spPr>
      </p:sp>
      <p:sp>
        <p:nvSpPr>
          <p:cNvPr id="22" name="Text 18"/>
          <p:cNvSpPr txBox="1"/>
          <p:nvPr/>
        </p:nvSpPr>
        <p:spPr>
          <a:xfrm>
            <a:off x="7909560"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4</a:t>
            </a:r>
            <a:endParaRPr lang="en-US" sz="1300" dirty="0"/>
          </a:p>
        </p:txBody>
      </p:sp>
      <p:sp>
        <p:nvSpPr>
          <p:cNvPr id="23" name="Shape 19"/>
          <p:cNvSpPr/>
          <p:nvPr/>
        </p:nvSpPr>
        <p:spPr>
          <a:xfrm>
            <a:off x="8284464" y="2075688"/>
            <a:ext cx="329184" cy="411480"/>
          </a:xfrm>
          <a:prstGeom prst="roundRect">
            <a:avLst>
              <a:gd name="adj" fmla="val 22222"/>
            </a:avLst>
          </a:prstGeom>
          <a:solidFill>
            <a:schemeClr val="bg1"/>
          </a:solidFill>
          <a:ln w="12700">
            <a:solidFill>
              <a:srgbClr val="AAB2C0"/>
            </a:solidFill>
            <a:prstDash val="dash"/>
          </a:ln>
        </p:spPr>
      </p:sp>
      <p:sp>
        <p:nvSpPr>
          <p:cNvPr id="24" name="Text 20"/>
          <p:cNvSpPr txBox="1"/>
          <p:nvPr/>
        </p:nvSpPr>
        <p:spPr>
          <a:xfrm>
            <a:off x="8284464"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1</a:t>
            </a:r>
            <a:endParaRPr lang="en-US" sz="1300" dirty="0"/>
          </a:p>
        </p:txBody>
      </p:sp>
      <p:sp>
        <p:nvSpPr>
          <p:cNvPr id="25" name="Shape 21"/>
          <p:cNvSpPr/>
          <p:nvPr/>
        </p:nvSpPr>
        <p:spPr>
          <a:xfrm>
            <a:off x="8659368" y="2075688"/>
            <a:ext cx="329184" cy="411480"/>
          </a:xfrm>
          <a:prstGeom prst="roundRect">
            <a:avLst>
              <a:gd name="adj" fmla="val 22222"/>
            </a:avLst>
          </a:prstGeom>
          <a:solidFill>
            <a:schemeClr val="bg1"/>
          </a:solidFill>
          <a:ln w="12700">
            <a:solidFill>
              <a:srgbClr val="AAB2C0"/>
            </a:solidFill>
            <a:prstDash val="dash"/>
          </a:ln>
        </p:spPr>
      </p:sp>
      <p:sp>
        <p:nvSpPr>
          <p:cNvPr id="26" name="Text 22"/>
          <p:cNvSpPr txBox="1"/>
          <p:nvPr/>
        </p:nvSpPr>
        <p:spPr>
          <a:xfrm>
            <a:off x="8659368"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2</a:t>
            </a:r>
            <a:endParaRPr lang="en-US" sz="1300" dirty="0"/>
          </a:p>
        </p:txBody>
      </p:sp>
      <p:sp>
        <p:nvSpPr>
          <p:cNvPr id="27" name="Shape 23"/>
          <p:cNvSpPr/>
          <p:nvPr/>
        </p:nvSpPr>
        <p:spPr>
          <a:xfrm>
            <a:off x="9034272" y="2075688"/>
            <a:ext cx="329184" cy="411480"/>
          </a:xfrm>
          <a:prstGeom prst="roundRect">
            <a:avLst>
              <a:gd name="adj" fmla="val 22222"/>
            </a:avLst>
          </a:prstGeom>
          <a:solidFill>
            <a:schemeClr val="bg1"/>
          </a:solidFill>
          <a:ln w="12700">
            <a:solidFill>
              <a:srgbClr val="AAB2C0"/>
            </a:solidFill>
            <a:prstDash val="dash"/>
          </a:ln>
        </p:spPr>
      </p:sp>
      <p:sp>
        <p:nvSpPr>
          <p:cNvPr id="28" name="Text 24"/>
          <p:cNvSpPr txBox="1"/>
          <p:nvPr/>
        </p:nvSpPr>
        <p:spPr>
          <a:xfrm>
            <a:off x="9034272"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3</a:t>
            </a:r>
            <a:endParaRPr lang="en-US" sz="1300" dirty="0"/>
          </a:p>
        </p:txBody>
      </p:sp>
      <p:sp>
        <p:nvSpPr>
          <p:cNvPr id="29" name="Shape 25"/>
          <p:cNvSpPr/>
          <p:nvPr/>
        </p:nvSpPr>
        <p:spPr>
          <a:xfrm>
            <a:off x="9409176" y="2075688"/>
            <a:ext cx="329184" cy="411480"/>
          </a:xfrm>
          <a:prstGeom prst="roundRect">
            <a:avLst>
              <a:gd name="adj" fmla="val 22222"/>
            </a:avLst>
          </a:prstGeom>
          <a:solidFill>
            <a:schemeClr val="bg1"/>
          </a:solidFill>
          <a:ln w="12700">
            <a:solidFill>
              <a:srgbClr val="AAB2C0"/>
            </a:solidFill>
            <a:prstDash val="dash"/>
          </a:ln>
        </p:spPr>
      </p:sp>
      <p:sp>
        <p:nvSpPr>
          <p:cNvPr id="30" name="Text 26"/>
          <p:cNvSpPr txBox="1"/>
          <p:nvPr/>
        </p:nvSpPr>
        <p:spPr>
          <a:xfrm>
            <a:off x="9409176"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1</a:t>
            </a:r>
            <a:endParaRPr lang="en-US" sz="1300" dirty="0"/>
          </a:p>
        </p:txBody>
      </p:sp>
      <p:sp>
        <p:nvSpPr>
          <p:cNvPr id="31" name="Shape 27"/>
          <p:cNvSpPr/>
          <p:nvPr/>
        </p:nvSpPr>
        <p:spPr>
          <a:xfrm>
            <a:off x="9784080" y="2075688"/>
            <a:ext cx="329184" cy="411480"/>
          </a:xfrm>
          <a:prstGeom prst="roundRect">
            <a:avLst>
              <a:gd name="adj" fmla="val 22222"/>
            </a:avLst>
          </a:prstGeom>
          <a:solidFill>
            <a:schemeClr val="bg1"/>
          </a:solidFill>
          <a:ln w="12700">
            <a:solidFill>
              <a:srgbClr val="AAB2C0"/>
            </a:solidFill>
            <a:prstDash val="dash"/>
          </a:ln>
        </p:spPr>
      </p:sp>
      <p:sp>
        <p:nvSpPr>
          <p:cNvPr id="32" name="Text 28"/>
          <p:cNvSpPr txBox="1"/>
          <p:nvPr/>
        </p:nvSpPr>
        <p:spPr>
          <a:xfrm>
            <a:off x="9784080"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2</a:t>
            </a:r>
            <a:endParaRPr lang="en-US" sz="1300" dirty="0"/>
          </a:p>
        </p:txBody>
      </p:sp>
      <p:sp>
        <p:nvSpPr>
          <p:cNvPr id="33" name="Shape 29"/>
          <p:cNvSpPr/>
          <p:nvPr/>
        </p:nvSpPr>
        <p:spPr>
          <a:xfrm>
            <a:off x="10158984" y="2075688"/>
            <a:ext cx="329184" cy="411480"/>
          </a:xfrm>
          <a:prstGeom prst="roundRect">
            <a:avLst>
              <a:gd name="adj" fmla="val 22222"/>
            </a:avLst>
          </a:prstGeom>
          <a:solidFill>
            <a:schemeClr val="bg1"/>
          </a:solidFill>
          <a:ln w="12700">
            <a:solidFill>
              <a:srgbClr val="AAB2C0"/>
            </a:solidFill>
            <a:prstDash val="dash"/>
          </a:ln>
        </p:spPr>
      </p:sp>
      <p:sp>
        <p:nvSpPr>
          <p:cNvPr id="34" name="Text 30"/>
          <p:cNvSpPr txBox="1"/>
          <p:nvPr/>
        </p:nvSpPr>
        <p:spPr>
          <a:xfrm>
            <a:off x="10158984"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4</a:t>
            </a:r>
            <a:endParaRPr lang="en-US" sz="1300" dirty="0"/>
          </a:p>
        </p:txBody>
      </p:sp>
      <p:sp>
        <p:nvSpPr>
          <p:cNvPr id="35" name="Shape 31"/>
          <p:cNvSpPr/>
          <p:nvPr/>
        </p:nvSpPr>
        <p:spPr>
          <a:xfrm>
            <a:off x="10533888" y="2075688"/>
            <a:ext cx="329184" cy="411480"/>
          </a:xfrm>
          <a:prstGeom prst="roundRect">
            <a:avLst>
              <a:gd name="adj" fmla="val 22222"/>
            </a:avLst>
          </a:prstGeom>
          <a:solidFill>
            <a:schemeClr val="bg1"/>
          </a:solidFill>
          <a:ln w="12700">
            <a:solidFill>
              <a:srgbClr val="AAB2C0"/>
            </a:solidFill>
            <a:prstDash val="dash"/>
          </a:ln>
        </p:spPr>
      </p:sp>
      <p:sp>
        <p:nvSpPr>
          <p:cNvPr id="36" name="Text 32"/>
          <p:cNvSpPr txBox="1"/>
          <p:nvPr/>
        </p:nvSpPr>
        <p:spPr>
          <a:xfrm>
            <a:off x="10533888"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1</a:t>
            </a:r>
            <a:endParaRPr lang="en-US" sz="1300" dirty="0"/>
          </a:p>
        </p:txBody>
      </p:sp>
      <p:sp>
        <p:nvSpPr>
          <p:cNvPr id="37" name="Shape 33"/>
          <p:cNvSpPr/>
          <p:nvPr/>
        </p:nvSpPr>
        <p:spPr>
          <a:xfrm>
            <a:off x="10908792" y="2075688"/>
            <a:ext cx="329184" cy="411480"/>
          </a:xfrm>
          <a:prstGeom prst="roundRect">
            <a:avLst>
              <a:gd name="adj" fmla="val 22222"/>
            </a:avLst>
          </a:prstGeom>
          <a:solidFill>
            <a:schemeClr val="bg1"/>
          </a:solidFill>
          <a:ln w="12700">
            <a:solidFill>
              <a:srgbClr val="AAB2C0"/>
            </a:solidFill>
            <a:prstDash val="dash"/>
          </a:ln>
        </p:spPr>
      </p:sp>
      <p:sp>
        <p:nvSpPr>
          <p:cNvPr id="38" name="Text 34"/>
          <p:cNvSpPr txBox="1"/>
          <p:nvPr/>
        </p:nvSpPr>
        <p:spPr>
          <a:xfrm>
            <a:off x="10908792"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2</a:t>
            </a:r>
            <a:endParaRPr lang="en-US" sz="1300" dirty="0"/>
          </a:p>
        </p:txBody>
      </p:sp>
      <p:sp>
        <p:nvSpPr>
          <p:cNvPr id="39" name="Shape 35"/>
          <p:cNvSpPr/>
          <p:nvPr/>
        </p:nvSpPr>
        <p:spPr>
          <a:xfrm>
            <a:off x="11283696" y="2075688"/>
            <a:ext cx="329184" cy="411480"/>
          </a:xfrm>
          <a:prstGeom prst="roundRect">
            <a:avLst>
              <a:gd name="adj" fmla="val 22222"/>
            </a:avLst>
          </a:prstGeom>
          <a:solidFill>
            <a:schemeClr val="bg1"/>
          </a:solidFill>
          <a:ln w="12700">
            <a:solidFill>
              <a:srgbClr val="AAB2C0"/>
            </a:solidFill>
            <a:prstDash val="dash"/>
          </a:ln>
        </p:spPr>
      </p:sp>
      <p:sp>
        <p:nvSpPr>
          <p:cNvPr id="40" name="Text 36"/>
          <p:cNvSpPr txBox="1"/>
          <p:nvPr/>
        </p:nvSpPr>
        <p:spPr>
          <a:xfrm>
            <a:off x="11283696" y="2075688"/>
            <a:ext cx="329184" cy="411480"/>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3</a:t>
            </a:r>
            <a:endParaRPr lang="en-US" sz="1300" dirty="0"/>
          </a:p>
        </p:txBody>
      </p:sp>
      <p:sp>
        <p:nvSpPr>
          <p:cNvPr id="41" name="Text 37"/>
          <p:cNvSpPr txBox="1"/>
          <p:nvPr/>
        </p:nvSpPr>
        <p:spPr>
          <a:xfrm>
            <a:off x="6035040" y="2697480"/>
            <a:ext cx="2743200" cy="274320"/>
          </a:xfrm>
          <a:prstGeom prst="rect">
            <a:avLst/>
          </a:prstGeom>
          <a:noFill/>
          <a:ln/>
        </p:spPr>
        <p:txBody>
          <a:bodyPr wrap="square" lIns="0" tIns="0" rIns="0" bIns="0" rtlCol="0" anchor="t"/>
          <a:lstStyle/>
          <a:p>
            <a:pPr indent="0" marL="0">
              <a:buNone/>
            </a:pPr>
            <a:r>
              <a:rPr lang="en-US" sz="1300" dirty="0">
                <a:solidFill>
                  <a:schemeClr val="tx2"/>
                </a:solidFill>
              </a:rPr>
              <a:t>greedy</a:t>
            </a:r>
            <a:endParaRPr lang="en-US" sz="1300" dirty="0"/>
          </a:p>
        </p:txBody>
      </p:sp>
      <p:sp>
        <p:nvSpPr>
          <p:cNvPr id="42" name="Shape 38"/>
          <p:cNvSpPr/>
          <p:nvPr/>
        </p:nvSpPr>
        <p:spPr>
          <a:xfrm>
            <a:off x="6035040" y="2990088"/>
            <a:ext cx="329184" cy="411480"/>
          </a:xfrm>
          <a:prstGeom prst="roundRect">
            <a:avLst>
              <a:gd name="adj" fmla="val 22222"/>
            </a:avLst>
          </a:prstGeom>
          <a:solidFill>
            <a:schemeClr val="bg2"/>
          </a:solidFill>
          <a:ln w="12700">
            <a:solidFill>
              <a:schemeClr val="bg2"/>
            </a:solidFill>
            <a:prstDash val="solid"/>
          </a:ln>
        </p:spPr>
      </p:sp>
      <p:sp>
        <p:nvSpPr>
          <p:cNvPr id="43" name="Text 39"/>
          <p:cNvSpPr txBox="1"/>
          <p:nvPr/>
        </p:nvSpPr>
        <p:spPr>
          <a:xfrm>
            <a:off x="6035040" y="29900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44" name="Shape 40"/>
          <p:cNvSpPr/>
          <p:nvPr/>
        </p:nvSpPr>
        <p:spPr>
          <a:xfrm>
            <a:off x="6409944" y="2990088"/>
            <a:ext cx="329184" cy="411480"/>
          </a:xfrm>
          <a:prstGeom prst="roundRect">
            <a:avLst>
              <a:gd name="adj" fmla="val 22222"/>
            </a:avLst>
          </a:prstGeom>
          <a:solidFill>
            <a:schemeClr val="bg2"/>
          </a:solidFill>
          <a:ln w="12700">
            <a:solidFill>
              <a:schemeClr val="bg2"/>
            </a:solidFill>
            <a:prstDash val="solid"/>
          </a:ln>
        </p:spPr>
      </p:sp>
      <p:sp>
        <p:nvSpPr>
          <p:cNvPr id="45" name="Text 41"/>
          <p:cNvSpPr txBox="1"/>
          <p:nvPr/>
        </p:nvSpPr>
        <p:spPr>
          <a:xfrm>
            <a:off x="6409944" y="29900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46" name="Shape 42"/>
          <p:cNvSpPr/>
          <p:nvPr/>
        </p:nvSpPr>
        <p:spPr>
          <a:xfrm>
            <a:off x="6784848" y="2990088"/>
            <a:ext cx="329184" cy="411480"/>
          </a:xfrm>
          <a:prstGeom prst="roundRect">
            <a:avLst>
              <a:gd name="adj" fmla="val 22222"/>
            </a:avLst>
          </a:prstGeom>
          <a:solidFill>
            <a:schemeClr val="bg2"/>
          </a:solidFill>
          <a:ln w="12700">
            <a:solidFill>
              <a:schemeClr val="bg2"/>
            </a:solidFill>
            <a:prstDash val="solid"/>
          </a:ln>
        </p:spPr>
      </p:sp>
      <p:sp>
        <p:nvSpPr>
          <p:cNvPr id="47" name="Text 43"/>
          <p:cNvSpPr txBox="1"/>
          <p:nvPr/>
        </p:nvSpPr>
        <p:spPr>
          <a:xfrm>
            <a:off x="6784848" y="29900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48" name="Shape 44"/>
          <p:cNvSpPr/>
          <p:nvPr/>
        </p:nvSpPr>
        <p:spPr>
          <a:xfrm>
            <a:off x="7159752" y="2990088"/>
            <a:ext cx="329184" cy="411480"/>
          </a:xfrm>
          <a:prstGeom prst="roundRect">
            <a:avLst>
              <a:gd name="adj" fmla="val 22222"/>
            </a:avLst>
          </a:prstGeom>
          <a:solidFill>
            <a:schemeClr val="bg2"/>
          </a:solidFill>
          <a:ln w="12700">
            <a:solidFill>
              <a:schemeClr val="bg2"/>
            </a:solidFill>
            <a:prstDash val="solid"/>
          </a:ln>
        </p:spPr>
      </p:sp>
      <p:sp>
        <p:nvSpPr>
          <p:cNvPr id="49" name="Text 45"/>
          <p:cNvSpPr txBox="1"/>
          <p:nvPr/>
        </p:nvSpPr>
        <p:spPr>
          <a:xfrm>
            <a:off x="7159752" y="29900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50" name="Shape 46"/>
          <p:cNvSpPr/>
          <p:nvPr/>
        </p:nvSpPr>
        <p:spPr>
          <a:xfrm>
            <a:off x="7534656" y="2990088"/>
            <a:ext cx="329184" cy="411480"/>
          </a:xfrm>
          <a:prstGeom prst="roundRect">
            <a:avLst>
              <a:gd name="adj" fmla="val 22222"/>
            </a:avLst>
          </a:prstGeom>
          <a:solidFill>
            <a:schemeClr val="bg2"/>
          </a:solidFill>
          <a:ln w="12700">
            <a:solidFill>
              <a:schemeClr val="bg2"/>
            </a:solidFill>
            <a:prstDash val="solid"/>
          </a:ln>
        </p:spPr>
      </p:sp>
      <p:sp>
        <p:nvSpPr>
          <p:cNvPr id="51" name="Text 47"/>
          <p:cNvSpPr txBox="1"/>
          <p:nvPr/>
        </p:nvSpPr>
        <p:spPr>
          <a:xfrm>
            <a:off x="7534656" y="29900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52" name="Shape 48"/>
          <p:cNvSpPr/>
          <p:nvPr/>
        </p:nvSpPr>
        <p:spPr>
          <a:xfrm>
            <a:off x="7909560" y="2990088"/>
            <a:ext cx="329184" cy="411480"/>
          </a:xfrm>
          <a:prstGeom prst="roundRect">
            <a:avLst>
              <a:gd name="adj" fmla="val 22222"/>
            </a:avLst>
          </a:prstGeom>
          <a:solidFill>
            <a:schemeClr val="accent1"/>
          </a:solidFill>
          <a:ln w="12700">
            <a:solidFill>
              <a:schemeClr val="accent1"/>
            </a:solidFill>
            <a:prstDash val="solid"/>
          </a:ln>
        </p:spPr>
      </p:sp>
      <p:sp>
        <p:nvSpPr>
          <p:cNvPr id="53" name="Text 49"/>
          <p:cNvSpPr txBox="1"/>
          <p:nvPr/>
        </p:nvSpPr>
        <p:spPr>
          <a:xfrm>
            <a:off x="7909560"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54" name="Shape 50"/>
          <p:cNvSpPr/>
          <p:nvPr/>
        </p:nvSpPr>
        <p:spPr>
          <a:xfrm>
            <a:off x="8284464" y="2990088"/>
            <a:ext cx="329184" cy="411480"/>
          </a:xfrm>
          <a:prstGeom prst="roundRect">
            <a:avLst>
              <a:gd name="adj" fmla="val 22222"/>
            </a:avLst>
          </a:prstGeom>
          <a:solidFill>
            <a:schemeClr val="accent1"/>
          </a:solidFill>
          <a:ln w="12700">
            <a:solidFill>
              <a:schemeClr val="accent1"/>
            </a:solidFill>
            <a:prstDash val="solid"/>
          </a:ln>
        </p:spPr>
      </p:sp>
      <p:sp>
        <p:nvSpPr>
          <p:cNvPr id="55" name="Text 51"/>
          <p:cNvSpPr txBox="1"/>
          <p:nvPr/>
        </p:nvSpPr>
        <p:spPr>
          <a:xfrm>
            <a:off x="8284464"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56" name="Shape 52"/>
          <p:cNvSpPr/>
          <p:nvPr/>
        </p:nvSpPr>
        <p:spPr>
          <a:xfrm>
            <a:off x="8659368" y="2990088"/>
            <a:ext cx="329184" cy="411480"/>
          </a:xfrm>
          <a:prstGeom prst="roundRect">
            <a:avLst>
              <a:gd name="adj" fmla="val 22222"/>
            </a:avLst>
          </a:prstGeom>
          <a:solidFill>
            <a:schemeClr val="accent1"/>
          </a:solidFill>
          <a:ln w="12700">
            <a:solidFill>
              <a:schemeClr val="accent1"/>
            </a:solidFill>
            <a:prstDash val="solid"/>
          </a:ln>
        </p:spPr>
      </p:sp>
      <p:sp>
        <p:nvSpPr>
          <p:cNvPr id="57" name="Text 53"/>
          <p:cNvSpPr txBox="1"/>
          <p:nvPr/>
        </p:nvSpPr>
        <p:spPr>
          <a:xfrm>
            <a:off x="8659368"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58" name="Shape 54"/>
          <p:cNvSpPr/>
          <p:nvPr/>
        </p:nvSpPr>
        <p:spPr>
          <a:xfrm>
            <a:off x="9034272" y="2990088"/>
            <a:ext cx="329184" cy="411480"/>
          </a:xfrm>
          <a:prstGeom prst="roundRect">
            <a:avLst>
              <a:gd name="adj" fmla="val 22222"/>
            </a:avLst>
          </a:prstGeom>
          <a:solidFill>
            <a:schemeClr val="accent1"/>
          </a:solidFill>
          <a:ln w="12700">
            <a:solidFill>
              <a:schemeClr val="accent1"/>
            </a:solidFill>
            <a:prstDash val="solid"/>
          </a:ln>
        </p:spPr>
      </p:sp>
      <p:sp>
        <p:nvSpPr>
          <p:cNvPr id="59" name="Text 55"/>
          <p:cNvSpPr txBox="1"/>
          <p:nvPr/>
        </p:nvSpPr>
        <p:spPr>
          <a:xfrm>
            <a:off x="9034272"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3</a:t>
            </a:r>
            <a:endParaRPr lang="en-US" sz="1300" dirty="0"/>
          </a:p>
        </p:txBody>
      </p:sp>
      <p:sp>
        <p:nvSpPr>
          <p:cNvPr id="60" name="Shape 56"/>
          <p:cNvSpPr/>
          <p:nvPr/>
        </p:nvSpPr>
        <p:spPr>
          <a:xfrm>
            <a:off x="9409176" y="2990088"/>
            <a:ext cx="329184" cy="411480"/>
          </a:xfrm>
          <a:prstGeom prst="roundRect">
            <a:avLst>
              <a:gd name="adj" fmla="val 22222"/>
            </a:avLst>
          </a:prstGeom>
          <a:solidFill>
            <a:schemeClr val="accent1"/>
          </a:solidFill>
          <a:ln w="12700">
            <a:solidFill>
              <a:schemeClr val="accent1"/>
            </a:solidFill>
            <a:prstDash val="solid"/>
          </a:ln>
        </p:spPr>
      </p:sp>
      <p:sp>
        <p:nvSpPr>
          <p:cNvPr id="61" name="Text 57"/>
          <p:cNvSpPr txBox="1"/>
          <p:nvPr/>
        </p:nvSpPr>
        <p:spPr>
          <a:xfrm>
            <a:off x="9409176"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62" name="Shape 58"/>
          <p:cNvSpPr/>
          <p:nvPr/>
        </p:nvSpPr>
        <p:spPr>
          <a:xfrm>
            <a:off x="9784080" y="2990088"/>
            <a:ext cx="329184" cy="411480"/>
          </a:xfrm>
          <a:prstGeom prst="roundRect">
            <a:avLst>
              <a:gd name="adj" fmla="val 22222"/>
            </a:avLst>
          </a:prstGeom>
          <a:solidFill>
            <a:schemeClr val="accent1"/>
          </a:solidFill>
          <a:ln w="12700">
            <a:solidFill>
              <a:schemeClr val="accent1"/>
            </a:solidFill>
            <a:prstDash val="solid"/>
          </a:ln>
        </p:spPr>
      </p:sp>
      <p:sp>
        <p:nvSpPr>
          <p:cNvPr id="63" name="Text 59"/>
          <p:cNvSpPr txBox="1"/>
          <p:nvPr/>
        </p:nvSpPr>
        <p:spPr>
          <a:xfrm>
            <a:off x="9784080"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64" name="Shape 60"/>
          <p:cNvSpPr/>
          <p:nvPr/>
        </p:nvSpPr>
        <p:spPr>
          <a:xfrm>
            <a:off x="10158984" y="2990088"/>
            <a:ext cx="329184" cy="411480"/>
          </a:xfrm>
          <a:prstGeom prst="roundRect">
            <a:avLst>
              <a:gd name="adj" fmla="val 22222"/>
            </a:avLst>
          </a:prstGeom>
          <a:solidFill>
            <a:schemeClr val="accent1"/>
          </a:solidFill>
          <a:ln w="12700">
            <a:solidFill>
              <a:schemeClr val="accent1"/>
            </a:solidFill>
            <a:prstDash val="solid"/>
          </a:ln>
        </p:spPr>
      </p:sp>
      <p:sp>
        <p:nvSpPr>
          <p:cNvPr id="65" name="Text 61"/>
          <p:cNvSpPr txBox="1"/>
          <p:nvPr/>
        </p:nvSpPr>
        <p:spPr>
          <a:xfrm>
            <a:off x="10158984"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66" name="Shape 62"/>
          <p:cNvSpPr/>
          <p:nvPr/>
        </p:nvSpPr>
        <p:spPr>
          <a:xfrm>
            <a:off x="10533888" y="2990088"/>
            <a:ext cx="329184" cy="411480"/>
          </a:xfrm>
          <a:prstGeom prst="roundRect">
            <a:avLst>
              <a:gd name="adj" fmla="val 22222"/>
            </a:avLst>
          </a:prstGeom>
          <a:solidFill>
            <a:schemeClr val="accent1"/>
          </a:solidFill>
          <a:ln w="12700">
            <a:solidFill>
              <a:schemeClr val="accent1"/>
            </a:solidFill>
            <a:prstDash val="solid"/>
          </a:ln>
        </p:spPr>
      </p:sp>
      <p:sp>
        <p:nvSpPr>
          <p:cNvPr id="67" name="Text 63"/>
          <p:cNvSpPr txBox="1"/>
          <p:nvPr/>
        </p:nvSpPr>
        <p:spPr>
          <a:xfrm>
            <a:off x="10533888"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68" name="Shape 64"/>
          <p:cNvSpPr/>
          <p:nvPr/>
        </p:nvSpPr>
        <p:spPr>
          <a:xfrm>
            <a:off x="10908792" y="2990088"/>
            <a:ext cx="329184" cy="411480"/>
          </a:xfrm>
          <a:prstGeom prst="roundRect">
            <a:avLst>
              <a:gd name="adj" fmla="val 22222"/>
            </a:avLst>
          </a:prstGeom>
          <a:solidFill>
            <a:schemeClr val="accent1"/>
          </a:solidFill>
          <a:ln w="12700">
            <a:solidFill>
              <a:schemeClr val="accent1"/>
            </a:solidFill>
            <a:prstDash val="solid"/>
          </a:ln>
        </p:spPr>
      </p:sp>
      <p:sp>
        <p:nvSpPr>
          <p:cNvPr id="69" name="Text 65"/>
          <p:cNvSpPr txBox="1"/>
          <p:nvPr/>
        </p:nvSpPr>
        <p:spPr>
          <a:xfrm>
            <a:off x="10908792"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70" name="Shape 66"/>
          <p:cNvSpPr/>
          <p:nvPr/>
        </p:nvSpPr>
        <p:spPr>
          <a:xfrm>
            <a:off x="11283696" y="2990088"/>
            <a:ext cx="329184" cy="411480"/>
          </a:xfrm>
          <a:prstGeom prst="roundRect">
            <a:avLst>
              <a:gd name="adj" fmla="val 22222"/>
            </a:avLst>
          </a:prstGeom>
          <a:solidFill>
            <a:schemeClr val="accent1"/>
          </a:solidFill>
          <a:ln w="12700">
            <a:solidFill>
              <a:schemeClr val="accent1"/>
            </a:solidFill>
            <a:prstDash val="solid"/>
          </a:ln>
        </p:spPr>
      </p:sp>
      <p:sp>
        <p:nvSpPr>
          <p:cNvPr id="71" name="Text 67"/>
          <p:cNvSpPr txBox="1"/>
          <p:nvPr/>
        </p:nvSpPr>
        <p:spPr>
          <a:xfrm>
            <a:off x="11283696" y="29900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3</a:t>
            </a:r>
            <a:endParaRPr lang="en-US" sz="1300" dirty="0"/>
          </a:p>
        </p:txBody>
      </p:sp>
      <p:sp>
        <p:nvSpPr>
          <p:cNvPr id="72" name="Text 68"/>
          <p:cNvSpPr txBox="1"/>
          <p:nvPr/>
        </p:nvSpPr>
        <p:spPr>
          <a:xfrm>
            <a:off x="6035040" y="3611880"/>
            <a:ext cx="2743200" cy="274320"/>
          </a:xfrm>
          <a:prstGeom prst="rect">
            <a:avLst/>
          </a:prstGeom>
          <a:noFill/>
          <a:ln/>
        </p:spPr>
        <p:txBody>
          <a:bodyPr wrap="square" lIns="0" tIns="0" rIns="0" bIns="0" rtlCol="0" anchor="t"/>
          <a:lstStyle/>
          <a:p>
            <a:pPr indent="0" marL="0">
              <a:buNone/>
            </a:pPr>
            <a:r>
              <a:rPr lang="en-US" sz="1300" dirty="0">
                <a:solidFill>
                  <a:schemeClr val="tx2"/>
                </a:solidFill>
              </a:rPr>
              <a:t>sampled, T = 1</a:t>
            </a:r>
            <a:endParaRPr lang="en-US" sz="1300" dirty="0"/>
          </a:p>
        </p:txBody>
      </p:sp>
      <p:sp>
        <p:nvSpPr>
          <p:cNvPr id="73" name="Shape 69"/>
          <p:cNvSpPr/>
          <p:nvPr/>
        </p:nvSpPr>
        <p:spPr>
          <a:xfrm>
            <a:off x="6035040" y="3904488"/>
            <a:ext cx="329184" cy="411480"/>
          </a:xfrm>
          <a:prstGeom prst="roundRect">
            <a:avLst>
              <a:gd name="adj" fmla="val 22222"/>
            </a:avLst>
          </a:prstGeom>
          <a:solidFill>
            <a:schemeClr val="bg2"/>
          </a:solidFill>
          <a:ln w="12700">
            <a:solidFill>
              <a:schemeClr val="bg2"/>
            </a:solidFill>
            <a:prstDash val="solid"/>
          </a:ln>
        </p:spPr>
      </p:sp>
      <p:sp>
        <p:nvSpPr>
          <p:cNvPr id="74" name="Text 70"/>
          <p:cNvSpPr txBox="1"/>
          <p:nvPr/>
        </p:nvSpPr>
        <p:spPr>
          <a:xfrm>
            <a:off x="6035040" y="39044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75" name="Shape 71"/>
          <p:cNvSpPr/>
          <p:nvPr/>
        </p:nvSpPr>
        <p:spPr>
          <a:xfrm>
            <a:off x="6409944" y="3904488"/>
            <a:ext cx="329184" cy="411480"/>
          </a:xfrm>
          <a:prstGeom prst="roundRect">
            <a:avLst>
              <a:gd name="adj" fmla="val 22222"/>
            </a:avLst>
          </a:prstGeom>
          <a:solidFill>
            <a:schemeClr val="bg2"/>
          </a:solidFill>
          <a:ln w="12700">
            <a:solidFill>
              <a:schemeClr val="bg2"/>
            </a:solidFill>
            <a:prstDash val="solid"/>
          </a:ln>
        </p:spPr>
      </p:sp>
      <p:sp>
        <p:nvSpPr>
          <p:cNvPr id="76" name="Text 72"/>
          <p:cNvSpPr txBox="1"/>
          <p:nvPr/>
        </p:nvSpPr>
        <p:spPr>
          <a:xfrm>
            <a:off x="6409944" y="39044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77" name="Shape 73"/>
          <p:cNvSpPr/>
          <p:nvPr/>
        </p:nvSpPr>
        <p:spPr>
          <a:xfrm>
            <a:off x="6784848" y="3904488"/>
            <a:ext cx="329184" cy="411480"/>
          </a:xfrm>
          <a:prstGeom prst="roundRect">
            <a:avLst>
              <a:gd name="adj" fmla="val 22222"/>
            </a:avLst>
          </a:prstGeom>
          <a:solidFill>
            <a:schemeClr val="bg2"/>
          </a:solidFill>
          <a:ln w="12700">
            <a:solidFill>
              <a:schemeClr val="bg2"/>
            </a:solidFill>
            <a:prstDash val="solid"/>
          </a:ln>
        </p:spPr>
      </p:sp>
      <p:sp>
        <p:nvSpPr>
          <p:cNvPr id="78" name="Text 74"/>
          <p:cNvSpPr txBox="1"/>
          <p:nvPr/>
        </p:nvSpPr>
        <p:spPr>
          <a:xfrm>
            <a:off x="6784848" y="39044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79" name="Shape 75"/>
          <p:cNvSpPr/>
          <p:nvPr/>
        </p:nvSpPr>
        <p:spPr>
          <a:xfrm>
            <a:off x="7159752" y="3904488"/>
            <a:ext cx="329184" cy="411480"/>
          </a:xfrm>
          <a:prstGeom prst="roundRect">
            <a:avLst>
              <a:gd name="adj" fmla="val 22222"/>
            </a:avLst>
          </a:prstGeom>
          <a:solidFill>
            <a:schemeClr val="bg2"/>
          </a:solidFill>
          <a:ln w="12700">
            <a:solidFill>
              <a:schemeClr val="bg2"/>
            </a:solidFill>
            <a:prstDash val="solid"/>
          </a:ln>
        </p:spPr>
      </p:sp>
      <p:sp>
        <p:nvSpPr>
          <p:cNvPr id="80" name="Text 76"/>
          <p:cNvSpPr txBox="1"/>
          <p:nvPr/>
        </p:nvSpPr>
        <p:spPr>
          <a:xfrm>
            <a:off x="7159752" y="39044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81" name="Shape 77"/>
          <p:cNvSpPr/>
          <p:nvPr/>
        </p:nvSpPr>
        <p:spPr>
          <a:xfrm>
            <a:off x="7534656" y="3904488"/>
            <a:ext cx="329184" cy="411480"/>
          </a:xfrm>
          <a:prstGeom prst="roundRect">
            <a:avLst>
              <a:gd name="adj" fmla="val 22222"/>
            </a:avLst>
          </a:prstGeom>
          <a:solidFill>
            <a:schemeClr val="bg2"/>
          </a:solidFill>
          <a:ln w="12700">
            <a:solidFill>
              <a:schemeClr val="bg2"/>
            </a:solidFill>
            <a:prstDash val="solid"/>
          </a:ln>
        </p:spPr>
      </p:sp>
      <p:sp>
        <p:nvSpPr>
          <p:cNvPr id="82" name="Text 78"/>
          <p:cNvSpPr txBox="1"/>
          <p:nvPr/>
        </p:nvSpPr>
        <p:spPr>
          <a:xfrm>
            <a:off x="7534656" y="39044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83" name="Shape 79"/>
          <p:cNvSpPr/>
          <p:nvPr/>
        </p:nvSpPr>
        <p:spPr>
          <a:xfrm>
            <a:off x="7909560" y="3904488"/>
            <a:ext cx="329184" cy="411480"/>
          </a:xfrm>
          <a:prstGeom prst="roundRect">
            <a:avLst>
              <a:gd name="adj" fmla="val 22222"/>
            </a:avLst>
          </a:prstGeom>
          <a:solidFill>
            <a:schemeClr val="accent1"/>
          </a:solidFill>
          <a:ln w="12700">
            <a:solidFill>
              <a:schemeClr val="accent1"/>
            </a:solidFill>
            <a:prstDash val="solid"/>
          </a:ln>
        </p:spPr>
      </p:sp>
      <p:sp>
        <p:nvSpPr>
          <p:cNvPr id="84" name="Text 80"/>
          <p:cNvSpPr txBox="1"/>
          <p:nvPr/>
        </p:nvSpPr>
        <p:spPr>
          <a:xfrm>
            <a:off x="7909560"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85" name="Shape 81"/>
          <p:cNvSpPr/>
          <p:nvPr/>
        </p:nvSpPr>
        <p:spPr>
          <a:xfrm>
            <a:off x="8284464" y="3904488"/>
            <a:ext cx="329184" cy="411480"/>
          </a:xfrm>
          <a:prstGeom prst="roundRect">
            <a:avLst>
              <a:gd name="adj" fmla="val 22222"/>
            </a:avLst>
          </a:prstGeom>
          <a:solidFill>
            <a:schemeClr val="accent1"/>
          </a:solidFill>
          <a:ln w="12700">
            <a:solidFill>
              <a:schemeClr val="accent1"/>
            </a:solidFill>
            <a:prstDash val="solid"/>
          </a:ln>
        </p:spPr>
      </p:sp>
      <p:sp>
        <p:nvSpPr>
          <p:cNvPr id="86" name="Text 82"/>
          <p:cNvSpPr txBox="1"/>
          <p:nvPr/>
        </p:nvSpPr>
        <p:spPr>
          <a:xfrm>
            <a:off x="8284464"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87" name="Shape 83"/>
          <p:cNvSpPr/>
          <p:nvPr/>
        </p:nvSpPr>
        <p:spPr>
          <a:xfrm>
            <a:off x="8659368" y="3904488"/>
            <a:ext cx="329184" cy="411480"/>
          </a:xfrm>
          <a:prstGeom prst="roundRect">
            <a:avLst>
              <a:gd name="adj" fmla="val 22222"/>
            </a:avLst>
          </a:prstGeom>
          <a:solidFill>
            <a:schemeClr val="accent1"/>
          </a:solidFill>
          <a:ln w="12700">
            <a:solidFill>
              <a:schemeClr val="accent1"/>
            </a:solidFill>
            <a:prstDash val="solid"/>
          </a:ln>
        </p:spPr>
      </p:sp>
      <p:sp>
        <p:nvSpPr>
          <p:cNvPr id="88" name="Text 84"/>
          <p:cNvSpPr txBox="1"/>
          <p:nvPr/>
        </p:nvSpPr>
        <p:spPr>
          <a:xfrm>
            <a:off x="8659368"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89" name="Shape 85"/>
          <p:cNvSpPr/>
          <p:nvPr/>
        </p:nvSpPr>
        <p:spPr>
          <a:xfrm>
            <a:off x="9034272" y="3904488"/>
            <a:ext cx="329184" cy="411480"/>
          </a:xfrm>
          <a:prstGeom prst="roundRect">
            <a:avLst>
              <a:gd name="adj" fmla="val 22222"/>
            </a:avLst>
          </a:prstGeom>
          <a:solidFill>
            <a:schemeClr val="accent1"/>
          </a:solidFill>
          <a:ln w="12700">
            <a:solidFill>
              <a:schemeClr val="accent1"/>
            </a:solidFill>
            <a:prstDash val="solid"/>
          </a:ln>
        </p:spPr>
      </p:sp>
      <p:sp>
        <p:nvSpPr>
          <p:cNvPr id="90" name="Text 86"/>
          <p:cNvSpPr txBox="1"/>
          <p:nvPr/>
        </p:nvSpPr>
        <p:spPr>
          <a:xfrm>
            <a:off x="9034272"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3</a:t>
            </a:r>
            <a:endParaRPr lang="en-US" sz="1300" dirty="0"/>
          </a:p>
        </p:txBody>
      </p:sp>
      <p:sp>
        <p:nvSpPr>
          <p:cNvPr id="91" name="Shape 87"/>
          <p:cNvSpPr/>
          <p:nvPr/>
        </p:nvSpPr>
        <p:spPr>
          <a:xfrm>
            <a:off x="9409176" y="3904488"/>
            <a:ext cx="329184" cy="411480"/>
          </a:xfrm>
          <a:prstGeom prst="roundRect">
            <a:avLst>
              <a:gd name="adj" fmla="val 22222"/>
            </a:avLst>
          </a:prstGeom>
          <a:solidFill>
            <a:schemeClr val="accent1"/>
          </a:solidFill>
          <a:ln w="12700">
            <a:solidFill>
              <a:schemeClr val="accent1"/>
            </a:solidFill>
            <a:prstDash val="solid"/>
          </a:ln>
        </p:spPr>
      </p:sp>
      <p:sp>
        <p:nvSpPr>
          <p:cNvPr id="92" name="Text 88"/>
          <p:cNvSpPr txBox="1"/>
          <p:nvPr/>
        </p:nvSpPr>
        <p:spPr>
          <a:xfrm>
            <a:off x="9409176"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93" name="Shape 89"/>
          <p:cNvSpPr/>
          <p:nvPr/>
        </p:nvSpPr>
        <p:spPr>
          <a:xfrm>
            <a:off x="9784080" y="3904488"/>
            <a:ext cx="329184" cy="411480"/>
          </a:xfrm>
          <a:prstGeom prst="roundRect">
            <a:avLst>
              <a:gd name="adj" fmla="val 22222"/>
            </a:avLst>
          </a:prstGeom>
          <a:solidFill>
            <a:schemeClr val="accent1"/>
          </a:solidFill>
          <a:ln w="12700">
            <a:solidFill>
              <a:schemeClr val="accent1"/>
            </a:solidFill>
            <a:prstDash val="solid"/>
          </a:ln>
        </p:spPr>
      </p:sp>
      <p:sp>
        <p:nvSpPr>
          <p:cNvPr id="94" name="Text 90"/>
          <p:cNvSpPr txBox="1"/>
          <p:nvPr/>
        </p:nvSpPr>
        <p:spPr>
          <a:xfrm>
            <a:off x="9784080"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95" name="Shape 91"/>
          <p:cNvSpPr/>
          <p:nvPr/>
        </p:nvSpPr>
        <p:spPr>
          <a:xfrm>
            <a:off x="10158984" y="3904488"/>
            <a:ext cx="329184" cy="411480"/>
          </a:xfrm>
          <a:prstGeom prst="roundRect">
            <a:avLst>
              <a:gd name="adj" fmla="val 22222"/>
            </a:avLst>
          </a:prstGeom>
          <a:solidFill>
            <a:schemeClr val="accent1"/>
          </a:solidFill>
          <a:ln w="12700">
            <a:solidFill>
              <a:schemeClr val="accent1"/>
            </a:solidFill>
            <a:prstDash val="solid"/>
          </a:ln>
        </p:spPr>
      </p:sp>
      <p:sp>
        <p:nvSpPr>
          <p:cNvPr id="96" name="Text 92"/>
          <p:cNvSpPr txBox="1"/>
          <p:nvPr/>
        </p:nvSpPr>
        <p:spPr>
          <a:xfrm>
            <a:off x="10158984"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97" name="Shape 93"/>
          <p:cNvSpPr/>
          <p:nvPr/>
        </p:nvSpPr>
        <p:spPr>
          <a:xfrm>
            <a:off x="10533888" y="3904488"/>
            <a:ext cx="329184" cy="411480"/>
          </a:xfrm>
          <a:prstGeom prst="roundRect">
            <a:avLst>
              <a:gd name="adj" fmla="val 22222"/>
            </a:avLst>
          </a:prstGeom>
          <a:solidFill>
            <a:schemeClr val="accent1"/>
          </a:solidFill>
          <a:ln w="12700">
            <a:solidFill>
              <a:schemeClr val="accent1"/>
            </a:solidFill>
            <a:prstDash val="solid"/>
          </a:ln>
        </p:spPr>
      </p:sp>
      <p:sp>
        <p:nvSpPr>
          <p:cNvPr id="98" name="Text 94"/>
          <p:cNvSpPr txBox="1"/>
          <p:nvPr/>
        </p:nvSpPr>
        <p:spPr>
          <a:xfrm>
            <a:off x="10533888"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99" name="Shape 95"/>
          <p:cNvSpPr/>
          <p:nvPr/>
        </p:nvSpPr>
        <p:spPr>
          <a:xfrm>
            <a:off x="10908792" y="3904488"/>
            <a:ext cx="329184" cy="411480"/>
          </a:xfrm>
          <a:prstGeom prst="roundRect">
            <a:avLst>
              <a:gd name="adj" fmla="val 22222"/>
            </a:avLst>
          </a:prstGeom>
          <a:solidFill>
            <a:schemeClr val="accent1"/>
          </a:solidFill>
          <a:ln w="12700">
            <a:solidFill>
              <a:schemeClr val="accent1"/>
            </a:solidFill>
            <a:prstDash val="solid"/>
          </a:ln>
        </p:spPr>
      </p:sp>
      <p:sp>
        <p:nvSpPr>
          <p:cNvPr id="100" name="Text 96"/>
          <p:cNvSpPr txBox="1"/>
          <p:nvPr/>
        </p:nvSpPr>
        <p:spPr>
          <a:xfrm>
            <a:off x="10908792"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101" name="Shape 97"/>
          <p:cNvSpPr/>
          <p:nvPr/>
        </p:nvSpPr>
        <p:spPr>
          <a:xfrm>
            <a:off x="11283696" y="3904488"/>
            <a:ext cx="329184" cy="411480"/>
          </a:xfrm>
          <a:prstGeom prst="roundRect">
            <a:avLst>
              <a:gd name="adj" fmla="val 22222"/>
            </a:avLst>
          </a:prstGeom>
          <a:solidFill>
            <a:schemeClr val="accent1"/>
          </a:solidFill>
          <a:ln w="12700">
            <a:solidFill>
              <a:schemeClr val="accent1"/>
            </a:solidFill>
            <a:prstDash val="solid"/>
          </a:ln>
        </p:spPr>
      </p:sp>
      <p:sp>
        <p:nvSpPr>
          <p:cNvPr id="102" name="Text 98"/>
          <p:cNvSpPr txBox="1"/>
          <p:nvPr/>
        </p:nvSpPr>
        <p:spPr>
          <a:xfrm>
            <a:off x="11283696" y="39044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3</a:t>
            </a:r>
            <a:endParaRPr lang="en-US" sz="1300" dirty="0"/>
          </a:p>
        </p:txBody>
      </p:sp>
      <p:sp>
        <p:nvSpPr>
          <p:cNvPr id="103" name="Text 99"/>
          <p:cNvSpPr txBox="1"/>
          <p:nvPr/>
        </p:nvSpPr>
        <p:spPr>
          <a:xfrm>
            <a:off x="6035040" y="4526280"/>
            <a:ext cx="2743200" cy="274320"/>
          </a:xfrm>
          <a:prstGeom prst="rect">
            <a:avLst/>
          </a:prstGeom>
          <a:noFill/>
          <a:ln/>
        </p:spPr>
        <p:txBody>
          <a:bodyPr wrap="square" lIns="0" tIns="0" rIns="0" bIns="0" rtlCol="0" anchor="t"/>
          <a:lstStyle/>
          <a:p>
            <a:pPr indent="0" marL="0">
              <a:buNone/>
            </a:pPr>
            <a:r>
              <a:rPr lang="en-US" sz="1300" dirty="0">
                <a:solidFill>
                  <a:schemeClr val="tx2"/>
                </a:solidFill>
              </a:rPr>
              <a:t>T = 3, top-3</a:t>
            </a:r>
            <a:endParaRPr lang="en-US" sz="1300" dirty="0"/>
          </a:p>
        </p:txBody>
      </p:sp>
      <p:sp>
        <p:nvSpPr>
          <p:cNvPr id="104" name="Shape 100"/>
          <p:cNvSpPr/>
          <p:nvPr/>
        </p:nvSpPr>
        <p:spPr>
          <a:xfrm>
            <a:off x="6035040" y="4818888"/>
            <a:ext cx="329184" cy="411480"/>
          </a:xfrm>
          <a:prstGeom prst="roundRect">
            <a:avLst>
              <a:gd name="adj" fmla="val 22222"/>
            </a:avLst>
          </a:prstGeom>
          <a:solidFill>
            <a:schemeClr val="bg2"/>
          </a:solidFill>
          <a:ln w="12700">
            <a:solidFill>
              <a:schemeClr val="bg2"/>
            </a:solidFill>
            <a:prstDash val="solid"/>
          </a:ln>
        </p:spPr>
      </p:sp>
      <p:sp>
        <p:nvSpPr>
          <p:cNvPr id="105" name="Text 101"/>
          <p:cNvSpPr txBox="1"/>
          <p:nvPr/>
        </p:nvSpPr>
        <p:spPr>
          <a:xfrm>
            <a:off x="6035040" y="48188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06" name="Shape 102"/>
          <p:cNvSpPr/>
          <p:nvPr/>
        </p:nvSpPr>
        <p:spPr>
          <a:xfrm>
            <a:off x="6409944" y="4818888"/>
            <a:ext cx="329184" cy="411480"/>
          </a:xfrm>
          <a:prstGeom prst="roundRect">
            <a:avLst>
              <a:gd name="adj" fmla="val 22222"/>
            </a:avLst>
          </a:prstGeom>
          <a:solidFill>
            <a:schemeClr val="bg2"/>
          </a:solidFill>
          <a:ln w="12700">
            <a:solidFill>
              <a:schemeClr val="bg2"/>
            </a:solidFill>
            <a:prstDash val="solid"/>
          </a:ln>
        </p:spPr>
      </p:sp>
      <p:sp>
        <p:nvSpPr>
          <p:cNvPr id="107" name="Text 103"/>
          <p:cNvSpPr txBox="1"/>
          <p:nvPr/>
        </p:nvSpPr>
        <p:spPr>
          <a:xfrm>
            <a:off x="6409944" y="48188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108" name="Shape 104"/>
          <p:cNvSpPr/>
          <p:nvPr/>
        </p:nvSpPr>
        <p:spPr>
          <a:xfrm>
            <a:off x="6784848" y="4818888"/>
            <a:ext cx="329184" cy="411480"/>
          </a:xfrm>
          <a:prstGeom prst="roundRect">
            <a:avLst>
              <a:gd name="adj" fmla="val 22222"/>
            </a:avLst>
          </a:prstGeom>
          <a:solidFill>
            <a:schemeClr val="bg2"/>
          </a:solidFill>
          <a:ln w="12700">
            <a:solidFill>
              <a:schemeClr val="bg2"/>
            </a:solidFill>
            <a:prstDash val="solid"/>
          </a:ln>
        </p:spPr>
      </p:sp>
      <p:sp>
        <p:nvSpPr>
          <p:cNvPr id="109" name="Text 105"/>
          <p:cNvSpPr txBox="1"/>
          <p:nvPr/>
        </p:nvSpPr>
        <p:spPr>
          <a:xfrm>
            <a:off x="6784848" y="48188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110" name="Shape 106"/>
          <p:cNvSpPr/>
          <p:nvPr/>
        </p:nvSpPr>
        <p:spPr>
          <a:xfrm>
            <a:off x="7159752" y="4818888"/>
            <a:ext cx="329184" cy="411480"/>
          </a:xfrm>
          <a:prstGeom prst="roundRect">
            <a:avLst>
              <a:gd name="adj" fmla="val 22222"/>
            </a:avLst>
          </a:prstGeom>
          <a:solidFill>
            <a:schemeClr val="bg2"/>
          </a:solidFill>
          <a:ln w="12700">
            <a:solidFill>
              <a:schemeClr val="bg2"/>
            </a:solidFill>
            <a:prstDash val="solid"/>
          </a:ln>
        </p:spPr>
      </p:sp>
      <p:sp>
        <p:nvSpPr>
          <p:cNvPr id="111" name="Text 107"/>
          <p:cNvSpPr txBox="1"/>
          <p:nvPr/>
        </p:nvSpPr>
        <p:spPr>
          <a:xfrm>
            <a:off x="7159752" y="48188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12" name="Shape 108"/>
          <p:cNvSpPr/>
          <p:nvPr/>
        </p:nvSpPr>
        <p:spPr>
          <a:xfrm>
            <a:off x="7534656" y="4818888"/>
            <a:ext cx="329184" cy="411480"/>
          </a:xfrm>
          <a:prstGeom prst="roundRect">
            <a:avLst>
              <a:gd name="adj" fmla="val 22222"/>
            </a:avLst>
          </a:prstGeom>
          <a:solidFill>
            <a:schemeClr val="bg2"/>
          </a:solidFill>
          <a:ln w="12700">
            <a:solidFill>
              <a:schemeClr val="bg2"/>
            </a:solidFill>
            <a:prstDash val="solid"/>
          </a:ln>
        </p:spPr>
      </p:sp>
      <p:sp>
        <p:nvSpPr>
          <p:cNvPr id="113" name="Text 109"/>
          <p:cNvSpPr txBox="1"/>
          <p:nvPr/>
        </p:nvSpPr>
        <p:spPr>
          <a:xfrm>
            <a:off x="7534656" y="4818888"/>
            <a:ext cx="329184" cy="41148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114" name="Shape 110"/>
          <p:cNvSpPr/>
          <p:nvPr/>
        </p:nvSpPr>
        <p:spPr>
          <a:xfrm>
            <a:off x="7909560" y="4818888"/>
            <a:ext cx="329184" cy="411480"/>
          </a:xfrm>
          <a:prstGeom prst="roundRect">
            <a:avLst>
              <a:gd name="adj" fmla="val 22222"/>
            </a:avLst>
          </a:prstGeom>
          <a:solidFill>
            <a:schemeClr val="accent1"/>
          </a:solidFill>
          <a:ln w="12700">
            <a:solidFill>
              <a:schemeClr val="accent1"/>
            </a:solidFill>
            <a:prstDash val="solid"/>
          </a:ln>
        </p:spPr>
      </p:sp>
      <p:sp>
        <p:nvSpPr>
          <p:cNvPr id="115" name="Text 111"/>
          <p:cNvSpPr txBox="1"/>
          <p:nvPr/>
        </p:nvSpPr>
        <p:spPr>
          <a:xfrm>
            <a:off x="7909560"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116" name="Shape 112"/>
          <p:cNvSpPr/>
          <p:nvPr/>
        </p:nvSpPr>
        <p:spPr>
          <a:xfrm>
            <a:off x="8284464" y="4818888"/>
            <a:ext cx="329184" cy="411480"/>
          </a:xfrm>
          <a:prstGeom prst="roundRect">
            <a:avLst>
              <a:gd name="adj" fmla="val 22222"/>
            </a:avLst>
          </a:prstGeom>
          <a:solidFill>
            <a:schemeClr val="accent1"/>
          </a:solidFill>
          <a:ln w="12700">
            <a:solidFill>
              <a:schemeClr val="accent1"/>
            </a:solidFill>
            <a:prstDash val="solid"/>
          </a:ln>
        </p:spPr>
      </p:sp>
      <p:sp>
        <p:nvSpPr>
          <p:cNvPr id="117" name="Text 113"/>
          <p:cNvSpPr txBox="1"/>
          <p:nvPr/>
        </p:nvSpPr>
        <p:spPr>
          <a:xfrm>
            <a:off x="8284464"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18" name="Shape 114"/>
          <p:cNvSpPr/>
          <p:nvPr/>
        </p:nvSpPr>
        <p:spPr>
          <a:xfrm>
            <a:off x="8659368" y="4818888"/>
            <a:ext cx="329184" cy="411480"/>
          </a:xfrm>
          <a:prstGeom prst="roundRect">
            <a:avLst>
              <a:gd name="adj" fmla="val 22222"/>
            </a:avLst>
          </a:prstGeom>
          <a:solidFill>
            <a:schemeClr val="accent1"/>
          </a:solidFill>
          <a:ln w="12700">
            <a:solidFill>
              <a:schemeClr val="accent1"/>
            </a:solidFill>
            <a:prstDash val="solid"/>
          </a:ln>
        </p:spPr>
      </p:sp>
      <p:sp>
        <p:nvSpPr>
          <p:cNvPr id="119" name="Text 115"/>
          <p:cNvSpPr txBox="1"/>
          <p:nvPr/>
        </p:nvSpPr>
        <p:spPr>
          <a:xfrm>
            <a:off x="8659368"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120" name="Shape 116"/>
          <p:cNvSpPr/>
          <p:nvPr/>
        </p:nvSpPr>
        <p:spPr>
          <a:xfrm>
            <a:off x="9034272" y="4818888"/>
            <a:ext cx="329184" cy="411480"/>
          </a:xfrm>
          <a:prstGeom prst="roundRect">
            <a:avLst>
              <a:gd name="adj" fmla="val 22222"/>
            </a:avLst>
          </a:prstGeom>
          <a:solidFill>
            <a:schemeClr val="accent1"/>
          </a:solidFill>
          <a:ln w="12700">
            <a:solidFill>
              <a:schemeClr val="accent1"/>
            </a:solidFill>
            <a:prstDash val="solid"/>
          </a:ln>
        </p:spPr>
      </p:sp>
      <p:sp>
        <p:nvSpPr>
          <p:cNvPr id="121" name="Text 117"/>
          <p:cNvSpPr txBox="1"/>
          <p:nvPr/>
        </p:nvSpPr>
        <p:spPr>
          <a:xfrm>
            <a:off x="9034272"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3</a:t>
            </a:r>
            <a:endParaRPr lang="en-US" sz="1300" dirty="0"/>
          </a:p>
        </p:txBody>
      </p:sp>
      <p:sp>
        <p:nvSpPr>
          <p:cNvPr id="122" name="Shape 118"/>
          <p:cNvSpPr/>
          <p:nvPr/>
        </p:nvSpPr>
        <p:spPr>
          <a:xfrm>
            <a:off x="9409176" y="4818888"/>
            <a:ext cx="329184" cy="411480"/>
          </a:xfrm>
          <a:prstGeom prst="roundRect">
            <a:avLst>
              <a:gd name="adj" fmla="val 22222"/>
            </a:avLst>
          </a:prstGeom>
          <a:solidFill>
            <a:schemeClr val="accent1"/>
          </a:solidFill>
          <a:ln w="12700">
            <a:solidFill>
              <a:schemeClr val="accent1"/>
            </a:solidFill>
            <a:prstDash val="solid"/>
          </a:ln>
        </p:spPr>
      </p:sp>
      <p:sp>
        <p:nvSpPr>
          <p:cNvPr id="123" name="Text 119"/>
          <p:cNvSpPr txBox="1"/>
          <p:nvPr/>
        </p:nvSpPr>
        <p:spPr>
          <a:xfrm>
            <a:off x="9409176"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24" name="Shape 120"/>
          <p:cNvSpPr/>
          <p:nvPr/>
        </p:nvSpPr>
        <p:spPr>
          <a:xfrm>
            <a:off x="9784080" y="4818888"/>
            <a:ext cx="329184" cy="411480"/>
          </a:xfrm>
          <a:prstGeom prst="roundRect">
            <a:avLst>
              <a:gd name="adj" fmla="val 22222"/>
            </a:avLst>
          </a:prstGeom>
          <a:solidFill>
            <a:schemeClr val="accent3"/>
          </a:solidFill>
          <a:ln w="12700">
            <a:solidFill>
              <a:schemeClr val="accent3"/>
            </a:solidFill>
            <a:prstDash val="solid"/>
          </a:ln>
        </p:spPr>
      </p:sp>
      <p:sp>
        <p:nvSpPr>
          <p:cNvPr id="125" name="Text 121"/>
          <p:cNvSpPr txBox="1"/>
          <p:nvPr/>
        </p:nvSpPr>
        <p:spPr>
          <a:xfrm>
            <a:off x="9784080"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26" name="Shape 122"/>
          <p:cNvSpPr/>
          <p:nvPr/>
        </p:nvSpPr>
        <p:spPr>
          <a:xfrm>
            <a:off x="10158984" y="4818888"/>
            <a:ext cx="329184" cy="411480"/>
          </a:xfrm>
          <a:prstGeom prst="roundRect">
            <a:avLst>
              <a:gd name="adj" fmla="val 22222"/>
            </a:avLst>
          </a:prstGeom>
          <a:solidFill>
            <a:schemeClr val="accent1"/>
          </a:solidFill>
          <a:ln w="12700">
            <a:solidFill>
              <a:schemeClr val="accent1"/>
            </a:solidFill>
            <a:prstDash val="solid"/>
          </a:ln>
        </p:spPr>
      </p:sp>
      <p:sp>
        <p:nvSpPr>
          <p:cNvPr id="127" name="Text 123"/>
          <p:cNvSpPr txBox="1"/>
          <p:nvPr/>
        </p:nvSpPr>
        <p:spPr>
          <a:xfrm>
            <a:off x="10158984"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128" name="Shape 124"/>
          <p:cNvSpPr/>
          <p:nvPr/>
        </p:nvSpPr>
        <p:spPr>
          <a:xfrm>
            <a:off x="10533888" y="4818888"/>
            <a:ext cx="329184" cy="411480"/>
          </a:xfrm>
          <a:prstGeom prst="roundRect">
            <a:avLst>
              <a:gd name="adj" fmla="val 22222"/>
            </a:avLst>
          </a:prstGeom>
          <a:solidFill>
            <a:schemeClr val="accent1"/>
          </a:solidFill>
          <a:ln w="12700">
            <a:solidFill>
              <a:schemeClr val="accent1"/>
            </a:solidFill>
            <a:prstDash val="solid"/>
          </a:ln>
        </p:spPr>
      </p:sp>
      <p:sp>
        <p:nvSpPr>
          <p:cNvPr id="129" name="Text 125"/>
          <p:cNvSpPr txBox="1"/>
          <p:nvPr/>
        </p:nvSpPr>
        <p:spPr>
          <a:xfrm>
            <a:off x="10533888"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4</a:t>
            </a:r>
            <a:endParaRPr lang="en-US" sz="1300" dirty="0"/>
          </a:p>
        </p:txBody>
      </p:sp>
      <p:sp>
        <p:nvSpPr>
          <p:cNvPr id="130" name="Shape 126"/>
          <p:cNvSpPr/>
          <p:nvPr/>
        </p:nvSpPr>
        <p:spPr>
          <a:xfrm>
            <a:off x="10908792" y="4818888"/>
            <a:ext cx="329184" cy="411480"/>
          </a:xfrm>
          <a:prstGeom prst="roundRect">
            <a:avLst>
              <a:gd name="adj" fmla="val 22222"/>
            </a:avLst>
          </a:prstGeom>
          <a:solidFill>
            <a:schemeClr val="accent1"/>
          </a:solidFill>
          <a:ln w="12700">
            <a:solidFill>
              <a:schemeClr val="accent1"/>
            </a:solidFill>
            <a:prstDash val="solid"/>
          </a:ln>
        </p:spPr>
      </p:sp>
      <p:sp>
        <p:nvSpPr>
          <p:cNvPr id="131" name="Text 127"/>
          <p:cNvSpPr txBox="1"/>
          <p:nvPr/>
        </p:nvSpPr>
        <p:spPr>
          <a:xfrm>
            <a:off x="10908792"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32" name="Shape 128"/>
          <p:cNvSpPr/>
          <p:nvPr/>
        </p:nvSpPr>
        <p:spPr>
          <a:xfrm>
            <a:off x="11283696" y="4818888"/>
            <a:ext cx="329184" cy="411480"/>
          </a:xfrm>
          <a:prstGeom prst="roundRect">
            <a:avLst>
              <a:gd name="adj" fmla="val 22222"/>
            </a:avLst>
          </a:prstGeom>
          <a:solidFill>
            <a:schemeClr val="accent1"/>
          </a:solidFill>
          <a:ln w="12700">
            <a:solidFill>
              <a:schemeClr val="accent1"/>
            </a:solidFill>
            <a:prstDash val="solid"/>
          </a:ln>
        </p:spPr>
      </p:sp>
      <p:sp>
        <p:nvSpPr>
          <p:cNvPr id="133" name="Text 129"/>
          <p:cNvSpPr txBox="1"/>
          <p:nvPr/>
        </p:nvSpPr>
        <p:spPr>
          <a:xfrm>
            <a:off x="11283696" y="4818888"/>
            <a:ext cx="329184"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2</a:t>
            </a:r>
            <a:endParaRPr lang="en-US" sz="1300" dirty="0"/>
          </a:p>
        </p:txBody>
      </p:sp>
      <p:sp>
        <p:nvSpPr>
          <p:cNvPr id="134" name="Text 130"/>
          <p:cNvSpPr txBox="1"/>
          <p:nvPr/>
        </p:nvSpPr>
        <p:spPr>
          <a:xfrm>
            <a:off x="6035040" y="5486400"/>
            <a:ext cx="5577840" cy="640080"/>
          </a:xfrm>
          <a:prstGeom prst="rect">
            <a:avLst/>
          </a:prstGeom>
          <a:noFill/>
          <a:ln/>
        </p:spPr>
        <p:txBody>
          <a:bodyPr wrap="square" lIns="0" tIns="0" rIns="0" bIns="0" rtlCol="0" anchor="t"/>
          <a:lstStyle/>
          <a:p>
            <a:pPr indent="0" marL="0">
              <a:buNone/>
            </a:pPr>
            <a:r>
              <a:rPr lang="en-US" sz="1300" dirty="0">
                <a:solidFill>
                  <a:schemeClr val="tx2"/>
                </a:solidFill>
              </a:rPr>
              <a:t>Grey: prompt. Teal: generated. </a:t>
            </a:r>
            <a:r>
              <a:rPr lang="en-US" sz="1300" b="1" dirty="0">
                <a:solidFill>
                  <a:schemeClr val="accent3"/>
                </a:solidFill>
              </a:rPr>
              <a:t>Coral</a:t>
            </a:r>
            <a:r>
              <a:rPr lang="en-US" sz="1300" dirty="0">
                <a:solidFill>
                  <a:schemeClr val="tx2"/>
                </a:solidFill>
              </a:rPr>
              <a:t>: the first token that leaves the cycle. Seeded sampling on a CPU; other seeds give other samples.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Any task, written as a prefix</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5577840"/>
                <a:gridCol w="3108960"/>
              </a:tblGrid>
              <a:tr h="530352">
                <a:tc>
                  <a:txBody>
                    <a:bodyPr/>
                    <a:lstStyle/>
                    <a:p>
                      <a:pPr indent="0" marL="0">
                        <a:buNone/>
                      </a:pPr>
                      <a:r>
                        <a:rPr lang="en-US" sz="1500" b="1" dirty="0">
                          <a:solidFill>
                            <a:schemeClr val="bg1"/>
                          </a:solidFill>
                        </a:rPr>
                        <a:t>Task</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Prefix given to the model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Continuation we hope for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30352">
                <a:tc>
                  <a:txBody>
                    <a:bodyPr/>
                    <a:lstStyle/>
                    <a:p>
                      <a:pPr indent="0" marL="0">
                        <a:buNone/>
                      </a:pPr>
                      <a:r>
                        <a:rPr lang="en-US" sz="1500" b="1" dirty="0">
                          <a:solidFill>
                            <a:schemeClr val="tx1"/>
                          </a:solidFill>
                        </a:rPr>
                        <a:t>Summarization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&lt;article text&gt; TL;DR:</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short summary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1"/>
                          </a:solidFill>
                        </a:rPr>
                        <a:t>Translation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a few english = french pairs, then The cat sleeps. =</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Le chat dort.</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1"/>
                          </a:solidFill>
                        </a:rPr>
                        <a:t>Question answering</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Q: Who wrote On the Origin of Species? A:</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Charles Darwin</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1"/>
                          </a:solidFill>
                        </a:rPr>
                        <a:t>Sentiment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Review: The film was dull. Sentiment:</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negative</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1"/>
                          </a:solidFill>
                        </a:rPr>
                        <a:t>Few-shot classification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few labelled examples, then one unlabelled example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its label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why it works"/>
          <p:cNvSpPr/>
          <p:nvPr/>
        </p:nvSpPr>
        <p:spPr>
          <a:xfrm>
            <a:off x="548640" y="4663440"/>
            <a:ext cx="5349240" cy="1463040"/>
          </a:xfrm>
          <a:prstGeom prst="roundRect">
            <a:avLst>
              <a:gd name="adj" fmla="val 7500"/>
            </a:avLst>
          </a:prstGeom>
          <a:solidFill>
            <a:schemeClr val="bg2"/>
          </a:solidFill>
          <a:ln w="12700">
            <a:solidFill>
              <a:schemeClr val="bg2"/>
            </a:solidFill>
            <a:prstDash val="solid"/>
          </a:ln>
        </p:spPr>
      </p:sp>
      <p:sp>
        <p:nvSpPr>
          <p:cNvPr id="6" name="Text 2"/>
          <p:cNvSpPr txBox="1"/>
          <p:nvPr/>
        </p:nvSpPr>
        <p:spPr>
          <a:xfrm>
            <a:off x="822960" y="4754880"/>
            <a:ext cx="4846320" cy="1280160"/>
          </a:xfrm>
          <a:prstGeom prst="rect">
            <a:avLst/>
          </a:prstGeom>
          <a:noFill/>
          <a:ln/>
        </p:spPr>
        <p:txBody>
          <a:bodyPr wrap="square" lIns="0" tIns="0" rIns="0" bIns="0" rtlCol="0" anchor="ctr"/>
          <a:lstStyle/>
          <a:p>
            <a:pPr indent="0" marL="0">
              <a:buNone/>
            </a:pPr>
            <a:r>
              <a:rPr lang="en-US" sz="1500" b="1" dirty="0">
                <a:solidFill>
                  <a:schemeClr val="tx1"/>
                </a:solidFill>
              </a:rPr>
              <a:t>Why it can work: </a:t>
            </a:r>
            <a:endParaRPr lang="en-US" sz="1500" dirty="0"/>
          </a:p>
          <a:p>
            <a:pPr indent="0" marL="0">
              <a:buNone/>
            </a:pPr>
            <a:r>
              <a:rPr lang="en-US" sz="1500" dirty="0">
                <a:solidFill>
                  <a:schemeClr val="tx1"/>
                </a:solidFill>
              </a:rPr>
              <a:t>these cues occur in web text (TL;DR summaries, Q/A pages, translated sentences), so predicting what follows them well means picking up the pattern.</a:t>
            </a:r>
            <a:endParaRPr lang="en-US" sz="1500" dirty="0"/>
          </a:p>
        </p:txBody>
      </p:sp>
      <p:sp>
        <p:nvSpPr>
          <p:cNvPr id="7" name="nothing new"/>
          <p:cNvSpPr/>
          <p:nvPr/>
        </p:nvSpPr>
        <p:spPr>
          <a:xfrm>
            <a:off x="6263640" y="4663440"/>
            <a:ext cx="5349240" cy="1463040"/>
          </a:xfrm>
          <a:prstGeom prst="roundRect">
            <a:avLst>
              <a:gd name="adj" fmla="val 7500"/>
            </a:avLst>
          </a:prstGeom>
          <a:solidFill>
            <a:schemeClr val="accent5"/>
          </a:solidFill>
          <a:ln w="12700">
            <a:solidFill>
              <a:schemeClr val="accent5"/>
            </a:solidFill>
            <a:prstDash val="solid"/>
          </a:ln>
        </p:spPr>
      </p:sp>
      <p:sp>
        <p:nvSpPr>
          <p:cNvPr id="8" name="Text 4"/>
          <p:cNvSpPr txBox="1"/>
          <p:nvPr/>
        </p:nvSpPr>
        <p:spPr>
          <a:xfrm>
            <a:off x="6537960" y="4754880"/>
            <a:ext cx="4846320" cy="1280160"/>
          </a:xfrm>
          <a:prstGeom prst="rect">
            <a:avLst/>
          </a:prstGeom>
          <a:noFill/>
          <a:ln/>
        </p:spPr>
        <p:txBody>
          <a:bodyPr wrap="square" lIns="0" tIns="0" rIns="0" bIns="0" rtlCol="0" anchor="ctr"/>
          <a:lstStyle/>
          <a:p>
            <a:pPr indent="0" marL="0">
              <a:buNone/>
            </a:pPr>
            <a:r>
              <a:rPr lang="en-US" sz="1500" b="1" dirty="0">
                <a:solidFill>
                  <a:schemeClr val="tx1"/>
                </a:solidFill>
              </a:rPr>
              <a:t>Nothing new mechanically: </a:t>
            </a:r>
            <a:endParaRPr lang="en-US" sz="1500" dirty="0"/>
          </a:p>
          <a:p>
            <a:pPr indent="0" marL="0">
              <a:buNone/>
            </a:pPr>
            <a:r>
              <a:rPr lang="en-US" sz="1500" dirty="0">
                <a:solidFill>
                  <a:schemeClr val="tx1"/>
                </a:solidFill>
              </a:rPr>
              <a:t>the same causal forward pass and the same predict–append loop. Decoding choices are part of the method.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Zero-shot: possible, but weak and unreliable</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657600"/>
                <a:gridCol w="1554480"/>
                <a:gridCol w="5852160"/>
              </a:tblGrid>
              <a:tr h="548640">
                <a:tc>
                  <a:txBody>
                    <a:bodyPr/>
                    <a:lstStyle/>
                    <a:p>
                      <a:pPr indent="0" marL="0">
                        <a:buNone/>
                      </a:pPr>
                      <a:r>
                        <a:rPr lang="en-US" sz="1400" b="1" dirty="0">
                          <a:solidFill>
                            <a:schemeClr val="bg1"/>
                          </a:solidFill>
                        </a:rPr>
                        <a:t>Task (dataset, metric)</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GPT-2 1.5B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Comparison reported in the paper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48640">
                <a:tc>
                  <a:txBody>
                    <a:bodyPr/>
                    <a:lstStyle/>
                    <a:p>
                      <a:pPr indent="0" marL="0">
                        <a:buNone/>
                      </a:pPr>
                      <a:r>
                        <a:rPr lang="en-US" sz="1400" dirty="0">
                          <a:solidFill>
                            <a:schemeClr val="tx1"/>
                          </a:solidFill>
                        </a:rPr>
                        <a:t>Summarization (CNN/Daily Mail, avg. ROUGE)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21.40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20.98 random 3 sentences · 31.55 first 3 sentences · 15.03 without TL;DR: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Translation En → Fr (WMT-14, BLEU)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slightly worse than word-by-word dictionary substitution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Translation Fr → En (WMT-14, BLEU)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11.5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33.5 for the best unsupervised system at the time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Open-domain QA (Natural Questions, exact match)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4.1%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30–50% for systems that combine retrieval with reading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indent="0" marL="0">
                        <a:buNone/>
                      </a:pPr>
                      <a:r>
                        <a:rPr lang="en-US" sz="1400" dirty="0">
                          <a:solidFill>
                            <a:schemeClr val="tx1"/>
                          </a:solidFill>
                        </a:rPr>
                        <a:t>Reading comprehension (CoQA, F1)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55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matches or beats 3 of 4 trained baselines; humans reach 89</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The prompt selects the task"/>
          <p:cNvSpPr/>
          <p:nvPr/>
        </p:nvSpPr>
        <p:spPr>
          <a:xfrm>
            <a:off x="548640" y="4663440"/>
            <a:ext cx="3474720" cy="1143000"/>
          </a:xfrm>
          <a:prstGeom prst="roundRect">
            <a:avLst>
              <a:gd name="adj" fmla="val 9600"/>
            </a:avLst>
          </a:prstGeom>
          <a:solidFill>
            <a:schemeClr val="bg2"/>
          </a:solidFill>
          <a:ln w="12700">
            <a:solidFill>
              <a:schemeClr val="bg2"/>
            </a:solidFill>
            <a:prstDash val="solid"/>
          </a:ln>
        </p:spPr>
      </p:sp>
      <p:sp>
        <p:nvSpPr>
          <p:cNvPr id="6" name="Text 2"/>
          <p:cNvSpPr txBox="1"/>
          <p:nvPr/>
        </p:nvSpPr>
        <p:spPr>
          <a:xfrm>
            <a:off x="777240" y="4663440"/>
            <a:ext cx="3017520" cy="1143000"/>
          </a:xfrm>
          <a:prstGeom prst="rect">
            <a:avLst/>
          </a:prstGeom>
          <a:noFill/>
          <a:ln/>
        </p:spPr>
        <p:txBody>
          <a:bodyPr wrap="square" lIns="0" tIns="0" rIns="0" bIns="0" rtlCol="0" anchor="ctr"/>
          <a:lstStyle/>
          <a:p>
            <a:pPr indent="0" marL="0">
              <a:buNone/>
            </a:pPr>
            <a:r>
              <a:rPr lang="en-US" sz="1500" b="1" dirty="0">
                <a:solidFill>
                  <a:schemeClr val="accent1"/>
                </a:solidFill>
              </a:rPr>
              <a:t>The prompt selects the task</a:t>
            </a:r>
            <a:endParaRPr lang="en-US" sz="1500" dirty="0"/>
          </a:p>
          <a:p>
            <a:pPr indent="0" marL="0">
              <a:buNone/>
            </a:pPr>
            <a:r>
              <a:rPr lang="en-US" sz="1500" dirty="0">
                <a:solidFill>
                  <a:schemeClr val="tx1"/>
                </a:solidFill>
              </a:rPr>
              <a:t>Removing TL;DR: costs 6.4 ROUGE points.</a:t>
            </a:r>
            <a:endParaRPr lang="en-US" sz="1500" dirty="0"/>
          </a:p>
        </p:txBody>
      </p:sp>
      <p:sp>
        <p:nvSpPr>
          <p:cNvPr id="7" name="Can do ≠ does well"/>
          <p:cNvSpPr/>
          <p:nvPr/>
        </p:nvSpPr>
        <p:spPr>
          <a:xfrm>
            <a:off x="4297680" y="4663440"/>
            <a:ext cx="3474720" cy="1143000"/>
          </a:xfrm>
          <a:prstGeom prst="roundRect">
            <a:avLst>
              <a:gd name="adj" fmla="val 9600"/>
            </a:avLst>
          </a:prstGeom>
          <a:solidFill>
            <a:schemeClr val="bg2"/>
          </a:solidFill>
          <a:ln w="12700">
            <a:solidFill>
              <a:schemeClr val="bg2"/>
            </a:solidFill>
            <a:prstDash val="solid"/>
          </a:ln>
        </p:spPr>
      </p:sp>
      <p:sp>
        <p:nvSpPr>
          <p:cNvPr id="8" name="Text 4"/>
          <p:cNvSpPr txBox="1"/>
          <p:nvPr/>
        </p:nvSpPr>
        <p:spPr>
          <a:xfrm>
            <a:off x="4526280" y="4663440"/>
            <a:ext cx="3017520" cy="1143000"/>
          </a:xfrm>
          <a:prstGeom prst="rect">
            <a:avLst/>
          </a:prstGeom>
          <a:noFill/>
          <a:ln/>
        </p:spPr>
        <p:txBody>
          <a:bodyPr wrap="square" lIns="0" tIns="0" rIns="0" bIns="0" rtlCol="0" anchor="ctr"/>
          <a:lstStyle/>
          <a:p>
            <a:pPr indent="0" marL="0">
              <a:buNone/>
            </a:pPr>
            <a:r>
              <a:rPr lang="en-US" sz="1500" b="1" dirty="0">
                <a:solidFill>
                  <a:schemeClr val="accent3"/>
                </a:solidFill>
              </a:rPr>
              <a:t>Can do ≠ does well</a:t>
            </a:r>
            <a:endParaRPr lang="en-US" sz="1500" dirty="0"/>
          </a:p>
          <a:p>
            <a:pPr indent="0" marL="0">
              <a:buNone/>
            </a:pPr>
            <a:r>
              <a:rPr lang="en-US" sz="1500" dirty="0">
                <a:solidFill>
                  <a:schemeClr val="tx1"/>
                </a:solidFill>
              </a:rPr>
              <a:t>Summaries barely beat random sentences and confuse details.</a:t>
            </a:r>
            <a:endParaRPr lang="en-US" sz="1500" dirty="0"/>
          </a:p>
        </p:txBody>
      </p:sp>
      <p:sp>
        <p:nvSpPr>
          <p:cNvPr id="9" name="Scale mattered"/>
          <p:cNvSpPr/>
          <p:nvPr/>
        </p:nvSpPr>
        <p:spPr>
          <a:xfrm>
            <a:off x="8046720" y="4663440"/>
            <a:ext cx="3474720" cy="1143000"/>
          </a:xfrm>
          <a:prstGeom prst="roundRect">
            <a:avLst>
              <a:gd name="adj" fmla="val 9600"/>
            </a:avLst>
          </a:prstGeom>
          <a:solidFill>
            <a:schemeClr val="bg2"/>
          </a:solidFill>
          <a:ln w="12700">
            <a:solidFill>
              <a:schemeClr val="bg2"/>
            </a:solidFill>
            <a:prstDash val="solid"/>
          </a:ln>
        </p:spPr>
      </p:sp>
      <p:sp>
        <p:nvSpPr>
          <p:cNvPr id="10" name="Text 6"/>
          <p:cNvSpPr txBox="1"/>
          <p:nvPr/>
        </p:nvSpPr>
        <p:spPr>
          <a:xfrm>
            <a:off x="8275320" y="4663440"/>
            <a:ext cx="3017520" cy="1143000"/>
          </a:xfrm>
          <a:prstGeom prst="rect">
            <a:avLst/>
          </a:prstGeom>
          <a:noFill/>
          <a:ln/>
        </p:spPr>
        <p:txBody>
          <a:bodyPr wrap="square" lIns="0" tIns="0" rIns="0" bIns="0" rtlCol="0" anchor="ctr"/>
          <a:lstStyle/>
          <a:p>
            <a:pPr indent="0" marL="0">
              <a:buNone/>
            </a:pPr>
            <a:r>
              <a:rPr lang="en-US" sz="1500" b="1" dirty="0">
                <a:solidFill>
                  <a:schemeClr val="accent4"/>
                </a:solidFill>
              </a:rPr>
              <a:t>Scale mattered</a:t>
            </a:r>
            <a:endParaRPr lang="en-US" sz="1500" dirty="0"/>
          </a:p>
          <a:p>
            <a:pPr indent="0" marL="0">
              <a:buNone/>
            </a:pPr>
            <a:r>
              <a:rPr lang="en-US" sz="1500" dirty="0">
                <a:solidFill>
                  <a:schemeClr val="tx1"/>
                </a:solidFill>
              </a:rPr>
              <a:t>Every ability improved with size; the 124M model is much weaker.</a:t>
            </a:r>
            <a:endParaRPr lang="en-US" sz="1500" dirty="0"/>
          </a:p>
        </p:txBody>
      </p:sp>
      <p:sp>
        <p:nvSpPr>
          <p:cNvPr id="11" name="Text 7"/>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200" dirty="0">
                <a:solidFill>
                  <a:schemeClr val="tx2"/>
                </a:solidFill>
              </a:rPr>
              <a:t>Source: Radford et al. (2019), Language Models are Unsupervised Multitask Learners. Evaluate any prompted task with fixed prompts, decoding settings and a baseline.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When prompting is not enough: three levers</a:t>
            </a:r>
            <a:endParaRPr lang="en-US" sz="3200" dirty="0"/>
          </a:p>
        </p:txBody>
      </p:sp>
      <p:sp>
        <p:nvSpPr>
          <p:cNvPr id="4" name="Prompting"/>
          <p:cNvSpPr/>
          <p:nvPr/>
        </p:nvSpPr>
        <p:spPr>
          <a:xfrm>
            <a:off x="548640" y="1280160"/>
            <a:ext cx="3474720" cy="379476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508760"/>
            <a:ext cx="2926080" cy="5029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Prompting</a:t>
            </a:r>
            <a:endParaRPr lang="en-US" sz="2200" dirty="0"/>
          </a:p>
        </p:txBody>
      </p:sp>
      <p:sp>
        <p:nvSpPr>
          <p:cNvPr id="6" name="Text 3"/>
          <p:cNvSpPr txBox="1"/>
          <p:nvPr/>
        </p:nvSpPr>
        <p:spPr>
          <a:xfrm>
            <a:off x="822960" y="2148840"/>
            <a:ext cx="2926080" cy="914400"/>
          </a:xfrm>
          <a:prstGeom prst="rect">
            <a:avLst/>
          </a:prstGeom>
          <a:noFill/>
          <a:ln/>
        </p:spPr>
        <p:txBody>
          <a:bodyPr wrap="square" lIns="0" tIns="0" rIns="0" bIns="0" rtlCol="0" anchor="t"/>
          <a:lstStyle/>
          <a:p>
            <a:pPr indent="0" marL="0">
              <a:buNone/>
            </a:pPr>
            <a:r>
              <a:rPr lang="en-US" sz="1500" b="1" dirty="0">
                <a:solidFill>
                  <a:schemeClr val="tx1"/>
                </a:solidFill>
              </a:rPr>
              <a:t>Changes: </a:t>
            </a:r>
            <a:endParaRPr lang="en-US" sz="1500" dirty="0"/>
          </a:p>
          <a:p>
            <a:pPr indent="0" marL="0">
              <a:buNone/>
            </a:pPr>
            <a:r>
              <a:rPr lang="en-US" sz="1500" dirty="0">
                <a:solidFill>
                  <a:schemeClr val="tx1"/>
                </a:solidFill>
              </a:rPr>
              <a:t>only the input text: instructions, format, examples</a:t>
            </a:r>
            <a:endParaRPr lang="en-US" sz="1500" dirty="0"/>
          </a:p>
        </p:txBody>
      </p:sp>
      <p:sp>
        <p:nvSpPr>
          <p:cNvPr id="7" name="Text 4"/>
          <p:cNvSpPr txBox="1"/>
          <p:nvPr/>
        </p:nvSpPr>
        <p:spPr>
          <a:xfrm>
            <a:off x="822960" y="3108960"/>
            <a:ext cx="2926080" cy="731520"/>
          </a:xfrm>
          <a:prstGeom prst="rect">
            <a:avLst/>
          </a:prstGeom>
          <a:noFill/>
          <a:ln/>
        </p:spPr>
        <p:txBody>
          <a:bodyPr wrap="square" lIns="0" tIns="0" rIns="0" bIns="0" rtlCol="0" anchor="t"/>
          <a:lstStyle/>
          <a:p>
            <a:pPr indent="0" marL="0">
              <a:buNone/>
            </a:pPr>
            <a:r>
              <a:rPr lang="en-US" sz="1500" b="1" dirty="0">
                <a:solidFill>
                  <a:schemeClr val="tx1"/>
                </a:solidFill>
              </a:rPr>
              <a:t>Stays fixed: </a:t>
            </a:r>
            <a:endParaRPr lang="en-US" sz="1500" dirty="0"/>
          </a:p>
          <a:p>
            <a:pPr indent="0" marL="0">
              <a:buNone/>
            </a:pPr>
            <a:r>
              <a:rPr lang="en-US" sz="1500" dirty="0">
                <a:solidFill>
                  <a:schemeClr val="tx1"/>
                </a:solidFill>
              </a:rPr>
              <a:t>the weights</a:t>
            </a:r>
            <a:endParaRPr lang="en-US" sz="1500" dirty="0"/>
          </a:p>
        </p:txBody>
      </p:sp>
      <p:sp>
        <p:nvSpPr>
          <p:cNvPr id="8" name="Text 5"/>
          <p:cNvSpPr txBox="1"/>
          <p:nvPr/>
        </p:nvSpPr>
        <p:spPr>
          <a:xfrm>
            <a:off x="822960" y="3886200"/>
            <a:ext cx="2926080" cy="1051560"/>
          </a:xfrm>
          <a:prstGeom prst="rect">
            <a:avLst/>
          </a:prstGeom>
          <a:noFill/>
          <a:ln/>
        </p:spPr>
        <p:txBody>
          <a:bodyPr wrap="square" lIns="0" tIns="0" rIns="0" bIns="0" rtlCol="0" anchor="t"/>
          <a:lstStyle/>
          <a:p>
            <a:pPr indent="0" marL="0">
              <a:buNone/>
            </a:pPr>
            <a:r>
              <a:rPr lang="en-US" sz="1500" b="1" dirty="0">
                <a:solidFill>
                  <a:schemeClr val="tx1"/>
                </a:solidFill>
              </a:rPr>
              <a:t>Example: </a:t>
            </a:r>
            <a:endParaRPr lang="en-US" sz="1500" dirty="0"/>
          </a:p>
          <a:p>
            <a:pPr indent="0" marL="0">
              <a:buNone/>
            </a:pPr>
            <a:r>
              <a:rPr lang="en-US" sz="1500" i="1" dirty="0">
                <a:solidFill>
                  <a:schemeClr val="tx1"/>
                </a:solidFill>
              </a:rPr>
              <a:t>add TL;DR:, or show 3 labelled reviews first</a:t>
            </a:r>
            <a:endParaRPr lang="en-US" sz="1500" dirty="0"/>
          </a:p>
        </p:txBody>
      </p:sp>
      <p:sp>
        <p:nvSpPr>
          <p:cNvPr id="9" name="Fine-tuning"/>
          <p:cNvSpPr/>
          <p:nvPr/>
        </p:nvSpPr>
        <p:spPr>
          <a:xfrm>
            <a:off x="4297680" y="1280160"/>
            <a:ext cx="3474720" cy="3794760"/>
          </a:xfrm>
          <a:prstGeom prst="roundRect">
            <a:avLst>
              <a:gd name="adj" fmla="val 3158"/>
            </a:avLst>
          </a:prstGeom>
          <a:solidFill>
            <a:schemeClr val="bg2"/>
          </a:solidFill>
          <a:ln w="12700">
            <a:solidFill>
              <a:schemeClr val="bg2"/>
            </a:solidFill>
            <a:prstDash val="solid"/>
          </a:ln>
        </p:spPr>
      </p:sp>
      <p:sp>
        <p:nvSpPr>
          <p:cNvPr id="10" name="Text 7"/>
          <p:cNvSpPr txBox="1"/>
          <p:nvPr/>
        </p:nvSpPr>
        <p:spPr>
          <a:xfrm>
            <a:off x="4572000" y="1508760"/>
            <a:ext cx="292608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Fine-tuning</a:t>
            </a:r>
            <a:endParaRPr lang="en-US" sz="2200" dirty="0"/>
          </a:p>
        </p:txBody>
      </p:sp>
      <p:sp>
        <p:nvSpPr>
          <p:cNvPr id="11" name="Text 8"/>
          <p:cNvSpPr txBox="1"/>
          <p:nvPr/>
        </p:nvSpPr>
        <p:spPr>
          <a:xfrm>
            <a:off x="4572000" y="2148840"/>
            <a:ext cx="2926080" cy="914400"/>
          </a:xfrm>
          <a:prstGeom prst="rect">
            <a:avLst/>
          </a:prstGeom>
          <a:noFill/>
          <a:ln/>
        </p:spPr>
        <p:txBody>
          <a:bodyPr wrap="square" lIns="0" tIns="0" rIns="0" bIns="0" rtlCol="0" anchor="t"/>
          <a:lstStyle/>
          <a:p>
            <a:pPr indent="0" marL="0">
              <a:buNone/>
            </a:pPr>
            <a:r>
              <a:rPr lang="en-US" sz="1500" b="1" dirty="0">
                <a:solidFill>
                  <a:schemeClr val="tx1"/>
                </a:solidFill>
              </a:rPr>
              <a:t>Changes: </a:t>
            </a:r>
            <a:endParaRPr lang="en-US" sz="1500" dirty="0"/>
          </a:p>
          <a:p>
            <a:pPr indent="0" marL="0">
              <a:buNone/>
            </a:pPr>
            <a:r>
              <a:rPr lang="en-US" sz="1500" dirty="0">
                <a:solidFill>
                  <a:schemeClr val="tx1"/>
                </a:solidFill>
              </a:rPr>
              <a:t>the weights, by training on task examples</a:t>
            </a:r>
            <a:endParaRPr lang="en-US" sz="1500" dirty="0"/>
          </a:p>
        </p:txBody>
      </p:sp>
      <p:sp>
        <p:nvSpPr>
          <p:cNvPr id="12" name="Text 9"/>
          <p:cNvSpPr txBox="1"/>
          <p:nvPr/>
        </p:nvSpPr>
        <p:spPr>
          <a:xfrm>
            <a:off x="4572000" y="3108960"/>
            <a:ext cx="2926080" cy="731520"/>
          </a:xfrm>
          <a:prstGeom prst="rect">
            <a:avLst/>
          </a:prstGeom>
          <a:noFill/>
          <a:ln/>
        </p:spPr>
        <p:txBody>
          <a:bodyPr wrap="square" lIns="0" tIns="0" rIns="0" bIns="0" rtlCol="0" anchor="t"/>
          <a:lstStyle/>
          <a:p>
            <a:pPr indent="0" marL="0">
              <a:buNone/>
            </a:pPr>
            <a:r>
              <a:rPr lang="en-US" sz="1500" b="1" dirty="0">
                <a:solidFill>
                  <a:schemeClr val="tx1"/>
                </a:solidFill>
              </a:rPr>
              <a:t>Stays fixed: </a:t>
            </a:r>
            <a:endParaRPr lang="en-US" sz="1500" dirty="0"/>
          </a:p>
          <a:p>
            <a:pPr indent="0" marL="0">
              <a:buNone/>
            </a:pPr>
            <a:r>
              <a:rPr lang="en-US" sz="1500" dirty="0">
                <a:solidFill>
                  <a:schemeClr val="tx1"/>
                </a:solidFill>
              </a:rPr>
              <a:t>the architecture and the loss</a:t>
            </a:r>
            <a:endParaRPr lang="en-US" sz="1500" dirty="0"/>
          </a:p>
        </p:txBody>
      </p:sp>
      <p:sp>
        <p:nvSpPr>
          <p:cNvPr id="13" name="Text 10"/>
          <p:cNvSpPr txBox="1"/>
          <p:nvPr/>
        </p:nvSpPr>
        <p:spPr>
          <a:xfrm>
            <a:off x="4572000" y="3886200"/>
            <a:ext cx="2926080" cy="1051560"/>
          </a:xfrm>
          <a:prstGeom prst="rect">
            <a:avLst/>
          </a:prstGeom>
          <a:noFill/>
          <a:ln/>
        </p:spPr>
        <p:txBody>
          <a:bodyPr wrap="square" lIns="0" tIns="0" rIns="0" bIns="0" rtlCol="0" anchor="t"/>
          <a:lstStyle/>
          <a:p>
            <a:pPr indent="0" marL="0">
              <a:buNone/>
            </a:pPr>
            <a:r>
              <a:rPr lang="en-US" sz="1500" b="1" dirty="0">
                <a:solidFill>
                  <a:schemeClr val="tx1"/>
                </a:solidFill>
              </a:rPr>
              <a:t>Example: </a:t>
            </a:r>
            <a:endParaRPr lang="en-US" sz="1500" dirty="0"/>
          </a:p>
          <a:p>
            <a:pPr indent="0" marL="0">
              <a:buNone/>
            </a:pPr>
            <a:r>
              <a:rPr lang="en-US" sz="1500" i="1" dirty="0">
                <a:solidFill>
                  <a:schemeClr val="tx1"/>
                </a:solidFill>
              </a:rPr>
              <a:t>train on article TL;DR: summary texts</a:t>
            </a:r>
            <a:endParaRPr lang="en-US" sz="1500" dirty="0"/>
          </a:p>
        </p:txBody>
      </p:sp>
      <p:sp>
        <p:nvSpPr>
          <p:cNvPr id="14" name="Retrieval (RAG)"/>
          <p:cNvSpPr/>
          <p:nvPr/>
        </p:nvSpPr>
        <p:spPr>
          <a:xfrm>
            <a:off x="8046720" y="1280160"/>
            <a:ext cx="3474720" cy="3794760"/>
          </a:xfrm>
          <a:prstGeom prst="roundRect">
            <a:avLst>
              <a:gd name="adj" fmla="val 3158"/>
            </a:avLst>
          </a:prstGeom>
          <a:solidFill>
            <a:schemeClr val="bg2"/>
          </a:solidFill>
          <a:ln w="12700">
            <a:solidFill>
              <a:schemeClr val="bg2"/>
            </a:solidFill>
            <a:prstDash val="solid"/>
          </a:ln>
        </p:spPr>
      </p:sp>
      <p:sp>
        <p:nvSpPr>
          <p:cNvPr id="15" name="Text 12"/>
          <p:cNvSpPr txBox="1"/>
          <p:nvPr/>
        </p:nvSpPr>
        <p:spPr>
          <a:xfrm>
            <a:off x="8321040" y="1508760"/>
            <a:ext cx="2926080" cy="50292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Retrieval (RAG)</a:t>
            </a:r>
            <a:endParaRPr lang="en-US" sz="2200" dirty="0"/>
          </a:p>
        </p:txBody>
      </p:sp>
      <p:sp>
        <p:nvSpPr>
          <p:cNvPr id="16" name="Text 13"/>
          <p:cNvSpPr txBox="1"/>
          <p:nvPr/>
        </p:nvSpPr>
        <p:spPr>
          <a:xfrm>
            <a:off x="8321040" y="2148840"/>
            <a:ext cx="2926080" cy="914400"/>
          </a:xfrm>
          <a:prstGeom prst="rect">
            <a:avLst/>
          </a:prstGeom>
          <a:noFill/>
          <a:ln/>
        </p:spPr>
        <p:txBody>
          <a:bodyPr wrap="square" lIns="0" tIns="0" rIns="0" bIns="0" rtlCol="0" anchor="t"/>
          <a:lstStyle/>
          <a:p>
            <a:pPr indent="0" marL="0">
              <a:buNone/>
            </a:pPr>
            <a:r>
              <a:rPr lang="en-US" sz="1500" b="1" dirty="0">
                <a:solidFill>
                  <a:schemeClr val="tx1"/>
                </a:solidFill>
              </a:rPr>
              <a:t>Changes: </a:t>
            </a:r>
            <a:endParaRPr lang="en-US" sz="1500" dirty="0"/>
          </a:p>
          <a:p>
            <a:pPr indent="0" marL="0">
              <a:buNone/>
            </a:pPr>
            <a:r>
              <a:rPr lang="en-US" sz="1500" dirty="0">
                <a:solidFill>
                  <a:schemeClr val="tx1"/>
                </a:solidFill>
              </a:rPr>
              <a:t>the context: retrieved documents go in the prompt</a:t>
            </a:r>
            <a:endParaRPr lang="en-US" sz="1500" dirty="0"/>
          </a:p>
        </p:txBody>
      </p:sp>
      <p:sp>
        <p:nvSpPr>
          <p:cNvPr id="17" name="Text 14"/>
          <p:cNvSpPr txBox="1"/>
          <p:nvPr/>
        </p:nvSpPr>
        <p:spPr>
          <a:xfrm>
            <a:off x="8321040" y="3108960"/>
            <a:ext cx="2926080" cy="731520"/>
          </a:xfrm>
          <a:prstGeom prst="rect">
            <a:avLst/>
          </a:prstGeom>
          <a:noFill/>
          <a:ln/>
        </p:spPr>
        <p:txBody>
          <a:bodyPr wrap="square" lIns="0" tIns="0" rIns="0" bIns="0" rtlCol="0" anchor="t"/>
          <a:lstStyle/>
          <a:p>
            <a:pPr indent="0" marL="0">
              <a:buNone/>
            </a:pPr>
            <a:r>
              <a:rPr lang="en-US" sz="1500" b="1" dirty="0">
                <a:solidFill>
                  <a:schemeClr val="tx1"/>
                </a:solidFill>
              </a:rPr>
              <a:t>Stays fixed: </a:t>
            </a:r>
            <a:endParaRPr lang="en-US" sz="1500" dirty="0"/>
          </a:p>
          <a:p>
            <a:pPr indent="0" marL="0">
              <a:buNone/>
            </a:pPr>
            <a:r>
              <a:rPr lang="en-US" sz="1500" dirty="0">
                <a:solidFill>
                  <a:schemeClr val="tx1"/>
                </a:solidFill>
              </a:rPr>
              <a:t>the weights</a:t>
            </a:r>
            <a:endParaRPr lang="en-US" sz="1500" dirty="0"/>
          </a:p>
        </p:txBody>
      </p:sp>
      <p:sp>
        <p:nvSpPr>
          <p:cNvPr id="18" name="Text 15"/>
          <p:cNvSpPr txBox="1"/>
          <p:nvPr/>
        </p:nvSpPr>
        <p:spPr>
          <a:xfrm>
            <a:off x="8321040" y="3886200"/>
            <a:ext cx="2926080" cy="1051560"/>
          </a:xfrm>
          <a:prstGeom prst="rect">
            <a:avLst/>
          </a:prstGeom>
          <a:noFill/>
          <a:ln/>
        </p:spPr>
        <p:txBody>
          <a:bodyPr wrap="square" lIns="0" tIns="0" rIns="0" bIns="0" rtlCol="0" anchor="t"/>
          <a:lstStyle/>
          <a:p>
            <a:pPr indent="0" marL="0">
              <a:buNone/>
            </a:pPr>
            <a:r>
              <a:rPr lang="en-US" sz="1500" b="1" dirty="0">
                <a:solidFill>
                  <a:schemeClr val="tx1"/>
                </a:solidFill>
              </a:rPr>
              <a:t>Example: </a:t>
            </a:r>
            <a:endParaRPr lang="en-US" sz="1500" dirty="0"/>
          </a:p>
          <a:p>
            <a:pPr indent="0" marL="0">
              <a:buNone/>
            </a:pPr>
            <a:r>
              <a:rPr lang="en-US" sz="1500" i="1" dirty="0">
                <a:solidFill>
                  <a:schemeClr val="tx1"/>
                </a:solidFill>
              </a:rPr>
              <a:t>put the relevant handbook paragraph before the question</a:t>
            </a:r>
            <a:endParaRPr lang="en-US" sz="1500" dirty="0"/>
          </a:p>
        </p:txBody>
      </p:sp>
      <p:sp>
        <p:nvSpPr>
          <p:cNvPr id="19" name="Text 16"/>
          <p:cNvSpPr txBox="1"/>
          <p:nvPr/>
        </p:nvSpPr>
        <p:spPr>
          <a:xfrm>
            <a:off x="548640" y="5257800"/>
            <a:ext cx="11064240" cy="10058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Fine-tuning reuses the training loss </a:t>
            </a:r>
            <a:r>
              <a:rPr lang="en-US" sz="1500" dirty="0">
                <a:solidFill>
                  <a:schemeClr val="tx1"/>
                </a:solidFill>
              </a:rPr>
              <a:t>(shifted targets, cross-entropy) on task examples. LoRA updates a few added parameters instead of all weights: Module 3.</a:t>
            </a:r>
            <a:endParaRPr lang="en-US" sz="1500" dirty="0"/>
          </a:p>
          <a:p>
            <a:pPr marL="228600" indent="-228600">
              <a:spcAft>
                <a:spcPts val="800"/>
              </a:spcAft>
              <a:buSzPct val="100000"/>
              <a:buChar char="•"/>
            </a:pPr>
            <a:r>
              <a:rPr lang="en-US" sz="1500" b="1" dirty="0">
                <a:solidFill>
                  <a:schemeClr val="tx1"/>
                </a:solidFill>
              </a:rPr>
              <a:t>Retrieval teaches the model nothing: </a:t>
            </a:r>
            <a:r>
              <a:rPr lang="en-US" sz="1500" dirty="0">
                <a:solidFill>
                  <a:schemeClr val="tx1"/>
                </a:solidFill>
              </a:rPr>
              <a:t>remove the documents and the knowledge is gone. It suits facts that change often or are private.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Likely is not the same as true</a:t>
            </a:r>
            <a:endParaRPr lang="en-US" sz="3200" dirty="0"/>
          </a:p>
        </p:txBody>
      </p:sp>
      <p:sp>
        <p:nvSpPr>
          <p:cNvPr id="4" name="example"/>
          <p:cNvSpPr/>
          <p:nvPr/>
        </p:nvSpPr>
        <p:spPr>
          <a:xfrm>
            <a:off x="548640" y="1280160"/>
            <a:ext cx="5486400" cy="4846320"/>
          </a:xfrm>
          <a:prstGeom prst="roundRect">
            <a:avLst>
              <a:gd name="adj" fmla="val 2264"/>
            </a:avLst>
          </a:prstGeom>
          <a:solidFill>
            <a:schemeClr val="tx1"/>
          </a:solidFill>
          <a:ln w="12700">
            <a:solidFill>
              <a:schemeClr val="tx1"/>
            </a:solidFill>
            <a:prstDash val="solid"/>
          </a:ln>
        </p:spPr>
      </p:sp>
      <p:sp>
        <p:nvSpPr>
          <p:cNvPr id="5" name="Text 2"/>
          <p:cNvSpPr txBox="1"/>
          <p:nvPr/>
        </p:nvSpPr>
        <p:spPr>
          <a:xfrm>
            <a:off x="868680" y="1508760"/>
            <a:ext cx="4846320" cy="365760"/>
          </a:xfrm>
          <a:prstGeom prst="rect">
            <a:avLst/>
          </a:prstGeom>
          <a:noFill/>
          <a:ln/>
        </p:spPr>
        <p:txBody>
          <a:bodyPr wrap="square" lIns="0" tIns="0" rIns="0" bIns="0" rtlCol="0" anchor="t"/>
          <a:lstStyle/>
          <a:p>
            <a:pPr indent="0" marL="0">
              <a:buNone/>
            </a:pPr>
            <a:r>
              <a:rPr lang="en-US" sz="1400" dirty="0">
                <a:solidFill>
                  <a:srgbClr val="C9CFDA"/>
                </a:solidFill>
              </a:rPr>
              <a:t>From the GPT-2 paper's question-answering examples</a:t>
            </a:r>
            <a:endParaRPr lang="en-US" sz="1400" dirty="0"/>
          </a:p>
        </p:txBody>
      </p:sp>
      <p:sp>
        <p:nvSpPr>
          <p:cNvPr id="6" name="Text 3"/>
          <p:cNvSpPr txBox="1"/>
          <p:nvPr/>
        </p:nvSpPr>
        <p:spPr>
          <a:xfrm>
            <a:off x="868680" y="2011680"/>
            <a:ext cx="4846320" cy="1188720"/>
          </a:xfrm>
          <a:prstGeom prst="rect">
            <a:avLst/>
          </a:prstGeom>
          <a:noFill/>
          <a:ln/>
        </p:spPr>
        <p:txBody>
          <a:bodyPr wrap="square" lIns="0" tIns="0" rIns="0" bIns="0" rtlCol="0" anchor="t"/>
          <a:lstStyle/>
          <a:p>
            <a:pPr indent="0" marL="0">
              <a:buNone/>
            </a:pPr>
            <a:r>
              <a:rPr lang="en-US" sz="2400" i="1" dirty="0">
                <a:solidFill>
                  <a:schemeClr val="bg1"/>
                </a:solidFill>
                <a:latin typeface="Cambria" pitchFamily="34" charset="0"/>
                <a:ea typeface="Cambria" pitchFamily="34" charset="-122"/>
                <a:cs typeface="Cambria" pitchFamily="34" charset="-120"/>
              </a:rPr>
              <a:t>“What US state forms the western boundary of Montana?”</a:t>
            </a:r>
            <a:endParaRPr lang="en-US" sz="2400" dirty="0"/>
          </a:p>
        </p:txBody>
      </p:sp>
      <p:sp>
        <p:nvSpPr>
          <p:cNvPr id="7" name="Text 4"/>
          <p:cNvSpPr txBox="1"/>
          <p:nvPr/>
        </p:nvSpPr>
        <p:spPr>
          <a:xfrm>
            <a:off x="868680" y="3429000"/>
            <a:ext cx="4846320" cy="320040"/>
          </a:xfrm>
          <a:prstGeom prst="rect">
            <a:avLst/>
          </a:prstGeom>
          <a:noFill/>
          <a:ln/>
        </p:spPr>
        <p:txBody>
          <a:bodyPr wrap="square" lIns="0" tIns="0" rIns="0" bIns="0" rtlCol="0" anchor="t"/>
          <a:lstStyle/>
          <a:p>
            <a:pPr indent="0" marL="0">
              <a:buNone/>
            </a:pPr>
            <a:r>
              <a:rPr lang="en-US" sz="1400" dirty="0">
                <a:solidFill>
                  <a:srgbClr val="C9CFDA"/>
                </a:solidFill>
              </a:rPr>
              <a:t>GPT-2's answer</a:t>
            </a:r>
            <a:endParaRPr lang="en-US" sz="1400" dirty="0"/>
          </a:p>
        </p:txBody>
      </p:sp>
      <p:sp>
        <p:nvSpPr>
          <p:cNvPr id="8" name="Text 5"/>
          <p:cNvSpPr txBox="1"/>
          <p:nvPr/>
        </p:nvSpPr>
        <p:spPr>
          <a:xfrm>
            <a:off x="868680" y="3749040"/>
            <a:ext cx="484632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Montana</a:t>
            </a:r>
            <a:endParaRPr lang="en-US" sz="4400" dirty="0"/>
          </a:p>
        </p:txBody>
      </p:sp>
      <p:sp>
        <p:nvSpPr>
          <p:cNvPr id="9" name="Text 6"/>
          <p:cNvSpPr txBox="1"/>
          <p:nvPr/>
        </p:nvSpPr>
        <p:spPr>
          <a:xfrm>
            <a:off x="868680" y="4617720"/>
            <a:ext cx="4846320" cy="365760"/>
          </a:xfrm>
          <a:prstGeom prst="rect">
            <a:avLst/>
          </a:prstGeom>
          <a:noFill/>
          <a:ln/>
        </p:spPr>
        <p:txBody>
          <a:bodyPr wrap="square" lIns="0" tIns="0" rIns="0" bIns="0" rtlCol="0" anchor="t"/>
          <a:lstStyle/>
          <a:p>
            <a:pPr indent="0" marL="0">
              <a:buNone/>
            </a:pPr>
            <a:r>
              <a:rPr lang="en-US" sz="1500" dirty="0">
                <a:solidFill>
                  <a:schemeClr val="bg1"/>
                </a:solidFill>
              </a:rPr>
              <a:t>with 52.3% probability (Radford et al., 2019)</a:t>
            </a:r>
            <a:endParaRPr lang="en-US" sz="1500" dirty="0"/>
          </a:p>
        </p:txBody>
      </p:sp>
      <p:sp>
        <p:nvSpPr>
          <p:cNvPr id="10" name="Text 7"/>
          <p:cNvSpPr txBox="1"/>
          <p:nvPr/>
        </p:nvSpPr>
        <p:spPr>
          <a:xfrm>
            <a:off x="6400800" y="1325880"/>
            <a:ext cx="5212080" cy="914400"/>
          </a:xfrm>
          <a:prstGeom prst="rect">
            <a:avLst/>
          </a:prstGeom>
          <a:noFill/>
          <a:ln/>
        </p:spPr>
        <p:txBody>
          <a:bodyPr wrap="square" lIns="0" tIns="0" rIns="0" bIns="0" rtlCol="0" anchor="t"/>
          <a:lstStyle/>
          <a:p>
            <a:pPr indent="0" marL="0">
              <a:buNone/>
            </a:pPr>
            <a:r>
              <a:rPr lang="en-US" sz="1800" b="1" dirty="0">
                <a:solidFill>
                  <a:schemeClr val="tx1"/>
                </a:solidFill>
              </a:rPr>
              <a:t>The loss rewards what came next in the training text. Nothing in it checks whether a statement is correct.</a:t>
            </a:r>
            <a:endParaRPr lang="en-US" sz="1800" dirty="0"/>
          </a:p>
        </p:txBody>
      </p:sp>
      <p:sp>
        <p:nvSpPr>
          <p:cNvPr id="11" name="Text 8"/>
          <p:cNvSpPr txBox="1"/>
          <p:nvPr/>
        </p:nvSpPr>
        <p:spPr>
          <a:xfrm>
            <a:off x="6400800" y="2468880"/>
            <a:ext cx="5212080" cy="365760"/>
          </a:xfrm>
          <a:prstGeom prst="rect">
            <a:avLst/>
          </a:prstGeom>
          <a:noFill/>
          <a:ln/>
        </p:spPr>
        <p:txBody>
          <a:bodyPr wrap="square" lIns="0" tIns="0" rIns="0" bIns="0" rtlCol="0" anchor="t"/>
          <a:lstStyle/>
          <a:p>
            <a:pPr indent="0" marL="0">
              <a:buNone/>
            </a:pPr>
            <a:r>
              <a:rPr lang="en-US" sz="1600" dirty="0">
                <a:solidFill>
                  <a:schemeClr val="tx2"/>
                </a:solidFill>
              </a:rPr>
              <a:t>A model trained this way…</a:t>
            </a:r>
            <a:endParaRPr lang="en-US" sz="1600" dirty="0"/>
          </a:p>
        </p:txBody>
      </p:sp>
      <p:sp>
        <p:nvSpPr>
          <p:cNvPr id="12" name="Text 9"/>
          <p:cNvSpPr txBox="1"/>
          <p:nvPr/>
        </p:nvSpPr>
        <p:spPr>
          <a:xfrm>
            <a:off x="6400800" y="2880360"/>
            <a:ext cx="5212080" cy="2194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can repeat a false claim that is common in its training data</a:t>
            </a:r>
            <a:endParaRPr lang="en-US" sz="1600" dirty="0"/>
          </a:p>
          <a:p>
            <a:pPr marL="228600" indent="-228600">
              <a:spcAft>
                <a:spcPts val="800"/>
              </a:spcAft>
              <a:buSzPct val="100000"/>
              <a:buChar char="•"/>
            </a:pPr>
            <a:r>
              <a:rPr lang="en-US" sz="1600" dirty="0">
                <a:solidFill>
                  <a:schemeClr val="tx1"/>
                </a:solidFill>
              </a:rPr>
              <a:t>tends to accept a false premise in the prompt, because accepting it is often the likeliest continuation</a:t>
            </a:r>
            <a:endParaRPr lang="en-US" sz="1600" dirty="0"/>
          </a:p>
          <a:p>
            <a:pPr marL="228600" indent="-228600">
              <a:spcAft>
                <a:spcPts val="800"/>
              </a:spcAft>
              <a:buSzPct val="100000"/>
              <a:buChar char="•"/>
            </a:pPr>
            <a:r>
              <a:rPr lang="en-US" sz="1600" dirty="0">
                <a:solidFill>
                  <a:schemeClr val="tx1"/>
                </a:solidFill>
              </a:rPr>
              <a:t>produces fluent, confident text whether or not it has the answer: </a:t>
            </a:r>
            <a:r>
              <a:rPr lang="en-US" sz="1600" b="1" dirty="0">
                <a:solidFill>
                  <a:schemeClr val="accent3"/>
                </a:solidFill>
              </a:rPr>
              <a:t>hallucination</a:t>
            </a:r>
            <a:endParaRPr lang="en-US" sz="1600" dirty="0"/>
          </a:p>
        </p:txBody>
      </p:sp>
      <p:sp>
        <p:nvSpPr>
          <p:cNvPr id="13" name="check"/>
          <p:cNvSpPr/>
          <p:nvPr/>
        </p:nvSpPr>
        <p:spPr>
          <a:xfrm>
            <a:off x="6400800" y="5166360"/>
            <a:ext cx="5212080" cy="960120"/>
          </a:xfrm>
          <a:prstGeom prst="roundRect">
            <a:avLst>
              <a:gd name="adj" fmla="val 11429"/>
            </a:avLst>
          </a:prstGeom>
          <a:solidFill>
            <a:schemeClr val="accent5"/>
          </a:solidFill>
          <a:ln w="12700">
            <a:solidFill>
              <a:schemeClr val="accent5"/>
            </a:solidFill>
            <a:prstDash val="solid"/>
          </a:ln>
        </p:spPr>
      </p:sp>
      <p:sp>
        <p:nvSpPr>
          <p:cNvPr id="14" name="Text 11"/>
          <p:cNvSpPr txBox="1"/>
          <p:nvPr/>
        </p:nvSpPr>
        <p:spPr>
          <a:xfrm>
            <a:off x="6629400" y="5166360"/>
            <a:ext cx="4754880" cy="960120"/>
          </a:xfrm>
          <a:prstGeom prst="rect">
            <a:avLst/>
          </a:prstGeom>
          <a:noFill/>
          <a:ln/>
        </p:spPr>
        <p:txBody>
          <a:bodyPr wrap="square" lIns="0" tIns="0" rIns="0" bIns="0" rtlCol="0" anchor="ctr"/>
          <a:lstStyle/>
          <a:p>
            <a:pPr indent="0" marL="0">
              <a:buNone/>
            </a:pPr>
            <a:r>
              <a:rPr lang="en-US" sz="1500" dirty="0">
                <a:solidFill>
                  <a:schemeClr val="tx1"/>
                </a:solidFill>
              </a:rPr>
              <a:t>Retrieval can put real sources in context, but the model can still ignore or misread them. Check generated text against evidence.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1732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In a four-token input, which columns may query row 1 attend to, and which does the mask block?</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08760"/>
            <a:ext cx="457200" cy="457200"/>
          </a:xfrm>
          <a:prstGeom prst="ellipse">
            <a:avLst/>
          </a:prstGeom>
          <a:solidFill>
            <a:schemeClr val="accent4"/>
          </a:solidFill>
          <a:ln w="12700">
            <a:solidFill>
              <a:schemeClr val="accent4"/>
            </a:solidFill>
            <a:prstDash val="solid"/>
          </a:ln>
        </p:spPr>
      </p:sp>
      <p:sp>
        <p:nvSpPr>
          <p:cNvPr id="10" name="Text 7"/>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4088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can training score every position in one pass, while generation needs one pass per new token? Which test shows the two agree?</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154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1732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If you remove the mask but keep the shifted targets, what leaks? Which test detects it?</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154680"/>
            <a:ext cx="457200" cy="457200"/>
          </a:xfrm>
          <a:prstGeom prst="ellipse">
            <a:avLst/>
          </a:prstGeom>
          <a:solidFill>
            <a:schemeClr val="accent4"/>
          </a:solidFill>
          <a:ln w="12700">
            <a:solidFill>
              <a:schemeClr val="accent4"/>
            </a:solidFill>
            <a:prstDash val="solid"/>
          </a:ln>
        </p:spPr>
      </p:sp>
      <p:sp>
        <p:nvSpPr>
          <p:cNvPr id="18" name="Text 15"/>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4088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does one mask inside attention make the whole model causal?</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48006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1732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An untrained model with V = 16 starts at loss 9.0. What does ln 16 tell you, and what might be wrong?</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480060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640080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4088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Do temperature or top-k change the model's weights or its training loss?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Practice and further reading</a:t>
            </a:r>
            <a:endParaRPr lang="en-US" sz="3200" dirty="0"/>
          </a:p>
        </p:txBody>
      </p:sp>
      <p:sp>
        <p:nvSpPr>
          <p:cNvPr id="4" name="practice"/>
          <p:cNvSpPr/>
          <p:nvPr/>
        </p:nvSpPr>
        <p:spPr>
          <a:xfrm>
            <a:off x="548640" y="1280160"/>
            <a:ext cx="5120640" cy="4846320"/>
          </a:xfrm>
          <a:prstGeom prst="roundRect">
            <a:avLst>
              <a:gd name="adj" fmla="val 2264"/>
            </a:avLst>
          </a:prstGeom>
          <a:solidFill>
            <a:schemeClr val="bg2"/>
          </a:solidFill>
          <a:ln w="12700">
            <a:solidFill>
              <a:schemeClr val="bg2"/>
            </a:solidFill>
            <a:prstDash val="solid"/>
          </a:ln>
        </p:spPr>
      </p:sp>
      <p:sp>
        <p:nvSpPr>
          <p:cNvPr id="5" name="Text 2"/>
          <p:cNvSpPr txBox="1"/>
          <p:nvPr/>
        </p:nvSpPr>
        <p:spPr>
          <a:xfrm>
            <a:off x="822960" y="146304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Practice</a:t>
            </a:r>
            <a:endParaRPr lang="en-US" sz="2200" dirty="0"/>
          </a:p>
        </p:txBody>
      </p:sp>
      <p:sp>
        <p:nvSpPr>
          <p:cNvPr id="6" name="Text 3"/>
          <p:cNvSpPr txBox="1"/>
          <p:nvPr/>
        </p:nvSpPr>
        <p:spPr>
          <a:xfrm>
            <a:off x="822960" y="2011680"/>
            <a:ext cx="4572000" cy="365760"/>
          </a:xfrm>
          <a:prstGeom prst="rect">
            <a:avLst/>
          </a:prstGeom>
          <a:noFill/>
          <a:ln/>
        </p:spPr>
        <p:txBody>
          <a:bodyPr wrap="square" lIns="0" tIns="0" rIns="0" bIns="0" rtlCol="0" anchor="t"/>
          <a:lstStyle/>
          <a:p>
            <a:pPr indent="0" marL="0">
              <a:buNone/>
            </a:pPr>
            <a:r>
              <a:rPr lang="en-US" sz="1500" b="1" dirty="0">
                <a:solidFill>
                  <a:schemeClr val="tx1"/>
                </a:solidFill>
              </a:rPr>
              <a:t>GPT-2 lab: </a:t>
            </a:r>
            <a:r>
              <a:rPr lang="en-US" sz="1300" dirty="0">
                <a:solidFill>
                  <a:schemeClr val="tx1"/>
                </a:solidFill>
                <a:latin typeface="Courier New" pitchFamily="34" charset="0"/>
                <a:ea typeface="Courier New" pitchFamily="34" charset="-122"/>
                <a:cs typeface="Courier New" pitchFamily="34" charset="-120"/>
              </a:rPr>
              <a:t>module2/labs/gpt2_causal_lm/</a:t>
            </a:r>
            <a:endParaRPr lang="en-US" sz="1500" dirty="0"/>
          </a:p>
        </p:txBody>
      </p:sp>
      <p:sp>
        <p:nvSpPr>
          <p:cNvPr id="7" name="Text 4"/>
          <p:cNvSpPr txBox="1"/>
          <p:nvPr/>
        </p:nvSpPr>
        <p:spPr>
          <a:xfrm>
            <a:off x="822960" y="2468880"/>
            <a:ext cx="457200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write the causal mask</a:t>
            </a:r>
            <a:endParaRPr lang="en-US" sz="1500" dirty="0"/>
          </a:p>
          <a:p>
            <a:pPr marL="228600" indent="-228600">
              <a:spcAft>
                <a:spcPts val="800"/>
              </a:spcAft>
              <a:buSzPct val="100000"/>
              <a:buChar char="•"/>
            </a:pPr>
            <a:r>
              <a:rPr lang="en-US" sz="1500" dirty="0">
                <a:solidFill>
                  <a:schemeClr val="tx1"/>
                </a:solidFill>
              </a:rPr>
              <a:t>handle padding in the loss</a:t>
            </a:r>
            <a:endParaRPr lang="en-US" sz="1500" dirty="0"/>
          </a:p>
          <a:p>
            <a:pPr marL="228600" indent="-228600">
              <a:spcAft>
                <a:spcPts val="800"/>
              </a:spcAft>
              <a:buSzPct val="100000"/>
              <a:buChar char="•"/>
            </a:pPr>
            <a:r>
              <a:rPr lang="en-US" sz="1500" dirty="0">
                <a:solidFill>
                  <a:schemeClr val="tx1"/>
                </a:solidFill>
              </a:rPr>
              <a:t>build a leaking model and detect it</a:t>
            </a:r>
            <a:endParaRPr lang="en-US" sz="1500" dirty="0"/>
          </a:p>
          <a:p>
            <a:pPr marL="228600" indent="-228600">
              <a:spcAft>
                <a:spcPts val="800"/>
              </a:spcAft>
              <a:buSzPct val="100000"/>
              <a:buChar char="•"/>
            </a:pPr>
            <a:r>
              <a:rPr lang="en-US" sz="1500" dirty="0">
                <a:solidFill>
                  <a:schemeClr val="tx1"/>
                </a:solidFill>
              </a:rPr>
              <a:t>count parameters</a:t>
            </a:r>
            <a:endParaRPr lang="en-US" sz="1500" dirty="0"/>
          </a:p>
          <a:p>
            <a:pPr marL="228600" indent="-228600">
              <a:spcAft>
                <a:spcPts val="800"/>
              </a:spcAft>
              <a:buSzPct val="100000"/>
              <a:buChar char="•"/>
            </a:pPr>
            <a:r>
              <a:rPr lang="en-US" sz="1500" dirty="0">
                <a:solidFill>
                  <a:schemeClr val="tx1"/>
                </a:solidFill>
              </a:rPr>
              <a:t>implement top-k sampling</a:t>
            </a:r>
            <a:endParaRPr lang="en-US" sz="1500" dirty="0"/>
          </a:p>
          <a:p>
            <a:pPr marL="228600" indent="-228600">
              <a:spcAft>
                <a:spcPts val="800"/>
              </a:spcAft>
              <a:buSzPct val="100000"/>
              <a:buChar char="•"/>
            </a:pPr>
            <a:r>
              <a:rPr lang="en-US" sz="1500" dirty="0">
                <a:solidFill>
                  <a:schemeClr val="tx1"/>
                </a:solidFill>
              </a:rPr>
              <a:t>train and decode a small model</a:t>
            </a:r>
            <a:endParaRPr lang="en-US" sz="1500" dirty="0"/>
          </a:p>
        </p:txBody>
      </p:sp>
      <p:sp>
        <p:nvSpPr>
          <p:cNvPr id="8" name="Text 5"/>
          <p:cNvSpPr txBox="1"/>
          <p:nvPr/>
        </p:nvSpPr>
        <p:spPr>
          <a:xfrm>
            <a:off x="822960" y="5120640"/>
            <a:ext cx="4572000" cy="731520"/>
          </a:xfrm>
          <a:prstGeom prst="rect">
            <a:avLst/>
          </a:prstGeom>
          <a:noFill/>
          <a:ln/>
        </p:spPr>
        <p:txBody>
          <a:bodyPr wrap="square" lIns="0" tIns="0" rIns="0" bIns="0" rtlCol="0" anchor="t"/>
          <a:lstStyle/>
          <a:p>
            <a:pPr indent="0" marL="0">
              <a:buNone/>
            </a:pPr>
            <a:r>
              <a:rPr lang="en-US" sz="1500" b="1" dirty="0">
                <a:solidFill>
                  <a:schemeClr val="tx1"/>
                </a:solidFill>
              </a:rPr>
              <a:t>Next: </a:t>
            </a:r>
            <a:r>
              <a:rPr lang="en-US" sz="1500" dirty="0">
                <a:solidFill>
                  <a:schemeClr val="tx1"/>
                </a:solidFill>
              </a:rPr>
              <a:t>Key–value cache · Fine-tuning GPT-2 (Module 3)</a:t>
            </a:r>
            <a:endParaRPr lang="en-US" sz="1500" dirty="0"/>
          </a:p>
        </p:txBody>
      </p:sp>
      <p:sp>
        <p:nvSpPr>
          <p:cNvPr id="9" name="Text 6"/>
          <p:cNvSpPr txBox="1"/>
          <p:nvPr/>
        </p:nvSpPr>
        <p:spPr>
          <a:xfrm>
            <a:off x="6035040" y="1463040"/>
            <a:ext cx="557784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Further reading</a:t>
            </a:r>
            <a:endParaRPr lang="en-US" sz="2200" dirty="0"/>
          </a:p>
        </p:txBody>
      </p:sp>
      <p:sp>
        <p:nvSpPr>
          <p:cNvPr id="10" name="Text 7"/>
          <p:cNvSpPr txBox="1"/>
          <p:nvPr/>
        </p:nvSpPr>
        <p:spPr>
          <a:xfrm>
            <a:off x="6035040" y="2011680"/>
            <a:ext cx="5577840" cy="41148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Radford et al. (2019). </a:t>
            </a:r>
            <a:r>
              <a:rPr lang="en-US" sz="1500" dirty="0">
                <a:solidFill>
                  <a:schemeClr val="tx1"/>
                </a:solidFill>
              </a:rPr>
              <a:t>Language Models are Unsupervised Multitask Learners. OpenAI technical report.</a:t>
            </a:r>
            <a:endParaRPr lang="en-US" sz="1500" dirty="0"/>
          </a:p>
          <a:p>
            <a:pPr marL="228600" indent="-228600">
              <a:spcAft>
                <a:spcPts val="800"/>
              </a:spcAft>
              <a:buSzPct val="100000"/>
              <a:buChar char="•"/>
            </a:pPr>
            <a:r>
              <a:rPr lang="en-US" sz="1500" b="1" dirty="0">
                <a:solidFill>
                  <a:schemeClr val="tx1"/>
                </a:solidFill>
              </a:rPr>
              <a:t>Vaswani et al. (2017). </a:t>
            </a:r>
            <a:r>
              <a:rPr lang="en-US" sz="1500" dirty="0">
                <a:solidFill>
                  <a:schemeClr val="tx1"/>
                </a:solidFill>
              </a:rPr>
              <a:t>Attention Is All You Need. arXiv:1706.03762</a:t>
            </a:r>
            <a:endParaRPr lang="en-US" sz="1500" dirty="0"/>
          </a:p>
          <a:p>
            <a:pPr marL="228600" indent="-228600">
              <a:spcAft>
                <a:spcPts val="800"/>
              </a:spcAft>
              <a:buSzPct val="100000"/>
              <a:buChar char="•"/>
            </a:pPr>
            <a:r>
              <a:rPr lang="en-US" sz="1500" b="1" dirty="0">
                <a:solidFill>
                  <a:schemeClr val="tx1"/>
                </a:solidFill>
              </a:rPr>
              <a:t>Hugging Face docs: </a:t>
            </a:r>
            <a:r>
              <a:rPr lang="en-US" sz="1500" dirty="0">
                <a:solidFill>
                  <a:schemeClr val="tx1"/>
                </a:solidFill>
              </a:rPr>
              <a:t>GPT-2 model documentation and the openai-community/gpt2 model card</a:t>
            </a:r>
            <a:endParaRPr lang="en-US" sz="1500" dirty="0"/>
          </a:p>
          <a:p>
            <a:pPr marL="228600" indent="-228600">
              <a:spcAft>
                <a:spcPts val="800"/>
              </a:spcAft>
              <a:buSzPct val="100000"/>
              <a:buChar char="•"/>
            </a:pPr>
            <a:r>
              <a:rPr lang="en-US" sz="1500" b="1" dirty="0">
                <a:solidFill>
                  <a:schemeClr val="tx1"/>
                </a:solidFill>
              </a:rPr>
              <a:t>Jay Alammar. </a:t>
            </a:r>
            <a:r>
              <a:rPr lang="en-US" sz="1500" dirty="0">
                <a:solidFill>
                  <a:schemeClr val="tx1"/>
                </a:solidFill>
              </a:rPr>
              <a:t>The Illustrated GPT-2 (blog post)</a:t>
            </a:r>
            <a:endParaRPr lang="en-US" sz="1500" dirty="0"/>
          </a:p>
          <a:p>
            <a:pPr marL="228600" indent="-228600">
              <a:spcAft>
                <a:spcPts val="800"/>
              </a:spcAft>
              <a:buSzPct val="100000"/>
              <a:buChar char="•"/>
            </a:pPr>
            <a:r>
              <a:rPr lang="en-US" sz="1500" b="1" dirty="0">
                <a:solidFill>
                  <a:schemeClr val="tx1"/>
                </a:solidFill>
              </a:rPr>
              <a:t>Huang et al. (2018). </a:t>
            </a:r>
            <a:r>
              <a:rPr lang="en-US" sz="1500" dirty="0">
                <a:solidFill>
                  <a:schemeClr val="tx1"/>
                </a:solidFill>
              </a:rPr>
              <a:t>Music Transformer. arXiv:1809.04281 (next-token prediction beyond text)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GELU vs. ReLU</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16</a:t>
            </a:r>
            <a:endParaRPr lang="en-US" sz="1400" dirty="0"/>
          </a:p>
        </p:txBody>
      </p:sp>
      <p:pic>
        <p:nvPicPr>
          <p:cNvPr id="6" name="Image 0" descr="Left: ReLU, exact GELU and tanh-approximated GELU on [-4, 4]; GELU dips slightly below zero for negative inputs. Right: their derivatives; ReLU's is a step from 0 to 1, GELU's is smooth and 0.5 at the origin.">    </p:cNvPr>
          <p:cNvPicPr>
            <a:picLocks noChangeAspect="1"/>
          </p:cNvPicPr>
          <p:nvPr/>
        </p:nvPicPr>
        <p:blipFill>
          <a:blip r:embed="rId1"/>
          <a:stretch>
            <a:fillRect/>
          </a:stretch>
        </p:blipFill>
        <p:spPr>
          <a:xfrm>
            <a:off x="548640" y="1234440"/>
            <a:ext cx="11064240" cy="3884687"/>
          </a:xfrm>
          <a:prstGeom prst="rect">
            <a:avLst/>
          </a:prstGeom>
        </p:spPr>
      </p:pic>
      <p:sp>
        <p:nvSpPr>
          <p:cNvPr id="7" name="gelu 1"/>
          <p:cNvSpPr/>
          <p:nvPr/>
        </p:nvSpPr>
        <p:spPr>
          <a:xfrm>
            <a:off x="548640" y="5349240"/>
            <a:ext cx="3474720" cy="868680"/>
          </a:xfrm>
          <a:prstGeom prst="roundRect">
            <a:avLst>
              <a:gd name="adj" fmla="val 12632"/>
            </a:avLst>
          </a:prstGeom>
          <a:solidFill>
            <a:schemeClr val="bg2"/>
          </a:solidFill>
          <a:ln w="12700">
            <a:solidFill>
              <a:schemeClr val="bg2"/>
            </a:solidFill>
            <a:prstDash val="solid"/>
          </a:ln>
        </p:spPr>
      </p:sp>
      <p:sp>
        <p:nvSpPr>
          <p:cNvPr id="8" name="Text 4"/>
          <p:cNvSpPr txBox="1"/>
          <p:nvPr/>
        </p:nvSpPr>
        <p:spPr>
          <a:xfrm>
            <a:off x="731520" y="5349240"/>
            <a:ext cx="3108960" cy="868680"/>
          </a:xfrm>
          <a:prstGeom prst="rect">
            <a:avLst/>
          </a:prstGeom>
          <a:noFill/>
          <a:ln/>
        </p:spPr>
        <p:txBody>
          <a:bodyPr wrap="square" lIns="0" tIns="0" rIns="0" bIns="0" rtlCol="0" anchor="ctr"/>
          <a:lstStyle/>
          <a:p>
            <a:pPr indent="0" marL="0">
              <a:buNone/>
            </a:pPr>
            <a:r>
              <a:rPr lang="en-US" sz="1300" b="1" dirty="0">
                <a:solidFill>
                  <a:schemeClr val="tx1"/>
                </a:solidFill>
              </a:rPr>
              <a:t>ReLU(x) = x · 1[x &gt; 0]</a:t>
            </a:r>
            <a:endParaRPr lang="en-US" sz="1300" dirty="0"/>
          </a:p>
          <a:p>
            <a:pPr indent="0" marL="0">
              <a:buNone/>
            </a:pPr>
            <a:r>
              <a:rPr lang="en-US" sz="1300" dirty="0">
                <a:solidFill>
                  <a:schemeClr val="tx1"/>
                </a:solidFill>
              </a:rPr>
              <a:t>Hard gate. For x &lt; 0 the output and the gradient are exactly 0.</a:t>
            </a:r>
            <a:endParaRPr lang="en-US" sz="1300" dirty="0"/>
          </a:p>
        </p:txBody>
      </p:sp>
      <p:sp>
        <p:nvSpPr>
          <p:cNvPr id="9" name="gelu 2"/>
          <p:cNvSpPr/>
          <p:nvPr/>
        </p:nvSpPr>
        <p:spPr>
          <a:xfrm>
            <a:off x="4297680" y="5349240"/>
            <a:ext cx="3474720" cy="868680"/>
          </a:xfrm>
          <a:prstGeom prst="roundRect">
            <a:avLst>
              <a:gd name="adj" fmla="val 12632"/>
            </a:avLst>
          </a:prstGeom>
          <a:solidFill>
            <a:schemeClr val="bg2"/>
          </a:solidFill>
          <a:ln w="12700">
            <a:solidFill>
              <a:schemeClr val="bg2"/>
            </a:solidFill>
            <a:prstDash val="solid"/>
          </a:ln>
        </p:spPr>
      </p:sp>
      <p:sp>
        <p:nvSpPr>
          <p:cNvPr id="10" name="Text 6"/>
          <p:cNvSpPr txBox="1"/>
          <p:nvPr/>
        </p:nvSpPr>
        <p:spPr>
          <a:xfrm>
            <a:off x="4480560" y="5349240"/>
            <a:ext cx="3108960" cy="868680"/>
          </a:xfrm>
          <a:prstGeom prst="rect">
            <a:avLst/>
          </a:prstGeom>
          <a:noFill/>
          <a:ln/>
        </p:spPr>
        <p:txBody>
          <a:bodyPr wrap="square" lIns="0" tIns="0" rIns="0" bIns="0" rtlCol="0" anchor="ctr"/>
          <a:lstStyle/>
          <a:p>
            <a:pPr indent="0" marL="0">
              <a:buNone/>
            </a:pPr>
            <a:r>
              <a:rPr lang="en-US" sz="1300" b="1" dirty="0">
                <a:solidFill>
                  <a:schemeClr val="tx1"/>
                </a:solidFill>
              </a:rPr>
              <a:t>GELU(x) = x · Φ(x)</a:t>
            </a:r>
            <a:endParaRPr lang="en-US" sz="1300" dirty="0"/>
          </a:p>
          <a:p>
            <a:pPr indent="0" marL="0">
              <a:buNone/>
            </a:pPr>
            <a:r>
              <a:rPr lang="en-US" sz="1300" dirty="0">
                <a:solidFill>
                  <a:schemeClr val="tx1"/>
                </a:solidFill>
              </a:rPr>
              <a:t>Soft gate: Φ is the standard normal CDF. At x = −1, 16% passes; minimum −0.17 at x ≈ −0.75.</a:t>
            </a:r>
            <a:endParaRPr lang="en-US" sz="1300" dirty="0"/>
          </a:p>
        </p:txBody>
      </p:sp>
      <p:sp>
        <p:nvSpPr>
          <p:cNvPr id="11" name="gelu 3"/>
          <p:cNvSpPr/>
          <p:nvPr/>
        </p:nvSpPr>
        <p:spPr>
          <a:xfrm>
            <a:off x="8046720" y="5349240"/>
            <a:ext cx="3474720" cy="868680"/>
          </a:xfrm>
          <a:prstGeom prst="roundRect">
            <a:avLst>
              <a:gd name="adj" fmla="val 12632"/>
            </a:avLst>
          </a:prstGeom>
          <a:solidFill>
            <a:schemeClr val="accent5"/>
          </a:solidFill>
          <a:ln w="12700">
            <a:solidFill>
              <a:schemeClr val="accent5"/>
            </a:solidFill>
            <a:prstDash val="solid"/>
          </a:ln>
        </p:spPr>
      </p:sp>
      <p:sp>
        <p:nvSpPr>
          <p:cNvPr id="12" name="Text 8"/>
          <p:cNvSpPr txBox="1"/>
          <p:nvPr/>
        </p:nvSpPr>
        <p:spPr>
          <a:xfrm>
            <a:off x="8229600" y="5349240"/>
            <a:ext cx="3108960" cy="868680"/>
          </a:xfrm>
          <a:prstGeom prst="rect">
            <a:avLst/>
          </a:prstGeom>
          <a:noFill/>
          <a:ln/>
        </p:spPr>
        <p:txBody>
          <a:bodyPr wrap="square" lIns="0" tIns="0" rIns="0" bIns="0" rtlCol="0" anchor="ctr"/>
          <a:lstStyle/>
          <a:p>
            <a:pPr indent="0" marL="0">
              <a:buNone/>
            </a:pPr>
            <a:r>
              <a:rPr lang="en-US" sz="1300" b="1" dirty="0">
                <a:solidFill>
                  <a:schemeClr val="tx1"/>
                </a:solidFill>
              </a:rPr>
              <a:t>GPT-2: tanh approximation</a:t>
            </a:r>
            <a:endParaRPr lang="en-US" sz="1300" dirty="0"/>
          </a:p>
          <a:p>
            <a:pPr indent="0" marL="0">
              <a:buNone/>
            </a:pPr>
            <a:r>
              <a:rPr lang="en-US" sz="1300" dirty="0">
                <a:solidFill>
                  <a:schemeClr val="tx1"/>
                </a:solidFill>
              </a:rPr>
              <a:t>Largest gap from exact GELU on [−4, 4]: 4.7×10⁻⁴. Newer LLMs often use SiLU or SwiGLU.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parameter count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19</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4480560"/>
                <a:gridCol w="1920240"/>
              </a:tblGrid>
              <a:tr h="475488">
                <a:tc>
                  <a:txBody>
                    <a:bodyPr/>
                    <a:lstStyle/>
                    <a:p>
                      <a:pPr indent="0" marL="0">
                        <a:buNone/>
                      </a:pPr>
                      <a:r>
                        <a:rPr lang="en-US" sz="1500" b="1" dirty="0">
                          <a:solidFill>
                            <a:schemeClr val="bg1"/>
                          </a:solidFill>
                        </a:rPr>
                        <a:t>Component (per block)</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Parameters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75488">
                <a:tc>
                  <a:txBody>
                    <a:bodyPr/>
                    <a:lstStyle/>
                    <a:p>
                      <a:pPr indent="0" marL="0">
                        <a:buNone/>
                      </a:pPr>
                      <a:r>
                        <a:rPr lang="en-US" sz="1500" dirty="0">
                          <a:solidFill>
                            <a:schemeClr val="tx1"/>
                          </a:solidFill>
                        </a:rPr>
                        <a:t>Layer norm 1 + layer norm 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4D</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500" dirty="0">
                          <a:solidFill>
                            <a:schemeClr val="tx1"/>
                          </a:solidFill>
                        </a:rPr>
                        <a:t>Fused Q, K, V projection (D → 3D, with bias)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3D² + 3D</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Attention output projection (D → 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D² + D</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1"/>
                          </a:solidFill>
                        </a:rPr>
                        <a:t>Feed-forward network (D → 4D → D)</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8D² + 5D</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500" b="1" dirty="0">
                          <a:solidFill>
                            <a:schemeClr val="tx1"/>
                          </a:solidFill>
                        </a:rPr>
                        <a:t>Block total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latin typeface="Courier New" pitchFamily="34" charset="0"/>
                          <a:ea typeface="Courier New" pitchFamily="34" charset="-122"/>
                          <a:cs typeface="Courier New" pitchFamily="34" charset="-120"/>
                        </a:rPr>
                        <a:t>12D² + 13D</a:t>
                      </a:r>
                      <a:endParaRPr lang="en-US" sz="15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7" name="formula"/>
          <p:cNvSpPr/>
          <p:nvPr/>
        </p:nvSpPr>
        <p:spPr>
          <a:xfrm>
            <a:off x="548640" y="4343400"/>
            <a:ext cx="6400800" cy="1783080"/>
          </a:xfrm>
          <a:prstGeom prst="roundRect">
            <a:avLst>
              <a:gd name="adj" fmla="val 6154"/>
            </a:avLst>
          </a:prstGeom>
          <a:solidFill>
            <a:schemeClr val="bg2"/>
          </a:solidFill>
          <a:ln w="12700">
            <a:solidFill>
              <a:schemeClr val="bg2"/>
            </a:solidFill>
            <a:prstDash val="solid"/>
          </a:ln>
        </p:spPr>
      </p:sp>
      <p:sp>
        <p:nvSpPr>
          <p:cNvPr id="8" name="Text 4"/>
          <p:cNvSpPr txBox="1"/>
          <p:nvPr/>
        </p:nvSpPr>
        <p:spPr>
          <a:xfrm>
            <a:off x="822960" y="4434840"/>
            <a:ext cx="5852160" cy="54864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params = </a:t>
            </a:r>
            <a:r>
              <a:rPr lang="en-US" sz="2200" b="1" dirty="0">
                <a:solidFill>
                  <a:schemeClr val="tx1"/>
                </a:solidFill>
                <a:latin typeface="Cambria" pitchFamily="34" charset="0"/>
                <a:ea typeface="Cambria" pitchFamily="34" charset="-122"/>
                <a:cs typeface="Cambria" pitchFamily="34" charset="-120"/>
              </a:rPr>
              <a:t>VD</a:t>
            </a:r>
            <a:r>
              <a:rPr lang="en-US" sz="2200" dirty="0">
                <a:solidFill>
                  <a:schemeClr val="tx1"/>
                </a:solidFill>
                <a:latin typeface="Cambria" pitchFamily="34" charset="0"/>
                <a:ea typeface="Cambria" pitchFamily="34" charset="-122"/>
                <a:cs typeface="Cambria" pitchFamily="34" charset="-120"/>
              </a:rPr>
              <a:t> + TD + N(12D² + 13D) + 2D</a:t>
            </a:r>
            <a:endParaRPr lang="en-US" sz="2200" dirty="0"/>
          </a:p>
        </p:txBody>
      </p:sp>
      <p:sp>
        <p:nvSpPr>
          <p:cNvPr id="9" name="Text 5"/>
          <p:cNvSpPr txBox="1"/>
          <p:nvPr/>
        </p:nvSpPr>
        <p:spPr>
          <a:xfrm>
            <a:off x="822960" y="5029200"/>
            <a:ext cx="5852160" cy="914400"/>
          </a:xfrm>
          <a:prstGeom prst="rect">
            <a:avLst/>
          </a:prstGeom>
          <a:noFill/>
          <a:ln/>
        </p:spPr>
        <p:txBody>
          <a:bodyPr wrap="square" lIns="0" tIns="0" rIns="0" bIns="0" rtlCol="0" anchor="t"/>
          <a:lstStyle/>
          <a:p>
            <a:pPr indent="0" marL="0">
              <a:buNone/>
            </a:pPr>
            <a:r>
              <a:rPr lang="en-US" sz="1500" dirty="0">
                <a:solidFill>
                  <a:schemeClr val="tx2"/>
                </a:solidFill>
              </a:rPr>
              <a:t>token table + positions + blocks + final norm. The tied output head adds 0. In wide models the 12D² term dominates.</a:t>
            </a:r>
            <a:endParaRPr lang="en-US" sz="1500" dirty="0"/>
          </a:p>
        </p:txBody>
      </p:sp>
      <p:sp>
        <p:nvSpPr>
          <p:cNvPr id="10" name="stat 1"/>
          <p:cNvSpPr/>
          <p:nvPr/>
        </p:nvSpPr>
        <p:spPr>
          <a:xfrm>
            <a:off x="7315200" y="1280160"/>
            <a:ext cx="4297680" cy="1463040"/>
          </a:xfrm>
          <a:prstGeom prst="roundRect">
            <a:avLst>
              <a:gd name="adj" fmla="val 7500"/>
            </a:avLst>
          </a:prstGeom>
          <a:solidFill>
            <a:schemeClr val="bg2"/>
          </a:solidFill>
          <a:ln w="12700">
            <a:solidFill>
              <a:schemeClr val="bg2"/>
            </a:solidFill>
            <a:prstDash val="solid"/>
          </a:ln>
        </p:spPr>
      </p:sp>
      <p:sp>
        <p:nvSpPr>
          <p:cNvPr id="11" name="Text 7"/>
          <p:cNvSpPr txBox="1"/>
          <p:nvPr/>
        </p:nvSpPr>
        <p:spPr>
          <a:xfrm>
            <a:off x="7589520" y="1371600"/>
            <a:ext cx="3749040" cy="64008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124,439,808</a:t>
            </a:r>
            <a:endParaRPr lang="en-US" sz="3200" dirty="0"/>
          </a:p>
        </p:txBody>
      </p:sp>
      <p:sp>
        <p:nvSpPr>
          <p:cNvPr id="12" name="Text 8"/>
          <p:cNvSpPr txBox="1"/>
          <p:nvPr/>
        </p:nvSpPr>
        <p:spPr>
          <a:xfrm>
            <a:off x="7589520" y="2057400"/>
            <a:ext cx="3749040" cy="594360"/>
          </a:xfrm>
          <a:prstGeom prst="rect">
            <a:avLst/>
          </a:prstGeom>
          <a:noFill/>
          <a:ln/>
        </p:spPr>
        <p:txBody>
          <a:bodyPr wrap="square" lIns="0" tIns="0" rIns="0" bIns="0" rtlCol="0" anchor="t"/>
          <a:lstStyle/>
          <a:p>
            <a:pPr indent="0" marL="0">
              <a:buNone/>
            </a:pPr>
            <a:r>
              <a:rPr lang="en-US" sz="1300" dirty="0">
                <a:solidFill>
                  <a:schemeClr val="tx2"/>
                </a:solidFill>
              </a:rPr>
              <a:t>GPT-2 small by formula (V = 50,257, T = 1,024, D = 768, N = 12)</a:t>
            </a:r>
            <a:endParaRPr lang="en-US" sz="1300" dirty="0"/>
          </a:p>
        </p:txBody>
      </p:sp>
      <p:sp>
        <p:nvSpPr>
          <p:cNvPr id="13" name="stat 2"/>
          <p:cNvSpPr/>
          <p:nvPr/>
        </p:nvSpPr>
        <p:spPr>
          <a:xfrm>
            <a:off x="7315200" y="2926080"/>
            <a:ext cx="4297680" cy="1463040"/>
          </a:xfrm>
          <a:prstGeom prst="roundRect">
            <a:avLst>
              <a:gd name="adj" fmla="val 7500"/>
            </a:avLst>
          </a:prstGeom>
          <a:solidFill>
            <a:schemeClr val="bg2"/>
          </a:solidFill>
          <a:ln w="12700">
            <a:solidFill>
              <a:schemeClr val="bg2"/>
            </a:solidFill>
            <a:prstDash val="solid"/>
          </a:ln>
        </p:spPr>
      </p:sp>
      <p:sp>
        <p:nvSpPr>
          <p:cNvPr id="14" name="Text 10"/>
          <p:cNvSpPr txBox="1"/>
          <p:nvPr/>
        </p:nvSpPr>
        <p:spPr>
          <a:xfrm>
            <a:off x="7589520" y="3017520"/>
            <a:ext cx="3749040" cy="640080"/>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⅔</a:t>
            </a:r>
            <a:endParaRPr lang="en-US" sz="3200" dirty="0"/>
          </a:p>
        </p:txBody>
      </p:sp>
      <p:sp>
        <p:nvSpPr>
          <p:cNvPr id="15" name="Text 11"/>
          <p:cNvSpPr txBox="1"/>
          <p:nvPr/>
        </p:nvSpPr>
        <p:spPr>
          <a:xfrm>
            <a:off x="7589520" y="3703320"/>
            <a:ext cx="3749040" cy="594360"/>
          </a:xfrm>
          <a:prstGeom prst="rect">
            <a:avLst/>
          </a:prstGeom>
          <a:noFill/>
          <a:ln/>
        </p:spPr>
        <p:txBody>
          <a:bodyPr wrap="square" lIns="0" tIns="0" rIns="0" bIns="0" rtlCol="0" anchor="t"/>
          <a:lstStyle/>
          <a:p>
            <a:pPr indent="0" marL="0">
              <a:buNone/>
            </a:pPr>
            <a:r>
              <a:rPr lang="en-US" sz="1300" dirty="0">
                <a:solidFill>
                  <a:schemeClr val="tx2"/>
                </a:solidFill>
              </a:rPr>
              <a:t>of each block is the feed-forward network (8D² of 12D²)</a:t>
            </a:r>
            <a:endParaRPr lang="en-US" sz="1300" dirty="0"/>
          </a:p>
        </p:txBody>
      </p:sp>
      <p:sp>
        <p:nvSpPr>
          <p:cNvPr id="16" name="stat 3"/>
          <p:cNvSpPr/>
          <p:nvPr/>
        </p:nvSpPr>
        <p:spPr>
          <a:xfrm>
            <a:off x="7315200" y="4572000"/>
            <a:ext cx="4297680" cy="1463040"/>
          </a:xfrm>
          <a:prstGeom prst="roundRect">
            <a:avLst>
              <a:gd name="adj" fmla="val 7500"/>
            </a:avLst>
          </a:prstGeom>
          <a:solidFill>
            <a:schemeClr val="bg2"/>
          </a:solidFill>
          <a:ln w="12700">
            <a:solidFill>
              <a:schemeClr val="bg2"/>
            </a:solidFill>
            <a:prstDash val="solid"/>
          </a:ln>
        </p:spPr>
      </p:sp>
      <p:sp>
        <p:nvSpPr>
          <p:cNvPr id="17" name="Text 13"/>
          <p:cNvSpPr txBox="1"/>
          <p:nvPr/>
        </p:nvSpPr>
        <p:spPr>
          <a:xfrm>
            <a:off x="7589520" y="4663440"/>
            <a:ext cx="3749040" cy="640080"/>
          </a:xfrm>
          <a:prstGeom prst="rect">
            <a:avLst/>
          </a:prstGeom>
          <a:noFill/>
          <a:ln/>
        </p:spPr>
        <p:txBody>
          <a:bodyPr wrap="square" lIns="0" tIns="0" rIns="0" bIns="0" rtlCol="0" anchor="b"/>
          <a:lstStyle/>
          <a:p>
            <a:pPr indent="0" marL="0">
              <a:buNone/>
            </a:pPr>
            <a:r>
              <a:rPr lang="en-US" sz="3200" b="1" dirty="0">
                <a:solidFill>
                  <a:schemeClr val="accent4"/>
                </a:solidFill>
                <a:latin typeface="Cambria" pitchFamily="34" charset="0"/>
                <a:ea typeface="Cambria" pitchFamily="34" charset="-122"/>
                <a:cs typeface="Cambria" pitchFamily="34" charset="-120"/>
              </a:rPr>
              <a:t>≈ 38.6M</a:t>
            </a:r>
            <a:endParaRPr lang="en-US" sz="3200" dirty="0"/>
          </a:p>
        </p:txBody>
      </p:sp>
      <p:sp>
        <p:nvSpPr>
          <p:cNvPr id="18" name="Text 14"/>
          <p:cNvSpPr txBox="1"/>
          <p:nvPr/>
        </p:nvSpPr>
        <p:spPr>
          <a:xfrm>
            <a:off x="7589520" y="5349240"/>
            <a:ext cx="3749040" cy="594360"/>
          </a:xfrm>
          <a:prstGeom prst="rect">
            <a:avLst/>
          </a:prstGeom>
          <a:noFill/>
          <a:ln/>
        </p:spPr>
        <p:txBody>
          <a:bodyPr wrap="square" lIns="0" tIns="0" rIns="0" bIns="0" rtlCol="0" anchor="t"/>
          <a:lstStyle/>
          <a:p>
            <a:pPr indent="0" marL="0">
              <a:buNone/>
            </a:pPr>
            <a:r>
              <a:rPr lang="en-US" sz="1300" dirty="0">
                <a:solidFill>
                  <a:schemeClr val="tx2"/>
                </a:solidFill>
              </a:rPr>
              <a:t>parameters saved by tying the output head to the token embedding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GPT-2 causal LM">
      <a:dk1>
        <a:srgbClr val="1B2238"/>
      </a:dk1>
      <a:lt1>
        <a:srgbClr val="FFFFFF"/>
      </a:lt1>
      <a:dk2>
        <a:srgbClr val="5A6478"/>
      </a:dk2>
      <a:lt2>
        <a:srgbClr val="EEF1F6"/>
      </a:lt2>
      <a:accent1>
        <a:srgbClr val="0F7B6C"/>
      </a:accent1>
      <a:accent2>
        <a:srgbClr val="E0A526"/>
      </a:accent2>
      <a:accent3>
        <a:srgbClr val="C8443F"/>
      </a:accent3>
      <a:accent4>
        <a:srgbClr val="2B6CB0"/>
      </a:accent4>
      <a:accent5>
        <a:srgbClr val="FCF3DC"/>
      </a:accent5>
      <a:accent6>
        <a:srgbClr val="FBE7E6"/>
      </a:accent6>
      <a:hlink>
        <a:srgbClr val="2B6CB0"/>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GPT-2: a causal Transformer for next-token generation</dc:title>
  <dc:subject>PptxGenJS Presentation</dc:subject>
  <dc:creator>Generative AI (ABAI3009L), Bennett University</dc:creator>
  <cp:lastModifiedBy>Generative AI (ABAI3009L), Bennett University</cp:lastModifiedBy>
  <cp:revision>1</cp:revision>
  <dcterms:created xsi:type="dcterms:W3CDTF">2026-10-16T13:05:32Z</dcterms:created>
  <dcterms:modified xsi:type="dcterms:W3CDTF">2026-10-16T13:05:32Z</dcterms:modified>
</cp:coreProperties>
</file>